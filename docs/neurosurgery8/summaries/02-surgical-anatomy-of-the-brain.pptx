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1B2A"/>
        </a:solidFill>
      </p:bgPr>
    </p:bg>
    <p:spTree>
      <p:nvGrpSpPr>
        <p:cNvPr id="1" name=""/>
        <p:cNvGrpSpPr/>
        <p:nvPr/>
      </p:nvGrpSpPr>
      <p:grpSpPr>
        <a:xfrm>
          <a:off x="0" y="0"/>
          <a:ext cx="0" cy="0"/>
          <a:chOff x="0" y="0"/>
          <a:chExt cx="0" cy="0"/>
        </a:xfrm>
      </p:grpSpPr>
      <p:sp>
        <p:nvSpPr>
          <p:cNvPr id="2" name="Shape 0"/>
          <p:cNvSpPr/>
          <p:nvPr/>
        </p:nvSpPr>
        <p:spPr>
          <a:xfrm>
            <a:off x="5559552" y="640080"/>
            <a:ext cx="1078992" cy="1078992"/>
          </a:xfrm>
          <a:prstGeom prst="ellipse">
            <a:avLst/>
          </a:prstGeom>
          <a:ln w="38100">
            <a:solidFill>
              <a:srgbClr val="1C7293"/>
            </a:solidFill>
            <a:prstDash val="solid"/>
          </a:ln>
        </p:spPr>
      </p:sp>
      <p:sp>
        <p:nvSpPr>
          <p:cNvPr id="3" name="Shape 1"/>
          <p:cNvSpPr/>
          <p:nvPr/>
        </p:nvSpPr>
        <p:spPr>
          <a:xfrm>
            <a:off x="5788152" y="868680"/>
            <a:ext cx="621792" cy="621792"/>
          </a:xfrm>
          <a:prstGeom prst="ellipse">
            <a:avLst/>
          </a:prstGeom>
          <a:solidFill>
            <a:srgbClr val="1C7293"/>
          </a:solidFill>
          <a:ln/>
        </p:spPr>
      </p:sp>
      <p:sp>
        <p:nvSpPr>
          <p:cNvPr id="4" name="Text 2"/>
          <p:cNvSpPr/>
          <p:nvPr/>
        </p:nvSpPr>
        <p:spPr>
          <a:xfrm>
            <a:off x="914400" y="2103120"/>
            <a:ext cx="10360152" cy="914400"/>
          </a:xfrm>
          <a:prstGeom prst="rect">
            <a:avLst/>
          </a:prstGeom>
          <a:noFill/>
          <a:ln/>
        </p:spPr>
        <p:txBody>
          <a:bodyPr wrap="square" rtlCol="0" anchor="ctr"/>
          <a:lstStyle/>
          <a:p>
            <a:pPr rtl="1" algn="ctr" indent="0" marL="0">
              <a:buNone/>
            </a:pPr>
            <a:r>
              <a:rPr lang="en-US" sz="4000" b="1" dirty="0">
                <a:solidFill>
                  <a:srgbClr val="FFFFFF"/>
                </a:solidFill>
                <a:latin typeface="Calibri" pitchFamily="34" charset="0"/>
                <a:ea typeface="Calibri" pitchFamily="34" charset="-122"/>
                <a:cs typeface="Calibri" pitchFamily="34" charset="-120"/>
              </a:rPr>
              <a:t>נוירוכירורגיה — מהדורה 8</a:t>
            </a:r>
            <a:endParaRPr lang="en-US" sz="4000" dirty="0"/>
          </a:p>
        </p:txBody>
      </p:sp>
      <p:sp>
        <p:nvSpPr>
          <p:cNvPr id="5" name="Text 3"/>
          <p:cNvSpPr/>
          <p:nvPr/>
        </p:nvSpPr>
        <p:spPr>
          <a:xfrm>
            <a:off x="914400" y="3017520"/>
            <a:ext cx="10360152" cy="640080"/>
          </a:xfrm>
          <a:prstGeom prst="rect">
            <a:avLst/>
          </a:prstGeom>
          <a:noFill/>
          <a:ln/>
        </p:spPr>
        <p:txBody>
          <a:bodyPr wrap="square" rtlCol="0" anchor="ctr"/>
          <a:lstStyle/>
          <a:p>
            <a:pPr rtl="1" algn="ctr" indent="0" marL="0">
              <a:buNone/>
            </a:pPr>
            <a:r>
              <a:rPr lang="en-US" sz="2400" dirty="0">
                <a:solidFill>
                  <a:srgbClr val="93C5FD"/>
                </a:solidFill>
                <a:latin typeface="Calibri" pitchFamily="34" charset="0"/>
                <a:ea typeface="Calibri" pitchFamily="34" charset="-122"/>
                <a:cs typeface="Calibri" pitchFamily="34" charset="-120"/>
              </a:rPr>
              <a:t>פרק 2: אנטומיה כירורגית של המוח</a:t>
            </a:r>
            <a:endParaRPr lang="en-US" sz="2400" dirty="0"/>
          </a:p>
        </p:txBody>
      </p:sp>
      <p:sp>
        <p:nvSpPr>
          <p:cNvPr id="6" name="Text 4"/>
          <p:cNvSpPr/>
          <p:nvPr/>
        </p:nvSpPr>
        <p:spPr>
          <a:xfrm>
            <a:off x="914400" y="3657600"/>
            <a:ext cx="10360152" cy="457200"/>
          </a:xfrm>
          <a:prstGeom prst="rect">
            <a:avLst/>
          </a:prstGeom>
          <a:noFill/>
          <a:ln/>
        </p:spPr>
        <p:txBody>
          <a:bodyPr wrap="square" rtlCol="0" anchor="ctr"/>
          <a:lstStyle/>
          <a:p>
            <a:pPr algn="ctr" indent="0" marL="0">
              <a:buNone/>
            </a:pPr>
            <a:r>
              <a:rPr lang="en-US" sz="1500" i="1" dirty="0">
                <a:solidFill>
                  <a:srgbClr val="7DD3FC"/>
                </a:solidFill>
                <a:latin typeface="Calibri" pitchFamily="34" charset="0"/>
                <a:ea typeface="Calibri" pitchFamily="34" charset="-122"/>
                <a:cs typeface="Calibri" pitchFamily="34" charset="-120"/>
              </a:rPr>
              <a:t>Surgical Anatomy of the Brain  ·  Youmans Neurological Surgery</a:t>
            </a:r>
            <a:endParaRPr lang="en-US" sz="1500" dirty="0"/>
          </a:p>
        </p:txBody>
      </p:sp>
      <p:sp>
        <p:nvSpPr>
          <p:cNvPr id="7" name="Text 5"/>
          <p:cNvSpPr/>
          <p:nvPr/>
        </p:nvSpPr>
        <p:spPr>
          <a:xfrm>
            <a:off x="914400" y="5943600"/>
            <a:ext cx="10360152" cy="548640"/>
          </a:xfrm>
          <a:prstGeom prst="rect">
            <a:avLst/>
          </a:prstGeom>
          <a:noFill/>
          <a:ln/>
        </p:spPr>
        <p:txBody>
          <a:bodyPr wrap="square" rtlCol="0" anchor="ctr"/>
          <a:lstStyle/>
          <a:p>
            <a:pPr rtl="1" algn="ctr" indent="0" marL="0">
              <a:buNone/>
            </a:pPr>
            <a:r>
              <a:rPr lang="en-US" sz="1250" dirty="0">
                <a:solidFill>
                  <a:srgbClr val="64748B"/>
                </a:solidFill>
                <a:latin typeface="Calibri" pitchFamily="34" charset="0"/>
                <a:ea typeface="Calibri" pitchFamily="34" charset="-122"/>
                <a:cs typeface="Calibri" pitchFamily="34" charset="-120"/>
              </a:rPr>
              <a:t>8 כרטיסיות תרגול · שאלה ואז תשובה מלאה בכל כרטיסייה · לסטטיסטיקה חיה השתמשי באפליקציית ה-HTML</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1C7293"/>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עיקרון מארגן</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1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מהו העיקרון של "ראיית רנטגן" (X-ray vision) שעליו מבוסס כל פרק האנטומיה הכירורגית של המוח?</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שימוש חובה בצילום רנטגן תוך-ניתוחי בכל ניתוח מוח</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קורלציה קבועה בין ציוני דרך שטחיים (תלמים, גירוסים, ורידים) לבין מבנים עמוקים, המאפשרת לתכנן מסלול ניתוחי בלי לראות ישירות את המבנה העמוק</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שימוש בקרני רנטגן להרס גידולים מוחיים</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טכניקת הדמיה שהומצאה על ידי Rhoton בשנות ה-80</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1C7293"/>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עיקרון מארגן</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ב) קורלציה קבועה בין ציוני דרך שטחיים (תלמים, גירוסים, ורידים) לבין מבנים עמוקים, המאפשרת לתכנן מסלול ניתוחי בלי לראות ישירות את המבנה העמוק</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D99A2B">
              <a:alpha val="12000"/>
            </a:srgbClr>
          </a:solidFill>
          <a:ln w="15875">
            <a:solidFill>
              <a:srgbClr val="D99A2B"/>
            </a:solidFill>
            <a:prstDash val="solid"/>
          </a:ln>
        </p:spPr>
      </p:sp>
      <p:sp>
        <p:nvSpPr>
          <p:cNvPr id="7" name="Shape 5"/>
          <p:cNvSpPr/>
          <p:nvPr/>
        </p:nvSpPr>
        <p:spPr>
          <a:xfrm>
            <a:off x="11292840" y="2176272"/>
            <a:ext cx="256032" cy="256032"/>
          </a:xfrm>
          <a:prstGeom prst="ellipse">
            <a:avLst/>
          </a:prstGeom>
          <a:solidFill>
            <a:srgbClr val="D99A2B"/>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ציון דרך שטחי קבוע (למשל אומגה בתלם הפרה-מרכזי)</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1C7293">
              <a:alpha val="12000"/>
            </a:srgbClr>
          </a:solidFill>
          <a:ln w="15875">
            <a:solidFill>
              <a:srgbClr val="1C7293"/>
            </a:solidFill>
            <a:prstDash val="solid"/>
          </a:ln>
        </p:spPr>
      </p:sp>
      <p:sp>
        <p:nvSpPr>
          <p:cNvPr id="11" name="Shape 9"/>
          <p:cNvSpPr/>
          <p:nvPr/>
        </p:nvSpPr>
        <p:spPr>
          <a:xfrm>
            <a:off x="11292840" y="3044952"/>
            <a:ext cx="256032" cy="256032"/>
          </a:xfrm>
          <a:prstGeom prst="ellipse">
            <a:avLst/>
          </a:prstGeom>
          <a:solidFill>
            <a:srgbClr val="1C7293"/>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קורלציה קבועה למבנה עמוק (הגירוס עובר מעל הקפסולה הפנימית)</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2C5F2D">
              <a:alpha val="12000"/>
            </a:srgbClr>
          </a:solidFill>
          <a:ln w="15875">
            <a:solidFill>
              <a:srgbClr val="2C5F2D"/>
            </a:solidFill>
            <a:prstDash val="solid"/>
          </a:ln>
        </p:spPr>
      </p:sp>
      <p:sp>
        <p:nvSpPr>
          <p:cNvPr id="15" name="Shape 13"/>
          <p:cNvSpPr/>
          <p:nvPr/>
        </p:nvSpPr>
        <p:spPr>
          <a:xfrm>
            <a:off x="11292840" y="3913632"/>
            <a:ext cx="256032" cy="256032"/>
          </a:xfrm>
          <a:prstGeom prst="ellipse">
            <a:avLst/>
          </a:prstGeom>
          <a:solidFill>
            <a:srgbClr val="2C5F2D"/>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תכנון מסלול שנמנע ממבנים קריטיים בלי לראות אותם ישירות</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(2): "ראיית רנטגן" היא מטאפורה לשימוש בידע אנטומי כדי "לראות" מבנים עמוקים דרך ציוני דרך שטחיים קבועים, ולא שיטת הדמיה בפועל. תשובות 1, 3 ו-4 מתארות טכנולוגיות או עובדות לא קשורות.</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X-ray vision / See-through vision</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היכולת לחזות מיקום מבנה עמוק על סמך קורלציה קבועה לציון דרך שטחי, ללא חשיפה ישירה.</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מפה תת-קרקעית שמצוירת תמיד באותו יחס למפת הרחובות שמעליה - מי שמכיר את הרחוב יודע בדיוק היכן עובר הצינור מתחתיו.</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העיקרון הזה קריטי דווקא בניתוחי מוח, יותר מבניתוחים אחרים?</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B85042"/>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פני שטח לטרליים</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2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מה מסמן סימן ה"אומגה" (Ω) בתלם הפרה-מרכזי, ולמה הוא ציון דרך כירורגי כה חשוב?</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את אזור היד במיתרת המוטורית (הגירוס הפרה-מרכזי) - ציון הדרך הקל ביותר לזיהוי הקורטקס המוטורי הראשי</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את מיקום הביקוע הכורואידלי</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את נקודת היציאה של עצב הפנים</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את מיקום הפורמן של מונרו</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B85042"/>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פני שטח לטרליים</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א) את אזור היד במיתרת המוטורית (הגירוס הפרה-מרכזי) - ציון הדרך הקל ביותר לזיהוי הקורטקס המוטורי הראשי</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D99A2B">
              <a:alpha val="12000"/>
            </a:srgbClr>
          </a:solidFill>
          <a:ln w="15875">
            <a:solidFill>
              <a:srgbClr val="D99A2B"/>
            </a:solidFill>
            <a:prstDash val="solid"/>
          </a:ln>
        </p:spPr>
      </p:sp>
      <p:sp>
        <p:nvSpPr>
          <p:cNvPr id="7" name="Shape 5"/>
          <p:cNvSpPr/>
          <p:nvPr/>
        </p:nvSpPr>
        <p:spPr>
          <a:xfrm>
            <a:off x="11292840" y="2176272"/>
            <a:ext cx="256032" cy="256032"/>
          </a:xfrm>
          <a:prstGeom prst="ellipse">
            <a:avLst/>
          </a:prstGeom>
          <a:solidFill>
            <a:srgbClr val="D99A2B"/>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צורת האומגה מופיעה בנקודת המפגש בין התלם הפרונטלי העליון לפרה-מרכזי</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1C7293">
              <a:alpha val="12000"/>
            </a:srgbClr>
          </a:solidFill>
          <a:ln w="15875">
            <a:solidFill>
              <a:srgbClr val="1C7293"/>
            </a:solidFill>
            <a:prstDash val="solid"/>
          </a:ln>
        </p:spPr>
      </p:sp>
      <p:sp>
        <p:nvSpPr>
          <p:cNvPr id="11" name="Shape 9"/>
          <p:cNvSpPr/>
          <p:nvPr/>
        </p:nvSpPr>
        <p:spPr>
          <a:xfrm>
            <a:off x="11292840" y="3044952"/>
            <a:ext cx="256032" cy="256032"/>
          </a:xfrm>
          <a:prstGeom prst="ellipse">
            <a:avLst/>
          </a:prstGeom>
          <a:solidFill>
            <a:srgbClr val="1C7293"/>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מסמנת את אזור היד בקורטקס המוטורי הראשי (הגירוס הפרה-מרכזי)</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2C5F2D">
              <a:alpha val="12000"/>
            </a:srgbClr>
          </a:solidFill>
          <a:ln w="15875">
            <a:solidFill>
              <a:srgbClr val="2C5F2D"/>
            </a:solidFill>
            <a:prstDash val="solid"/>
          </a:ln>
        </p:spPr>
      </p:sp>
      <p:sp>
        <p:nvSpPr>
          <p:cNvPr id="15" name="Shape 13"/>
          <p:cNvSpPr/>
          <p:nvPr/>
        </p:nvSpPr>
        <p:spPr>
          <a:xfrm>
            <a:off x="11292840" y="3913632"/>
            <a:ext cx="256032" cy="256032"/>
          </a:xfrm>
          <a:prstGeom prst="ellipse">
            <a:avLst/>
          </a:prstGeom>
          <a:solidFill>
            <a:srgbClr val="2C5F2D"/>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משמשת ציון דרך למניעת פגיעה מוטורית בניתוחי אונה פרונטלית/פריאטלית</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(1): צורת האומגה בגירוס הפרה-מרכזי היא ציון הדרך הקל ביותר לזיהוי אזור היד במיתרת המוטורית, ומשמשת נתחים למניעת פגיעה מוטורית. תשובות 2, 3, 4 מתארות מבנים לא קשורים לסימן זה.</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סימן האומגה</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צורה דמוית האות היוונית Ω בגירוס הפרה-מרכזי, המסמנת את אזור היד בקורטקס המוטורי הראשי.</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שלט רחוב בצורת האות היוונית אומגה שתמיד מסמן בדיוק את הכניסה ל'מרכז הבקרה של היד'.</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חשוב לזהות את סימן האומגה עוד לפני פתיחת הדורה?</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21295C"/>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עורק המוח האמצעי</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3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מה מסמנת "נקודת M" (sylvian point) האנגיוגרפית, ולמה היא כל כך שימושית כציון דרך יחיד?</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רק את מיקום עצב הפנים ביחס לאוזן הפנימית</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את מקור העורק הבזילרי</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את הגבול בין המוח התיכון לגשר</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את ההקרנה המשותפת של הקצה המדיאלי של גירוס Heschl, הקצה האחורי של האינסולה, והליבה המרכזית, האטריום והפולווינר של התלמוס</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21295C"/>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עורק המוח האמצעי</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ד) את ההקרנה המשותפת של הקצה המדיאלי של גירוס Heschl, הקצה האחורי של האינסולה, והליבה המרכזית, האטריום והפולווינר של התלמוס</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D99A2B">
              <a:alpha val="12000"/>
            </a:srgbClr>
          </a:solidFill>
          <a:ln w="15875">
            <a:solidFill>
              <a:srgbClr val="D99A2B"/>
            </a:solidFill>
            <a:prstDash val="solid"/>
          </a:ln>
        </p:spPr>
      </p:sp>
      <p:sp>
        <p:nvSpPr>
          <p:cNvPr id="7" name="Shape 5"/>
          <p:cNvSpPr/>
          <p:nvPr/>
        </p:nvSpPr>
        <p:spPr>
          <a:xfrm>
            <a:off x="11292840" y="2176272"/>
            <a:ext cx="256032" cy="256032"/>
          </a:xfrm>
          <a:prstGeom prst="ellipse">
            <a:avLst/>
          </a:prstGeom>
          <a:solidFill>
            <a:srgbClr val="D99A2B"/>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נוצרת מהלולאה של הענף האחורי של M3 היוצא מהביקוע הסילביאני</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1C7293">
              <a:alpha val="12000"/>
            </a:srgbClr>
          </a:solidFill>
          <a:ln w="15875">
            <a:solidFill>
              <a:srgbClr val="1C7293"/>
            </a:solidFill>
            <a:prstDash val="solid"/>
          </a:ln>
        </p:spPr>
      </p:sp>
      <p:sp>
        <p:nvSpPr>
          <p:cNvPr id="11" name="Shape 9"/>
          <p:cNvSpPr/>
          <p:nvPr/>
        </p:nvSpPr>
        <p:spPr>
          <a:xfrm>
            <a:off x="11292840" y="3044952"/>
            <a:ext cx="256032" cy="256032"/>
          </a:xfrm>
          <a:prstGeom prst="ellipse">
            <a:avLst/>
          </a:prstGeom>
          <a:solidFill>
            <a:srgbClr val="1C7293"/>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ממוקמת מעל הקצה המדיאלי של גירוס Heschl, מאחורי האינסולה</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2C5F2D">
              <a:alpha val="12000"/>
            </a:srgbClr>
          </a:solidFill>
          <a:ln w="15875">
            <a:solidFill>
              <a:srgbClr val="2C5F2D"/>
            </a:solidFill>
            <a:prstDash val="solid"/>
          </a:ln>
        </p:spPr>
      </p:sp>
      <p:sp>
        <p:nvSpPr>
          <p:cNvPr id="15" name="Shape 13"/>
          <p:cNvSpPr/>
          <p:nvPr/>
        </p:nvSpPr>
        <p:spPr>
          <a:xfrm>
            <a:off x="11292840" y="3913632"/>
            <a:ext cx="256032" cy="256032"/>
          </a:xfrm>
          <a:prstGeom prst="ellipse">
            <a:avLst/>
          </a:prstGeom>
          <a:solidFill>
            <a:srgbClr val="2C5F2D"/>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מסמנת בו-זמנית ארבעה מבנים עמוקים שונים בהקרנה אחת</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(4): נקודת M שימושית כי היא מסמנת בהקרנה אחת ארבעה מבנים עמוקים בו-זמנית - כך שבמקום להעריך כל מבנה בנפרד, ניתן להשתמש בציון דרך שטחי-יחסית להערכה כוללת. תשובות 1, 2, 3 מתארות מבנים לא קשורים.</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נקודת M / Sylvian point</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לולאת הענף האחורי של M3 היוצאת מהביקוע הסילביאני, מעל הקצה המדיאלי של גירוס Heschl.</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צומת דרכים אחד שממנו רואים בבת אחת ארבע שכונות שונות של העיר - אין צורך לבדוק כל שכונה בנפרד.</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זה חשוב שנקודת M מסמנת דווקא את הקצה האחורי של האינסולה ואת הפולווינר של התלמוס יחד?</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6D2E46"/>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קפסולה פנימית</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4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מדוע אוטם קטן בענף לנטיקולוסטריאטלי בודד עלול לגרום להמיפלגיה מלאה, בעוד אוטם קורטיקלי גדול יותר עשוי לגרום לחסר מוגבל יותר?</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הענפים הלנטיקולוסטריאטליים מספקים את כל הקורטקס המוטורי</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הקפסולה הפנימית מכילה יותר נוירונים מהקורטקס</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כל מסלול הקורטיקוספינלי (של כל הגוף) מרוכז ברגל האחורית הצרה של הקפסולה הפנימית, שם אוטם קטן פוגע בכל הסיבים בבת אחת</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אין הבדל אמיתי בין השניים</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6D2E46"/>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קפסולה פנימית</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ג) כי כל מסלול הקורטיקוספינלי (של כל הגוף) מרוכז ברגל האחורית הצרה של הקפסולה הפנימית, שם אוטם קטן פוגע בכל הסיבים בבת אחת</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D99A2B">
              <a:alpha val="12000"/>
            </a:srgbClr>
          </a:solidFill>
          <a:ln w="15875">
            <a:solidFill>
              <a:srgbClr val="D99A2B"/>
            </a:solidFill>
            <a:prstDash val="solid"/>
          </a:ln>
        </p:spPr>
      </p:sp>
      <p:sp>
        <p:nvSpPr>
          <p:cNvPr id="7" name="Shape 5"/>
          <p:cNvSpPr/>
          <p:nvPr/>
        </p:nvSpPr>
        <p:spPr>
          <a:xfrm>
            <a:off x="11292840" y="2176272"/>
            <a:ext cx="256032" cy="256032"/>
          </a:xfrm>
          <a:prstGeom prst="ellipse">
            <a:avLst/>
          </a:prstGeom>
          <a:solidFill>
            <a:srgbClr val="D99A2B"/>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בקורטקס המוטורי הסיבים מפוזרים על שטח נרחב יחסית</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1C7293">
              <a:alpha val="12000"/>
            </a:srgbClr>
          </a:solidFill>
          <a:ln w="15875">
            <a:solidFill>
              <a:srgbClr val="1C7293"/>
            </a:solidFill>
            <a:prstDash val="solid"/>
          </a:ln>
        </p:spPr>
      </p:sp>
      <p:sp>
        <p:nvSpPr>
          <p:cNvPr id="11" name="Shape 9"/>
          <p:cNvSpPr/>
          <p:nvPr/>
        </p:nvSpPr>
        <p:spPr>
          <a:xfrm>
            <a:off x="11292840" y="3044952"/>
            <a:ext cx="256032" cy="256032"/>
          </a:xfrm>
          <a:prstGeom prst="ellipse">
            <a:avLst/>
          </a:prstGeom>
          <a:solidFill>
            <a:srgbClr val="1C7293"/>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ברגל האחורית של הקפסולה הפנימית כל הסיבים מצטופפים למ"מ בודדים</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2C5F2D">
              <a:alpha val="12000"/>
            </a:srgbClr>
          </a:solidFill>
          <a:ln w="15875">
            <a:solidFill>
              <a:srgbClr val="2C5F2D"/>
            </a:solidFill>
            <a:prstDash val="solid"/>
          </a:ln>
        </p:spPr>
      </p:sp>
      <p:sp>
        <p:nvSpPr>
          <p:cNvPr id="15" name="Shape 13"/>
          <p:cNvSpPr/>
          <p:nvPr/>
        </p:nvSpPr>
        <p:spPr>
          <a:xfrm>
            <a:off x="11292840" y="3913632"/>
            <a:ext cx="256032" cy="256032"/>
          </a:xfrm>
          <a:prstGeom prst="ellipse">
            <a:avLst/>
          </a:prstGeom>
          <a:solidFill>
            <a:srgbClr val="2C5F2D"/>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לכן אוטם לקוני קטן שם חותך את כל המסלול בבת אחת</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(2): הרגל האחורית של הקפסולה הפנימית היא "צוואר בקבוק" אנטומי שבו כל מסלול הקורטיקוספינלי מצטופף לרצועה צרה - ולכן אפילו אוטם לקוני קטן שם יכול לגרום להמיפלגיה מלאה, בשונה מהקורטקס שבו הסיבים עדיין מפוזרים. תשובות 0, 1, 3 שגויות עובדתית.</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רגל אחורית של הקפסולה הפנימית</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מקטע צר בין התלמוס לחצי האחורי של הגרעין העדשתי, המכיל את כל מסלול הקורטיקוספינלי.</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כביש רחב שמצטמצם לפתע למנהרה חד-נתיבית - תאונה קטנה במנהרה חוסמת את כל התנועה, בעוד תאונה בכביש הרחב חוסמת רק נתיב אחד.</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מה המשמעות הקלינית של העיקרון הזה עבור אבחון שבץ?</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2C5F2D"/>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ביקוע כורואידלי</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5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מדוע הביקוע הכורואידלי נחשב לאחד מציוני הדרך המיקרו-כירורגיים החשובים ביותר בניתוחי אונה טמפורלית?</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הוא מפריד בין הביקוע הסילביאני לאינסולה</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הוא מפריד בין מבנים טמפורליים (כמו היפוקמפוס ואמיגדלה) שניתן להסיר לבין מבנים תלמיים שיש לשמר</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הוא מפריד בין הגשר למדולה</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הוא מהווה את הגבול בין המוח לגולגולת</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2C5F2D"/>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ביקוע כורואידלי</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ב) כי הוא מפריד בין מבנים טמפורליים (כמו היפוקמפוס ואמיגדלה) שניתן להסיר לבין מבנים תלמיים שיש לשמר</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D99A2B">
              <a:alpha val="12000"/>
            </a:srgbClr>
          </a:solidFill>
          <a:ln w="15875">
            <a:solidFill>
              <a:srgbClr val="D99A2B"/>
            </a:solidFill>
            <a:prstDash val="solid"/>
          </a:ln>
        </p:spPr>
      </p:sp>
      <p:sp>
        <p:nvSpPr>
          <p:cNvPr id="7" name="Shape 5"/>
          <p:cNvSpPr/>
          <p:nvPr/>
        </p:nvSpPr>
        <p:spPr>
          <a:xfrm>
            <a:off x="11292840" y="2176272"/>
            <a:ext cx="256032" cy="256032"/>
          </a:xfrm>
          <a:prstGeom prst="ellipse">
            <a:avLst/>
          </a:prstGeom>
          <a:solidFill>
            <a:srgbClr val="D99A2B"/>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חריץ C-שכל בין התלמוס לפורניקס, ממנו יוצאת מקלעת הכורואיד</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1C7293">
              <a:alpha val="12000"/>
            </a:srgbClr>
          </a:solidFill>
          <a:ln w="15875">
            <a:solidFill>
              <a:srgbClr val="1C7293"/>
            </a:solidFill>
            <a:prstDash val="solid"/>
          </a:ln>
        </p:spPr>
      </p:sp>
      <p:sp>
        <p:nvSpPr>
          <p:cNvPr id="11" name="Shape 9"/>
          <p:cNvSpPr/>
          <p:nvPr/>
        </p:nvSpPr>
        <p:spPr>
          <a:xfrm>
            <a:off x="11292840" y="3044952"/>
            <a:ext cx="256032" cy="256032"/>
          </a:xfrm>
          <a:prstGeom prst="ellipse">
            <a:avLst/>
          </a:prstGeom>
          <a:solidFill>
            <a:srgbClr val="1C7293"/>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משתרע מפורמן מונרו דרך הגוף והאטריום ועד לקרן הטמפורלית</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2C5F2D">
              <a:alpha val="12000"/>
            </a:srgbClr>
          </a:solidFill>
          <a:ln w="15875">
            <a:solidFill>
              <a:srgbClr val="2C5F2D"/>
            </a:solidFill>
            <a:prstDash val="solid"/>
          </a:ln>
        </p:spPr>
      </p:sp>
      <p:sp>
        <p:nvSpPr>
          <p:cNvPr id="15" name="Shape 13"/>
          <p:cNvSpPr/>
          <p:nvPr/>
        </p:nvSpPr>
        <p:spPr>
          <a:xfrm>
            <a:off x="11292840" y="3913632"/>
            <a:ext cx="256032" cy="256032"/>
          </a:xfrm>
          <a:prstGeom prst="ellipse">
            <a:avLst/>
          </a:prstGeom>
          <a:solidFill>
            <a:srgbClr val="2C5F2D"/>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מהווה מישור בטוח יחסית להפרדת רקמה טמפורלית מתלמית</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(1): הביקוע הכורואידלי משמש כ"קו הגבול הבטוח" בניתוחי אמיגדלו-היפוקמפקטומי - נתחים עובדים עד לביקוע ולא מעברו כדי לשמר את התלמוס. תשובות 0, 2, 3 מתארות גבולות אנטומיים לא קשורים.</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ביקוע כורואידלי</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חריץ בין התלמוס לפורניקס, המפריד מבנים טמפורליים הניתנים להסרה ממבנים תלמיים שיש לשמר.</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גדר חיה בגן שמפרידה בבירור בין אזור שמותר לגזום בו לבין אזור שאסור לגעת בו.</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באיזה הקשר קליני-כירורגי ספציפי הביקוע הכורואידלי הכי קריטי?</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990011"/>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פוסה אחורית</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6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לפי "כלל השלוש" של ד"ר Rhoton, אילו שלושה עורקים ראשיים מספקים את המוחון וחלקי גזע המוח?</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MCA, ACA, PCA</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ICA, VA, BA (בלבד, ללא ענפים)</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AChA, PCom, ACom</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SCA (עורק צרבלרי עליון), AICA (עורק צרבלרי תחתון-קדמי), PICA (עורק צרבלרי תחתון-אחורי)</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990011"/>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פוסה אחורית</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ד) SCA (עורק צרבלרי עליון), AICA (עורק צרבלרי תחתון-קדמי), PICA (עורק צרבלרי תחתון-אחורי)</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D99A2B">
              <a:alpha val="12000"/>
            </a:srgbClr>
          </a:solidFill>
          <a:ln w="15875">
            <a:solidFill>
              <a:srgbClr val="D99A2B"/>
            </a:solidFill>
            <a:prstDash val="solid"/>
          </a:ln>
        </p:spPr>
      </p:sp>
      <p:sp>
        <p:nvSpPr>
          <p:cNvPr id="7" name="Shape 5"/>
          <p:cNvSpPr/>
          <p:nvPr/>
        </p:nvSpPr>
        <p:spPr>
          <a:xfrm>
            <a:off x="11292840" y="2176272"/>
            <a:ext cx="256032" cy="256032"/>
          </a:xfrm>
          <a:prstGeom prst="ellipse">
            <a:avLst/>
          </a:prstGeom>
          <a:solidFill>
            <a:srgbClr val="D99A2B"/>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SCA - יוצא סמוך לפיצול הבזילרי, מספק את הפן הטנטוריאלי</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1C7293">
              <a:alpha val="12000"/>
            </a:srgbClr>
          </a:solidFill>
          <a:ln w="15875">
            <a:solidFill>
              <a:srgbClr val="1C7293"/>
            </a:solidFill>
            <a:prstDash val="solid"/>
          </a:ln>
        </p:spPr>
      </p:sp>
      <p:sp>
        <p:nvSpPr>
          <p:cNvPr id="11" name="Shape 9"/>
          <p:cNvSpPr/>
          <p:nvPr/>
        </p:nvSpPr>
        <p:spPr>
          <a:xfrm>
            <a:off x="11292840" y="3044952"/>
            <a:ext cx="256032" cy="256032"/>
          </a:xfrm>
          <a:prstGeom prst="ellipse">
            <a:avLst/>
          </a:prstGeom>
          <a:solidFill>
            <a:srgbClr val="1C7293"/>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AICA - יוצא מהעורק הבזילרי, ה-meatal loop קרוב למיאטוס האקוסטי</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2C5F2D">
              <a:alpha val="12000"/>
            </a:srgbClr>
          </a:solidFill>
          <a:ln w="15875">
            <a:solidFill>
              <a:srgbClr val="2C5F2D"/>
            </a:solidFill>
            <a:prstDash val="solid"/>
          </a:ln>
        </p:spPr>
      </p:sp>
      <p:sp>
        <p:nvSpPr>
          <p:cNvPr id="15" name="Shape 13"/>
          <p:cNvSpPr/>
          <p:nvPr/>
        </p:nvSpPr>
        <p:spPr>
          <a:xfrm>
            <a:off x="11292840" y="3913632"/>
            <a:ext cx="256032" cy="256032"/>
          </a:xfrm>
          <a:prstGeom prst="ellipse">
            <a:avLst/>
          </a:prstGeom>
          <a:solidFill>
            <a:srgbClr val="2C5F2D"/>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PICA - יוצא מהעורק הוורטברלי, מספק את הפן הסאב-אוקסיפיטלי</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(3): SCA, AICA ו-PICA הם שלושת העורקים הראשיים של הפוסה האחורית לפי "כלל השלוש", וכל אחד מסופק ממקור שונה (בזילרי לשניים הראשונים, ורטברלי לשלישי) ומספק אזור אחר של המוחון וגזע המוח. תשובות 0, 1, 2 מתארות עורקים לא ספציפיים לפוסה האחורית.</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כלל השלוש - עורקים</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SCA, AICA, PICA - שלושת העורקים הראשיים המספקים את המוחון וגזע המוח בפוסה האחורית.</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שלוש משאבות מים נפרדות, כל אחת אחראית על קומה אחרת בבניין - עליונה, אמצעית ותחתונה.</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חשוב מבחינה קלינית לדעת איזה משלושת העורקים נפגע?</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028090"/>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זווית פונטוצרבלרית</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7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מהו "קו טובינגן" (Tübingen line), ומתי הוא שימושי במיוחד בניתוחי זווית פונטוצרבלרית?</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קו דמיוני בין שני התלמוסים</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הגבול בין הגשר למדולה</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קפלים דוראליים קטנים מיד מאחורי הפורמן היוגולרי הפונים לכיוון הקצה האחורי של המיאטוס האקוסטי הפנימי - שימושי לאיתור דופן המיאטוס כאשר גידול גדול מסתיר את העצבים</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הקו המפריד בין האונה הטמפורלית לאוקסיפיטלית</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028090"/>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זווית פונטוצרבלרית</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ג) קפלים דוראליים קטנים מיד מאחורי הפורמן היוגולרי הפונים לכיוון הקצה האחורי של המיאטוס האקוסטי הפנימי - שימושי לאיתור דופן המיאטוס כאשר גידול גדול מסתיר את העצבים</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D99A2B">
              <a:alpha val="12000"/>
            </a:srgbClr>
          </a:solidFill>
          <a:ln w="15875">
            <a:solidFill>
              <a:srgbClr val="D99A2B"/>
            </a:solidFill>
            <a:prstDash val="solid"/>
          </a:ln>
        </p:spPr>
      </p:sp>
      <p:sp>
        <p:nvSpPr>
          <p:cNvPr id="7" name="Shape 5"/>
          <p:cNvSpPr/>
          <p:nvPr/>
        </p:nvSpPr>
        <p:spPr>
          <a:xfrm>
            <a:off x="11292840" y="2176272"/>
            <a:ext cx="256032" cy="256032"/>
          </a:xfrm>
          <a:prstGeom prst="ellipse">
            <a:avLst/>
          </a:prstGeom>
          <a:solidFill>
            <a:srgbClr val="D99A2B"/>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קפלים דוראליים קטנים ליד הפורמן היוגולרי</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1C7293">
              <a:alpha val="12000"/>
            </a:srgbClr>
          </a:solidFill>
          <a:ln w="15875">
            <a:solidFill>
              <a:srgbClr val="1C7293"/>
            </a:solidFill>
            <a:prstDash val="solid"/>
          </a:ln>
        </p:spPr>
      </p:sp>
      <p:sp>
        <p:nvSpPr>
          <p:cNvPr id="11" name="Shape 9"/>
          <p:cNvSpPr/>
          <p:nvPr/>
        </p:nvSpPr>
        <p:spPr>
          <a:xfrm>
            <a:off x="11292840" y="3044952"/>
            <a:ext cx="256032" cy="256032"/>
          </a:xfrm>
          <a:prstGeom prst="ellipse">
            <a:avLst/>
          </a:prstGeom>
          <a:solidFill>
            <a:srgbClr val="1C7293"/>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מצביעים לכיוון הקצה האחורי של המיאטוס האקוסטי הפנימי</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2C5F2D">
              <a:alpha val="12000"/>
            </a:srgbClr>
          </a:solidFill>
          <a:ln w="15875">
            <a:solidFill>
              <a:srgbClr val="2C5F2D"/>
            </a:solidFill>
            <a:prstDash val="solid"/>
          </a:ln>
        </p:spPr>
      </p:sp>
      <p:sp>
        <p:nvSpPr>
          <p:cNvPr id="15" name="Shape 13"/>
          <p:cNvSpPr/>
          <p:nvPr/>
        </p:nvSpPr>
        <p:spPr>
          <a:xfrm>
            <a:off x="11292840" y="3913632"/>
            <a:ext cx="256032" cy="256032"/>
          </a:xfrm>
          <a:prstGeom prst="ellipse">
            <a:avLst/>
          </a:prstGeom>
          <a:solidFill>
            <a:srgbClr val="2C5F2D"/>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מסייעים לאתר את דופן המיאטוס כשגידול גדול (כמו שוואנומה) מסתיר את העצבים</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(2): קו טובינגן הוא ציון דרך דוראלי עדין אך אמין לאיתור דופן המיאטוס האקוסטי הפנימי, שימושי במיוחד בשוואנומות וסטיבולריות גדולות שבהן מבנה הרקמה הרגיל מעוות. תשובות 0, 1, 3 מתארות מבנים לא קשורים.</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קו טובינגן</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קפלים דוראליים ליד הפורמן היוגולרי המצביעים לעבר הקצה האחורי של המיאטוס האקוסטי הפנימי.</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חוט הכוונה קטן ועדין שמצביע תמיד לעבר הדלת הנכונה, גם כשריהוט גדול (הגידול) חוסם את שאר החדר.</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קווי הכוונה כמו זה חשובים דווקא בגידולים גדולים?</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84B59F"/>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מערכת ורידית</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8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מדוע ורידי גישור כמו Labbé ו-Trolard נחשבים מסוכנים יותר להקרבה מרוב העורקים בניתוחי מוח?</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הם מכילים דם עורקי בלחץ גבוה</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הם קטנים מדי לזיהוי תוך-ניתוחי</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הם לרוב מהווים את הניקוז הוורידי היחיד או העיקרי של אזור נרחב, וללא זרימת עוקף (collateral) מספקת - קריעתם עלולה לגרום לאוטם ורידי</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הם ממוקמים תמיד עמוק מתחת לקורטקס ולכן קשה להימנע מהם</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84B59F"/>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מערכת ורידית</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ג) כי הם לרוב מהווים את הניקוז הוורידי היחיד או העיקרי של אזור נרחב, וללא זרימת עוקף (collateral) מספקת - קריעתם עלולה לגרום לאוטם ורידי</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וריד Trolard - הגדול ביותר, בעיקר פריאטלי, בין הסינוס הסגיטלי לביקוע הסילביאני</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וריד Labbé - הגדול ביותר החוצה את האונה הטמפורלית לכיוון הסינוס הרוחבי</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B91C1C">
              <a:alpha val="12000"/>
            </a:srgbClr>
          </a:solidFill>
          <a:ln w="15875">
            <a:solidFill>
              <a:srgbClr val="B91C1C"/>
            </a:solidFill>
            <a:prstDash val="solid"/>
          </a:ln>
        </p:spPr>
      </p:sp>
      <p:sp>
        <p:nvSpPr>
          <p:cNvPr id="15" name="Shape 13"/>
          <p:cNvSpPr/>
          <p:nvPr/>
        </p:nvSpPr>
        <p:spPr>
          <a:xfrm>
            <a:off x="11292840" y="3913632"/>
            <a:ext cx="256032" cy="256032"/>
          </a:xfrm>
          <a:prstGeom prst="ellipse">
            <a:avLst/>
          </a:prstGeom>
          <a:solidFill>
            <a:srgbClr val="B91C1C"/>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בניגוד לעורקים, ורידים גדולים אלו לרוב לא ניתן להקריב בלי סיכון לאוטם ורידי</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(3): בניגוד למערכת העורקים שיש בה לעיתים קרובות זרימת עוקף (collaterals) דרך מעגל וויליס וענפים משיקים, ורידי הגישור השטחיים הגדולים כמו Labbé ו-Trolard מהווים לרוב את מוצא הניקוז הבלעדי או העיקרי של אזור נרחב במוח. פגיעה בהם - למשל בגישה סאב-טמפורלית שבה עלול להיקרע וריד Labbé - גורמת לגודש ורידי ולאוטם ורידי, שעלול להיות הרסני יותר ממה שנראה בתחילת הניתוח.</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Bridging veins</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ורידים קורטיקליים שטחיים המגשרים בין פני המוח לסינוסים הדוראליים; חסרי זרימת עוקף מספקת, ולכן רגישים במיוחד לפגיעה ניתוחית.</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עיר עם כביש ראשי יחיד היוצא ממנה לכיוון הים (הסינוס). אם חוסמים את הכביש הזה (קורעים את הווריד), כל התנועה (הדם) נתקעת בעיר ונגרמת פקק ענק (גודש ואוטם ורידי) - לעומת רשת כבישים עורקית שבה יש דרכים חלופיות.</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נתחים ממפים את מהלך וריד Labbé לפני פתיחת הדורה בגישות טמפורליות-תחתונות?</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C1B2A"/>
        </a:solidFill>
      </p:bgPr>
    </p:bg>
    <p:spTree>
      <p:nvGrpSpPr>
        <p:cNvPr id="1" name=""/>
        <p:cNvGrpSpPr/>
        <p:nvPr/>
      </p:nvGrpSpPr>
      <p:grpSpPr>
        <a:xfrm>
          <a:off x="0" y="0"/>
          <a:ext cx="0" cy="0"/>
          <a:chOff x="0" y="0"/>
          <a:chExt cx="0" cy="0"/>
        </a:xfrm>
      </p:grpSpPr>
      <p:sp>
        <p:nvSpPr>
          <p:cNvPr id="2" name="Text 0"/>
          <p:cNvSpPr/>
          <p:nvPr/>
        </p:nvSpPr>
        <p:spPr>
          <a:xfrm>
            <a:off x="914400" y="548640"/>
            <a:ext cx="10360152" cy="640080"/>
          </a:xfrm>
          <a:prstGeom prst="rect">
            <a:avLst/>
          </a:prstGeom>
          <a:noFill/>
          <a:ln/>
        </p:spPr>
        <p:txBody>
          <a:bodyPr wrap="square" rtlCol="0" anchor="ctr"/>
          <a:lstStyle/>
          <a:p>
            <a:pPr rtl="1" algn="ctr" indent="0" marL="0">
              <a:buNone/>
            </a:pPr>
            <a:r>
              <a:rPr lang="en-US" sz="3000" b="1" dirty="0">
                <a:solidFill>
                  <a:srgbClr val="FFFFFF"/>
                </a:solidFill>
                <a:latin typeface="Calibri" pitchFamily="34" charset="0"/>
                <a:ea typeface="Calibri" pitchFamily="34" charset="-122"/>
                <a:cs typeface="Calibri" pitchFamily="34" charset="-120"/>
              </a:rPr>
              <a:t>סיכום הכרטיסיות</a:t>
            </a:r>
            <a:endParaRPr lang="en-US" sz="3000" dirty="0"/>
          </a:p>
        </p:txBody>
      </p:sp>
      <p:sp>
        <p:nvSpPr>
          <p:cNvPr id="3" name="Text 1"/>
          <p:cNvSpPr/>
          <p:nvPr/>
        </p:nvSpPr>
        <p:spPr>
          <a:xfrm>
            <a:off x="1097280" y="1463040"/>
            <a:ext cx="9994392" cy="4389120"/>
          </a:xfrm>
          <a:prstGeom prst="rect">
            <a:avLst/>
          </a:prstGeom>
          <a:noFill/>
          <a:ln/>
        </p:spPr>
        <p:txBody>
          <a:bodyPr wrap="square" rtlCol="0" anchor="t"/>
          <a:lstStyle/>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X-ray vision</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ציון דרך אנטומי</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תכנון ניתוחי</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סימן אומגה</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גירוס פרה-מרכזי</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קורטקס מוטורי</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Sylvian point</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M3 segment</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Heschl gyrus</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קפסולה פנימית</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מסלול קורטיקוספינלי</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אוטם לקוני</a:t>
            </a:r>
            <a:endParaRPr lang="en-US" sz="1600" dirty="0"/>
          </a:p>
        </p:txBody>
      </p:sp>
      <p:sp>
        <p:nvSpPr>
          <p:cNvPr id="4" name="Text 2"/>
          <p:cNvSpPr/>
          <p:nvPr/>
        </p:nvSpPr>
        <p:spPr>
          <a:xfrm>
            <a:off x="914400" y="6309360"/>
            <a:ext cx="10360152" cy="365760"/>
          </a:xfrm>
          <a:prstGeom prst="rect">
            <a:avLst/>
          </a:prstGeom>
          <a:noFill/>
          <a:ln/>
        </p:spPr>
        <p:txBody>
          <a:bodyPr wrap="square"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maskit101.github.io/summeries-medicine/neurosurgery8</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2026-09-18T08:29:50Z</dcterms:created>
  <dcterms:modified xsi:type="dcterms:W3CDTF">2026-09-18T08:29:50Z</dcterms:modified>
</cp:coreProperties>
</file>