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Oval 3"/>
          <p:cNvSpPr/>
          <p:nvPr/>
        </p:nvSpPr>
        <p:spPr>
          <a:xfrm>
            <a:off x="5559552" y="640080"/>
            <a:ext cx="1078992" cy="1078992"/>
          </a:xfrm>
          <a:prstGeom prst="ellipse">
            <a:avLst/>
          </a:prstGeom>
          <a:noFill/>
          <a:ln w="381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8152" y="868680"/>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0360152" cy="914400"/>
          </a:xfrm>
          <a:prstGeom prst="rect">
            <a:avLst/>
          </a:prstGeom>
          <a:noFill/>
        </p:spPr>
        <p:txBody>
          <a:bodyPr wrap="square" anchor="ctr" lIns="0" rIns="0" tIns="0" bIns="0">
            <a:spAutoFit/>
          </a:bodyPr>
          <a:lstStyle/>
          <a:p>
            <a:pPr algn="ctr" rtl="1"/>
            <a:r>
              <a:rPr sz="4000" b="1">
                <a:solidFill>
                  <a:srgbClr val="FFFFFF"/>
                </a:solidFill>
                <a:latin typeface="Calibri"/>
              </a:rPr>
              <a:t>נוירוכירורגיה — מהדורה 8</a:t>
            </a:r>
          </a:p>
        </p:txBody>
      </p:sp>
      <p:sp>
        <p:nvSpPr>
          <p:cNvPr id="7" name="TextBox 6"/>
          <p:cNvSpPr txBox="1"/>
          <p:nvPr/>
        </p:nvSpPr>
        <p:spPr>
          <a:xfrm>
            <a:off x="914400" y="3017520"/>
            <a:ext cx="10360152" cy="640080"/>
          </a:xfrm>
          <a:prstGeom prst="rect">
            <a:avLst/>
          </a:prstGeom>
          <a:noFill/>
        </p:spPr>
        <p:txBody>
          <a:bodyPr wrap="square" anchor="ctr" lIns="0" rIns="0" tIns="0" bIns="0">
            <a:spAutoFit/>
          </a:bodyPr>
          <a:lstStyle/>
          <a:p>
            <a:pPr algn="ctr" rtl="1"/>
            <a:r>
              <a:rPr sz="2200" b="0">
                <a:solidFill>
                  <a:srgbClr val="93C5FD"/>
                </a:solidFill>
                <a:latin typeface="Calibri"/>
              </a:rPr>
              <a:t>פרק 14: דימות טנזור דיפוזיה (DTI)</a:t>
            </a:r>
          </a:p>
        </p:txBody>
      </p:sp>
      <p:sp>
        <p:nvSpPr>
          <p:cNvPr id="8" name="TextBox 7"/>
          <p:cNvSpPr txBox="1"/>
          <p:nvPr/>
        </p:nvSpPr>
        <p:spPr>
          <a:xfrm>
            <a:off x="914400" y="3657600"/>
            <a:ext cx="10360152" cy="457200"/>
          </a:xfrm>
          <a:prstGeom prst="rect">
            <a:avLst/>
          </a:prstGeom>
          <a:noFill/>
        </p:spPr>
        <p:txBody>
          <a:bodyPr wrap="square" anchor="ctr" lIns="0" rIns="0" tIns="0" bIns="0">
            <a:spAutoFit/>
          </a:bodyPr>
          <a:lstStyle/>
          <a:p>
            <a:pPr algn="ctr" rtl="1"/>
            <a:r>
              <a:rPr sz="1400" b="0">
                <a:solidFill>
                  <a:srgbClr val="7DD3FC"/>
                </a:solidFill>
                <a:latin typeface="Calibri"/>
              </a:rPr>
              <a:t>Diffusion Tensor Imaging  ·  Youmans Neurological Surgery, 8th Ed. · Aaron G. Filler</a:t>
            </a:r>
          </a:p>
        </p:txBody>
      </p:sp>
      <p:sp>
        <p:nvSpPr>
          <p:cNvPr id="9" name="TextBox 8"/>
          <p:cNvSpPr txBox="1"/>
          <p:nvPr/>
        </p:nvSpPr>
        <p:spPr>
          <a:xfrm>
            <a:off x="914400" y="5943600"/>
            <a:ext cx="10360152" cy="548640"/>
          </a:xfrm>
          <a:prstGeom prst="rect">
            <a:avLst/>
          </a:prstGeom>
          <a:noFill/>
        </p:spPr>
        <p:txBody>
          <a:bodyPr wrap="square" anchor="ctr" lIns="0" rIns="0" tIns="0" bIns="0">
            <a:spAutoFit/>
          </a:bodyPr>
          <a:lstStyle/>
          <a:p>
            <a:pPr algn="ctr" rtl="1"/>
            <a:r>
              <a:rPr sz="1250" b="0">
                <a:solidFill>
                  <a:srgbClr val="64748B"/>
                </a:solidFill>
                <a:latin typeface="Calibri"/>
              </a:rPr>
              <a:t>8 כרטיסיות תרגול · שאלה ואז תשובה מלאה בכל כרטיסייה · לסטטיסטיקה חיה השתמשו באתר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פיזיקה של דיפוזיה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1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באקסון שעובר בווקסל, באיזה כיוון גרדיאנט דיפוזיה האות יהיה הכהה ביותר, ולמה?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ניצב לאקסון - כי המים לא יכולים לנוע לאורכו</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הבדל - דיפוזיה באקסון איזוטרופית</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מקביל לאקסון - כי המים נעים בעיקר לאורכו ונכנסים לאזורים בעוצמת שדה שונה, כך שהקוהרנטיות אובדת מהר</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בכיוון ה-z בלבד, בגלל השדה הראשי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פיזיקה של דיפוזיה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מקביל לאקסון - כי המים נעים בעיקר לאורכו ונכנסים לאזורים בעוצמת שדה שונה, כך שהקוהרנטיות אובדת מהר</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כשהגרדיאנט מקביל לאקסון, המים שנעים לאורכו עוברים במהירות לעוצמות שדה גבוהות ונמוכות יותר, הפאזות מתפזרות והאות דועך. כשהגרדיאנט ניצב, כל האקסון נמצא באותה עוצמת שדה, ולכן תנועה לאורכו לא מאבדת אות. רקמה איזוטרופית דועכת בקצב בינוני וזהה בכל כיוון.</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Anisotropic diffusion</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דיפוזיה עם כיוון מועדף. בחומר לבן ובעצבים המים נעים בעיקר לאורך האקסון.</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רכבת בתוך מנהרה (אקסון). אם המדרון (הגרדיאנט) לאורך המנהרה, הרכבת כל הזמן משנה גובה: כאוס. אם המדרון רוחבי, הרכבת נשארת באותו גובה: שקט.</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מים נעים בעיקר לאורך האקסון (אניזוטרופיה)</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גרדיאנט מקביל: תנועה בין שדות שונים, האות מחשיך</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גרדיאנט ניצב: עוצמת שדה קבועה, האות נשאר בהיר</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פיזיקה של דיפוזיה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2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הייתה הבעיה הפיזיקלית שמנעה ייצור תמונות אניזוטרופיה עד 1992, ואיך פתרו אותה Howe ו-Filler?</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הסורקים לא הגיעו ל-3T - הפתרון היה סורק 7T</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Cross terms: גרדיאנט דיפוזיה אלכסוני הפריע לגרדיאנטי המיקום. הפתרון: פיצול גרדיאנט המיקום (קידוד הפאזה) לשני פולסים הפוכים, סימטריים סביב פולס 180°</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תנועת המטופל - הפתרון היה gating נשימתי</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חוסר בתוכנה - הפתרון היה אלגוריתם FACT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פיזיקה של דיפוזיה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Cross terms: גרדיאנט דיפוזיה אלכסוני הפריע לגרדיאנטי המיקום. הפתרון: פיצול גרדיאנט המיקום (קידוד הפאזה) לשני פולסים הפוכים, סימטריים סביב פולס 180°</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כדי לחשב טנזור צריך גרדיאנטים מכמה זוויות. גרדיאנט חזק שלא לאורך x, y או z יוצר cross terms עם גרדיאנטי המיקום, בעיקר עם קידוד הפאזה, והתמונה נהרסת. Howe ו-Filler פיצלו את גרדיאנט המיקום הקרוב ביותר בזמן לשני פולסים הפוכים, לפני ואחרי פולס ה-180° (single-shot), ופרסמו את זה ב-1992. השיטה משמשת עד היום בכל DTI, HARDI ו-Q-Ball.</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Cross terms</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הפרעה הדדית בין גרדיאנט דיפוזיה אלכסוני לגרדיאנטי המיקום x, y, z שהורסת את התמונה.</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שני מוזיקאים מנגנים בבת אחת: התזמורת (גרדיאנטי המיקום) ותופי ענק (גרדיאנט הדיפוזיה). הפתרון: התזמורת מנגנת משפט אחד לפני הפסקת ה-180° ואת ההיפוך שלו אחריה, והרעש מתקזז.</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גרדיאנט הדיפוזיה חזק פי ~10 מגרדיאנטי המיקום</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מזווית אלכסונית הוא שובר את קידוד הפאזה (cross terms)</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פיצול הפוך סביב 180° מבטל אותם ברכישה אחת</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מדדי הטנזור</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3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איזו התאמה בין מדד לנוסחה נכונה?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AD = λ1; RD = (λ2+λ3)/2; MD = (λ1+λ2+λ3)/3; FA בין 0 (כדור) ל-1</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AD = (λ2+λ3)/2; RD = λ1; FA = λ1/λ3</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MD = λ1×λ2×λ3; FA תמיד 1 בחומר לבן</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FA = Trace / 3; MD = 1 - FA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מדדי הטנזור</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AD = λ1; RD = (λ2+λ3)/2; MD = (λ1+λ2+λ3)/3; FA בין 0 (כדור) ל-1</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נוסחת ה-FA מורידה את התוצאה לאפס כש-λ1, λ2 ו-λ3 כמעט שווים (כדור, למשל CSF) ומגבירה את ההשפעה של אליפסואיד פחוס. הערך הגבוה ביותר במוח הוא בסְפְּלֵניום של הקורפוס קלוסום (~0.75-0.85). MD ישים גם לחומר אפור.</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Eigenvalues λ1-λ3</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אורכי שלושת הצירים של אליפסואיד הדיפוזיה בווקסל. הווקטור העצמי הראשי e1 הוא כיוון הציר הארוך.</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אליפסואיד הוא כדור רגבי: λ1 הוא אורכו, λ2 ו-λ3 העובי. כדור כדורגל (כל הצירים שווים) מקבל FA=0, ומחט מקבלת FA קרוב ל-1.</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λ1 = ציר ארוך (AD)</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ממוצע הצירים הקצרים = RD; ממוצע כל השלושה = MD (Trace = 3×MD)</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FA: 0 כשהערכים שווים, קרוב ל-1 כשהם שונים מאוד</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שיטות טרקטוגרפיה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4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למה טרקטוגרפיה דטרמיניסטית על בסיס DTI (FACT) מסוכנת יחסית בתכנון ניתוח, ומה החלופה?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כי היא איטית מדי לשימוש קליני; החלופה היא CT</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כי היא מציגה רק חומר אפור; החלופה היא fMRI</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כי היא דורשת חומר ניגוד; החלופה היא ASL</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כי בכל ווקסל יש לה רק וקטור אחד, ולכן היא נעצרת או סוטה בסיבים חוצים, מתפצלים או בפניות חדות. החלופה: HARDI/Q-Ball הסתברותי או CSD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שיטות טרקטוגרפיה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כי בכל ווקסל יש לה רק וקטור אחד, ולכן היא נעצרת או סוטה בסיבים חוצים, מתפצלים או בפניות חדות. החלופה: HARDI/Q-Ball הסתברותי או CSD</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FACT של Mori (בשימוש למשל ב-Brainlab) עובד טוב כשבווקסל יש וקטור אחד בלבד. ב-UCSF הראו ששיטות הסתברותיות עם HARDI/Q-Ball בטוחות ואמינות יותר להנחיית ניתוח. CSD עם טרקטוגרפיה דטרמיניסטית משיג מהירות עם דיוק שמשתווה להסתברותי או עולה עליו, והוא הסטנדרט של פרויקט הקונקטום.</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CSD (Constrained Spherical Deconvolution)</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עידון של HARDI שמוצא כמה מקסימות של כיוון בכל ווקסל, כך שאפשר לעקוב אחרי סיבים חוצים ומתפצלים.</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נווט עם מצפן אחד (DTI) מגיע לצומת X ונתקע. נווט עם מפה של כל הכבישים בצומת (HARDI/CSD) ממשיך בשני הענפים.</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טנזור יחיד ממצע שני כיוונים חוצים</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המסלול נעצר ומשמיט ענפים (מסוכן ליד גידול)</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שיטות וקטוריות מוצאות כמה כיוונים בווקסל; CSD דטרמיניסטי מהיר ומדויק</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טרקטוגרפיה בניתוח</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5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הראה המחקר הפרוספקטיבי המבוקר של Wu ושות' (2007, 260 ניתוחי גליומה) על שימוש בטרקטוגרפיה?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הבדל בתוצאות</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ירידה של 43% בתמותה הקשורה לניתוח ושל 62% בתחלואה (שיתוק, אילמות, עיוורון)</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עלייה בתחלואה בגלל הארכת הניתוח</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שיפור רק בגליומות בדרגה נמוכה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טרקטוגרפיה בניתוח</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ירידה של 43% בתמותה הקשורה לניתוח ושל 62% בתחלואה (שיתוק, אילמות, עיוורון)</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הצגת המסלול הפירמידלי, ה-arcuate fasciculus והקרינה האופטית ביחס לגידול, גם כשהם נדחקים, הגבירה מאוד את הבטיחות ותומכת בהיקף כריתה גדול יותר.</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Maximal safe resection</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כריתה מרבית של הגידול תוך שמירה על מסלולים אלוקוונטיים.</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43 ו-62: "43 פחות מתים, 62 פחות משותקים". 43+62 = 105, קצת יותר מ-100: טרקטוגרפיה "משתלמת ביותר ממאה אחוז".</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תמותה הקשורה לניתוח: ירידה של 43%</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תחלואה (שיתוק, אילמות, עיוורון): ירידה של 62%</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מטרה: כריתה מקסימלית בטוחה</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טרקטוגרפיה בניתוח</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6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בכריתה טמפורלית לאפילפסיה, איזה מסלול בסכנה, מה החסר הצפוי, ואיזו שיטה מציגה אותו טוב יותר?</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Arcuate fasciculus; אפזיה; FA בלבד</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Uncinate; זעם; DTI דטרמיניסטי</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לולאת Meyer (קרינה אופטית); קוואדרנטנופיה עליונה נגדית; טרקטוגרפיה הסתברותית עם HARDI/Q-Ball</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מסלול פירמידלי; המיפלגיה; FACT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טרקטוגרפיה בניתוח</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לולאת Meyer (קרינה אופטית); קוואדרנטנופיה עליונה נגדית; טרקטוגרפיה הסתברותית עם HARDI/Q-Ball</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ממפים מה-lateral geniculate body ועד הקורטקס סביב הסולקוס הקלקריני. הפנייה החדה של לולאת Meyer היא נקודת חולשה של טרקטוגרפיה דטרמיניסטית על בסיס טנזור, ושיטות הסתברותיות עם נתונים וקטוריים מתמודדות איתה טוב.</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Meyer loop</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סיבי הקרינה האופטית מהשדה העליון, שעוברים קדימה לתוך האונה הטמפורלית לפני שהם פונים לאחור לקורטקס האוקסיפיטלי.</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Meyer עושה פרסה: הוא פונה קדימה לאונה הטמפורלית ואז מסתובב אחורה. מי שחותך שם מאבד את 'הפאי בשמיים' (pie in the sky).</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לולאת Meyer פונה 180° קדימה לתוך האונה הטמפורלית</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פגיעה בה גורמת לקוואדרנטנופיה עליונה נגדית</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פנייה חדה: נקודת חולשה של DTI, וכאן HARDI/Q-Ball עדיף</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חבלת ראש סגורה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7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איזו התאמה בין תסמין אחרי חבלת ראש לבין מסלול ב-DTI נכונה?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פגיעה ביצירת זיכרון חדש - fornix; ורטיגו מרכזי עם הערכת אא"ג תקינה - middle cerebellar peduncle</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פוטופוביה - uncinate; זעם - medial lemniscus</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רעד פרקינסוני - arcuate; קשיי שליפת מילים - fornix</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חרדה ודיכאון - substantia nigra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חבלת ראש סגורה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פגיעה ביצירת זיכרון חדש - fornix; ורטיגו מרכזי עם הערכת אא"ג תקינה - middle cerebellar peduncle</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בחבלת ראש, פגיעה קטנה במסלול קריטי יכולה לגרום לחסר משמעותי. ה-fimbria fornix-stria terminalis קריטיים ליצירת זיכרון. ה-MCP מסביר ורטיגו, אוסצילופסיה ובעיות בתנועות עיניים כשההערכה הוסטיבולרית תקינה.</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Uncinate fasciculus</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מסלול שמעביר טון רגשי מהאמיגדלה לאונה הפרונטלית. פגיעה בו מסבירה זעם בלתי נשלט או רגש שטוח.</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סיור במוזיאון הפגיעות: בחדר הזיכרון יושב הפורניקס ('אני שוכח מה קרה אתמול'), בחדר הסחרחורת ה-MCP, ובחדר הכעס ה-uncinate צועק על כולם.</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Fornix → זיכרון חדש; uncinate → זעם או רגש שטוח</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MCP → ורטיגו מרכזי; medial lemniscus → פוטופוביה ובעיות התאמה</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Cingulum קדמי → חרדה ודיכאון; substantia nigra → רעד; angular gyrus → שליפת מילים</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פרשנות FA</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8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רדיולוג מודד FA בחשד לפגיעה מוקדית קטנה אחרי חבלה. מה הגישה הנכונה לפי הפרק?</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FA אוטומטי של כל המסלול, בהשוואה לנורמות מסורק 4.7T</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מדידה אחת בקורפוס קלוסום בלי השוואה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מדידה בחומר אפור, כי שם FA הכי רגיש</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ROI מרכזי במסלול, בהשוואה לצד הנגדי ולנורמות של מרכז המסלול (3T או 1.5T, b = 1000 s/mm²), ועדיף גם לסריקת בסיס מלפני הפציעה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פרשנות FA</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ROI מרכזי במסלול, בהשוואה לצד הנגדי ולנורמות של מרכז המסלול (3T או 1.5T, b = 1000 s/mm²), ועדיף גם לסריקת בסיס מלפני הפציעה</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טבלה 14.1 מסכמת 546 נבדקי ביקורת. היא תקפה ל-3T (וכנראה גם ל-1.5T) עם b=1000, בלי הבדל בין GE, Philips ו-Siemens. FA אוטומטי של מסלול שלם כולל יותר שונות ולכן נמוך יותר. אצל ספורטאים, סריקת בסיס לפני פציעה משפרת מאוד את ערך האבחון.</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Central-tract ROI</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אזור מדידה קטן שבוחר משתמש מיומן במרכז מסלול מזוהה. נבדקו בו הבדלים בין בודקים ואצל אותו בודק.</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כמו למדוד חום: מדחום בפה של המטופל (ROI מרכזי) משווים לצד השני ולטבלת נורמות של אותו סוג מדחום. ממוצע של כל הגוף (FA של מסלול שלם) יחמיץ חום מקומי.</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ROI מרכזי: רגיש לפגיעה מוקדית קטנה</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FA של מסלול שלם תמיד נמוך יותר ומתאים לתהליכים מפושטים (DAI)</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נורמות תקפות ל-b=1000; 4.7T ו-b של 700 או 3000 לא עקביים</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548640"/>
            <a:ext cx="10360152" cy="640080"/>
          </a:xfrm>
          <a:prstGeom prst="rect">
            <a:avLst/>
          </a:prstGeom>
          <a:noFill/>
        </p:spPr>
        <p:txBody>
          <a:bodyPr wrap="square" anchor="ctr" lIns="0" rIns="0" tIns="0" bIns="0">
            <a:spAutoFit/>
          </a:bodyPr>
          <a:lstStyle/>
          <a:p>
            <a:pPr algn="ctr" rtl="1"/>
            <a:r>
              <a:rPr sz="3000" b="1">
                <a:solidFill>
                  <a:srgbClr val="FFFFFF"/>
                </a:solidFill>
                <a:latin typeface="Calibri"/>
              </a:rPr>
              <a:t>סיכום הכרטיסיות</a:t>
            </a:r>
          </a:p>
        </p:txBody>
      </p:sp>
      <p:sp>
        <p:nvSpPr>
          <p:cNvPr id="5" name="TextBox 4"/>
          <p:cNvSpPr txBox="1"/>
          <p:nvPr/>
        </p:nvSpPr>
        <p:spPr>
          <a:xfrm>
            <a:off x="1097280" y="1463040"/>
            <a:ext cx="9994392" cy="4389120"/>
          </a:xfrm>
          <a:prstGeom prst="rect">
            <a:avLst/>
          </a:prstGeom>
          <a:noFill/>
        </p:spPr>
        <p:txBody>
          <a:bodyPr wrap="square">
            <a:spAutoFit/>
          </a:bodyPr>
          <a:lstStyle/>
          <a:p>
            <a:pPr algn="r" rtl="1"/>
            <a:r>
              <a:rPr sz="1600">
                <a:solidFill>
                  <a:srgbClr val="E5E7EB"/>
                </a:solidFill>
                <a:latin typeface="Calibri"/>
              </a:rPr>
              <a:t>אניזוטרופיה - מים נעים לאורך האקסון</a:t>
            </a:r>
          </a:p>
          <a:p>
            <a:pPr algn="r" rtl="1"/>
            <a:r>
              <a:rPr sz="1600">
                <a:solidFill>
                  <a:srgbClr val="E5E7EB"/>
                </a:solidFill>
                <a:latin typeface="Calibri"/>
              </a:rPr>
              <a:t>Cross terms - הפתרון של Howe ו-Filler (1992)</a:t>
            </a:r>
          </a:p>
          <a:p>
            <a:pPr algn="r" rtl="1"/>
            <a:r>
              <a:rPr sz="1600">
                <a:solidFill>
                  <a:srgbClr val="E5E7EB"/>
                </a:solidFill>
                <a:latin typeface="Calibri"/>
              </a:rPr>
              <a:t>טנזור: λ1, λ2, λ3 ו-e1</a:t>
            </a:r>
          </a:p>
          <a:p>
            <a:pPr algn="r" rtl="1"/>
            <a:r>
              <a:rPr sz="1600">
                <a:solidFill>
                  <a:srgbClr val="E5E7EB"/>
                </a:solidFill>
                <a:latin typeface="Calibri"/>
              </a:rPr>
              <a:t>FA, MD, AD, RD, Kurtosis</a:t>
            </a:r>
          </a:p>
          <a:p>
            <a:pPr algn="r" rtl="1"/>
            <a:r>
              <a:rPr sz="1600">
                <a:solidFill>
                  <a:srgbClr val="E5E7EB"/>
                </a:solidFill>
                <a:latin typeface="Calibri"/>
              </a:rPr>
              <a:t>דטרמיניסטי (FACT) מול הסתברותי (HARDI/Q-Ball)</a:t>
            </a:r>
          </a:p>
          <a:p>
            <a:pPr algn="r" rtl="1"/>
            <a:r>
              <a:rPr sz="1600">
                <a:solidFill>
                  <a:srgbClr val="E5E7EB"/>
                </a:solidFill>
                <a:latin typeface="Calibri"/>
              </a:rPr>
              <a:t>CSD וקונקטום</a:t>
            </a:r>
          </a:p>
          <a:p>
            <a:pPr algn="r" rtl="1"/>
            <a:r>
              <a:rPr sz="1600">
                <a:solidFill>
                  <a:srgbClr val="E5E7EB"/>
                </a:solidFill>
                <a:latin typeface="Calibri"/>
              </a:rPr>
              <a:t>מסלול פירמידלי, arcuate, לולאת Meyer</a:t>
            </a:r>
          </a:p>
          <a:p>
            <a:pPr algn="r" rtl="1"/>
            <a:r>
              <a:rPr sz="1600">
                <a:solidFill>
                  <a:srgbClr val="E5E7EB"/>
                </a:solidFill>
                <a:latin typeface="Calibri"/>
              </a:rPr>
              <a:t>Wu 2007: תמותה ↓43%, תחלואה ↓62%</a:t>
            </a:r>
          </a:p>
          <a:p>
            <a:pPr algn="r" rtl="1"/>
            <a:r>
              <a:rPr sz="1600">
                <a:solidFill>
                  <a:srgbClr val="E5E7EB"/>
                </a:solidFill>
                <a:latin typeface="Calibri"/>
              </a:rPr>
              <a:t>חבלה: fornix, uncinate, MCP, cingulum</a:t>
            </a:r>
          </a:p>
          <a:p>
            <a:pPr algn="r" rtl="1"/>
            <a:r>
              <a:rPr sz="1600">
                <a:solidFill>
                  <a:srgbClr val="E5E7EB"/>
                </a:solidFill>
                <a:latin typeface="Calibri"/>
              </a:rPr>
              <a:t>חוט שדרה, פלקסוס, תעלה קרפלית</a:t>
            </a:r>
          </a:p>
        </p:txBody>
      </p:sp>
      <p:sp>
        <p:nvSpPr>
          <p:cNvPr id="6" name="TextBox 5"/>
          <p:cNvSpPr txBox="1"/>
          <p:nvPr/>
        </p:nvSpPr>
        <p:spPr>
          <a:xfrm>
            <a:off x="914400" y="6309360"/>
            <a:ext cx="10360152" cy="365760"/>
          </a:xfrm>
          <a:prstGeom prst="rect">
            <a:avLst/>
          </a:prstGeom>
          <a:noFill/>
        </p:spPr>
        <p:txBody>
          <a:bodyPr wrap="square" anchor="ctr" lIns="0" rIns="0" tIns="0" bIns="0">
            <a:spAutoFit/>
          </a:bodyPr>
          <a:lstStyle/>
          <a:p>
            <a:pPr algn="ctr" rtl="1"/>
            <a:r>
              <a:rPr sz="1200" b="0">
                <a:solidFill>
                  <a:srgbClr val="64748B"/>
                </a:solidFill>
                <a:latin typeface="Calibri"/>
              </a:rPr>
              <a:t>maskit101.github.io/summeries-medicine/neurosurgery8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