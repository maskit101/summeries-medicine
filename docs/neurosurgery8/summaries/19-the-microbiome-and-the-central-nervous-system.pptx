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Oval 3"/>
          <p:cNvSpPr/>
          <p:nvPr/>
        </p:nvSpPr>
        <p:spPr>
          <a:xfrm>
            <a:off x="5559552" y="640080"/>
            <a:ext cx="1078992" cy="1078992"/>
          </a:xfrm>
          <a:prstGeom prst="ellipse">
            <a:avLst/>
          </a:prstGeom>
          <a:noFill/>
          <a:ln w="381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788152" y="868680"/>
            <a:ext cx="621792" cy="62179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3601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4000" b="1">
                <a:solidFill>
                  <a:srgbClr val="FFFFFF"/>
                </a:solidFill>
                <a:latin typeface="Calibri"/>
              </a:rPr>
              <a:t>נוירוכירורגיה — מהדורה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036015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2200" b="0">
                <a:solidFill>
                  <a:srgbClr val="93C5FD"/>
                </a:solidFill>
                <a:latin typeface="Calibri"/>
              </a:rPr>
              <a:t>פרק 19: המיקרוביום ומערכת העצבים המרכזית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103601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300" b="0">
                <a:solidFill>
                  <a:srgbClr val="7DD3FC"/>
                </a:solidFill>
                <a:latin typeface="Calibri"/>
              </a:rPr>
              <a:t>The Microbiome and the Central Nervous System  ·  Youmans Neurological Surgery, 8th Ed. · Eric A. Sribnick, Kristina A. Kigerl, Phillip G. Popovich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36015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250" b="0">
                <a:solidFill>
                  <a:srgbClr val="64748B"/>
                </a:solidFill>
                <a:latin typeface="Calibri"/>
              </a:rPr>
              <a:t>7 כרטיסיות תרגול · שאלה ואז תשובה מלאה בכל כרטיסייה · לסטטיסטיקה חיה השתמשו באתר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3108960" cy="384048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250" b="1">
                <a:solidFill>
                  <a:srgbClr val="FFFFFF"/>
                </a:solidFill>
                <a:latin typeface="Calibri"/>
              </a:rPr>
              <a:t>שכבות ההגנה של המעי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/>
            <a:r>
              <a:rPr sz="1200" b="0">
                <a:solidFill>
                  <a:srgbClr val="9CA3AF"/>
                </a:solidFill>
                <a:latin typeface="Calibri"/>
              </a:rPr>
              <a:t>כרטיסייה 1 מתוך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2000" b="1">
                <a:solidFill>
                  <a:srgbClr val="1F2937"/>
                </a:solidFill>
                <a:latin typeface="Calibri"/>
              </a:rPr>
              <a:t>מהן שלוש שכבות ההגנה שמשמרות סימביוזה בין המיקרוביוטה לאפיתל המעי התקין?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51760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רק שכבה אחת - ריר - וזה מספיק לבדו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84448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סוגר פילורי, סוגר אילאוצקלי, וסוגר אנאלי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17136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ריר בשתי שכבות (חיצונית עמוסת-חיידקים, פנימית דלילת-חיידקים), חלבונים אנטיבקטריאליים דרך קולטני TLR, וסבילות חיסונית פעילה ב-GALT (IgA ומקרופאגים ללא דלקת)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449824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רק מערכת החיסון ההומורלית בדם, בלי מעורבות מקומית במעי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3108960" cy="36576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200" b="1">
                <a:solidFill>
                  <a:srgbClr val="FFFFFF"/>
                </a:solidFill>
                <a:latin typeface="Calibri"/>
              </a:rPr>
              <a:t>שכבות ההגנה של המעי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400" b="1">
                <a:solidFill>
                  <a:srgbClr val="15803D"/>
                </a:solidFill>
                <a:latin typeface="Calibri"/>
              </a:rPr>
              <a:t>התשובה הנכונה: ג) ריר בשתי שכבות (חיצונית עמוסת-חיידקים, פנימית דלילת-חיידקים), חלבונים אנטיבקטריאליים דרך קולטני TLR, וסבילות חיסונית פעילה ב-GALT (IgA ומקרופאגים ללא דלקת)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740664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200" b="1">
                <a:solidFill>
                  <a:srgbClr val="6B7280"/>
                </a:solidFill>
                <a:latin typeface="Calibri"/>
              </a:rPr>
              <a:t>הסבר: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000" b="0">
                <a:solidFill>
                  <a:srgbClr val="1F2937"/>
                </a:solidFill>
                <a:latin typeface="Calibri"/>
              </a:rPr>
              <a:t>התשובה הנכונה (3): שלוש שכבות עובדות יחד - ריר כפול שומר מרחק פיזי, קולטני TLR על האפיתל מזהים חיידקים ומפרישים חלבונים אנטיבקטריאליים, ותאים דנדריטיים ב-GALT מפעילים לימפוציטים להפריש IgA תוך שהמקרופאגים שומרים פעילות פגוציטית חזקה בלי לייצר דלקת פתולוגית - זו 'סבילות חיסונית' אקטיבית.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08960"/>
            <a:ext cx="7406640" cy="91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150" b="1">
                <a:solidFill>
                  <a:srgbClr val="1E3A8A"/>
                </a:solidFill>
                <a:latin typeface="Calibri"/>
              </a:rPr>
              <a:t>מונח: GALT (Gut-Associated Lymphoid Tissue)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1E3A8A"/>
                </a:solidFill>
                <a:latin typeface="Calibri"/>
              </a:rPr>
              <a:t>רקמה לימפואידית הקשורה למעי, המכילה תאים דנדריטיים ומקרופאגים השומרים על סבילות חיסונית כלפי המיקרוביוטה התקינה תוך שמירה על יכולת תגובה לפתוגנים אמיתיים.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0520"/>
            <a:ext cx="7406640" cy="141732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150" b="1">
                <a:solidFill>
                  <a:srgbClr val="5B21B6"/>
                </a:solidFill>
                <a:latin typeface="Calibri"/>
              </a:rPr>
              <a:t>סיפור לזכירה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4C1D95"/>
                </a:solidFill>
                <a:latin typeface="Calibri"/>
              </a:rPr>
              <a:t>דמייני שלושה שומרי סף בכניסה לבניין: שומר ראשון (הריר) שומר מרחק מהדלת, שומר שני (TLR) בודק תעודות ומתריע, ושומר שלישי (GALT) מכיר את רוב האורחים ונותן להם לעבור בלי אזעקה - אלא אם זה ממש איום.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00" b="0">
                <a:solidFill>
                  <a:srgbClr val="5B21B6"/>
                </a:solidFill>
                <a:latin typeface="Calibri"/>
              </a:rPr>
              <a:t>שאלי את עצמך: איך היית מיישמת את העיקרון הזה במקרה קליני אמיתי?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250" b="1">
                <a:solidFill>
                  <a:srgbClr val="6B7280"/>
                </a:solidFill>
                <a:latin typeface="Calibri"/>
              </a:rPr>
              <a:t>מה קורה בפועל: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920240"/>
            <a:ext cx="3474720" cy="777240"/>
          </a:xfrm>
          <a:prstGeom prst="roundRect">
            <a:avLst/>
          </a:prstGeom>
          <a:solidFill>
            <a:srgbClr val="B91C1C"/>
          </a:solidFill>
          <a:ln w="1587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ריר כפול: מרחק פיזי בין חיידקים לאפיתל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2788920"/>
            <a:ext cx="3474720" cy="777240"/>
          </a:xfrm>
          <a:prstGeom prst="roundRect">
            <a:avLst/>
          </a:prstGeom>
          <a:solidFill>
            <a:srgbClr val="B45309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TLR → חלבונים אנטיבקטריאליים לריר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657600"/>
            <a:ext cx="3474720" cy="777240"/>
          </a:xfrm>
          <a:prstGeom prst="roundRect">
            <a:avLst/>
          </a:prstGeom>
          <a:solidFill>
            <a:srgbClr val="1C7293"/>
          </a:solidFill>
          <a:ln w="1587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GALT: IgA + מקרופאגים פעילים בלי דלקת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900" b="0">
                <a:solidFill>
                  <a:srgbClr val="9CA3AF"/>
                </a:solidFill>
                <a:latin typeface="Calibri"/>
              </a:rPr>
              <a:t>מצגת סטטית — ללא ניקוד חי. לתרגול עם סטטיסטיקה בזמן אמת, השתמשו באתר הכרטיסיות המקוון.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3108960" cy="384048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250" b="1">
                <a:solidFill>
                  <a:srgbClr val="FFFFFF"/>
                </a:solidFill>
                <a:latin typeface="Calibri"/>
              </a:rPr>
              <a:t>ציר דו-כיווני CNS-מעי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/>
            <a:r>
              <a:rPr sz="1200" b="0">
                <a:solidFill>
                  <a:srgbClr val="9CA3AF"/>
                </a:solidFill>
                <a:latin typeface="Calibri"/>
              </a:rPr>
              <a:t>כרטיסייה 2 מתוך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2000" b="1">
                <a:solidFill>
                  <a:srgbClr val="1F2937"/>
                </a:solidFill>
                <a:latin typeface="Calibri"/>
              </a:rPr>
              <a:t>בניסוי המכונן של Kigerl ועמיתיו (2016) במודל SCI בעכברים, מה קרה לעכברים שקיבלו אנטיביוטיקה לפני הפגיעה (ולא רק אחריה)?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51760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שום דבר שונה - אנטיביוטיקה לפני או אחרי הפגיעה לא השפיעה על התוצאה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84448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נגעים גדולים יותר, פחות שימור חומר לבן, ודלקת תוך-ספינלית מוגברת (מקרופאגים, לימפוציטים B ו-T) בהשוואה לפגיעת SCI בלבד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17136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החלמה תנועתית טובה יותר, כי האנטיביוטיקה מנעה זיהום משני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449824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ירידה בכל סוגי הדלקת התוך-ספינלית לחלוטין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3108960" cy="36576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200" b="1">
                <a:solidFill>
                  <a:srgbClr val="FFFFFF"/>
                </a:solidFill>
                <a:latin typeface="Calibri"/>
              </a:rPr>
              <a:t>ציר דו-כיווני CNS-מעי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400" b="1">
                <a:solidFill>
                  <a:srgbClr val="15803D"/>
                </a:solidFill>
                <a:latin typeface="Calibri"/>
              </a:rPr>
              <a:t>התשובה הנכונה: ב) נגעים גדולים יותר, פחות שימור חומר לבן, ודלקת תוך-ספינלית מוגברת (מקרופאגים, לימפוציטים B ו-T) בהשוואה לפגיעת SCI בלבד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740664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200" b="1">
                <a:solidFill>
                  <a:srgbClr val="6B7280"/>
                </a:solidFill>
                <a:latin typeface="Calibri"/>
              </a:rPr>
              <a:t>הסבר: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000" b="0">
                <a:solidFill>
                  <a:srgbClr val="1F2937"/>
                </a:solidFill>
                <a:latin typeface="Calibri"/>
              </a:rPr>
              <a:t>התשובה הנכונה (2): עכברים שקיבלו אנטיביוטיקה שבוע לפני פגיעת SCI - וכך הגיעו לפגיעה עם מיקרוביוטה מוחלשת מראש - פיתחו נגעים גדולים יותר, פחות שימור חומר לבן, ודלקת תוך-ספינלית חזקה יותר (CD11b+ מקרופאגים, לימפוציטים B ו-T) בהשוואה לפגיעת SCI בלבד. זו עדות ישירה שהמצב הבסיסי של המיקרוביוטה - עוד לפני הפגיעה - משפיע על חומרת הנזק הנוירולוגי.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08960"/>
            <a:ext cx="7406640" cy="91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150" b="1">
                <a:solidFill>
                  <a:srgbClr val="1E3A8A"/>
                </a:solidFill>
                <a:latin typeface="Calibri"/>
              </a:rPr>
              <a:t>מונח: Dysbiosis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1E3A8A"/>
                </a:solidFill>
                <a:latin typeface="Calibri"/>
              </a:rPr>
              <a:t>הפרעה בהרכב התקין של המיקרוביוטה במעי; במודל הניסוי, נגרמה באופן יזום על ידי מתן אנטיביוטיקה לפני פגיעת חוט השדרה.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0520"/>
            <a:ext cx="7406640" cy="141732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150" b="1">
                <a:solidFill>
                  <a:srgbClr val="5B21B6"/>
                </a:solidFill>
                <a:latin typeface="Calibri"/>
              </a:rPr>
              <a:t>סיפור לזכירה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4C1D95"/>
                </a:solidFill>
                <a:latin typeface="Calibri"/>
              </a:rPr>
              <a:t>כמו שדה קרב שבו הצבא המגן (המיקרוביוטה) כבר נחלש לפני שהקרב (הפגיעה) בכלל התחיל - התוצאה גרועה יותר לא בגלל הקרב עצמו אלא בגלל חולשת ההגנה שקדמה לו.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00" b="0">
                <a:solidFill>
                  <a:srgbClr val="5B21B6"/>
                </a:solidFill>
                <a:latin typeface="Calibri"/>
              </a:rPr>
              <a:t>שאלי את עצמך: איך היית מיישמת את העיקרון הזה במקרה קליני אמיתי?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250" b="1">
                <a:solidFill>
                  <a:srgbClr val="6B7280"/>
                </a:solidFill>
                <a:latin typeface="Calibri"/>
              </a:rPr>
              <a:t>מה קורה בפועל: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920240"/>
            <a:ext cx="3474720" cy="777240"/>
          </a:xfrm>
          <a:prstGeom prst="roundRect">
            <a:avLst/>
          </a:prstGeom>
          <a:solidFill>
            <a:srgbClr val="B91C1C"/>
          </a:solidFill>
          <a:ln w="1587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אנטיביוטיקה מראש = דיסביוזיס לפני הפגיעה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2788920"/>
            <a:ext cx="3474720" cy="777240"/>
          </a:xfrm>
          <a:prstGeom prst="roundRect">
            <a:avLst/>
          </a:prstGeom>
          <a:solidFill>
            <a:srgbClr val="B45309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תוצאה: נגעים גדולים יותר + דלקת מוגברת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657600"/>
            <a:ext cx="3474720" cy="777240"/>
          </a:xfrm>
          <a:prstGeom prst="roundRect">
            <a:avLst/>
          </a:prstGeom>
          <a:solidFill>
            <a:srgbClr val="1C7293"/>
          </a:solidFill>
          <a:ln w="1587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מראה שהמיקרוביוטה הבסיסית משפיעה על חומרת הנזק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900" b="0">
                <a:solidFill>
                  <a:srgbClr val="9CA3AF"/>
                </a:solidFill>
                <a:latin typeface="Calibri"/>
              </a:rPr>
              <a:t>מצגת סטטית — ללא ניקוד חי. לתרגול עם סטטיסטיקה בזמן אמת, השתמשו באתר הכרטיסיות המקוון.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3108960" cy="384048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250" b="1">
                <a:solidFill>
                  <a:srgbClr val="FFFFFF"/>
                </a:solidFill>
                <a:latin typeface="Calibri"/>
              </a:rPr>
              <a:t>עצב הוואגוס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/>
            <a:r>
              <a:rPr sz="1200" b="0">
                <a:solidFill>
                  <a:srgbClr val="9CA3AF"/>
                </a:solidFill>
                <a:latin typeface="Calibri"/>
              </a:rPr>
              <a:t>כרטיסייה 3 מתוך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2000" b="1">
                <a:solidFill>
                  <a:srgbClr val="1F2937"/>
                </a:solidFill>
                <a:latin typeface="Calibri"/>
              </a:rPr>
              <a:t>באילו שלושה אתרים עצב הוואגוס מעצבב את דופן המוקוזה של מערכת העיכול, ומה טבעה של האינטראקציה עם חיידקי הלומן?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51760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רק בקיבה, ואינטראקציה ישירה עם כל חיידק בלומן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84448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רק בוושט, ואין שום אינטראקציה עם חיידקים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17136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בלבלב, בכבד ובטחול, אינטראקציה ישירה דרך מגע פיזי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449824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בלוטות האנטרום הקיבתי, קצות הווילי, וצומת ה-crypt-villus - אינטראקציה בעיקר עקיפה, כי קצות העצב ממוקמים מתחת לאפיתל, בעיקר דרך דיפוזיה של מטבוליטים כמו בוטיראט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3108960" cy="36576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200" b="1">
                <a:solidFill>
                  <a:srgbClr val="FFFFFF"/>
                </a:solidFill>
                <a:latin typeface="Calibri"/>
              </a:rPr>
              <a:t>עצב הוואגוס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400" b="1">
                <a:solidFill>
                  <a:srgbClr val="15803D"/>
                </a:solidFill>
                <a:latin typeface="Calibri"/>
              </a:rPr>
              <a:t>התשובה הנכונה: ד) בלוטות האנטרום הקיבתי, קצות הווילי, וצומת ה-crypt-villus - אינטראקציה בעיקר עקיפה, כי קצות העצב ממוקמים מתחת לאפיתל, בעיקר דרך דיפוזיה של מטבוליטים כמו בוטיראט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740664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200" b="1">
                <a:solidFill>
                  <a:srgbClr val="6B7280"/>
                </a:solidFill>
                <a:latin typeface="Calibri"/>
              </a:rPr>
              <a:t>הסבר: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000" b="0">
                <a:solidFill>
                  <a:srgbClr val="1F2937"/>
                </a:solidFill>
                <a:latin typeface="Calibri"/>
              </a:rPr>
              <a:t>התשובה הנכונה (4): עצב הוואגוס מעצבב את מוקוזת המעי בשלושה אתרים ספציפיים. מכיוון שקצות העצב ממוקמים מתחת לאפיתל ולא בלומן עצמו, האינטראקציה עם חיידקי הלומן היא בעיקר עקיפה - דרך דיפוזיה של מטבוליטים כמו בוטיראט, או דרך תאים אנטרואנדוקריניים שמתווכים את האיתות. כ-70-80% מהעצב המעורב (סנסורי-מוטורי) משמש לתפקוד סנסורי, ומסתיים בעיקר ב-NTS בגזע המוח.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08960"/>
            <a:ext cx="7406640" cy="91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150" b="1">
                <a:solidFill>
                  <a:srgbClr val="1E3A8A"/>
                </a:solidFill>
                <a:latin typeface="Calibri"/>
              </a:rPr>
              <a:t>מונח: Vagal afferents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1E3A8A"/>
                </a:solidFill>
                <a:latin typeface="Calibri"/>
              </a:rPr>
              <a:t>סיבים סנסוריים של עצב הוואגוס הנושאים מידע מהמעי למוח - כ-70-80% מסך סיבי הוואגוס, מסתיימים בעיקר ב-nucleus tractus solitarius (NTS).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0520"/>
            <a:ext cx="7406640" cy="141732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150" b="1">
                <a:solidFill>
                  <a:srgbClr val="5B21B6"/>
                </a:solidFill>
                <a:latin typeface="Calibri"/>
              </a:rPr>
              <a:t>סיפור לזכירה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4C1D95"/>
                </a:solidFill>
                <a:latin typeface="Calibri"/>
              </a:rPr>
              <a:t>כמו מצלמת אבטחה שלא נוגעת ישירות בבני האדם שהיא מצלמת אלא קולטת אותם מרחוק - קצות עצב הוואגוס 'מרגישים' את חיידקי הלומן דרך המטבוליטים שהם משחררים, לא דרך מגע ישיר.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00" b="0">
                <a:solidFill>
                  <a:srgbClr val="5B21B6"/>
                </a:solidFill>
                <a:latin typeface="Calibri"/>
              </a:rPr>
              <a:t>שאלי את עצמך: איך היית מיישמת את העיקרון הזה במקרה קליני אמיתי?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250" b="1">
                <a:solidFill>
                  <a:srgbClr val="6B7280"/>
                </a:solidFill>
                <a:latin typeface="Calibri"/>
              </a:rPr>
              <a:t>מה קורה בפועל: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920240"/>
            <a:ext cx="3474720" cy="777240"/>
          </a:xfrm>
          <a:prstGeom prst="roundRect">
            <a:avLst/>
          </a:prstGeom>
          <a:solidFill>
            <a:srgbClr val="B91C1C"/>
          </a:solidFill>
          <a:ln w="1587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שלושה אתרים: אנטרום, קצות וילי, crypt-villus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2788920"/>
            <a:ext cx="3474720" cy="777240"/>
          </a:xfrm>
          <a:prstGeom prst="roundRect">
            <a:avLst/>
          </a:prstGeom>
          <a:solidFill>
            <a:srgbClr val="B45309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מתחת לאפיתל - לא מגע ישיר עם הלומן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657600"/>
            <a:ext cx="3474720" cy="777240"/>
          </a:xfrm>
          <a:prstGeom prst="roundRect">
            <a:avLst/>
          </a:prstGeom>
          <a:solidFill>
            <a:srgbClr val="1C7293"/>
          </a:solidFill>
          <a:ln w="1587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70-80% מהעצב סנסורי, מסתיים ב-NTS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900" b="0">
                <a:solidFill>
                  <a:srgbClr val="9CA3AF"/>
                </a:solidFill>
                <a:latin typeface="Calibri"/>
              </a:rPr>
              <a:t>מצגת סטטית — ללא ניקוד חי. לתרגול עם סטטיסטיקה בזמן אמת, השתמשו באתר הכרטיסיות המקוון.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3108960" cy="384048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250" b="1">
                <a:solidFill>
                  <a:srgbClr val="FFFFFF"/>
                </a:solidFill>
                <a:latin typeface="Calibri"/>
              </a:rPr>
              <a:t>המסלול האנטי-דלקתי הכולינרגי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/>
            <a:r>
              <a:rPr sz="1200" b="0">
                <a:solidFill>
                  <a:srgbClr val="9CA3AF"/>
                </a:solidFill>
                <a:latin typeface="Calibri"/>
              </a:rPr>
              <a:t>כרטיסייה 4 מתוך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2000" b="1">
                <a:solidFill>
                  <a:srgbClr val="1F2937"/>
                </a:solidFill>
                <a:latin typeface="Calibri"/>
              </a:rPr>
              <a:t>מהם שלבי המסלול האנטי-דלקתי הכולינרגי, מהתגרה המקומית ועד לדיכוי הדלקת?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51760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אנדוטוקסין מפעיל אפרנט ואגלי שמאותת ל-NTS; מתוך ה-NTS מופעל אפרנט ואגלי יורד לטחול; שם לימפוציטי T משחררים אצטילכולין שנקשר לקולטני α7 ניקוטיניים על מקרופאגים טחוליים ומדכא איתות דלקתי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84448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אנדוטוקסין פועל ישירות על המקרופאג בטחול, בלי שום מעורבות עצבית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17136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התהליך דורש מעבר דרך הקורטקס המוחי ותגובה מודעת לפני שהוא יכול להתרחש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449824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אדרנלין מבלוטת יותרת הכליה הוא התיווך העיקרי בכל שלבי המסלול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3108960" cy="36576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200" b="1">
                <a:solidFill>
                  <a:srgbClr val="FFFFFF"/>
                </a:solidFill>
                <a:latin typeface="Calibri"/>
              </a:rPr>
              <a:t>המסלול האנטי-דלקתי הכולינרגי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400" b="1">
                <a:solidFill>
                  <a:srgbClr val="15803D"/>
                </a:solidFill>
                <a:latin typeface="Calibri"/>
              </a:rPr>
              <a:t>התשובה הנכונה: א) אנדוטוקסין מפעיל אפרנט ואגלי שמאותת ל-NTS; מתוך ה-NTS מופעל אפרנט ואגלי יורד לטחול; שם לימפוציטי T משחררים אצטילכולין שנקשר לקולטני α7 ניקוטיניים על מקרופאגים טחוליים ומדכא איתות דלקתי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740664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200" b="1">
                <a:solidFill>
                  <a:srgbClr val="6B7280"/>
                </a:solidFill>
                <a:latin typeface="Calibri"/>
              </a:rPr>
              <a:t>הסבר: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000" b="0">
                <a:solidFill>
                  <a:srgbClr val="1F2937"/>
                </a:solidFill>
                <a:latin typeface="Calibri"/>
              </a:rPr>
              <a:t>התשובה הנכונה (1): זהו רפלקס עצבי מהיר ומוגדר - אנדוטוקסין חיידקי מפעיל אפרנט ואגלי שמאותת ל-NTS בגזע המוח, שמפעיל בתורו אפרנט ואגלי יורד לטחול. שם, לימפוציטי T משחררים אצטילכולין הנקשר לקולטני α7 ניקוטיניים על מקרופאגים טחוליים, מה שמדכא את איתות הציטוקינים הדלקתיים. זהו המנגנון שעליו מבוססים ניסויי VNS באפילפסיה ובדלקת מפרקים שגרונית.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08960"/>
            <a:ext cx="7406640" cy="91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150" b="1">
                <a:solidFill>
                  <a:srgbClr val="1E3A8A"/>
                </a:solidFill>
                <a:latin typeface="Calibri"/>
              </a:rPr>
              <a:t>מונח: α7 nicotinic receptor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1E3A8A"/>
                </a:solidFill>
                <a:latin typeface="Calibri"/>
              </a:rPr>
              <a:t>קולטן ניקוטיני על מקרופאגים טחוליים הנקשר לאצטילכולין המשוחרר מלימפוציטי T, ומדכא ייצור ציטוקינים דלקתיים - החוליה האחרונה במסלול האנטי-דלקתי הכולינרגי.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0520"/>
            <a:ext cx="7406640" cy="141732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150" b="1">
                <a:solidFill>
                  <a:srgbClr val="5B21B6"/>
                </a:solidFill>
                <a:latin typeface="Calibri"/>
              </a:rPr>
              <a:t>סיפור לזכירה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4C1D95"/>
                </a:solidFill>
                <a:latin typeface="Calibri"/>
              </a:rPr>
              <a:t>כמו מערכת אזעקה מהירה בבניין: חיישן (אפרנט ואגלי) מזהה אש, שולח אות למוקד הבקרה (NTS), שמפעיל מיידית את מערכת הכיבוי (אפרנט יורד לטחול) - כל זה בלי שאף אחד צריך 'לחשוב' או להחליט במודע.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00" b="0">
                <a:solidFill>
                  <a:srgbClr val="5B21B6"/>
                </a:solidFill>
                <a:latin typeface="Calibri"/>
              </a:rPr>
              <a:t>שאלי את עצמך: איך היית מיישמת את העיקרון הזה במקרה קליני אמיתי?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250" b="1">
                <a:solidFill>
                  <a:srgbClr val="6B7280"/>
                </a:solidFill>
                <a:latin typeface="Calibri"/>
              </a:rPr>
              <a:t>מה קורה בפועל: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920240"/>
            <a:ext cx="3474720" cy="777240"/>
          </a:xfrm>
          <a:prstGeom prst="roundRect">
            <a:avLst/>
          </a:prstGeom>
          <a:solidFill>
            <a:srgbClr val="B91C1C"/>
          </a:solidFill>
          <a:ln w="1587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4 תחנות: אנדוטוקסין → אפרנט → NTS → אפרנט יורד לטחול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2788920"/>
            <a:ext cx="3474720" cy="777240"/>
          </a:xfrm>
          <a:prstGeom prst="roundRect">
            <a:avLst/>
          </a:prstGeom>
          <a:solidFill>
            <a:srgbClr val="B45309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בטחול: T-cell ACh → α7 על מקרופאג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657600"/>
            <a:ext cx="3474720" cy="777240"/>
          </a:xfrm>
          <a:prstGeom prst="roundRect">
            <a:avLst/>
          </a:prstGeom>
          <a:solidFill>
            <a:srgbClr val="1C7293"/>
          </a:solidFill>
          <a:ln w="1587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תוצאה: דיכוי ציטוקינים דלקתיים, רפלקס מהיר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900" b="0">
                <a:solidFill>
                  <a:srgbClr val="9CA3AF"/>
                </a:solidFill>
                <a:latin typeface="Calibri"/>
              </a:rPr>
              <a:t>מצגת סטטית — ללא ניקוד חי. לתרגול עם סטטיסטיקה בזמן אמת, השתמשו באתר הכרטיסיות המקוון.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3108960" cy="384048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250" b="1">
                <a:solidFill>
                  <a:srgbClr val="FFFFFF"/>
                </a:solidFill>
                <a:latin typeface="Calibri"/>
              </a:rPr>
              <a:t>מעי והתנהגות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/>
            <a:r>
              <a:rPr sz="1200" b="0">
                <a:solidFill>
                  <a:srgbClr val="9CA3AF"/>
                </a:solidFill>
                <a:latin typeface="Calibri"/>
              </a:rPr>
              <a:t>כרטיסייה 5 מתוך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2000" b="1">
                <a:solidFill>
                  <a:srgbClr val="1F2937"/>
                </a:solidFill>
                <a:latin typeface="Calibri"/>
              </a:rPr>
              <a:t>בניסוי שהשווה עכברי germ-free לעכברי specific-pathogen-free (SPF) בחשיפה לדחק כרוני, מה נמצא?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51760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שתי הקבוצות הגיבו באופן זהה לחלוטין לדחק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84448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עכברי germ-free הראו תגובה חזקה יותר לדחק מעכברי SPF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17136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עכברי SPF הציגו תגובה התנהגותית מוגברת לדחק ושינוי מוחלש בהורמוני ציר ה-HPA, בהשוואה לעכברי germ-free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449824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המיקרוביוטה לא השפיעה כלל על הורמוני ה-HPA בשום קבוצה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3108960" cy="36576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200" b="1">
                <a:solidFill>
                  <a:srgbClr val="FFFFFF"/>
                </a:solidFill>
                <a:latin typeface="Calibri"/>
              </a:rPr>
              <a:t>מעי והתנהגות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400" b="1">
                <a:solidFill>
                  <a:srgbClr val="15803D"/>
                </a:solidFill>
                <a:latin typeface="Calibri"/>
              </a:rPr>
              <a:t>התשובה הנכונה: ג) עכברי SPF הציגו תגובה התנהגותית מוגברת לדחק ושינוי מוחלש בהורמוני ציר ה-HPA, בהשוואה לעכברי germ-free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740664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200" b="1">
                <a:solidFill>
                  <a:srgbClr val="6B7280"/>
                </a:solidFill>
                <a:latin typeface="Calibri"/>
              </a:rPr>
              <a:t>הסבר: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000" b="0">
                <a:solidFill>
                  <a:srgbClr val="1F2937"/>
                </a:solidFill>
                <a:latin typeface="Calibri"/>
              </a:rPr>
              <a:t>התשובה הנכונה (3): עכברי SPF (בעלי מיקרוביוטה תקינה) הציגו תגובה התנהגותית מוגברת לדחק כרוני ושינוי מוחלש יותר בהורמוני ציר ה-HPA, בהשוואה לעכברי germ-free (נטולי מיקרוביוטה לחלוטין). זו עדות ישירה שנוכחות המיקרוביוטה עצמה - ולא רק תוצריה הפתולוגיים - משנה את אופן התגובה הפיזיולוגית וההתנהגותית לדחק.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08960"/>
            <a:ext cx="7406640" cy="91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150" b="1">
                <a:solidFill>
                  <a:srgbClr val="1E3A8A"/>
                </a:solidFill>
                <a:latin typeface="Calibri"/>
              </a:rPr>
              <a:t>מונח: HPA axis (hypothalamic-pituitary-adrenal)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1E3A8A"/>
                </a:solidFill>
                <a:latin typeface="Calibri"/>
              </a:rPr>
              <a:t>ציר הורמונלי השולט בתגובת הגוף לדחק; הרכב המיקרוביוטה (germ-free לעומת SPF) נמצא משפיע על עוצמת השינוי ההורמונלי בציר זה בתגובה לדחק כרוני.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0520"/>
            <a:ext cx="7406640" cy="141732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150" b="1">
                <a:solidFill>
                  <a:srgbClr val="5B21B6"/>
                </a:solidFill>
                <a:latin typeface="Calibri"/>
              </a:rPr>
              <a:t>סיפור לזכירה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4C1D95"/>
                </a:solidFill>
                <a:latin typeface="Calibri"/>
              </a:rPr>
              <a:t>כמו שני אנשים שעוברים את אותו אירוע מלחיץ, אבל אחד מהם (SPF) מגיב בעוצמה רגשית חזקה יותר כלפי חוץ בעוד שהמערכת ההורמונלית הפנימית שלו מראה פחות שינוי - בעוד השני (germ-free) מראה דווקא את ההפך.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00" b="0">
                <a:solidFill>
                  <a:srgbClr val="5B21B6"/>
                </a:solidFill>
                <a:latin typeface="Calibri"/>
              </a:rPr>
              <a:t>שאלי את עצמך: איך היית מיישמת את העיקרון הזה במקרה קליני אמיתי?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250" b="1">
                <a:solidFill>
                  <a:srgbClr val="6B7280"/>
                </a:solidFill>
                <a:latin typeface="Calibri"/>
              </a:rPr>
              <a:t>מה קורה בפועל: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920240"/>
            <a:ext cx="3474720" cy="777240"/>
          </a:xfrm>
          <a:prstGeom prst="roundRect">
            <a:avLst/>
          </a:prstGeom>
          <a:solidFill>
            <a:srgbClr val="B91C1C"/>
          </a:solidFill>
          <a:ln w="1587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SPF (עם מיקרוביוטה): תגובה התנהגותית מוגברת לדחק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2788920"/>
            <a:ext cx="3474720" cy="777240"/>
          </a:xfrm>
          <a:prstGeom prst="roundRect">
            <a:avLst/>
          </a:prstGeom>
          <a:solidFill>
            <a:srgbClr val="B45309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SPF: שינוי מוחלש בהורמוני ציר HPA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657600"/>
            <a:ext cx="3474720" cy="777240"/>
          </a:xfrm>
          <a:prstGeom prst="roundRect">
            <a:avLst/>
          </a:prstGeom>
          <a:solidFill>
            <a:srgbClr val="1C7293"/>
          </a:solidFill>
          <a:ln w="1587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מראה שנוכחות מיקרוביוטה משנה תגובת דחק עצמה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900" b="0">
                <a:solidFill>
                  <a:srgbClr val="9CA3AF"/>
                </a:solidFill>
                <a:latin typeface="Calibri"/>
              </a:rPr>
              <a:t>מצגת סטטית — ללא ניקוד חי. לתרגול עם סטטיסטיקה בזמן אמת, השתמשו באתר הכרטיסיות המקוון.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3108960" cy="384048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250" b="1">
                <a:solidFill>
                  <a:srgbClr val="FFFFFF"/>
                </a:solidFill>
                <a:latin typeface="Calibri"/>
              </a:rPr>
              <a:t>יחס F:B ו-SCFA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/>
            <a:r>
              <a:rPr sz="1200" b="0">
                <a:solidFill>
                  <a:srgbClr val="9CA3AF"/>
                </a:solidFill>
                <a:latin typeface="Calibri"/>
              </a:rPr>
              <a:t>כרטיסייה 6 מתוך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2000" b="1">
                <a:solidFill>
                  <a:srgbClr val="1F2937"/>
                </a:solidFill>
                <a:latin typeface="Calibri"/>
              </a:rPr>
              <a:t>מה המשמעות הקלינית של עלייה ביחס Firmicutes:Bacteroidetes (F:B), ומה תפקידם של SCFA כמו בוטיראט?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51760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יחס F:B לא קשור לשום פרמטר קליני, ו-SCFA הם רק תוצרי פסולת ללא תפקיד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84448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יחס F:B יורד תמיד עם עלייה ב-BMI, ובוטיראט רעיל לאפיתל המעי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17136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Bacteroidetes בלבד אחראי לכל ייצור ה-SCFA, ו-F:B לא קשור לדלקת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449824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עלייה ביחס F:B נקשרה ל-BMI גבוה יותר ולדלקת מעי מוגברת (במודלים); SCFA כמו בוטיראט משמשים מקור אנרגיה חיוני לאפיתל המעי, וחסרם קשור לדיסביוזיס ול'מעי נוירוגני' ב-SCI אנושי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3108960" cy="36576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200" b="1">
                <a:solidFill>
                  <a:srgbClr val="FFFFFF"/>
                </a:solidFill>
                <a:latin typeface="Calibri"/>
              </a:rPr>
              <a:t>יחס F:B ו-SCFA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400" b="1">
                <a:solidFill>
                  <a:srgbClr val="15803D"/>
                </a:solidFill>
                <a:latin typeface="Calibri"/>
              </a:rPr>
              <a:t>התשובה הנכונה: ד) עלייה ביחס F:B נקשרה ל-BMI גבוה יותר ולדלקת מעי מוגברת (במודלים); SCFA כמו בוטיראט משמשים מקור אנרגיה חיוני לאפיתל המעי, וחסרם קשור לדיסביוזיס ול'מעי נוירוגני' ב-SCI אנושי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740664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200" b="1">
                <a:solidFill>
                  <a:srgbClr val="6B7280"/>
                </a:solidFill>
                <a:latin typeface="Calibri"/>
              </a:rPr>
              <a:t>הסבר: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000" b="0">
                <a:solidFill>
                  <a:srgbClr val="1F2937"/>
                </a:solidFill>
                <a:latin typeface="Calibri"/>
              </a:rPr>
              <a:t>התשובה הנכונה (4): עלייה ביחס F:B נקשרה במחקרים קליניים מרובים ל-BMI גבוה יותר, ובמודלי בעלי חיים לדלקת מעי מוגברת ושינוי עצבי ואגלי. SCFA כמו בוטיראט, המיוצרים ע"י חיידקים קומנסליים, משמשים מקור אנרגיה חיוני לתאי האפיתל לשמירה על בריאות ושלמות המחסום - ואובדן חיידקים מייצרי בוטיראט נמצא קשור באופן ספציפי להתפתחות 'מעי נוירוגני' במטופלי SCI אנושיים, בהשוואה לנבדקי בקרה בריאים.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08960"/>
            <a:ext cx="7406640" cy="91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150" b="1">
                <a:solidFill>
                  <a:srgbClr val="1E3A8A"/>
                </a:solidFill>
                <a:latin typeface="Calibri"/>
              </a:rPr>
              <a:t>מונח: Short-chain fatty acids (SCFA)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1E3A8A"/>
                </a:solidFill>
                <a:latin typeface="Calibri"/>
              </a:rPr>
              <a:t>חומצות שומן קצרות (כגון בוטיראט) המיוצרות על ידי פירוק מיקרוביאלי של פחמימות; משמשות מקור אנרגיה מרכזי לתאי אפיתל המעי ותומכות בשלמות מחסום האפיתל.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0520"/>
            <a:ext cx="7406640" cy="141732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150" b="1">
                <a:solidFill>
                  <a:srgbClr val="5B21B6"/>
                </a:solidFill>
                <a:latin typeface="Calibri"/>
              </a:rPr>
              <a:t>סיפור לזכירה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4C1D95"/>
                </a:solidFill>
                <a:latin typeface="Calibri"/>
              </a:rPr>
              <a:t>בוטיראט הוא כמו 'דלק מקומי' שתאי האפיתל שורפים ישירות במקום - לא חומר שעובר למחזור הדם הכללי; כשחיידקי הבוטיראט נעלמים, תאי האפיתל 'רעבים' למרות שהמטופל אוכל כרגיל.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00" b="0">
                <a:solidFill>
                  <a:srgbClr val="5B21B6"/>
                </a:solidFill>
                <a:latin typeface="Calibri"/>
              </a:rPr>
              <a:t>שאלי את עצמך: איך היית מיישמת את העיקרון הזה במקרה קליני אמיתי?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250" b="1">
                <a:solidFill>
                  <a:srgbClr val="6B7280"/>
                </a:solidFill>
                <a:latin typeface="Calibri"/>
              </a:rPr>
              <a:t>מה קורה בפועל: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920240"/>
            <a:ext cx="3474720" cy="777240"/>
          </a:xfrm>
          <a:prstGeom prst="roundRect">
            <a:avLst/>
          </a:prstGeom>
          <a:solidFill>
            <a:srgbClr val="B91C1C"/>
          </a:solidFill>
          <a:ln w="1587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F:B עולה ↔ BMI גבוה יותר (מחקרים קליניים מרובים)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2788920"/>
            <a:ext cx="3474720" cy="777240"/>
          </a:xfrm>
          <a:prstGeom prst="roundRect">
            <a:avLst/>
          </a:prstGeom>
          <a:solidFill>
            <a:srgbClr val="B45309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בוטיראט = דלק לאפיתל המעי, לא פסולת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657600"/>
            <a:ext cx="3474720" cy="777240"/>
          </a:xfrm>
          <a:prstGeom prst="roundRect">
            <a:avLst/>
          </a:prstGeom>
          <a:solidFill>
            <a:srgbClr val="1C7293"/>
          </a:solidFill>
          <a:ln w="1587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חסר בוטיראט אנושי ב-SCI ↔ מעי נוירוגני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900" b="0">
                <a:solidFill>
                  <a:srgbClr val="9CA3AF"/>
                </a:solidFill>
                <a:latin typeface="Calibri"/>
              </a:rPr>
              <a:t>מצגת סטטית — ללא ניקוד חי. לתרגול עם סטטיסטיקה בזמן אמת, השתמשו באתר הכרטיסיות המקוון.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3108960" cy="384048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250" b="1">
                <a:solidFill>
                  <a:srgbClr val="FFFFFF"/>
                </a:solidFill>
                <a:latin typeface="Calibri"/>
              </a:rPr>
              <a:t>יישום נוירוכירורגי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/>
            <a:r>
              <a:rPr sz="1200" b="0">
                <a:solidFill>
                  <a:srgbClr val="9CA3AF"/>
                </a:solidFill>
                <a:latin typeface="Calibri"/>
              </a:rPr>
              <a:t>כרטיסייה 7 מתוך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2000" b="1">
                <a:solidFill>
                  <a:srgbClr val="1F2937"/>
                </a:solidFill>
                <a:latin typeface="Calibri"/>
              </a:rPr>
              <a:t>לפי עקרונות הפרק, מה השיקול המרכזי שיש לשקול לפני מתן אנטיביוטיקה רחבת-טווח 'מניעתית' ללא אינדיקציה ברורה סביב פגיעת CNS חריפה (SCI/TBI)?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51760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אנטיביוטיקה מניעתית ללא אינדיקציה ברורה עלולה לגרום לדיסביוזיס מוקדמת שנקשרה בניסויים להחמרת נפח הנגע, פחות שימור חומר לבן, ודלקת תוך-ספינלית/תוך-מוחית מוגברת - שיקול שיש לאזן מול הסיכון לזיהום בפועל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84448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אין שום שיקול מיוחד - אנטיביוטיקה תמיד בטוחה ומומלצת סביב פגיעות CNS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17136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הבעיה היחידה היא עלות כספית של התרופה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449824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אנטיביוטיקה משפיעה אך ורק על מערכת העיכול וללא שום השפעה אפשרית על ה-CNS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3108960" cy="36576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200" b="1">
                <a:solidFill>
                  <a:srgbClr val="FFFFFF"/>
                </a:solidFill>
                <a:latin typeface="Calibri"/>
              </a:rPr>
              <a:t>יישום נוירוכירורגי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400" b="1">
                <a:solidFill>
                  <a:srgbClr val="15803D"/>
                </a:solidFill>
                <a:latin typeface="Calibri"/>
              </a:rPr>
              <a:t>התשובה הנכונה: א) אנטיביוטיקה מניעתית ללא אינדיקציה ברורה עלולה לגרום לדיסביוזיס מוקדמת שנקשרה בניסויים להחמרת נפח הנגע, פחות שימור חומר לבן, ודלקת תוך-ספינלית/תוך-מוחית מוגברת - שיקול שיש לאזן מול הסיכון לזיהום בפועל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740664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200" b="1">
                <a:solidFill>
                  <a:srgbClr val="6B7280"/>
                </a:solidFill>
                <a:latin typeface="Calibri"/>
              </a:rPr>
              <a:t>הסבר: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000" b="0">
                <a:solidFill>
                  <a:srgbClr val="1F2937"/>
                </a:solidFill>
                <a:latin typeface="Calibri"/>
              </a:rPr>
              <a:t>התשובה הנכונה (1): הפרק מניח תשתית לכך שדיסביוזיס - בפרט כזו שנגרמת ע"י אנטיביוטיקה גורפת ללא צורך אמיתי - נקשרה במודלים ניסיוניים להחמרת תוצאה נוירולוגית (נגעים גדולים יותר, דלקת תוך-ספינלית מוגברת). זה לא אומר שאנטיביוטיקה אסורה כשיש זיהום מוכח, אלא שיש לשקול את הסיכון הפוטנציאלי לדיסביוזיס מול התועלת, ולא לתת אותה 'ליתר ביטחון' בלי אינדיקציה.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08960"/>
            <a:ext cx="7406640" cy="91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150" b="1">
                <a:solidFill>
                  <a:srgbClr val="1E3A8A"/>
                </a:solidFill>
                <a:latin typeface="Calibri"/>
              </a:rPr>
              <a:t>מונח: Neurogenic bowel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1E3A8A"/>
                </a:solidFill>
                <a:latin typeface="Calibri"/>
              </a:rPr>
              <a:t>הפרעת תפקוד מעי הנגרמת מפגיעת מערכת עצבים (כמו SCI), הנמצאת קשורה בבני אדם לדיסביוזיס המאופיינת בירידה משמעותית בחיידקים מייצרי בוטיראט.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0520"/>
            <a:ext cx="7406640" cy="141732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150" b="1">
                <a:solidFill>
                  <a:srgbClr val="5B21B6"/>
                </a:solidFill>
                <a:latin typeface="Calibri"/>
              </a:rPr>
              <a:t>סיפור לזכירה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4C1D95"/>
                </a:solidFill>
                <a:latin typeface="Calibri"/>
              </a:rPr>
              <a:t>כמו רופא ששוקל לתת אנטיביוטיקה 'סתם ליתר ביטחון' למטופל בלי זיהום - בעוד שבעבר נחשב 'תמיד עדיף יותר תרופה', הממצאים על ציר המעי-מוח מראים שלפעולה הזו עשוי להיות מחיר נוירולוגי ישיר.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00" b="0">
                <a:solidFill>
                  <a:srgbClr val="5B21B6"/>
                </a:solidFill>
                <a:latin typeface="Calibri"/>
              </a:rPr>
              <a:t>שאלי את עצמך: איך היית מיישמת את העיקרון הזה במקרה קליני אמיתי?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250" b="1">
                <a:solidFill>
                  <a:srgbClr val="6B7280"/>
                </a:solidFill>
                <a:latin typeface="Calibri"/>
              </a:rPr>
              <a:t>מה קורה בפועל: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920240"/>
            <a:ext cx="3474720" cy="777240"/>
          </a:xfrm>
          <a:prstGeom prst="roundRect">
            <a:avLst/>
          </a:prstGeom>
          <a:solidFill>
            <a:srgbClr val="B91C1C"/>
          </a:solidFill>
          <a:ln w="1587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דיסביוזיס מוקדמת (מניסוי Kigerl) ↔ נזק נוירולוגי מוגבר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2788920"/>
            <a:ext cx="3474720" cy="777240"/>
          </a:xfrm>
          <a:prstGeom prst="roundRect">
            <a:avLst/>
          </a:prstGeom>
          <a:solidFill>
            <a:srgbClr val="B45309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לא אומר 'לעולם לא' - רק לשקול מול אינדיקציה אמיתית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657600"/>
            <a:ext cx="3474720" cy="777240"/>
          </a:xfrm>
          <a:prstGeom prst="roundRect">
            <a:avLst/>
          </a:prstGeom>
          <a:solidFill>
            <a:srgbClr val="1C7293"/>
          </a:solidFill>
          <a:ln w="1587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תמיכה פרוביוטית פוסט-פגיעה: כיוון טיפולי אפשרי בעתיד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900" b="0">
                <a:solidFill>
                  <a:srgbClr val="9CA3AF"/>
                </a:solidFill>
                <a:latin typeface="Calibri"/>
              </a:rPr>
              <a:t>מצגת סטטית — ללא ניקוד חי. לתרגול עם סטטיסטיקה בזמן אמת, השתמשו באתר הכרטיסיות המקוון.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015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3000" b="1">
                <a:solidFill>
                  <a:srgbClr val="FFFFFF"/>
                </a:solidFill>
                <a:latin typeface="Calibri"/>
              </a:rPr>
              <a:t>סיכום הכרטיסיות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999439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>
                <a:solidFill>
                  <a:srgbClr val="E5E7EB"/>
                </a:solidFill>
                <a:latin typeface="Calibri"/>
              </a:rPr>
              <a:t>שלוש שכבות הגנה: ריר, TLR, GALT</a:t>
            </a:r>
          </a:p>
          <a:p>
            <a:pPr algn="r" rtl="1"/>
            <a:r>
              <a:rPr sz="1600">
                <a:solidFill>
                  <a:srgbClr val="E5E7EB"/>
                </a:solidFill>
                <a:latin typeface="Calibri"/>
              </a:rPr>
              <a:t>דיסביוזיס מוקדמת מחמירה נזק נוירולוגי ב-SCI</a:t>
            </a:r>
          </a:p>
          <a:p>
            <a:pPr algn="r" rtl="1"/>
            <a:r>
              <a:rPr sz="1600">
                <a:solidFill>
                  <a:srgbClr val="E5E7EB"/>
                </a:solidFill>
                <a:latin typeface="Calibri"/>
              </a:rPr>
              <a:t>עצב הוואגוס: שלושה אתרי עצבוב, 70-80% סנסורי</a:t>
            </a:r>
          </a:p>
          <a:p>
            <a:pPr algn="r" rtl="1"/>
            <a:r>
              <a:rPr sz="1600">
                <a:solidFill>
                  <a:srgbClr val="E5E7EB"/>
                </a:solidFill>
                <a:latin typeface="Calibri"/>
              </a:rPr>
              <a:t>המסלול האנטי-דלקתי הכולינרגי: NTS → טחול → α7</a:t>
            </a:r>
          </a:p>
          <a:p>
            <a:pPr algn="r" rtl="1"/>
            <a:r>
              <a:rPr sz="1600">
                <a:solidFill>
                  <a:srgbClr val="E5E7EB"/>
                </a:solidFill>
                <a:latin typeface="Calibri"/>
              </a:rPr>
              <a:t>VNS מרכך דלקת באפילפסיה וב-RA</a:t>
            </a:r>
          </a:p>
          <a:p>
            <a:pPr algn="r" rtl="1"/>
            <a:r>
              <a:rPr sz="1600">
                <a:solidFill>
                  <a:srgbClr val="E5E7EB"/>
                </a:solidFill>
                <a:latin typeface="Calibri"/>
              </a:rPr>
              <a:t>germ-free מול SPF: מיקרוביוטה משנה תגובת דחק</a:t>
            </a:r>
          </a:p>
          <a:p>
            <a:pPr algn="r" rtl="1"/>
            <a:r>
              <a:rPr sz="1600">
                <a:solidFill>
                  <a:srgbClr val="E5E7EB"/>
                </a:solidFill>
                <a:latin typeface="Calibri"/>
              </a:rPr>
              <a:t>יחס F:B עולה ↔ BMI גבוה יותר</a:t>
            </a:r>
          </a:p>
          <a:p>
            <a:pPr algn="r" rtl="1"/>
            <a:r>
              <a:rPr sz="1600">
                <a:solidFill>
                  <a:srgbClr val="E5E7EB"/>
                </a:solidFill>
                <a:latin typeface="Calibri"/>
              </a:rPr>
              <a:t>בוטיראט = דלק לאפיתל; חסרו ↔ מעי נוירוגני</a:t>
            </a:r>
          </a:p>
          <a:p>
            <a:pPr algn="r" rtl="1"/>
            <a:r>
              <a:rPr sz="1600">
                <a:solidFill>
                  <a:srgbClr val="E5E7EB"/>
                </a:solidFill>
                <a:latin typeface="Calibri"/>
              </a:rPr>
              <a:t>זהירות מאנטיביוטיקה מניעתית ללא אינדיקציה סביב SCI/TBI</a:t>
            </a:r>
          </a:p>
          <a:p>
            <a:pPr algn="r" rtl="1"/>
            <a:r>
              <a:rPr sz="1600">
                <a:solidFill>
                  <a:srgbClr val="E5E7EB"/>
                </a:solidFill>
                <a:latin typeface="Calibri"/>
              </a:rPr>
              <a:t>ציר המעי-מוח: דו-כיווני, לא חד-כיווני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309360"/>
            <a:ext cx="103601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200" b="0">
                <a:solidFill>
                  <a:srgbClr val="64748B"/>
                </a:solidFill>
                <a:latin typeface="Calibri"/>
              </a:rPr>
              <a:t>maskit101.github.io/summeries-medicine/neurosurgery8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