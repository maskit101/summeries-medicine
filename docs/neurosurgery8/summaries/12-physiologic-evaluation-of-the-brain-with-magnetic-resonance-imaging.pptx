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noFill/>
          <a:ln w="381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4000" b="1">
                <a:solidFill>
                  <a:srgbClr val="FFFFFF"/>
                </a:solidFill>
                <a:latin typeface="Calibri"/>
              </a:rPr>
              <a:t>נוירוכירורגיה — מהדורה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2200" b="0">
                <a:solidFill>
                  <a:srgbClr val="93C5FD"/>
                </a:solidFill>
                <a:latin typeface="Calibri"/>
              </a:rPr>
              <a:t>פרק 12: הערכה פיזיולוגית של המוח ב-MRI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0">
                <a:solidFill>
                  <a:srgbClr val="7DD3FC"/>
                </a:solidFill>
                <a:latin typeface="Calibri"/>
              </a:rPr>
              <a:t>Physiologic Evaluation of the Brain With MRI  ·  Youmans Neurological Surgery, 8th Ed. · Belani, Sundaram, Koo, Delman, Doshi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0">
                <a:solidFill>
                  <a:srgbClr val="64748B"/>
                </a:solidFill>
                <a:latin typeface="Calibri"/>
              </a:rPr>
              <a:t>8 כרטיסיות תרגול · שאלה ואז תשובה מלאה בכל כרטיסייה · לסטטיסטיקה חיה השתמשו באתר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DWI/ADC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1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מדוע לא ניתן להסתמך על אות גבוה ב-DWI בלבד כדי לאבחן הגבלת דיפוזיה אמיתית?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אפשר להסתמך על DWI בלבד - זה תמיד מדויק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כי DWI רגיש גם לאות T2 הבסיסי (T2 shine-through) - יש לוודא שגם ה-ADC נמוך, כפי שנכשל במקרה גרורת השד בפרק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כי DWI תלוי בניגוד תוך-ורידי שלא תמיד ניתן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כי DWI לא רלוונטי לאבחון שבץ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DWI/ADC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ב) כי DWI רגיש גם לאות T2 הבסיסי (T2 shine-through) - יש לוודא שגם ה-ADC נמוך, כפי שנכשל במקרה גרורת השד בפרק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(2): מפת ADC מחושבת מהשוואת שתי רכישות עם b-values שונים ומבטלת את השפעת ה-T2 הבסיסי. גרורת שד עם DWI בהיר אך ADC גבוה (Fig. 12.1) מדגימה בדיוק את המלכודת - לא הגבלה אמיתית.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T2 shine-through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אות DWI גבוה שנובע מ-T2 ארוך בסיסי ולא מהגבלת דיפוזיה אמיתית - נשלל ע"י בדיקת ADC.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שתי עדויות בחקירה: DWI הוא עד ראייה נלהב שיכול לטעות; ADC הוא בדיקת פוליגרף שמאשרת. רק כששניהם מסכימים (DWI גבוה + ADC נמוך) - יש הרשעה (הגבלה אמיתית).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DWI גבוה יכול לנבוע מ-T2 shine-through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ADC נמוך = דיפוזיה מוגבלת אמיתית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חובה לבדוק את שניהם יחד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DTI וטרקטוגרפיה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2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לפי קונבנציית הצבע הסטנדרטית במפות DTI, איזה צבע מייצג מסלול סיבים המכוון עליון-תחתון (superior-inferior)?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אדום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ירוק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צהוב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כחול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DTI וטרקטוגרפיה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כחול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(4/כחול): הקונבנציה הרווחת ברוב המרכזים הקליניים היא אדום=ימין-שמאל, ירוק=קדמי-אחורי, כחול=עליון-תחתון (כמו המסלול הקורטיקוספינלי היורד). כיוונים אלכסוניים מיוצגים בצבעי ביניים.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DTI color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מפת אניזוטרופיה שברית בצבע-קוד לפי כיוון: אדום=Rt-Lt, ירוק=Ant-Post, כחול=Sup-Inf.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מצפן צבעוני: כחול לשמיים ולאדמה (עליון-תחתון) - בדיוק כמו המסלול הקורטיקוספינלי שיורד מהקורטקס לחוט השדרה.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אדום = ימין-שמאל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ירוק = קדמי-אחורי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כחול = עליון-תחתון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MRA - שיטות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3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מהו העיקרון הפיזיקלי שמאפשר ל-TOF MRA לדמיין כלי דם ללא צורך בניגוד תוך-ורידי?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פולסים חוזרים רוויים את הרקמה הסטטית; דם זורם לתוך הנפח 'לא רווי' ולכן נותן את כל האות - ניגודיות 'טבעית' מזרימה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TOF תמיד דורש גדוליניום כדי לתפקד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TOF מודד ישירות את ריכוז ההמוגלובין בדם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TOF מבוסס על קרינה מייננת כמו CT אנגיוגרפיה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MRA - שיטות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פולסים חוזרים רוויים את הרקמה הסטטית; דם זורם לתוך הנפח 'לא רווי' ולכן נותן את כל האות - ניגודיות 'טבעית' מזרימה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הפעלת פולסים חוזרים על נפח קבוע גורמת לרוויית (השתקת) אות הרקמה הסטטית; דם שזורם פנימה טרם נחשף לפולסים ולכן ממוגנט במלואו, ונותן את כל האות המשמעותי בנפח - זהו המקור לניגודיות התוך-מולדת של TOF.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TOF MRA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Time-of-Flight - ניגודיות מבוססת רוויית רקמה סטטית מול דם זורם 'טרי', ללא ניגוד IV.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חדר מלא באורחים ותיקים ש'נשחקו' (רקמה רוויה, שקטה) - ואז נכנס אורח חדש וטרי (דם זורם) שכולם שמים לב אליו מיד כי הוא הכי 'בהיר' בחדר.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פולסים חוזרים = רוויית רקמה סטטית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דם נכנס 'טרי' = לא רווי = אות מלא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ניגודיות ללא צורך בניגוד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פרפוזיה: ASL מול DSC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4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 עם אי-ספיקת כליות חמורה זקוק להערכת פרפוזיה מוחית לחשד לוזוספזם. איזו שיטת הדמיה מתאימה ביותר, ומדוע?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DSC - כי היא היחידה שמודדת CBF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DCE - כי אינה תלויה כלל בזרימת דם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ASL - מתייגת מגנטית פרוטוני מים בדם עורקי ואינה דורשת כלל ניגוד גדוליניום תוך-ורידי, ולכן בטוחה באי-ספיקת כליות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אין כל אפשרות הדמייתית ללא ניגוד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פרפוזיה: ASL מול DSC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ASL - מתייגת מגנטית פרוטוני מים בדם עורקי ואינה דורשת כלל ניגוד גדוליניום תוך-ורידי, ולכן בטוחה באי-ספיקת כליות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(3): ASL משתמשת במים בדם כ'עוקב אנדוגני' ע"י היפוך מגנטיזציה - אינה דורשת שום חומר ניגוד. זהו יתרון קליני מרכזי בחולי כליה או אלרגיה לגדוליניום, בהשוואה ל-DSC/DCE שדורשות בולוס גדוליניום.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ASL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Arterial Spin Labeling - תיוג מגנטי של דם עורקי כעוקב אנדוגני, ללא צורך בניגוד IV.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שולח שממש 'צובע' את הדם עצמו באמצעות מגנט (לא חומר זר) - כמו לסמן ריצת שליחים בעט בלתי נראה שרק המצלמה המיוחדת (הסורק) יכולה לזהות, בלי לזרוק שום דבר לגוף.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ASL: ללא ניגוד גדוליניום כלל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מתייג דם עורקי מגנטית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בטוח באי-ספיקת כליות/אלרגיה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fMRI/BOLD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5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מהי שרשרת האירועים הפיזיולוגית שמובילה לאות ה-BOLD ב-fMRI?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ירידה בפעילות נוירונלית → ירידה ב-CBF → עלייה בדאוקסיהמוגלובין → ירידה באות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עלייה בפעילות נוירונלית → עלייה מקומית ב-CBF מעל צריכת החמצן → ירידה יחסית בדאוקסיהמוגלובין הפרמגנטי → עלייה נטו באות T2*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פעילות נוירונלית אינה קשורה כלל לזרימת דם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BOLD מודד ישירות זרם חשמלי בנוירונים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fMRI/BOLD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ב) עלייה בפעילות נוירונלית → עלייה מקומית ב-CBF מעל צריכת החמצן → ירידה יחסית בדאוקסיהמוגלובין הפרמגנטי → עלייה נטו באות T2*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(2): הפעלה נוירונלית מגבירה CBF מעבר לצורך המטבולי בפועל, כך שיחסית יש יותר אוקסיהמוגלובין וירידה בדאוקסיהמוגלובין הפרמגנטי - שבדרך כלל מנמיך אות. ירידה בו מובילה לעלייה נטו באות - זהו אות ה-BOLD, מדידה עקיפה (המודינמית) של פעילות נוירונלית.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Blood Oxygen Level-Dependent - אות MR עולה כתוצאה מירידה יחסית בדאוקסיהמוגלובין בעקבות פעילות נוירונלית.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מסעדה שמזמינה יותר אוכל (חמצן) ממה שהאורחים (הנוירונים) בפועל אוכלים - נשאר עודף 'טרי' (אוקסיהמוגלובין) על השולחן, וזה בדיוק מה שהמצלמה (הסורק) קולטת כ'אות עולה'.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↑פעילות נוירונלית → ↑CBF מקומי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CBF עולה מעל צריכת O2 בפועל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↓דאוקסיהמוגלובין → ↑אות T2*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Vessel Wall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6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כיצד ניתן להבדיל ב-Vessel Wall Imaging בין וסקוליטיס לבין RCVS (Reversible Cerebral Vasoconstriction Syndrome)?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שתיהן מראות תמיד את אותו הדפוס - אי אפשר להבדיל בהדמיה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וסקוליטיס - ללא עיבוי דופן כלל; RCVS - עיבוי עם האדרה חזקה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אנגיוגרפיה קונבנציונלית יכולה להבדיל, VWI חסר תועלת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וסקוליטיס - עיבוי דופן קונצנטרי עם האדרה (דלקת פעילה); RCVS - עיבוי דופן עם האדרה מינימלית/נעדרת (וזוקונסטריקציה חולפת ללא דלקת)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Vessel Wall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ד) וסקוליטיס - עיבוי דופן קונצנטרי עם האדרה (דלקת פעילה); RCVS - עיבוי דופן עם האדרה מינימלית/נעדרת (וזוקונסטריקציה חולפת ללא דלקת)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האדרה בדופן הכלי ב-VWI משקפת תהליך דלקתי פעיל (חדירת תאי דלקת, ניאווסקולריזציה) - נצפית בוסקוליטיס. ב-RCVS ההיצרות נובעת מוזוקונסטריקציה חולפת ולא מדלקת, ולכן ההאדרה מינימלית או נעדרת - ה-VWI מסייע ישירות באבחנה המבדלת.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VWI וסקוליטיס מול RCVS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האדרת דופן = דלקת פעילה (וסקוליטיס); עיבוי ללא האדרה = וזוקונסטריקציה חולפת (RCVS).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שריפה אמיתית (וסקוליטיס) שמשאירה עשן ואודם (האדרה) - לעומת עווית שרירים חולפת וכואבת (RCVS) שמותירה נפיחות אך ללא 'אש' פעילה.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וסקוליטיס: עיבוי + האדרה (דלקת)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RCVS: עיבוי בלי/עם מעט האדרה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ההאדרה משקפת דלקת פעילה בדופן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MRS - מטבוליטים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7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מטופל עם גליומה חשודה, ו-MRS מדגים היפוך 'זווית האנטר' (כולין גבוה מ-NAA). מה מרמז הממצא, ואילו מצבים נוספים (מלבד גידול) עלולים לחקות אותו?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תמיד ובלעדית גידול ממאיר - אין אבחנה מבדלת אחרת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ממצא תקין לחלוטין שאינו דורש התייחסות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רק זיהום יכול לגרום לכך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חשד לגידול (כולין↑ ממחזור ממברנה מוגבר, NAA↓ מפגיעה עצבית) - אך היפוך דומה יכול להופיע גם באיסכמיה, תהליכים דלקתיים ומחלה ניוונית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MRS - מטבוליטים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ג) רק זיהום יכול לגרום לכך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(4): היפוך זווית האנטר (כולין&gt;NAA) מרמז חזק על גידול, אך הפרק מציין במפורש שהיפוך דומה נראה גם בתהליכים איסכמיים, דלקתיים ואף במחלה ניוונית - ולכן MRS משמש כתוסף לנתוני הדמיה נוספים ולא כאבחנה סופית בפני עצמה.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זווית האנטר (Hunter's angle)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קו דמיוני המחבר את שיאי NAA-קריאטין-כולין; תקין ~45-50°; היפוך מרמז על תהליך פתולוגי, לא בהכרח גידול.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מד מדרון שנוטה בדרך כלל 'למעלה' משמאל לימין (NAA גבוה מכולין) - כשההר 'מתהפך' זה אזעקה, אך אזעקה יכולה להישמע גם משריפה (איסכמיה), רעש (דלקת) או בלאי (ניוון), לא רק מפורץ (גידול).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↑כולין = מחזור ממברנה (גידול)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↓NAA = פגיעה/מוות עצבי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גם איסכמיה/דלקת/ניוון יכולים לחקות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3108960" cy="384048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50" b="1">
                <a:solidFill>
                  <a:srgbClr val="FFFFFF"/>
                </a:solidFill>
                <a:latin typeface="Calibri"/>
              </a:rPr>
              <a:t>PC MRI ו-CSF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/>
            <a:r>
              <a:rPr sz="1200" b="0">
                <a:solidFill>
                  <a:srgbClr val="9CA3AF"/>
                </a:solidFill>
                <a:latin typeface="Calibri"/>
              </a:rPr>
              <a:t>כרטיסייה 8 מתוך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2000" b="1">
                <a:solidFill>
                  <a:srgbClr val="1F2937"/>
                </a:solidFill>
                <a:latin typeface="Calibri"/>
              </a:rPr>
              <a:t>ילד עם הידרוצפלוס עבר endoscopic third ventriculostomy (ETV). איזו בדיקת MRI מתאימה ביותר להערכת פטנטיות ה-ETV, ומהי המלכודת החשובה בפרשנותה?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PC MRI (cardiac-gated) מדגים זרימת CSF פועמת דרך הפתח; אך היעדר זרימה נראית באקוודוקט עצמו אינו בהכרח כשל, גם ב-ETV מוצלח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84448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CT ללא ניגוד - הבדיקה היחידה הרלוונטית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MRS - מודד ישירות זרימת CSF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9824"/>
            <a:ext cx="11064240" cy="777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400" b="1">
                <a:solidFill>
                  <a:srgbClr val="FFFFFF"/>
                </a:solidFill>
                <a:latin typeface="Calibri"/>
              </a:rPr>
              <a:t>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350" b="0">
                <a:solidFill>
                  <a:srgbClr val="1F2937"/>
                </a:solidFill>
                <a:latin typeface="Calibri"/>
              </a:rPr>
              <a:t>fMRI - הבדיקה הרגישה ביותר לפטנטיות ETV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3108960" cy="36576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1">
                <a:solidFill>
                  <a:srgbClr val="FFFFFF"/>
                </a:solidFill>
                <a:latin typeface="Calibri"/>
              </a:rPr>
              <a:t>PC MRI ו-CSF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400" b="1">
                <a:solidFill>
                  <a:srgbClr val="15803D"/>
                </a:solidFill>
                <a:latin typeface="Calibri"/>
              </a:rPr>
              <a:t>התשובה הנכונה: א) PC MRI (cardiac-gated) מדגים זרימת CSF פועמת דרך הפתח; אך היעדר זרימה נראית באקוודוקט עצמו אינו בהכרח כשל, גם ב-ETV מוצלח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4066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00" b="1">
                <a:solidFill>
                  <a:srgbClr val="6B7280"/>
                </a:solidFill>
                <a:latin typeface="Calibri"/>
              </a:rPr>
              <a:t>הסבר: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1000" b="0">
                <a:solidFill>
                  <a:srgbClr val="1F2937"/>
                </a:solidFill>
                <a:latin typeface="Calibri"/>
              </a:rPr>
              <a:t>התשובה הנכונה (1): PC MRI עם gating לבבי מדגים כמותית את זרימת ה-CSF הפועמת דרך פתח ה-ETV. חשוב לזכור שגם לאחר ETV מוצלח, ייתכן שלא תיראה זרימה דרך האקוודוקט עצמו - כשל בזיהוי נקודה זו עלול להוביל לאבחנת-שווא של כשל ETV.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74066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1E3A8A"/>
                </a:solidFill>
                <a:latin typeface="Calibri"/>
              </a:rPr>
              <a:t>מונח: PC MRI ל-ETV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1E3A8A"/>
                </a:solidFill>
                <a:latin typeface="Calibri"/>
              </a:rPr>
              <a:t>הדמיה כמותית ל-CSF פועם דרך הפתח שנוצר בניתוח - הכלי המרכזי למעקב אחר פטנטיות.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7406640" cy="1417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150" b="1">
                <a:solidFill>
                  <a:srgbClr val="5B21B6"/>
                </a:solidFill>
                <a:latin typeface="Calibri"/>
              </a:rPr>
              <a:t>סיפור לזכירה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4C1D95"/>
                </a:solidFill>
                <a:latin typeface="Calibri"/>
              </a:rPr>
              <a:t>דמייני צינור מים חדש שנפתח בקיר - הבדיקה הטובה ביותר היא לבדוק אם המים זורמים דרכו (PC MRI בפתח), ולא להסתמך על כך שגם הצינור הישן (האקוודוקט) עדיין 'זורם'.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/>
            <a:r>
              <a:rPr sz="900" b="0">
                <a:solidFill>
                  <a:srgbClr val="5B21B6"/>
                </a:solidFill>
                <a:latin typeface="Calibri"/>
              </a:rPr>
              <a:t>שאלי את עצמך: איך היית מיישמת את העיקרון הזה במקרה קליני אמיתי?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1250" b="1">
                <a:solidFill>
                  <a:srgbClr val="6B7280"/>
                </a:solidFill>
                <a:latin typeface="Calibri"/>
              </a:rPr>
              <a:t>מה קורה בפועל: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920240"/>
            <a:ext cx="3474720" cy="777240"/>
          </a:xfrm>
          <a:prstGeom prst="roundRect">
            <a:avLst/>
          </a:prstGeom>
          <a:solidFill>
            <a:srgbClr val="B91C1C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PC MRI cardiac-gated: זרימת CSF כמותית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474720" cy="777240"/>
          </a:xfrm>
          <a:prstGeom prst="roundRect">
            <a:avLst/>
          </a:prstGeom>
          <a:solidFill>
            <a:srgbClr val="B45309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פעימה דרך הפתח = ETV פתוח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657600"/>
            <a:ext cx="3474720" cy="777240"/>
          </a:xfrm>
          <a:prstGeom prst="roundRect">
            <a:avLst/>
          </a:prstGeom>
          <a:solidFill>
            <a:srgbClr val="1C7293"/>
          </a:solidFill>
          <a:ln w="1587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/>
            <a:r>
              <a:rPr sz="950" b="0">
                <a:solidFill>
                  <a:srgbClr val="FFFFFF"/>
                </a:solidFill>
                <a:latin typeface="Calibri"/>
              </a:rPr>
              <a:t>חוסר זרימה באקוודוקט ≠ בהכרח כשל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900" b="0">
                <a:solidFill>
                  <a:srgbClr val="9CA3AF"/>
                </a:solidFill>
                <a:latin typeface="Calibri"/>
              </a:rPr>
              <a:t>מצגת סטטית — ללא ניקוד חי. לתרגול עם סטטיסטיקה בזמן אמת, השתמשו באתר הכרטיסיות המקוון.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3000" b="1">
                <a:solidFill>
                  <a:srgbClr val="FFFFFF"/>
                </a:solidFill>
                <a:latin typeface="Calibri"/>
              </a:rPr>
              <a:t>סיכום הכרטיסיות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DWI/ADC - שבץ חריף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DTI - טרקטוגרפיה וצבע-קוד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MRA - TOF/PC/CE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PC CSF flow - NPH/ETV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ASL - CBF ללא ניגוד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DSC/DCE - CBV/Ktrans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fMRI/BOLD - מיפוי אלוקוונטי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Vessel Wall Imaging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MRS - NAA/כולין/לקטט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MRE - קשיחות רקמה</a:t>
            </a:r>
          </a:p>
          <a:p>
            <a:pPr algn="r" rtl="1"/>
            <a:r>
              <a:rPr sz="1600">
                <a:solidFill>
                  <a:srgbClr val="E5E7EB"/>
                </a:solidFill>
                <a:latin typeface="Calibri"/>
              </a:rPr>
              <a:t>PET/MRI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/>
            <a:r>
              <a:rPr sz="1200" b="0">
                <a:solidFill>
                  <a:srgbClr val="64748B"/>
                </a:solidFill>
                <a:latin typeface="Calibri"/>
              </a:rPr>
              <a:t>maskit101.github.io/summeries-medicine/neurosurgery8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