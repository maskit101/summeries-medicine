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Oval 1"/>
          <p:cNvSpPr/>
          <p:nvPr/>
        </p:nvSpPr>
        <p:spPr>
          <a:xfrm>
            <a:off x="5559552" y="640080"/>
            <a:ext cx="1078992" cy="1078992"/>
          </a:xfrm>
          <a:prstGeom prst="ellipse">
            <a:avLst/>
          </a:prstGeom>
          <a:no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788152" y="868680"/>
            <a:ext cx="621792" cy="62179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60152" cy="914400"/>
          </a:xfrm>
          <a:prstGeom prst="rect">
            <a:avLst/>
          </a:prstGeom>
          <a:noFill/>
        </p:spPr>
        <p:txBody>
          <a:bodyPr wrap="square">
            <a:spAutoFit/>
          </a:bodyPr>
          <a:lstStyle/>
          <a:p>
            <a:pPr algn="ctr" rtl="1"/>
            <a:r>
              <a:rPr sz="4000" b="1">
                <a:solidFill>
                  <a:srgbClr val="FFFFFF"/>
                </a:solidFill>
                <a:latin typeface="Calibri"/>
              </a:rPr>
              <a:t>נוירוכירורגיה — מהדורה 8</a:t>
            </a:r>
          </a:p>
        </p:txBody>
      </p:sp>
      <p:sp>
        <p:nvSpPr>
          <p:cNvPr id="5" name="TextBox 4"/>
          <p:cNvSpPr txBox="1"/>
          <p:nvPr/>
        </p:nvSpPr>
        <p:spPr>
          <a:xfrm>
            <a:off x="914400" y="3017520"/>
            <a:ext cx="10360152" cy="640080"/>
          </a:xfrm>
          <a:prstGeom prst="rect">
            <a:avLst/>
          </a:prstGeom>
          <a:noFill/>
        </p:spPr>
        <p:txBody>
          <a:bodyPr wrap="square">
            <a:spAutoFit/>
          </a:bodyPr>
          <a:lstStyle/>
          <a:p>
            <a:pPr algn="ctr" rtl="1"/>
            <a:r>
              <a:rPr sz="2200" b="0">
                <a:solidFill>
                  <a:srgbClr val="93C5FD"/>
                </a:solidFill>
                <a:latin typeface="Calibri"/>
              </a:rPr>
              <a:t>פרק 18: קרישה (המוסטזיס) לנוירוכירורג</a:t>
            </a:r>
          </a:p>
        </p:txBody>
      </p:sp>
      <p:sp>
        <p:nvSpPr>
          <p:cNvPr id="6" name="TextBox 5"/>
          <p:cNvSpPr txBox="1"/>
          <p:nvPr/>
        </p:nvSpPr>
        <p:spPr>
          <a:xfrm>
            <a:off x="914400" y="3657600"/>
            <a:ext cx="10360152" cy="457200"/>
          </a:xfrm>
          <a:prstGeom prst="rect">
            <a:avLst/>
          </a:prstGeom>
          <a:noFill/>
        </p:spPr>
        <p:txBody>
          <a:bodyPr wrap="square">
            <a:spAutoFit/>
          </a:bodyPr>
          <a:lstStyle/>
          <a:p>
            <a:pPr algn="ctr" rtl="1"/>
            <a:r>
              <a:rPr sz="1400" b="0">
                <a:solidFill>
                  <a:srgbClr val="7DD3FC"/>
                </a:solidFill>
                <a:latin typeface="Calibri"/>
              </a:rPr>
              <a:t>Coagulation for the Neurosurgeon  ·  Youmans Neurological Surgery, 8th Ed. · Shahid M. Nimjee, Andrew R. Crofton, et al.</a:t>
            </a:r>
          </a:p>
        </p:txBody>
      </p:sp>
      <p:sp>
        <p:nvSpPr>
          <p:cNvPr id="7" name="TextBox 6"/>
          <p:cNvSpPr txBox="1"/>
          <p:nvPr/>
        </p:nvSpPr>
        <p:spPr>
          <a:xfrm>
            <a:off x="914400" y="5943600"/>
            <a:ext cx="10360152" cy="548640"/>
          </a:xfrm>
          <a:prstGeom prst="rect">
            <a:avLst/>
          </a:prstGeom>
          <a:noFill/>
        </p:spPr>
        <p:txBody>
          <a:bodyPr wrap="square">
            <a:spAutoFit/>
          </a:bodyPr>
          <a:lstStyle/>
          <a:p>
            <a:pPr algn="ctr" rtl="1"/>
            <a:r>
              <a:rPr sz="1250" b="0">
                <a:solidFill>
                  <a:srgbClr val="64748B"/>
                </a:solidFill>
                <a:latin typeface="Calibri"/>
              </a:rPr>
              <a:t>8 כרטיסיות תרגול · שאלה ואז תשובה מלאה בכל כרטיסייה · לסטטיסטיקה חיה השתמשו באתר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3108960" cy="384048"/>
          </a:xfrm>
          <a:prstGeom prst="rect">
            <a:avLst/>
          </a:prstGeom>
          <a:noFill/>
        </p:spPr>
        <p:txBody>
          <a:bodyPr wrap="square" anchor="ctr">
            <a:spAutoFit/>
          </a:bodyPr>
          <a:lstStyle/>
          <a:p>
            <a:pPr algn="ctr" rtl="1"/>
            <a:r>
              <a:rPr sz="1250" b="1">
                <a:solidFill>
                  <a:srgbClr val="FFFFFF"/>
                </a:solidFill>
                <a:latin typeface="Calibri"/>
              </a:rPr>
              <a:t>המודל התאי</a:t>
            </a:r>
          </a:p>
        </p:txBody>
      </p:sp>
      <p:sp>
        <p:nvSpPr>
          <p:cNvPr id="4" name="TextBox 3"/>
          <p:cNvSpPr txBox="1"/>
          <p:nvPr/>
        </p:nvSpPr>
        <p:spPr>
          <a:xfrm>
            <a:off x="8531352" y="365760"/>
            <a:ext cx="3108960" cy="384048"/>
          </a:xfrm>
          <a:prstGeom prst="rect">
            <a:avLst/>
          </a:prstGeom>
          <a:noFill/>
        </p:spPr>
        <p:txBody>
          <a:bodyPr wrap="square" anchor="ctr">
            <a:spAutoFit/>
          </a:bodyPr>
          <a:lstStyle/>
          <a:p>
            <a:pPr algn="l" rtl="1"/>
            <a:r>
              <a:rPr sz="1200" b="0">
                <a:solidFill>
                  <a:srgbClr val="9CA3AF"/>
                </a:solidFill>
                <a:latin typeface="Calibri"/>
              </a:rPr>
              <a:t>כרטיסייה 1 מתוך 8</a:t>
            </a:r>
          </a:p>
        </p:txBody>
      </p:sp>
      <p:sp>
        <p:nvSpPr>
          <p:cNvPr id="5" name="TextBox 4"/>
          <p:cNvSpPr txBox="1"/>
          <p:nvPr/>
        </p:nvSpPr>
        <p:spPr>
          <a:xfrm>
            <a:off x="548640" y="1005840"/>
            <a:ext cx="11064240" cy="1463040"/>
          </a:xfrm>
          <a:prstGeom prst="rect">
            <a:avLst/>
          </a:prstGeom>
          <a:noFill/>
        </p:spPr>
        <p:txBody>
          <a:bodyPr wrap="square">
            <a:spAutoFit/>
          </a:bodyPr>
          <a:lstStyle/>
          <a:p>
            <a:pPr algn="r" rtl="1"/>
            <a:r>
              <a:rPr sz="2000" b="1">
                <a:solidFill>
                  <a:srgbClr val="1F2937"/>
                </a:solidFill>
                <a:latin typeface="Calibri"/>
              </a:rPr>
              <a:t>מהם שלושת שלבי המודל התאי של קרישה, ומה קורה בכל שלב?</a:t>
            </a:r>
          </a:p>
        </p:txBody>
      </p:sp>
      <p:sp>
        <p:nvSpPr>
          <p:cNvPr id="6" name="Rounded Rectangle 5"/>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44200" y="2852928"/>
            <a:ext cx="365760" cy="365760"/>
          </a:xfrm>
          <a:prstGeom prst="rect">
            <a:avLst/>
          </a:prstGeom>
          <a:noFill/>
        </p:spPr>
        <p:txBody>
          <a:bodyPr wrap="square" anchor="ctr">
            <a:spAutoFit/>
          </a:bodyPr>
          <a:lstStyle/>
          <a:p>
            <a:pPr algn="ctr" rtl="1"/>
            <a:r>
              <a:rPr sz="1400" b="1">
                <a:solidFill>
                  <a:srgbClr val="FFFFFF"/>
                </a:solidFill>
                <a:latin typeface="Calibri"/>
              </a:rPr>
              <a:t>א</a:t>
            </a:r>
          </a:p>
        </p:txBody>
      </p:sp>
      <p:sp>
        <p:nvSpPr>
          <p:cNvPr id="9" name="TextBox 8"/>
          <p:cNvSpPr txBox="1"/>
          <p:nvPr/>
        </p:nvSpPr>
        <p:spPr>
          <a:xfrm>
            <a:off x="822960" y="2651760"/>
            <a:ext cx="9784080" cy="777240"/>
          </a:xfrm>
          <a:prstGeom prst="rect">
            <a:avLst/>
          </a:prstGeom>
          <a:noFill/>
        </p:spPr>
        <p:txBody>
          <a:bodyPr wrap="square" anchor="ctr">
            <a:spAutoFit/>
          </a:bodyPr>
          <a:lstStyle/>
          <a:p>
            <a:pPr algn="r" rtl="1"/>
            <a:r>
              <a:rPr sz="1350" b="0">
                <a:solidFill>
                  <a:srgbClr val="1F2937"/>
                </a:solidFill>
                <a:latin typeface="Calibri"/>
              </a:rPr>
              <a:t>רק שני שלבים - אקסטרינסי ואינטרינסי, בפלזמה בלבד</a:t>
            </a:r>
          </a:p>
        </p:txBody>
      </p:sp>
      <p:sp>
        <p:nvSpPr>
          <p:cNvPr id="10" name="Rounded Rectangle 9"/>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3785616"/>
            <a:ext cx="365760" cy="365760"/>
          </a:xfrm>
          <a:prstGeom prst="rect">
            <a:avLst/>
          </a:prstGeom>
          <a:noFill/>
        </p:spPr>
        <p:txBody>
          <a:bodyPr wrap="square" anchor="ctr">
            <a:spAutoFit/>
          </a:bodyPr>
          <a:lstStyle/>
          <a:p>
            <a:pPr algn="ctr" rtl="1"/>
            <a:r>
              <a:rPr sz="1400" b="1">
                <a:solidFill>
                  <a:srgbClr val="FFFFFF"/>
                </a:solidFill>
                <a:latin typeface="Calibri"/>
              </a:rPr>
              <a:t>ב</a:t>
            </a:r>
          </a:p>
        </p:txBody>
      </p:sp>
      <p:sp>
        <p:nvSpPr>
          <p:cNvPr id="13" name="TextBox 12"/>
          <p:cNvSpPr txBox="1"/>
          <p:nvPr/>
        </p:nvSpPr>
        <p:spPr>
          <a:xfrm>
            <a:off x="822960" y="3584448"/>
            <a:ext cx="9784080" cy="777240"/>
          </a:xfrm>
          <a:prstGeom prst="rect">
            <a:avLst/>
          </a:prstGeom>
          <a:noFill/>
        </p:spPr>
        <p:txBody>
          <a:bodyPr wrap="square" anchor="ctr">
            <a:spAutoFit/>
          </a:bodyPr>
          <a:lstStyle/>
          <a:p>
            <a:pPr algn="r" rtl="1"/>
            <a:r>
              <a:rPr sz="1350" b="0">
                <a:solidFill>
                  <a:srgbClr val="1F2937"/>
                </a:solidFill>
                <a:latin typeface="Calibri"/>
              </a:rPr>
              <a:t>אדהזיה, אגרגציה, רטרקציה - כולם על פני אריתרוציטים</a:t>
            </a:r>
          </a:p>
        </p:txBody>
      </p:sp>
      <p:sp>
        <p:nvSpPr>
          <p:cNvPr id="14" name="Rounded Rectangle 13"/>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44200" y="4718304"/>
            <a:ext cx="365760" cy="365760"/>
          </a:xfrm>
          <a:prstGeom prst="rect">
            <a:avLst/>
          </a:prstGeom>
          <a:noFill/>
        </p:spPr>
        <p:txBody>
          <a:bodyPr wrap="square" anchor="ctr">
            <a:spAutoFit/>
          </a:bodyPr>
          <a:lstStyle/>
          <a:p>
            <a:pPr algn="ctr" rtl="1"/>
            <a:r>
              <a:rPr sz="1400" b="1">
                <a:solidFill>
                  <a:srgbClr val="FFFFFF"/>
                </a:solidFill>
                <a:latin typeface="Calibri"/>
              </a:rPr>
              <a:t>ג</a:t>
            </a:r>
          </a:p>
        </p:txBody>
      </p:sp>
      <p:sp>
        <p:nvSpPr>
          <p:cNvPr id="17" name="TextBox 16"/>
          <p:cNvSpPr txBox="1"/>
          <p:nvPr/>
        </p:nvSpPr>
        <p:spPr>
          <a:xfrm>
            <a:off x="822960" y="4517136"/>
            <a:ext cx="9784080" cy="777240"/>
          </a:xfrm>
          <a:prstGeom prst="rect">
            <a:avLst/>
          </a:prstGeom>
          <a:noFill/>
        </p:spPr>
        <p:txBody>
          <a:bodyPr wrap="square" anchor="ctr">
            <a:spAutoFit/>
          </a:bodyPr>
          <a:lstStyle/>
          <a:p>
            <a:pPr algn="r" rtl="1"/>
            <a:r>
              <a:rPr sz="1350" b="0">
                <a:solidFill>
                  <a:srgbClr val="1F2937"/>
                </a:solidFill>
                <a:latin typeface="Calibri"/>
              </a:rPr>
              <a:t>חניכה (TF על תא נושא-TF מייצר תרומבין 'זרע') → הגברה (התרומבין מפעיל את הטסית) → התפשטות (Tenase ו-Prothrombinase על פני הטסית מייצרים פרץ תרומבין ליצירת פיברין)</a:t>
            </a:r>
          </a:p>
        </p:txBody>
      </p:sp>
      <p:sp>
        <p:nvSpPr>
          <p:cNvPr id="18" name="Rounded Rectangle 17"/>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4200" y="5650992"/>
            <a:ext cx="365760" cy="365760"/>
          </a:xfrm>
          <a:prstGeom prst="rect">
            <a:avLst/>
          </a:prstGeom>
          <a:noFill/>
        </p:spPr>
        <p:txBody>
          <a:bodyPr wrap="square" anchor="ctr">
            <a:spAutoFit/>
          </a:bodyPr>
          <a:lstStyle/>
          <a:p>
            <a:pPr algn="ctr" rtl="1"/>
            <a:r>
              <a:rPr sz="1400" b="1">
                <a:solidFill>
                  <a:srgbClr val="FFFFFF"/>
                </a:solidFill>
                <a:latin typeface="Calibri"/>
              </a:rPr>
              <a:t>ד</a:t>
            </a:r>
          </a:p>
        </p:txBody>
      </p:sp>
      <p:sp>
        <p:nvSpPr>
          <p:cNvPr id="21" name="TextBox 20"/>
          <p:cNvSpPr txBox="1"/>
          <p:nvPr/>
        </p:nvSpPr>
        <p:spPr>
          <a:xfrm>
            <a:off x="822960" y="5449824"/>
            <a:ext cx="9784080" cy="777240"/>
          </a:xfrm>
          <a:prstGeom prst="rect">
            <a:avLst/>
          </a:prstGeom>
          <a:noFill/>
        </p:spPr>
        <p:txBody>
          <a:bodyPr wrap="square" anchor="ctr">
            <a:spAutoFit/>
          </a:bodyPr>
          <a:lstStyle/>
          <a:p>
            <a:pPr algn="r" rtl="1"/>
            <a:r>
              <a:rPr sz="1350" b="0">
                <a:solidFill>
                  <a:srgbClr val="1F2937"/>
                </a:solidFill>
                <a:latin typeface="Calibri"/>
              </a:rPr>
              <a:t>כל השלבים מתרחשים בו-זמנית וללא תלות זה בזה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08960" cy="365760"/>
          </a:xfrm>
          <a:prstGeom prst="rect">
            <a:avLst/>
          </a:prstGeom>
          <a:noFill/>
        </p:spPr>
        <p:txBody>
          <a:bodyPr wrap="square" anchor="ctr">
            <a:spAutoFit/>
          </a:bodyPr>
          <a:lstStyle/>
          <a:p>
            <a:pPr algn="ctr" rtl="1"/>
            <a:r>
              <a:rPr sz="1200" b="1">
                <a:solidFill>
                  <a:srgbClr val="FFFFFF"/>
                </a:solidFill>
                <a:latin typeface="Calibri"/>
              </a:rPr>
              <a:t>המודל התאי</a:t>
            </a:r>
          </a:p>
        </p:txBody>
      </p:sp>
      <p:sp>
        <p:nvSpPr>
          <p:cNvPr id="4" name="TextBox 3"/>
          <p:cNvSpPr txBox="1"/>
          <p:nvPr/>
        </p:nvSpPr>
        <p:spPr>
          <a:xfrm>
            <a:off x="548640" y="777240"/>
            <a:ext cx="11064240" cy="640080"/>
          </a:xfrm>
          <a:prstGeom prst="rect">
            <a:avLst/>
          </a:prstGeom>
          <a:noFill/>
        </p:spPr>
        <p:txBody>
          <a:bodyPr wrap="square">
            <a:spAutoFit/>
          </a:bodyPr>
          <a:lstStyle/>
          <a:p>
            <a:pPr algn="r" rtl="1"/>
            <a:r>
              <a:rPr sz="1400" b="1">
                <a:solidFill>
                  <a:srgbClr val="15803D"/>
                </a:solidFill>
                <a:latin typeface="Calibri"/>
              </a:rPr>
              <a:t>התשובה הנכונה: ג) חניכה (TF על תא נושא-TF מייצר תרומבין 'זרע') → הגברה (התרומבין מפעיל את הטסית) → התפשטות (Tenase ו-Prothrombinase על פני הטסית מייצרים פרץ תרומבין ליצירת פיברין)</a:t>
            </a:r>
          </a:p>
        </p:txBody>
      </p:sp>
      <p:sp>
        <p:nvSpPr>
          <p:cNvPr id="5" name="Rounded Rectangle 4"/>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27632"/>
            <a:ext cx="7040880" cy="274320"/>
          </a:xfrm>
          <a:prstGeom prst="rect">
            <a:avLst/>
          </a:prstGeom>
          <a:noFill/>
        </p:spPr>
        <p:txBody>
          <a:bodyPr wrap="square">
            <a:spAutoFit/>
          </a:bodyPr>
          <a:lstStyle/>
          <a:p>
            <a:pPr algn="r" rtl="1"/>
            <a:r>
              <a:rPr sz="1200" b="1">
                <a:solidFill>
                  <a:srgbClr val="64748B"/>
                </a:solidFill>
                <a:latin typeface="Calibri"/>
              </a:rPr>
              <a:t>הסבר:</a:t>
            </a:r>
          </a:p>
        </p:txBody>
      </p:sp>
      <p:sp>
        <p:nvSpPr>
          <p:cNvPr id="7" name="TextBox 6"/>
          <p:cNvSpPr txBox="1"/>
          <p:nvPr/>
        </p:nvSpPr>
        <p:spPr>
          <a:xfrm>
            <a:off x="731520" y="1901952"/>
            <a:ext cx="7040880" cy="1005840"/>
          </a:xfrm>
          <a:prstGeom prst="rect">
            <a:avLst/>
          </a:prstGeom>
          <a:noFill/>
        </p:spPr>
        <p:txBody>
          <a:bodyPr wrap="square">
            <a:spAutoFit/>
          </a:bodyPr>
          <a:lstStyle/>
          <a:p>
            <a:pPr algn="r" rtl="1"/>
            <a:r>
              <a:rPr sz="1000" b="0">
                <a:solidFill>
                  <a:srgbClr val="1F2937"/>
                </a:solidFill>
                <a:latin typeface="Calibri"/>
              </a:rPr>
              <a:t>התשובה הנכונה (3): המודל התאי מחליף את התפיסה הקלאסית של 'מפל בפלזמה' בתהליך שמתרחש על פני שטח תאים - תחילה על תא נושא Tissue Factor (חניכה), ואז על פני הטסית המופעלת (הגברה והתפשטות). זה המודל שמסביר נכון את הפיזיולוגיה בגוף החי, בניגוד למודל הקלאסי שמתאים בעיקר לבדיקות מעבדה.</a:t>
            </a:r>
          </a:p>
        </p:txBody>
      </p:sp>
      <p:sp>
        <p:nvSpPr>
          <p:cNvPr id="8" name="Rounded Rectangle 7"/>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82112"/>
            <a:ext cx="7040880" cy="274320"/>
          </a:xfrm>
          <a:prstGeom prst="rect">
            <a:avLst/>
          </a:prstGeom>
          <a:noFill/>
        </p:spPr>
        <p:txBody>
          <a:bodyPr wrap="square">
            <a:spAutoFit/>
          </a:bodyPr>
          <a:lstStyle/>
          <a:p>
            <a:pPr algn="r" rtl="1"/>
            <a:r>
              <a:rPr sz="1150" b="1">
                <a:solidFill>
                  <a:srgbClr val="1E3A8A"/>
                </a:solidFill>
                <a:latin typeface="Calibri"/>
              </a:rPr>
              <a:t>מונח: המודל התאי</a:t>
            </a:r>
          </a:p>
        </p:txBody>
      </p:sp>
      <p:sp>
        <p:nvSpPr>
          <p:cNvPr id="10" name="TextBox 9"/>
          <p:cNvSpPr txBox="1"/>
          <p:nvPr/>
        </p:nvSpPr>
        <p:spPr>
          <a:xfrm>
            <a:off x="731520" y="3474720"/>
            <a:ext cx="7040880" cy="502920"/>
          </a:xfrm>
          <a:prstGeom prst="rect">
            <a:avLst/>
          </a:prstGeom>
          <a:noFill/>
        </p:spPr>
        <p:txBody>
          <a:bodyPr wrap="square">
            <a:spAutoFit/>
          </a:bodyPr>
          <a:lstStyle/>
          <a:p>
            <a:pPr algn="r" rtl="1"/>
            <a:r>
              <a:rPr sz="950" b="0">
                <a:solidFill>
                  <a:srgbClr val="1E3A8A"/>
                </a:solidFill>
                <a:latin typeface="Calibri"/>
              </a:rPr>
              <a:t>חניכה, הגברה, התפשטות - שלושה שלבים חופפים שמתרחשים על פני שטח תאים, לא בפלזמה חופשית.</a:t>
            </a:r>
          </a:p>
        </p:txBody>
      </p:sp>
      <p:sp>
        <p:nvSpPr>
          <p:cNvPr id="11" name="Rounded Rectangle 10"/>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2"/>
            <a:ext cx="7040880" cy="274320"/>
          </a:xfrm>
          <a:prstGeom prst="rect">
            <a:avLst/>
          </a:prstGeom>
          <a:noFill/>
        </p:spPr>
        <p:txBody>
          <a:bodyPr wrap="square">
            <a:spAutoFit/>
          </a:bodyPr>
          <a:lstStyle/>
          <a:p>
            <a:pPr algn="r" rtl="1"/>
            <a:r>
              <a:rPr sz="1150" b="1">
                <a:solidFill>
                  <a:srgbClr val="5B21B6"/>
                </a:solidFill>
                <a:latin typeface="Calibri"/>
              </a:rPr>
              <a:t>סיפור לזכירה</a:t>
            </a:r>
          </a:p>
        </p:txBody>
      </p:sp>
      <p:sp>
        <p:nvSpPr>
          <p:cNvPr id="13" name="TextBox 12"/>
          <p:cNvSpPr txBox="1"/>
          <p:nvPr/>
        </p:nvSpPr>
        <p:spPr>
          <a:xfrm>
            <a:off x="731520" y="4526280"/>
            <a:ext cx="7040880" cy="502920"/>
          </a:xfrm>
          <a:prstGeom prst="rect">
            <a:avLst/>
          </a:prstGeom>
          <a:noFill/>
        </p:spPr>
        <p:txBody>
          <a:bodyPr wrap="square">
            <a:spAutoFit/>
          </a:bodyPr>
          <a:lstStyle/>
          <a:p>
            <a:pPr algn="r" rtl="1"/>
            <a:r>
              <a:rPr sz="950" b="0">
                <a:solidFill>
                  <a:srgbClr val="4C1D95"/>
                </a:solidFill>
                <a:latin typeface="Calibri"/>
              </a:rPr>
              <a:t>דמייני מדורה: ניצוץ קטן (חניכה) מצית חומר בעירה (הגברה - הטסית 'נדלקת'), ואז האש האמיתית בוערת (התפשטות - פרץ התרומבין).</a:t>
            </a:r>
          </a:p>
        </p:txBody>
      </p:sp>
      <p:sp>
        <p:nvSpPr>
          <p:cNvPr id="14" name="TextBox 13"/>
          <p:cNvSpPr txBox="1"/>
          <p:nvPr/>
        </p:nvSpPr>
        <p:spPr>
          <a:xfrm>
            <a:off x="731520" y="5047488"/>
            <a:ext cx="7040880" cy="502920"/>
          </a:xfrm>
          <a:prstGeom prst="rect">
            <a:avLst/>
          </a:prstGeom>
          <a:noFill/>
        </p:spPr>
        <p:txBody>
          <a:bodyPr wrap="square">
            <a:spAutoFit/>
          </a:bodyPr>
          <a:lstStyle/>
          <a:p>
            <a:pPr algn="r" rtl="1"/>
            <a:r>
              <a:rPr sz="900" b="0">
                <a:solidFill>
                  <a:srgbClr val="5B21B6"/>
                </a:solidFill>
                <a:latin typeface="Calibri"/>
              </a:rPr>
              <a:t>למה המודל התאי דיוק יותר מהמודל הקלאסי (אקסטרינסי/אינטרינסי)?</a:t>
            </a:r>
          </a:p>
        </p:txBody>
      </p:sp>
      <p:sp>
        <p:nvSpPr>
          <p:cNvPr id="15" name="TextBox 14"/>
          <p:cNvSpPr txBox="1"/>
          <p:nvPr/>
        </p:nvSpPr>
        <p:spPr>
          <a:xfrm>
            <a:off x="8138160" y="1554480"/>
            <a:ext cx="3474720" cy="320040"/>
          </a:xfrm>
          <a:prstGeom prst="rect">
            <a:avLst/>
          </a:prstGeom>
          <a:noFill/>
        </p:spPr>
        <p:txBody>
          <a:bodyPr wrap="square">
            <a:spAutoFit/>
          </a:bodyPr>
          <a:lstStyle/>
          <a:p>
            <a:pPr algn="r" rtl="1"/>
            <a:r>
              <a:rPr sz="1250" b="1">
                <a:solidFill>
                  <a:srgbClr val="64748B"/>
                </a:solidFill>
                <a:latin typeface="Calibri"/>
              </a:rPr>
              <a:t>מה קורה בפועל:</a:t>
            </a:r>
          </a:p>
        </p:txBody>
      </p:sp>
      <p:sp>
        <p:nvSpPr>
          <p:cNvPr id="16" name="Rounded Rectangle 15"/>
          <p:cNvSpPr/>
          <p:nvPr/>
        </p:nvSpPr>
        <p:spPr>
          <a:xfrm>
            <a:off x="8138160" y="1920240"/>
            <a:ext cx="3474720" cy="777240"/>
          </a:xfrm>
          <a:prstGeom prst="roundRect">
            <a:avLst/>
          </a:prstGeom>
          <a:solidFill>
            <a:srgbClr val="D99A2B"/>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92840" y="2176272"/>
            <a:ext cx="256032" cy="256032"/>
          </a:xfrm>
          <a:prstGeom prst="ellipse">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74864"/>
            <a:ext cx="2880360" cy="667512"/>
          </a:xfrm>
          <a:prstGeom prst="rect">
            <a:avLst/>
          </a:prstGeom>
          <a:noFill/>
        </p:spPr>
        <p:txBody>
          <a:bodyPr wrap="square" anchor="ctr">
            <a:spAutoFit/>
          </a:bodyPr>
          <a:lstStyle/>
          <a:p>
            <a:pPr algn="r" rtl="1"/>
            <a:r>
              <a:rPr sz="950" b="0">
                <a:solidFill>
                  <a:srgbClr val="FFFFFF"/>
                </a:solidFill>
                <a:latin typeface="Calibri"/>
              </a:rPr>
              <a:t>חניכה - TF/VIIa על תא פיברובלסט/אנדותל מייצר כמות קטנה של תרומבין</a:t>
            </a:r>
          </a:p>
        </p:txBody>
      </p:sp>
      <p:sp>
        <p:nvSpPr>
          <p:cNvPr id="19" name="Rounded Rectangle 18"/>
          <p:cNvSpPr/>
          <p:nvPr/>
        </p:nvSpPr>
        <p:spPr>
          <a:xfrm>
            <a:off x="8138160" y="2788920"/>
            <a:ext cx="3474720" cy="777240"/>
          </a:xfrm>
          <a:prstGeom prst="round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92840" y="304495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43544"/>
            <a:ext cx="2880360" cy="667512"/>
          </a:xfrm>
          <a:prstGeom prst="rect">
            <a:avLst/>
          </a:prstGeom>
          <a:noFill/>
        </p:spPr>
        <p:txBody>
          <a:bodyPr wrap="square" anchor="ctr">
            <a:spAutoFit/>
          </a:bodyPr>
          <a:lstStyle/>
          <a:p>
            <a:pPr algn="r" rtl="1"/>
            <a:r>
              <a:rPr sz="950" b="0">
                <a:solidFill>
                  <a:srgbClr val="FFFFFF"/>
                </a:solidFill>
                <a:latin typeface="Calibri"/>
              </a:rPr>
              <a:t>הגברה - התרומבין 'הזרע' מפעיל את הטסית ומפעיל FV, FVIII עליה</a:t>
            </a:r>
          </a:p>
        </p:txBody>
      </p:sp>
      <p:sp>
        <p:nvSpPr>
          <p:cNvPr id="22" name="Rounded Rectangle 21"/>
          <p:cNvSpPr/>
          <p:nvPr/>
        </p:nvSpPr>
        <p:spPr>
          <a:xfrm>
            <a:off x="8138160" y="3657600"/>
            <a:ext cx="3474720" cy="777240"/>
          </a:xfrm>
          <a:prstGeom prst="roundRect">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92840" y="3913632"/>
            <a:ext cx="256032" cy="25603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712224"/>
            <a:ext cx="2880360" cy="667512"/>
          </a:xfrm>
          <a:prstGeom prst="rect">
            <a:avLst/>
          </a:prstGeom>
          <a:noFill/>
        </p:spPr>
        <p:txBody>
          <a:bodyPr wrap="square" anchor="ctr">
            <a:spAutoFit/>
          </a:bodyPr>
          <a:lstStyle/>
          <a:p>
            <a:pPr algn="r" rtl="1"/>
            <a:r>
              <a:rPr sz="950" b="0">
                <a:solidFill>
                  <a:srgbClr val="FFFFFF"/>
                </a:solidFill>
                <a:latin typeface="Calibri"/>
              </a:rPr>
              <a:t>התפשטות - Tenase (FVIIIa/FIXa) ו-Prothrombinase (FVa/FXa) על הטסית מייצרים פרץ תרומבין → פיברין יציב</a:t>
            </a:r>
          </a:p>
        </p:txBody>
      </p:sp>
      <p:sp>
        <p:nvSpPr>
          <p:cNvPr id="25" name="TextBox 24"/>
          <p:cNvSpPr txBox="1"/>
          <p:nvPr/>
        </p:nvSpPr>
        <p:spPr>
          <a:xfrm>
            <a:off x="548640" y="6446520"/>
            <a:ext cx="11064240" cy="320040"/>
          </a:xfrm>
          <a:prstGeom prst="rect">
            <a:avLst/>
          </a:prstGeom>
          <a:noFill/>
        </p:spPr>
        <p:txBody>
          <a:bodyPr wrap="square">
            <a:spAutoFit/>
          </a:bodyPr>
          <a:lstStyle/>
          <a:p>
            <a:pPr algn="r" rtl="1"/>
            <a:r>
              <a:rPr sz="900" b="0">
                <a:solidFill>
                  <a:srgbClr val="9CA3AF"/>
                </a:solidFill>
                <a:latin typeface="Calibri"/>
              </a:rPr>
              <a:t>מצגת סטטית — ללא ניקוד חי. לתרגול עם סטטיסטיקה בזמן אמת, השתמשו באתר.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3108960" cy="384048"/>
          </a:xfrm>
          <a:prstGeom prst="rect">
            <a:avLst/>
          </a:prstGeom>
          <a:noFill/>
        </p:spPr>
        <p:txBody>
          <a:bodyPr wrap="square" anchor="ctr">
            <a:spAutoFit/>
          </a:bodyPr>
          <a:lstStyle/>
          <a:p>
            <a:pPr algn="ctr" rtl="1"/>
            <a:r>
              <a:rPr sz="1250" b="1">
                <a:solidFill>
                  <a:srgbClr val="FFFFFF"/>
                </a:solidFill>
                <a:latin typeface="Calibri"/>
              </a:rPr>
              <a:t>קרישה קלינית</a:t>
            </a:r>
          </a:p>
        </p:txBody>
      </p:sp>
      <p:sp>
        <p:nvSpPr>
          <p:cNvPr id="4" name="TextBox 3"/>
          <p:cNvSpPr txBox="1"/>
          <p:nvPr/>
        </p:nvSpPr>
        <p:spPr>
          <a:xfrm>
            <a:off x="8531352" y="365760"/>
            <a:ext cx="3108960" cy="384048"/>
          </a:xfrm>
          <a:prstGeom prst="rect">
            <a:avLst/>
          </a:prstGeom>
          <a:noFill/>
        </p:spPr>
        <p:txBody>
          <a:bodyPr wrap="square" anchor="ctr">
            <a:spAutoFit/>
          </a:bodyPr>
          <a:lstStyle/>
          <a:p>
            <a:pPr algn="l" rtl="1"/>
            <a:r>
              <a:rPr sz="1200" b="0">
                <a:solidFill>
                  <a:srgbClr val="9CA3AF"/>
                </a:solidFill>
                <a:latin typeface="Calibri"/>
              </a:rPr>
              <a:t>כרטיסייה 2 מתוך 8</a:t>
            </a:r>
          </a:p>
        </p:txBody>
      </p:sp>
      <p:sp>
        <p:nvSpPr>
          <p:cNvPr id="5" name="TextBox 4"/>
          <p:cNvSpPr txBox="1"/>
          <p:nvPr/>
        </p:nvSpPr>
        <p:spPr>
          <a:xfrm>
            <a:off x="548640" y="1005840"/>
            <a:ext cx="11064240" cy="1463040"/>
          </a:xfrm>
          <a:prstGeom prst="rect">
            <a:avLst/>
          </a:prstGeom>
          <a:noFill/>
        </p:spPr>
        <p:txBody>
          <a:bodyPr wrap="square">
            <a:spAutoFit/>
          </a:bodyPr>
          <a:lstStyle/>
          <a:p>
            <a:pPr algn="r" rtl="1"/>
            <a:r>
              <a:rPr sz="2000" b="1">
                <a:solidFill>
                  <a:srgbClr val="1F2937"/>
                </a:solidFill>
                <a:latin typeface="Calibri"/>
              </a:rPr>
              <a:t>חסר ב-FVIII (המופיליה A) גורם לדימום קליני חמור, בעוד חסר FXII אינו גורם לדימום כלל - אף ששניהם שייכים ל'מסלול האינטרינסי' הקלאסי. מדוע?</a:t>
            </a:r>
          </a:p>
        </p:txBody>
      </p:sp>
      <p:sp>
        <p:nvSpPr>
          <p:cNvPr id="6" name="Rounded Rectangle 5"/>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44200" y="2852928"/>
            <a:ext cx="365760" cy="365760"/>
          </a:xfrm>
          <a:prstGeom prst="rect">
            <a:avLst/>
          </a:prstGeom>
          <a:noFill/>
        </p:spPr>
        <p:txBody>
          <a:bodyPr wrap="square" anchor="ctr">
            <a:spAutoFit/>
          </a:bodyPr>
          <a:lstStyle/>
          <a:p>
            <a:pPr algn="ctr" rtl="1"/>
            <a:r>
              <a:rPr sz="1400" b="1">
                <a:solidFill>
                  <a:srgbClr val="FFFFFF"/>
                </a:solidFill>
                <a:latin typeface="Calibri"/>
              </a:rPr>
              <a:t>א</a:t>
            </a:r>
          </a:p>
        </p:txBody>
      </p:sp>
      <p:sp>
        <p:nvSpPr>
          <p:cNvPr id="9" name="TextBox 8"/>
          <p:cNvSpPr txBox="1"/>
          <p:nvPr/>
        </p:nvSpPr>
        <p:spPr>
          <a:xfrm>
            <a:off x="822960" y="2651760"/>
            <a:ext cx="9784080" cy="777240"/>
          </a:xfrm>
          <a:prstGeom prst="rect">
            <a:avLst/>
          </a:prstGeom>
          <a:noFill/>
        </p:spPr>
        <p:txBody>
          <a:bodyPr wrap="square" anchor="ctr">
            <a:spAutoFit/>
          </a:bodyPr>
          <a:lstStyle/>
          <a:p>
            <a:pPr algn="r" rtl="1"/>
            <a:r>
              <a:rPr sz="1350" b="0">
                <a:solidFill>
                  <a:srgbClr val="1F2937"/>
                </a:solidFill>
                <a:latin typeface="Calibri"/>
              </a:rPr>
              <a:t>FXII חשוב רק לנשים, ולכן לא משפיע על גברים עם המופיליה</a:t>
            </a:r>
          </a:p>
        </p:txBody>
      </p:sp>
      <p:sp>
        <p:nvSpPr>
          <p:cNvPr id="10" name="Rounded Rectangle 9"/>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3785616"/>
            <a:ext cx="365760" cy="365760"/>
          </a:xfrm>
          <a:prstGeom prst="rect">
            <a:avLst/>
          </a:prstGeom>
          <a:noFill/>
        </p:spPr>
        <p:txBody>
          <a:bodyPr wrap="square" anchor="ctr">
            <a:spAutoFit/>
          </a:bodyPr>
          <a:lstStyle/>
          <a:p>
            <a:pPr algn="ctr" rtl="1"/>
            <a:r>
              <a:rPr sz="1400" b="1">
                <a:solidFill>
                  <a:srgbClr val="FFFFFF"/>
                </a:solidFill>
                <a:latin typeface="Calibri"/>
              </a:rPr>
              <a:t>ב</a:t>
            </a:r>
          </a:p>
        </p:txBody>
      </p:sp>
      <p:sp>
        <p:nvSpPr>
          <p:cNvPr id="13" name="TextBox 12"/>
          <p:cNvSpPr txBox="1"/>
          <p:nvPr/>
        </p:nvSpPr>
        <p:spPr>
          <a:xfrm>
            <a:off x="822960" y="3584448"/>
            <a:ext cx="9784080" cy="777240"/>
          </a:xfrm>
          <a:prstGeom prst="rect">
            <a:avLst/>
          </a:prstGeom>
          <a:noFill/>
        </p:spPr>
        <p:txBody>
          <a:bodyPr wrap="square" anchor="ctr">
            <a:spAutoFit/>
          </a:bodyPr>
          <a:lstStyle/>
          <a:p>
            <a:pPr algn="r" rtl="1"/>
            <a:r>
              <a:rPr sz="1350" b="0">
                <a:solidFill>
                  <a:srgbClr val="1F2937"/>
                </a:solidFill>
                <a:latin typeface="Calibri"/>
              </a:rPr>
              <a:t>FVIII הוא חלק הכרחי ממתחם Tenase בשלב ההתפשטות על פני הטסית - חסרו מונע פרץ תרומבין מספיק; FXII משתתף רק במבחנה (aPTT) ולא בהמוסטזיס הפיזיולוגי</a:t>
            </a:r>
          </a:p>
        </p:txBody>
      </p:sp>
      <p:sp>
        <p:nvSpPr>
          <p:cNvPr id="14" name="Rounded Rectangle 13"/>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44200" y="4718304"/>
            <a:ext cx="365760" cy="365760"/>
          </a:xfrm>
          <a:prstGeom prst="rect">
            <a:avLst/>
          </a:prstGeom>
          <a:noFill/>
        </p:spPr>
        <p:txBody>
          <a:bodyPr wrap="square" anchor="ctr">
            <a:spAutoFit/>
          </a:bodyPr>
          <a:lstStyle/>
          <a:p>
            <a:pPr algn="ctr" rtl="1"/>
            <a:r>
              <a:rPr sz="1400" b="1">
                <a:solidFill>
                  <a:srgbClr val="FFFFFF"/>
                </a:solidFill>
                <a:latin typeface="Calibri"/>
              </a:rPr>
              <a:t>ג</a:t>
            </a:r>
          </a:p>
        </p:txBody>
      </p:sp>
      <p:sp>
        <p:nvSpPr>
          <p:cNvPr id="17" name="TextBox 16"/>
          <p:cNvSpPr txBox="1"/>
          <p:nvPr/>
        </p:nvSpPr>
        <p:spPr>
          <a:xfrm>
            <a:off x="822960" y="4517136"/>
            <a:ext cx="9784080" cy="777240"/>
          </a:xfrm>
          <a:prstGeom prst="rect">
            <a:avLst/>
          </a:prstGeom>
          <a:noFill/>
        </p:spPr>
        <p:txBody>
          <a:bodyPr wrap="square" anchor="ctr">
            <a:spAutoFit/>
          </a:bodyPr>
          <a:lstStyle/>
          <a:p>
            <a:pPr algn="r" rtl="1"/>
            <a:r>
              <a:rPr sz="1350" b="0">
                <a:solidFill>
                  <a:srgbClr val="1F2937"/>
                </a:solidFill>
                <a:latin typeface="Calibri"/>
              </a:rPr>
              <a:t>אין הבדל אמיתי - שתי המחלות חמורות באותה מידה קלינית</a:t>
            </a:r>
          </a:p>
        </p:txBody>
      </p:sp>
      <p:sp>
        <p:nvSpPr>
          <p:cNvPr id="18" name="Rounded Rectangle 17"/>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4200" y="5650992"/>
            <a:ext cx="365760" cy="365760"/>
          </a:xfrm>
          <a:prstGeom prst="rect">
            <a:avLst/>
          </a:prstGeom>
          <a:noFill/>
        </p:spPr>
        <p:txBody>
          <a:bodyPr wrap="square" anchor="ctr">
            <a:spAutoFit/>
          </a:bodyPr>
          <a:lstStyle/>
          <a:p>
            <a:pPr algn="ctr" rtl="1"/>
            <a:r>
              <a:rPr sz="1400" b="1">
                <a:solidFill>
                  <a:srgbClr val="FFFFFF"/>
                </a:solidFill>
                <a:latin typeface="Calibri"/>
              </a:rPr>
              <a:t>ד</a:t>
            </a:r>
          </a:p>
        </p:txBody>
      </p:sp>
      <p:sp>
        <p:nvSpPr>
          <p:cNvPr id="21" name="TextBox 20"/>
          <p:cNvSpPr txBox="1"/>
          <p:nvPr/>
        </p:nvSpPr>
        <p:spPr>
          <a:xfrm>
            <a:off x="822960" y="5449824"/>
            <a:ext cx="9784080" cy="777240"/>
          </a:xfrm>
          <a:prstGeom prst="rect">
            <a:avLst/>
          </a:prstGeom>
          <a:noFill/>
        </p:spPr>
        <p:txBody>
          <a:bodyPr wrap="square" anchor="ctr">
            <a:spAutoFit/>
          </a:bodyPr>
          <a:lstStyle/>
          <a:p>
            <a:pPr algn="r" rtl="1"/>
            <a:r>
              <a:rPr sz="1350" b="0">
                <a:solidFill>
                  <a:srgbClr val="1F2937"/>
                </a:solidFill>
                <a:latin typeface="Calibri"/>
              </a:rPr>
              <a:t>FXII נחוץ לשלב ההתפשטות יותר מ-FVIII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08960" cy="365760"/>
          </a:xfrm>
          <a:prstGeom prst="rect">
            <a:avLst/>
          </a:prstGeom>
          <a:noFill/>
        </p:spPr>
        <p:txBody>
          <a:bodyPr wrap="square" anchor="ctr">
            <a:spAutoFit/>
          </a:bodyPr>
          <a:lstStyle/>
          <a:p>
            <a:pPr algn="ctr" rtl="1"/>
            <a:r>
              <a:rPr sz="1200" b="1">
                <a:solidFill>
                  <a:srgbClr val="FFFFFF"/>
                </a:solidFill>
                <a:latin typeface="Calibri"/>
              </a:rPr>
              <a:t>קרישה קלינית</a:t>
            </a:r>
          </a:p>
        </p:txBody>
      </p:sp>
      <p:sp>
        <p:nvSpPr>
          <p:cNvPr id="4" name="TextBox 3"/>
          <p:cNvSpPr txBox="1"/>
          <p:nvPr/>
        </p:nvSpPr>
        <p:spPr>
          <a:xfrm>
            <a:off x="548640" y="777240"/>
            <a:ext cx="11064240" cy="640080"/>
          </a:xfrm>
          <a:prstGeom prst="rect">
            <a:avLst/>
          </a:prstGeom>
          <a:noFill/>
        </p:spPr>
        <p:txBody>
          <a:bodyPr wrap="square">
            <a:spAutoFit/>
          </a:bodyPr>
          <a:lstStyle/>
          <a:p>
            <a:pPr algn="r" rtl="1"/>
            <a:r>
              <a:rPr sz="1400" b="1">
                <a:solidFill>
                  <a:srgbClr val="15803D"/>
                </a:solidFill>
                <a:latin typeface="Calibri"/>
              </a:rPr>
              <a:t>התשובה הנכונה: ב) FVIII הוא חלק הכרחי ממתחם Tenase בשלב ההתפשטות על פני הטסית - חסרו מונע פרץ תרומבין מספיק; FXII משתתף רק במבחנה (aPTT) ולא בהמוסטזיס הפיזיולוגי</a:t>
            </a:r>
          </a:p>
        </p:txBody>
      </p:sp>
      <p:sp>
        <p:nvSpPr>
          <p:cNvPr id="5" name="Rounded Rectangle 4"/>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27632"/>
            <a:ext cx="7040880" cy="274320"/>
          </a:xfrm>
          <a:prstGeom prst="rect">
            <a:avLst/>
          </a:prstGeom>
          <a:noFill/>
        </p:spPr>
        <p:txBody>
          <a:bodyPr wrap="square">
            <a:spAutoFit/>
          </a:bodyPr>
          <a:lstStyle/>
          <a:p>
            <a:pPr algn="r" rtl="1"/>
            <a:r>
              <a:rPr sz="1200" b="1">
                <a:solidFill>
                  <a:srgbClr val="64748B"/>
                </a:solidFill>
                <a:latin typeface="Calibri"/>
              </a:rPr>
              <a:t>הסבר:</a:t>
            </a:r>
          </a:p>
        </p:txBody>
      </p:sp>
      <p:sp>
        <p:nvSpPr>
          <p:cNvPr id="7" name="TextBox 6"/>
          <p:cNvSpPr txBox="1"/>
          <p:nvPr/>
        </p:nvSpPr>
        <p:spPr>
          <a:xfrm>
            <a:off x="731520" y="1901952"/>
            <a:ext cx="7040880" cy="1005840"/>
          </a:xfrm>
          <a:prstGeom prst="rect">
            <a:avLst/>
          </a:prstGeom>
          <a:noFill/>
        </p:spPr>
        <p:txBody>
          <a:bodyPr wrap="square">
            <a:spAutoFit/>
          </a:bodyPr>
          <a:lstStyle/>
          <a:p>
            <a:pPr algn="r" rtl="1"/>
            <a:r>
              <a:rPr sz="1000" b="0">
                <a:solidFill>
                  <a:srgbClr val="1F2937"/>
                </a:solidFill>
                <a:latin typeface="Calibri"/>
              </a:rPr>
              <a:t>התשובה הנכונה (2): זו הדגמה קלאסית ליתרון המודל התאי על המודל הקלאסי - FVIIIa חלק ממתחם Tenase החיוני לשלב ההתפשטות (פרץ תרומבין), ולכן חסרו (המופיליה A) גורם לדימום משמעותי. FXII, לעומת זאת, משתתף רק בהפעלה במבחנה (ולכן מאריך aPTT) אך אינו נחוץ להמוסטזיס הפיזיולוגי - ולכן חסרו 'שקט' קלינית.</a:t>
            </a:r>
          </a:p>
        </p:txBody>
      </p:sp>
      <p:sp>
        <p:nvSpPr>
          <p:cNvPr id="8" name="Rounded Rectangle 7"/>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82112"/>
            <a:ext cx="7040880" cy="274320"/>
          </a:xfrm>
          <a:prstGeom prst="rect">
            <a:avLst/>
          </a:prstGeom>
          <a:noFill/>
        </p:spPr>
        <p:txBody>
          <a:bodyPr wrap="square">
            <a:spAutoFit/>
          </a:bodyPr>
          <a:lstStyle/>
          <a:p>
            <a:pPr algn="r" rtl="1"/>
            <a:r>
              <a:rPr sz="1150" b="1">
                <a:solidFill>
                  <a:srgbClr val="1E3A8A"/>
                </a:solidFill>
                <a:latin typeface="Calibri"/>
              </a:rPr>
              <a:t>מונח: Tenase</a:t>
            </a:r>
          </a:p>
        </p:txBody>
      </p:sp>
      <p:sp>
        <p:nvSpPr>
          <p:cNvPr id="10" name="TextBox 9"/>
          <p:cNvSpPr txBox="1"/>
          <p:nvPr/>
        </p:nvSpPr>
        <p:spPr>
          <a:xfrm>
            <a:off x="731520" y="3474720"/>
            <a:ext cx="7040880" cy="502920"/>
          </a:xfrm>
          <a:prstGeom prst="rect">
            <a:avLst/>
          </a:prstGeom>
          <a:noFill/>
        </p:spPr>
        <p:txBody>
          <a:bodyPr wrap="square">
            <a:spAutoFit/>
          </a:bodyPr>
          <a:lstStyle/>
          <a:p>
            <a:pPr algn="r" rtl="1"/>
            <a:r>
              <a:rPr sz="950" b="0">
                <a:solidFill>
                  <a:srgbClr val="1E3A8A"/>
                </a:solidFill>
                <a:latin typeface="Calibri"/>
              </a:rPr>
              <a:t>מתחם FVIIIa/FIXa שמפעיל FX על פני הטסית המופעלת בשלב ההתפשטות - הכרחי לפרץ התרומבין.</a:t>
            </a:r>
          </a:p>
        </p:txBody>
      </p:sp>
      <p:sp>
        <p:nvSpPr>
          <p:cNvPr id="11" name="Rounded Rectangle 10"/>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2"/>
            <a:ext cx="7040880" cy="274320"/>
          </a:xfrm>
          <a:prstGeom prst="rect">
            <a:avLst/>
          </a:prstGeom>
          <a:noFill/>
        </p:spPr>
        <p:txBody>
          <a:bodyPr wrap="square">
            <a:spAutoFit/>
          </a:bodyPr>
          <a:lstStyle/>
          <a:p>
            <a:pPr algn="r" rtl="1"/>
            <a:r>
              <a:rPr sz="1150" b="1">
                <a:solidFill>
                  <a:srgbClr val="5B21B6"/>
                </a:solidFill>
                <a:latin typeface="Calibri"/>
              </a:rPr>
              <a:t>סיפור לזכירה</a:t>
            </a:r>
          </a:p>
        </p:txBody>
      </p:sp>
      <p:sp>
        <p:nvSpPr>
          <p:cNvPr id="13" name="TextBox 12"/>
          <p:cNvSpPr txBox="1"/>
          <p:nvPr/>
        </p:nvSpPr>
        <p:spPr>
          <a:xfrm>
            <a:off x="731520" y="4526280"/>
            <a:ext cx="7040880" cy="502920"/>
          </a:xfrm>
          <a:prstGeom prst="rect">
            <a:avLst/>
          </a:prstGeom>
          <a:noFill/>
        </p:spPr>
        <p:txBody>
          <a:bodyPr wrap="square">
            <a:spAutoFit/>
          </a:bodyPr>
          <a:lstStyle/>
          <a:p>
            <a:pPr algn="r" rtl="1"/>
            <a:r>
              <a:rPr sz="950" b="0">
                <a:solidFill>
                  <a:srgbClr val="4C1D95"/>
                </a:solidFill>
                <a:latin typeface="Calibri"/>
              </a:rPr>
              <a:t>דמייני שני שומרי סף: אחד (FVIII) שומר על השער האמיתי של הבית (ההתפשטות הפיזיולוגית), והשני (FXII) שומר רק על שער מדומה שקיים במעבדה בלבד.</a:t>
            </a:r>
          </a:p>
        </p:txBody>
      </p:sp>
      <p:sp>
        <p:nvSpPr>
          <p:cNvPr id="14" name="TextBox 13"/>
          <p:cNvSpPr txBox="1"/>
          <p:nvPr/>
        </p:nvSpPr>
        <p:spPr>
          <a:xfrm>
            <a:off x="731520" y="5047488"/>
            <a:ext cx="7040880" cy="502920"/>
          </a:xfrm>
          <a:prstGeom prst="rect">
            <a:avLst/>
          </a:prstGeom>
          <a:noFill/>
        </p:spPr>
        <p:txBody>
          <a:bodyPr wrap="square">
            <a:spAutoFit/>
          </a:bodyPr>
          <a:lstStyle/>
          <a:p>
            <a:pPr algn="r" rtl="1"/>
            <a:r>
              <a:rPr sz="900" b="0">
                <a:solidFill>
                  <a:srgbClr val="5B21B6"/>
                </a:solidFill>
                <a:latin typeface="Calibri"/>
              </a:rPr>
              <a:t>איך זה משפיע על טיפול וניטור קליני במטופל עם aPTT מאורך בבדיקת סקר?</a:t>
            </a:r>
          </a:p>
        </p:txBody>
      </p:sp>
      <p:sp>
        <p:nvSpPr>
          <p:cNvPr id="15" name="TextBox 14"/>
          <p:cNvSpPr txBox="1"/>
          <p:nvPr/>
        </p:nvSpPr>
        <p:spPr>
          <a:xfrm>
            <a:off x="8138160" y="1554480"/>
            <a:ext cx="3474720" cy="320040"/>
          </a:xfrm>
          <a:prstGeom prst="rect">
            <a:avLst/>
          </a:prstGeom>
          <a:noFill/>
        </p:spPr>
        <p:txBody>
          <a:bodyPr wrap="square">
            <a:spAutoFit/>
          </a:bodyPr>
          <a:lstStyle/>
          <a:p>
            <a:pPr algn="r" rtl="1"/>
            <a:r>
              <a:rPr sz="1250" b="1">
                <a:solidFill>
                  <a:srgbClr val="64748B"/>
                </a:solidFill>
                <a:latin typeface="Calibri"/>
              </a:rPr>
              <a:t>מה קורה בפועל:</a:t>
            </a:r>
          </a:p>
        </p:txBody>
      </p:sp>
      <p:sp>
        <p:nvSpPr>
          <p:cNvPr id="16" name="Rounded Rectangle 15"/>
          <p:cNvSpPr/>
          <p:nvPr/>
        </p:nvSpPr>
        <p:spPr>
          <a:xfrm>
            <a:off x="8138160" y="1920240"/>
            <a:ext cx="3474720" cy="777240"/>
          </a:xfrm>
          <a:prstGeom prst="roundRect">
            <a:avLst/>
          </a:prstGeom>
          <a:solidFill>
            <a:srgbClr val="B91C1C"/>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74864"/>
            <a:ext cx="2880360" cy="667512"/>
          </a:xfrm>
          <a:prstGeom prst="rect">
            <a:avLst/>
          </a:prstGeom>
          <a:noFill/>
        </p:spPr>
        <p:txBody>
          <a:bodyPr wrap="square" anchor="ctr">
            <a:spAutoFit/>
          </a:bodyPr>
          <a:lstStyle/>
          <a:p>
            <a:pPr algn="r" rtl="1"/>
            <a:r>
              <a:rPr sz="950" b="0">
                <a:solidFill>
                  <a:srgbClr val="FFFFFF"/>
                </a:solidFill>
                <a:latin typeface="Calibri"/>
              </a:rPr>
              <a:t>FVIII הוא חלק ממתחם Tenase (עם FIXa) שמפעיל FX על פני הטסית</a:t>
            </a:r>
          </a:p>
        </p:txBody>
      </p:sp>
      <p:sp>
        <p:nvSpPr>
          <p:cNvPr id="19" name="Rounded Rectangle 18"/>
          <p:cNvSpPr/>
          <p:nvPr/>
        </p:nvSpPr>
        <p:spPr>
          <a:xfrm>
            <a:off x="8138160" y="2788920"/>
            <a:ext cx="3474720" cy="777240"/>
          </a:xfrm>
          <a:prstGeom prst="roundRect">
            <a:avLst/>
          </a:prstGeom>
          <a:solidFill>
            <a:srgbClr val="D99A2B"/>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92840" y="3044952"/>
            <a:ext cx="256032" cy="256032"/>
          </a:xfrm>
          <a:prstGeom prst="ellipse">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43544"/>
            <a:ext cx="2880360" cy="667512"/>
          </a:xfrm>
          <a:prstGeom prst="rect">
            <a:avLst/>
          </a:prstGeom>
          <a:noFill/>
        </p:spPr>
        <p:txBody>
          <a:bodyPr wrap="square" anchor="ctr">
            <a:spAutoFit/>
          </a:bodyPr>
          <a:lstStyle/>
          <a:p>
            <a:pPr algn="r" rtl="1"/>
            <a:r>
              <a:rPr sz="950" b="0">
                <a:solidFill>
                  <a:srgbClr val="FFFFFF"/>
                </a:solidFill>
                <a:latin typeface="Calibri"/>
              </a:rPr>
              <a:t>בלי Tenase תקין - אין פרץ תרומבין מספיק, ולכן אין פקק פיברין יציב</a:t>
            </a:r>
          </a:p>
        </p:txBody>
      </p:sp>
      <p:sp>
        <p:nvSpPr>
          <p:cNvPr id="22" name="Rounded Rectangle 21"/>
          <p:cNvSpPr/>
          <p:nvPr/>
        </p:nvSpPr>
        <p:spPr>
          <a:xfrm>
            <a:off x="8138160" y="3657600"/>
            <a:ext cx="3474720" cy="777240"/>
          </a:xfrm>
          <a:prstGeom prst="roundRect">
            <a:avLst/>
          </a:prstGeom>
          <a:solidFill>
            <a:srgbClr val="6B7280"/>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92840" y="3913632"/>
            <a:ext cx="256032" cy="256032"/>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712224"/>
            <a:ext cx="2880360" cy="667512"/>
          </a:xfrm>
          <a:prstGeom prst="rect">
            <a:avLst/>
          </a:prstGeom>
          <a:noFill/>
        </p:spPr>
        <p:txBody>
          <a:bodyPr wrap="square" anchor="ctr">
            <a:spAutoFit/>
          </a:bodyPr>
          <a:lstStyle/>
          <a:p>
            <a:pPr algn="r" rtl="1"/>
            <a:r>
              <a:rPr sz="950" b="0">
                <a:solidFill>
                  <a:srgbClr val="FFFFFF"/>
                </a:solidFill>
                <a:latin typeface="Calibri"/>
              </a:rPr>
              <a:t>FXII מאריך aPTT במבחנה אך אינו חלק מהמסלול הפיזיולוגי בגוף</a:t>
            </a:r>
          </a:p>
        </p:txBody>
      </p:sp>
      <p:sp>
        <p:nvSpPr>
          <p:cNvPr id="25" name="TextBox 24"/>
          <p:cNvSpPr txBox="1"/>
          <p:nvPr/>
        </p:nvSpPr>
        <p:spPr>
          <a:xfrm>
            <a:off x="548640" y="6446520"/>
            <a:ext cx="11064240" cy="320040"/>
          </a:xfrm>
          <a:prstGeom prst="rect">
            <a:avLst/>
          </a:prstGeom>
          <a:noFill/>
        </p:spPr>
        <p:txBody>
          <a:bodyPr wrap="square">
            <a:spAutoFit/>
          </a:bodyPr>
          <a:lstStyle/>
          <a:p>
            <a:pPr algn="r" rtl="1"/>
            <a:r>
              <a:rPr sz="900" b="0">
                <a:solidFill>
                  <a:srgbClr val="9CA3AF"/>
                </a:solidFill>
                <a:latin typeface="Calibri"/>
              </a:rPr>
              <a:t>מצגת סטטית — ללא ניקוד חי. לתרגול עם סטטיסטיקה בזמן אמת, השתמשו באתר.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3108960" cy="384048"/>
          </a:xfrm>
          <a:prstGeom prst="rect">
            <a:avLst/>
          </a:prstGeom>
          <a:noFill/>
        </p:spPr>
        <p:txBody>
          <a:bodyPr wrap="square" anchor="ctr">
            <a:spAutoFit/>
          </a:bodyPr>
          <a:lstStyle/>
          <a:p>
            <a:pPr algn="ctr" rtl="1"/>
            <a:r>
              <a:rPr sz="1250" b="1">
                <a:solidFill>
                  <a:srgbClr val="FFFFFF"/>
                </a:solidFill>
                <a:latin typeface="Calibri"/>
              </a:rPr>
              <a:t>היפוך אנטיפלטלט</a:t>
            </a:r>
          </a:p>
        </p:txBody>
      </p:sp>
      <p:sp>
        <p:nvSpPr>
          <p:cNvPr id="4" name="TextBox 3"/>
          <p:cNvSpPr txBox="1"/>
          <p:nvPr/>
        </p:nvSpPr>
        <p:spPr>
          <a:xfrm>
            <a:off x="8531352" y="365760"/>
            <a:ext cx="3108960" cy="384048"/>
          </a:xfrm>
          <a:prstGeom prst="rect">
            <a:avLst/>
          </a:prstGeom>
          <a:noFill/>
        </p:spPr>
        <p:txBody>
          <a:bodyPr wrap="square" anchor="ctr">
            <a:spAutoFit/>
          </a:bodyPr>
          <a:lstStyle/>
          <a:p>
            <a:pPr algn="l" rtl="1"/>
            <a:r>
              <a:rPr sz="1200" b="0">
                <a:solidFill>
                  <a:srgbClr val="9CA3AF"/>
                </a:solidFill>
                <a:latin typeface="Calibri"/>
              </a:rPr>
              <a:t>כרטיסייה 3 מתוך 8</a:t>
            </a:r>
          </a:p>
        </p:txBody>
      </p:sp>
      <p:sp>
        <p:nvSpPr>
          <p:cNvPr id="5" name="TextBox 4"/>
          <p:cNvSpPr txBox="1"/>
          <p:nvPr/>
        </p:nvSpPr>
        <p:spPr>
          <a:xfrm>
            <a:off x="548640" y="1005840"/>
            <a:ext cx="11064240" cy="1463040"/>
          </a:xfrm>
          <a:prstGeom prst="rect">
            <a:avLst/>
          </a:prstGeom>
          <a:noFill/>
        </p:spPr>
        <p:txBody>
          <a:bodyPr wrap="square">
            <a:spAutoFit/>
          </a:bodyPr>
          <a:lstStyle/>
          <a:p>
            <a:pPr algn="r" rtl="1"/>
            <a:r>
              <a:rPr sz="2000" b="1">
                <a:solidFill>
                  <a:srgbClr val="1F2937"/>
                </a:solidFill>
                <a:latin typeface="Calibri"/>
              </a:rPr>
              <a:t>מטופל על קלופידוגרל מגיע עם דימום תוך-גולגולתי ונדרש לניתוח דחוף. מהן שתי אסטרטגיות ההיפוך העיקריות, ומה המינון?</a:t>
            </a:r>
          </a:p>
        </p:txBody>
      </p:sp>
      <p:sp>
        <p:nvSpPr>
          <p:cNvPr id="6" name="Rounded Rectangle 5"/>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44200" y="2852928"/>
            <a:ext cx="365760" cy="365760"/>
          </a:xfrm>
          <a:prstGeom prst="rect">
            <a:avLst/>
          </a:prstGeom>
          <a:noFill/>
        </p:spPr>
        <p:txBody>
          <a:bodyPr wrap="square" anchor="ctr">
            <a:spAutoFit/>
          </a:bodyPr>
          <a:lstStyle/>
          <a:p>
            <a:pPr algn="ctr" rtl="1"/>
            <a:r>
              <a:rPr sz="1400" b="1">
                <a:solidFill>
                  <a:srgbClr val="FFFFFF"/>
                </a:solidFill>
                <a:latin typeface="Calibri"/>
              </a:rPr>
              <a:t>א</a:t>
            </a:r>
          </a:p>
        </p:txBody>
      </p:sp>
      <p:sp>
        <p:nvSpPr>
          <p:cNvPr id="9" name="TextBox 8"/>
          <p:cNvSpPr txBox="1"/>
          <p:nvPr/>
        </p:nvSpPr>
        <p:spPr>
          <a:xfrm>
            <a:off x="822960" y="2651760"/>
            <a:ext cx="9784080" cy="777240"/>
          </a:xfrm>
          <a:prstGeom prst="rect">
            <a:avLst/>
          </a:prstGeom>
          <a:noFill/>
        </p:spPr>
        <p:txBody>
          <a:bodyPr wrap="square" anchor="ctr">
            <a:spAutoFit/>
          </a:bodyPr>
          <a:lstStyle/>
          <a:p>
            <a:pPr algn="r" rtl="1"/>
            <a:r>
              <a:rPr sz="1350" b="0">
                <a:solidFill>
                  <a:srgbClr val="1F2937"/>
                </a:solidFill>
                <a:latin typeface="Calibri"/>
              </a:rPr>
              <a:t>רק מתן ויטמין K, אין צורך בעוד דבר</a:t>
            </a:r>
          </a:p>
        </p:txBody>
      </p:sp>
      <p:sp>
        <p:nvSpPr>
          <p:cNvPr id="10" name="Rounded Rectangle 9"/>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3785616"/>
            <a:ext cx="365760" cy="365760"/>
          </a:xfrm>
          <a:prstGeom prst="rect">
            <a:avLst/>
          </a:prstGeom>
          <a:noFill/>
        </p:spPr>
        <p:txBody>
          <a:bodyPr wrap="square" anchor="ctr">
            <a:spAutoFit/>
          </a:bodyPr>
          <a:lstStyle/>
          <a:p>
            <a:pPr algn="ctr" rtl="1"/>
            <a:r>
              <a:rPr sz="1400" b="1">
                <a:solidFill>
                  <a:srgbClr val="FFFFFF"/>
                </a:solidFill>
                <a:latin typeface="Calibri"/>
              </a:rPr>
              <a:t>ב</a:t>
            </a:r>
          </a:p>
        </p:txBody>
      </p:sp>
      <p:sp>
        <p:nvSpPr>
          <p:cNvPr id="13" name="TextBox 12"/>
          <p:cNvSpPr txBox="1"/>
          <p:nvPr/>
        </p:nvSpPr>
        <p:spPr>
          <a:xfrm>
            <a:off x="822960" y="3584448"/>
            <a:ext cx="9784080" cy="777240"/>
          </a:xfrm>
          <a:prstGeom prst="rect">
            <a:avLst/>
          </a:prstGeom>
          <a:noFill/>
        </p:spPr>
        <p:txBody>
          <a:bodyPr wrap="square" anchor="ctr">
            <a:spAutoFit/>
          </a:bodyPr>
          <a:lstStyle/>
          <a:p>
            <a:pPr algn="r" rtl="1"/>
            <a:r>
              <a:rPr sz="1350" b="0">
                <a:solidFill>
                  <a:srgbClr val="1F2937"/>
                </a:solidFill>
                <a:latin typeface="Calibri"/>
              </a:rPr>
              <a:t>DDAVP (0.3 מק"ג/ק"ג IV לאט, עד 6 מנות כל 12 שעות) ו/או עירוי טסיות (2 יחידות ל-P2Y12)</a:t>
            </a:r>
          </a:p>
        </p:txBody>
      </p:sp>
      <p:sp>
        <p:nvSpPr>
          <p:cNvPr id="14" name="Rounded Rectangle 13"/>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44200" y="4718304"/>
            <a:ext cx="365760" cy="365760"/>
          </a:xfrm>
          <a:prstGeom prst="rect">
            <a:avLst/>
          </a:prstGeom>
          <a:noFill/>
        </p:spPr>
        <p:txBody>
          <a:bodyPr wrap="square" anchor="ctr">
            <a:spAutoFit/>
          </a:bodyPr>
          <a:lstStyle/>
          <a:p>
            <a:pPr algn="ctr" rtl="1"/>
            <a:r>
              <a:rPr sz="1400" b="1">
                <a:solidFill>
                  <a:srgbClr val="FFFFFF"/>
                </a:solidFill>
                <a:latin typeface="Calibri"/>
              </a:rPr>
              <a:t>ג</a:t>
            </a:r>
          </a:p>
        </p:txBody>
      </p:sp>
      <p:sp>
        <p:nvSpPr>
          <p:cNvPr id="17" name="TextBox 16"/>
          <p:cNvSpPr txBox="1"/>
          <p:nvPr/>
        </p:nvSpPr>
        <p:spPr>
          <a:xfrm>
            <a:off x="822960" y="4517136"/>
            <a:ext cx="9784080" cy="777240"/>
          </a:xfrm>
          <a:prstGeom prst="rect">
            <a:avLst/>
          </a:prstGeom>
          <a:noFill/>
        </p:spPr>
        <p:txBody>
          <a:bodyPr wrap="square" anchor="ctr">
            <a:spAutoFit/>
          </a:bodyPr>
          <a:lstStyle/>
          <a:p>
            <a:pPr algn="r" rtl="1"/>
            <a:r>
              <a:rPr sz="1350" b="0">
                <a:solidFill>
                  <a:srgbClr val="1F2937"/>
                </a:solidFill>
                <a:latin typeface="Calibri"/>
              </a:rPr>
              <a:t>פרוטמין 1 מ"ג לכל 100 יחידות קלופידוגרל</a:t>
            </a:r>
          </a:p>
        </p:txBody>
      </p:sp>
      <p:sp>
        <p:nvSpPr>
          <p:cNvPr id="18" name="Rounded Rectangle 17"/>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4200" y="5650992"/>
            <a:ext cx="365760" cy="365760"/>
          </a:xfrm>
          <a:prstGeom prst="rect">
            <a:avLst/>
          </a:prstGeom>
          <a:noFill/>
        </p:spPr>
        <p:txBody>
          <a:bodyPr wrap="square" anchor="ctr">
            <a:spAutoFit/>
          </a:bodyPr>
          <a:lstStyle/>
          <a:p>
            <a:pPr algn="ctr" rtl="1"/>
            <a:r>
              <a:rPr sz="1400" b="1">
                <a:solidFill>
                  <a:srgbClr val="FFFFFF"/>
                </a:solidFill>
                <a:latin typeface="Calibri"/>
              </a:rPr>
              <a:t>ד</a:t>
            </a:r>
          </a:p>
        </p:txBody>
      </p:sp>
      <p:sp>
        <p:nvSpPr>
          <p:cNvPr id="21" name="TextBox 20"/>
          <p:cNvSpPr txBox="1"/>
          <p:nvPr/>
        </p:nvSpPr>
        <p:spPr>
          <a:xfrm>
            <a:off x="822960" y="5449824"/>
            <a:ext cx="9784080" cy="777240"/>
          </a:xfrm>
          <a:prstGeom prst="rect">
            <a:avLst/>
          </a:prstGeom>
          <a:noFill/>
        </p:spPr>
        <p:txBody>
          <a:bodyPr wrap="square" anchor="ctr">
            <a:spAutoFit/>
          </a:bodyPr>
          <a:lstStyle/>
          <a:p>
            <a:pPr algn="r" rtl="1"/>
            <a:r>
              <a:rPr sz="1350" b="0">
                <a:solidFill>
                  <a:srgbClr val="1F2937"/>
                </a:solidFill>
                <a:latin typeface="Calibri"/>
              </a:rPr>
              <a:t>אין שום דרך להפוך את פעולת קלופידוגרל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08960" cy="365760"/>
          </a:xfrm>
          <a:prstGeom prst="rect">
            <a:avLst/>
          </a:prstGeom>
          <a:noFill/>
        </p:spPr>
        <p:txBody>
          <a:bodyPr wrap="square" anchor="ctr">
            <a:spAutoFit/>
          </a:bodyPr>
          <a:lstStyle/>
          <a:p>
            <a:pPr algn="ctr" rtl="1"/>
            <a:r>
              <a:rPr sz="1200" b="1">
                <a:solidFill>
                  <a:srgbClr val="FFFFFF"/>
                </a:solidFill>
                <a:latin typeface="Calibri"/>
              </a:rPr>
              <a:t>היפוך אנטיפלטלט</a:t>
            </a:r>
          </a:p>
        </p:txBody>
      </p:sp>
      <p:sp>
        <p:nvSpPr>
          <p:cNvPr id="4" name="TextBox 3"/>
          <p:cNvSpPr txBox="1"/>
          <p:nvPr/>
        </p:nvSpPr>
        <p:spPr>
          <a:xfrm>
            <a:off x="548640" y="777240"/>
            <a:ext cx="11064240" cy="640080"/>
          </a:xfrm>
          <a:prstGeom prst="rect">
            <a:avLst/>
          </a:prstGeom>
          <a:noFill/>
        </p:spPr>
        <p:txBody>
          <a:bodyPr wrap="square">
            <a:spAutoFit/>
          </a:bodyPr>
          <a:lstStyle/>
          <a:p>
            <a:pPr algn="r" rtl="1"/>
            <a:r>
              <a:rPr sz="1400" b="1">
                <a:solidFill>
                  <a:srgbClr val="15803D"/>
                </a:solidFill>
                <a:latin typeface="Calibri"/>
              </a:rPr>
              <a:t>התשובה הנכונה: ב) DDAVP (0.3 מק"ג/ק"ג IV לאט, עד 6 מנות כל 12 שעות) ו/או עירוי טסיות (2 יחידות ל-P2Y12)</a:t>
            </a:r>
          </a:p>
        </p:txBody>
      </p:sp>
      <p:sp>
        <p:nvSpPr>
          <p:cNvPr id="5" name="Rounded Rectangle 4"/>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27632"/>
            <a:ext cx="7040880" cy="274320"/>
          </a:xfrm>
          <a:prstGeom prst="rect">
            <a:avLst/>
          </a:prstGeom>
          <a:noFill/>
        </p:spPr>
        <p:txBody>
          <a:bodyPr wrap="square">
            <a:spAutoFit/>
          </a:bodyPr>
          <a:lstStyle/>
          <a:p>
            <a:pPr algn="r" rtl="1"/>
            <a:r>
              <a:rPr sz="1200" b="1">
                <a:solidFill>
                  <a:srgbClr val="64748B"/>
                </a:solidFill>
                <a:latin typeface="Calibri"/>
              </a:rPr>
              <a:t>הסבר:</a:t>
            </a:r>
          </a:p>
        </p:txBody>
      </p:sp>
      <p:sp>
        <p:nvSpPr>
          <p:cNvPr id="7" name="TextBox 6"/>
          <p:cNvSpPr txBox="1"/>
          <p:nvPr/>
        </p:nvSpPr>
        <p:spPr>
          <a:xfrm>
            <a:off x="731520" y="1901952"/>
            <a:ext cx="7040880" cy="1005840"/>
          </a:xfrm>
          <a:prstGeom prst="rect">
            <a:avLst/>
          </a:prstGeom>
          <a:noFill/>
        </p:spPr>
        <p:txBody>
          <a:bodyPr wrap="square">
            <a:spAutoFit/>
          </a:bodyPr>
          <a:lstStyle/>
          <a:p>
            <a:pPr algn="r" rtl="1"/>
            <a:r>
              <a:rPr sz="1000" b="0">
                <a:solidFill>
                  <a:srgbClr val="1F2937"/>
                </a:solidFill>
                <a:latin typeface="Calibri"/>
              </a:rPr>
              <a:t>התשובה הנכונה (2): אין חומר היפוך ספציפי ל-P2Y12, אך שתי אסטרטגיות מקובלות - DDAVP (שמגביר הדבקת טסיות דרך שחרור vWF) ועירוי טסיות טריות (2 יחידות, בניגוד ל-1 יחידה באספירין/PDE). פרוטמין מיועד להפרין בלבד ואינו רלוונטי לאנטיפלטלטים. ויטמין K מיועד לוורפרין, לא לנוגדי טסיות.</a:t>
            </a:r>
          </a:p>
        </p:txBody>
      </p:sp>
      <p:sp>
        <p:nvSpPr>
          <p:cNvPr id="8" name="Rounded Rectangle 7"/>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82112"/>
            <a:ext cx="7040880" cy="274320"/>
          </a:xfrm>
          <a:prstGeom prst="rect">
            <a:avLst/>
          </a:prstGeom>
          <a:noFill/>
        </p:spPr>
        <p:txBody>
          <a:bodyPr wrap="square">
            <a:spAutoFit/>
          </a:bodyPr>
          <a:lstStyle/>
          <a:p>
            <a:pPr algn="r" rtl="1"/>
            <a:r>
              <a:rPr sz="1150" b="1">
                <a:solidFill>
                  <a:srgbClr val="1E3A8A"/>
                </a:solidFill>
                <a:latin typeface="Calibri"/>
              </a:rPr>
              <a:t>מונח: DDAVP</a:t>
            </a:r>
          </a:p>
        </p:txBody>
      </p:sp>
      <p:sp>
        <p:nvSpPr>
          <p:cNvPr id="10" name="TextBox 9"/>
          <p:cNvSpPr txBox="1"/>
          <p:nvPr/>
        </p:nvSpPr>
        <p:spPr>
          <a:xfrm>
            <a:off x="731520" y="3474720"/>
            <a:ext cx="7040880" cy="502920"/>
          </a:xfrm>
          <a:prstGeom prst="rect">
            <a:avLst/>
          </a:prstGeom>
          <a:noFill/>
        </p:spPr>
        <p:txBody>
          <a:bodyPr wrap="square">
            <a:spAutoFit/>
          </a:bodyPr>
          <a:lstStyle/>
          <a:p>
            <a:pPr algn="r" rtl="1"/>
            <a:r>
              <a:rPr sz="950" b="0">
                <a:solidFill>
                  <a:srgbClr val="1E3A8A"/>
                </a:solidFill>
                <a:latin typeface="Calibri"/>
              </a:rPr>
              <a:t>דסמופרסין - אנלוג סינטטי של ADH שמשרה שחרור vWF מתאי האנדותל, ומגביר הדבקת טסיות ללא קשר ישיר למפל הקרישה.</a:t>
            </a:r>
          </a:p>
        </p:txBody>
      </p:sp>
      <p:sp>
        <p:nvSpPr>
          <p:cNvPr id="11" name="Rounded Rectangle 10"/>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2"/>
            <a:ext cx="7040880" cy="274320"/>
          </a:xfrm>
          <a:prstGeom prst="rect">
            <a:avLst/>
          </a:prstGeom>
          <a:noFill/>
        </p:spPr>
        <p:txBody>
          <a:bodyPr wrap="square">
            <a:spAutoFit/>
          </a:bodyPr>
          <a:lstStyle/>
          <a:p>
            <a:pPr algn="r" rtl="1"/>
            <a:r>
              <a:rPr sz="1150" b="1">
                <a:solidFill>
                  <a:srgbClr val="5B21B6"/>
                </a:solidFill>
                <a:latin typeface="Calibri"/>
              </a:rPr>
              <a:t>סיפור לזכירה</a:t>
            </a:r>
          </a:p>
        </p:txBody>
      </p:sp>
      <p:sp>
        <p:nvSpPr>
          <p:cNvPr id="13" name="TextBox 12"/>
          <p:cNvSpPr txBox="1"/>
          <p:nvPr/>
        </p:nvSpPr>
        <p:spPr>
          <a:xfrm>
            <a:off x="731520" y="4526280"/>
            <a:ext cx="7040880" cy="502920"/>
          </a:xfrm>
          <a:prstGeom prst="rect">
            <a:avLst/>
          </a:prstGeom>
          <a:noFill/>
        </p:spPr>
        <p:txBody>
          <a:bodyPr wrap="square">
            <a:spAutoFit/>
          </a:bodyPr>
          <a:lstStyle/>
          <a:p>
            <a:pPr algn="r" rtl="1"/>
            <a:r>
              <a:rPr sz="950" b="0">
                <a:solidFill>
                  <a:srgbClr val="4C1D95"/>
                </a:solidFill>
                <a:latin typeface="Calibri"/>
              </a:rPr>
              <a:t>דמייני ש-DDAVP 'פותח מחסן חירום' של vWF באנדותל - גם אם הטסיות 'מעוכבות' כימית, יש עכשיו יותר 'דבק' (vWF) שעוזר להן להיצמד.</a:t>
            </a:r>
          </a:p>
        </p:txBody>
      </p:sp>
      <p:sp>
        <p:nvSpPr>
          <p:cNvPr id="14" name="TextBox 13"/>
          <p:cNvSpPr txBox="1"/>
          <p:nvPr/>
        </p:nvSpPr>
        <p:spPr>
          <a:xfrm>
            <a:off x="731520" y="5047488"/>
            <a:ext cx="7040880" cy="502920"/>
          </a:xfrm>
          <a:prstGeom prst="rect">
            <a:avLst/>
          </a:prstGeom>
          <a:noFill/>
        </p:spPr>
        <p:txBody>
          <a:bodyPr wrap="square">
            <a:spAutoFit/>
          </a:bodyPr>
          <a:lstStyle/>
          <a:p>
            <a:pPr algn="r" rtl="1"/>
            <a:r>
              <a:rPr sz="900" b="0">
                <a:solidFill>
                  <a:srgbClr val="5B21B6"/>
                </a:solidFill>
                <a:latin typeface="Calibri"/>
              </a:rPr>
              <a:t>למה דווקא 2 יחידות טסיות (ולא 1) נדרשות למעכבי P2Y12 לעומת אספירין?</a:t>
            </a:r>
          </a:p>
        </p:txBody>
      </p:sp>
      <p:sp>
        <p:nvSpPr>
          <p:cNvPr id="15" name="TextBox 14"/>
          <p:cNvSpPr txBox="1"/>
          <p:nvPr/>
        </p:nvSpPr>
        <p:spPr>
          <a:xfrm>
            <a:off x="8138160" y="1554480"/>
            <a:ext cx="3474720" cy="320040"/>
          </a:xfrm>
          <a:prstGeom prst="rect">
            <a:avLst/>
          </a:prstGeom>
          <a:noFill/>
        </p:spPr>
        <p:txBody>
          <a:bodyPr wrap="square">
            <a:spAutoFit/>
          </a:bodyPr>
          <a:lstStyle/>
          <a:p>
            <a:pPr algn="r" rtl="1"/>
            <a:r>
              <a:rPr sz="1250" b="1">
                <a:solidFill>
                  <a:srgbClr val="64748B"/>
                </a:solidFill>
                <a:latin typeface="Calibri"/>
              </a:rPr>
              <a:t>מה קורה בפועל:</a:t>
            </a:r>
          </a:p>
        </p:txBody>
      </p:sp>
      <p:sp>
        <p:nvSpPr>
          <p:cNvPr id="16" name="Rounded Rectangle 15"/>
          <p:cNvSpPr/>
          <p:nvPr/>
        </p:nvSpPr>
        <p:spPr>
          <a:xfrm>
            <a:off x="8138160" y="1920240"/>
            <a:ext cx="3474720" cy="777240"/>
          </a:xfrm>
          <a:prstGeom prst="round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92840" y="217627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74864"/>
            <a:ext cx="2880360" cy="667512"/>
          </a:xfrm>
          <a:prstGeom prst="rect">
            <a:avLst/>
          </a:prstGeom>
          <a:noFill/>
        </p:spPr>
        <p:txBody>
          <a:bodyPr wrap="square" anchor="ctr">
            <a:spAutoFit/>
          </a:bodyPr>
          <a:lstStyle/>
          <a:p>
            <a:pPr algn="r" rtl="1"/>
            <a:r>
              <a:rPr sz="950" b="0">
                <a:solidFill>
                  <a:srgbClr val="FFFFFF"/>
                </a:solidFill>
                <a:latin typeface="Calibri"/>
              </a:rPr>
              <a:t>DDAVP משרה שחרור vWF מתאי האנדותל ומגביר הדבקת טסיות - 0.3 מק"ג/ק"ג IV, עד 6 מנות</a:t>
            </a:r>
          </a:p>
        </p:txBody>
      </p:sp>
      <p:sp>
        <p:nvSpPr>
          <p:cNvPr id="19" name="Rounded Rectangle 18"/>
          <p:cNvSpPr/>
          <p:nvPr/>
        </p:nvSpPr>
        <p:spPr>
          <a:xfrm>
            <a:off x="8138160" y="2788920"/>
            <a:ext cx="3474720" cy="777240"/>
          </a:xfrm>
          <a:prstGeom prst="roundRect">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92840" y="3044952"/>
            <a:ext cx="256032" cy="25603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43544"/>
            <a:ext cx="2880360" cy="667512"/>
          </a:xfrm>
          <a:prstGeom prst="rect">
            <a:avLst/>
          </a:prstGeom>
          <a:noFill/>
        </p:spPr>
        <p:txBody>
          <a:bodyPr wrap="square" anchor="ctr">
            <a:spAutoFit/>
          </a:bodyPr>
          <a:lstStyle/>
          <a:p>
            <a:pPr algn="r" rtl="1"/>
            <a:r>
              <a:rPr sz="950" b="0">
                <a:solidFill>
                  <a:srgbClr val="FFFFFF"/>
                </a:solidFill>
                <a:latin typeface="Calibri"/>
              </a:rPr>
              <a:t>עירוי טסיות - 2 יחידות למעכבי P2Y12 (קלופידוגרל, פרסוגרל, טיקגרלור)</a:t>
            </a:r>
          </a:p>
        </p:txBody>
      </p:sp>
      <p:sp>
        <p:nvSpPr>
          <p:cNvPr id="22" name="Rounded Rectangle 21"/>
          <p:cNvSpPr/>
          <p:nvPr/>
        </p:nvSpPr>
        <p:spPr>
          <a:xfrm>
            <a:off x="8138160" y="3657600"/>
            <a:ext cx="3474720" cy="777240"/>
          </a:xfrm>
          <a:prstGeom prst="roundRect">
            <a:avLst/>
          </a:prstGeom>
          <a:solidFill>
            <a:srgbClr val="6B7280"/>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92840" y="3913632"/>
            <a:ext cx="256032" cy="256032"/>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712224"/>
            <a:ext cx="2880360" cy="667512"/>
          </a:xfrm>
          <a:prstGeom prst="rect">
            <a:avLst/>
          </a:prstGeom>
          <a:noFill/>
        </p:spPr>
        <p:txBody>
          <a:bodyPr wrap="square" anchor="ctr">
            <a:spAutoFit/>
          </a:bodyPr>
          <a:lstStyle/>
          <a:p>
            <a:pPr algn="r" rtl="1"/>
            <a:r>
              <a:rPr sz="950" b="0">
                <a:solidFill>
                  <a:srgbClr val="FFFFFF"/>
                </a:solidFill>
                <a:latin typeface="Calibri"/>
              </a:rPr>
              <a:t>תופעת לוואי עיקרית של DDAVP: טכיפילקסיה</a:t>
            </a:r>
          </a:p>
        </p:txBody>
      </p:sp>
      <p:sp>
        <p:nvSpPr>
          <p:cNvPr id="25" name="TextBox 24"/>
          <p:cNvSpPr txBox="1"/>
          <p:nvPr/>
        </p:nvSpPr>
        <p:spPr>
          <a:xfrm>
            <a:off x="548640" y="6446520"/>
            <a:ext cx="11064240" cy="320040"/>
          </a:xfrm>
          <a:prstGeom prst="rect">
            <a:avLst/>
          </a:prstGeom>
          <a:noFill/>
        </p:spPr>
        <p:txBody>
          <a:bodyPr wrap="square">
            <a:spAutoFit/>
          </a:bodyPr>
          <a:lstStyle/>
          <a:p>
            <a:pPr algn="r" rtl="1"/>
            <a:r>
              <a:rPr sz="900" b="0">
                <a:solidFill>
                  <a:srgbClr val="9CA3AF"/>
                </a:solidFill>
                <a:latin typeface="Calibri"/>
              </a:rPr>
              <a:t>מצגת סטטית — ללא ניקוד חי. לתרגול עם סטטיסטיקה בזמן אמת, השתמשו באתר.</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3108960" cy="384048"/>
          </a:xfrm>
          <a:prstGeom prst="rect">
            <a:avLst/>
          </a:prstGeom>
          <a:noFill/>
        </p:spPr>
        <p:txBody>
          <a:bodyPr wrap="square" anchor="ctr">
            <a:spAutoFit/>
          </a:bodyPr>
          <a:lstStyle/>
          <a:p>
            <a:pPr algn="ctr" rtl="1"/>
            <a:r>
              <a:rPr sz="1250" b="1">
                <a:solidFill>
                  <a:srgbClr val="FFFFFF"/>
                </a:solidFill>
                <a:latin typeface="Calibri"/>
              </a:rPr>
              <a:t>היפוך וורפרין</a:t>
            </a:r>
          </a:p>
        </p:txBody>
      </p:sp>
      <p:sp>
        <p:nvSpPr>
          <p:cNvPr id="4" name="TextBox 3"/>
          <p:cNvSpPr txBox="1"/>
          <p:nvPr/>
        </p:nvSpPr>
        <p:spPr>
          <a:xfrm>
            <a:off x="8531352" y="365760"/>
            <a:ext cx="3108960" cy="384048"/>
          </a:xfrm>
          <a:prstGeom prst="rect">
            <a:avLst/>
          </a:prstGeom>
          <a:noFill/>
        </p:spPr>
        <p:txBody>
          <a:bodyPr wrap="square" anchor="ctr">
            <a:spAutoFit/>
          </a:bodyPr>
          <a:lstStyle/>
          <a:p>
            <a:pPr algn="l" rtl="1"/>
            <a:r>
              <a:rPr sz="1200" b="0">
                <a:solidFill>
                  <a:srgbClr val="9CA3AF"/>
                </a:solidFill>
                <a:latin typeface="Calibri"/>
              </a:rPr>
              <a:t>כרטיסייה 4 מתוך 8</a:t>
            </a:r>
          </a:p>
        </p:txBody>
      </p:sp>
      <p:sp>
        <p:nvSpPr>
          <p:cNvPr id="5" name="TextBox 4"/>
          <p:cNvSpPr txBox="1"/>
          <p:nvPr/>
        </p:nvSpPr>
        <p:spPr>
          <a:xfrm>
            <a:off x="548640" y="1005840"/>
            <a:ext cx="11064240" cy="1463040"/>
          </a:xfrm>
          <a:prstGeom prst="rect">
            <a:avLst/>
          </a:prstGeom>
          <a:noFill/>
        </p:spPr>
        <p:txBody>
          <a:bodyPr wrap="square">
            <a:spAutoFit/>
          </a:bodyPr>
          <a:lstStyle/>
          <a:p>
            <a:pPr algn="r" rtl="1"/>
            <a:r>
              <a:rPr sz="2000" b="1">
                <a:solidFill>
                  <a:srgbClr val="1F2937"/>
                </a:solidFill>
                <a:latin typeface="Calibri"/>
              </a:rPr>
              <a:t>מטופלת על וורפרין (INR=5.2) מגיעה עם דימום תוך-מוחי ונדרשת לניתוח דחוף. מה ההיפוך הנכון, ובאיזו מנת PCC?</a:t>
            </a:r>
          </a:p>
        </p:txBody>
      </p:sp>
      <p:sp>
        <p:nvSpPr>
          <p:cNvPr id="6" name="Rounded Rectangle 5"/>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44200" y="2852928"/>
            <a:ext cx="365760" cy="365760"/>
          </a:xfrm>
          <a:prstGeom prst="rect">
            <a:avLst/>
          </a:prstGeom>
          <a:noFill/>
        </p:spPr>
        <p:txBody>
          <a:bodyPr wrap="square" anchor="ctr">
            <a:spAutoFit/>
          </a:bodyPr>
          <a:lstStyle/>
          <a:p>
            <a:pPr algn="ctr" rtl="1"/>
            <a:r>
              <a:rPr sz="1400" b="1">
                <a:solidFill>
                  <a:srgbClr val="FFFFFF"/>
                </a:solidFill>
                <a:latin typeface="Calibri"/>
              </a:rPr>
              <a:t>א</a:t>
            </a:r>
          </a:p>
        </p:txBody>
      </p:sp>
      <p:sp>
        <p:nvSpPr>
          <p:cNvPr id="9" name="TextBox 8"/>
          <p:cNvSpPr txBox="1"/>
          <p:nvPr/>
        </p:nvSpPr>
        <p:spPr>
          <a:xfrm>
            <a:off x="822960" y="2651760"/>
            <a:ext cx="9784080" cy="777240"/>
          </a:xfrm>
          <a:prstGeom prst="rect">
            <a:avLst/>
          </a:prstGeom>
          <a:noFill/>
        </p:spPr>
        <p:txBody>
          <a:bodyPr wrap="square" anchor="ctr">
            <a:spAutoFit/>
          </a:bodyPr>
          <a:lstStyle/>
          <a:p>
            <a:pPr algn="r" rtl="1"/>
            <a:r>
              <a:rPr sz="1350" b="0">
                <a:solidFill>
                  <a:srgbClr val="1F2937"/>
                </a:solidFill>
                <a:latin typeface="Calibri"/>
              </a:rPr>
              <a:t>ויטמין K פומי לבדו, להמתין 24 שעות</a:t>
            </a:r>
          </a:p>
        </p:txBody>
      </p:sp>
      <p:sp>
        <p:nvSpPr>
          <p:cNvPr id="10" name="Rounded Rectangle 9"/>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3785616"/>
            <a:ext cx="365760" cy="365760"/>
          </a:xfrm>
          <a:prstGeom prst="rect">
            <a:avLst/>
          </a:prstGeom>
          <a:noFill/>
        </p:spPr>
        <p:txBody>
          <a:bodyPr wrap="square" anchor="ctr">
            <a:spAutoFit/>
          </a:bodyPr>
          <a:lstStyle/>
          <a:p>
            <a:pPr algn="ctr" rtl="1"/>
            <a:r>
              <a:rPr sz="1400" b="1">
                <a:solidFill>
                  <a:srgbClr val="FFFFFF"/>
                </a:solidFill>
                <a:latin typeface="Calibri"/>
              </a:rPr>
              <a:t>ב</a:t>
            </a:r>
          </a:p>
        </p:txBody>
      </p:sp>
      <p:sp>
        <p:nvSpPr>
          <p:cNvPr id="13" name="TextBox 12"/>
          <p:cNvSpPr txBox="1"/>
          <p:nvPr/>
        </p:nvSpPr>
        <p:spPr>
          <a:xfrm>
            <a:off x="822960" y="3584448"/>
            <a:ext cx="9784080" cy="777240"/>
          </a:xfrm>
          <a:prstGeom prst="rect">
            <a:avLst/>
          </a:prstGeom>
          <a:noFill/>
        </p:spPr>
        <p:txBody>
          <a:bodyPr wrap="square" anchor="ctr">
            <a:spAutoFit/>
          </a:bodyPr>
          <a:lstStyle/>
          <a:p>
            <a:pPr algn="r" rtl="1"/>
            <a:r>
              <a:rPr sz="1350" b="0">
                <a:solidFill>
                  <a:srgbClr val="1F2937"/>
                </a:solidFill>
                <a:latin typeface="Calibri"/>
              </a:rPr>
              <a:t>FFP לבדו - זה המהיר ביותר</a:t>
            </a:r>
          </a:p>
        </p:txBody>
      </p:sp>
      <p:sp>
        <p:nvSpPr>
          <p:cNvPr id="14" name="Rounded Rectangle 13"/>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44200" y="4718304"/>
            <a:ext cx="365760" cy="365760"/>
          </a:xfrm>
          <a:prstGeom prst="rect">
            <a:avLst/>
          </a:prstGeom>
          <a:noFill/>
        </p:spPr>
        <p:txBody>
          <a:bodyPr wrap="square" anchor="ctr">
            <a:spAutoFit/>
          </a:bodyPr>
          <a:lstStyle/>
          <a:p>
            <a:pPr algn="ctr" rtl="1"/>
            <a:r>
              <a:rPr sz="1400" b="1">
                <a:solidFill>
                  <a:srgbClr val="FFFFFF"/>
                </a:solidFill>
                <a:latin typeface="Calibri"/>
              </a:rPr>
              <a:t>ג</a:t>
            </a:r>
          </a:p>
        </p:txBody>
      </p:sp>
      <p:sp>
        <p:nvSpPr>
          <p:cNvPr id="17" name="TextBox 16"/>
          <p:cNvSpPr txBox="1"/>
          <p:nvPr/>
        </p:nvSpPr>
        <p:spPr>
          <a:xfrm>
            <a:off x="822960" y="4517136"/>
            <a:ext cx="9784080" cy="777240"/>
          </a:xfrm>
          <a:prstGeom prst="rect">
            <a:avLst/>
          </a:prstGeom>
          <a:noFill/>
        </p:spPr>
        <p:txBody>
          <a:bodyPr wrap="square" anchor="ctr">
            <a:spAutoFit/>
          </a:bodyPr>
          <a:lstStyle/>
          <a:p>
            <a:pPr algn="r" rtl="1"/>
            <a:r>
              <a:rPr sz="1350" b="0">
                <a:solidFill>
                  <a:srgbClr val="1F2937"/>
                </a:solidFill>
                <a:latin typeface="Calibri"/>
              </a:rPr>
              <a:t>PCC ארבע-פקטוריאלי 35 IU/kg (לפי טווח INR 4-6) + ויטמין K IV 1-2 מ"ג</a:t>
            </a:r>
          </a:p>
        </p:txBody>
      </p:sp>
      <p:sp>
        <p:nvSpPr>
          <p:cNvPr id="18" name="Rounded Rectangle 17"/>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4200" y="5650992"/>
            <a:ext cx="365760" cy="365760"/>
          </a:xfrm>
          <a:prstGeom prst="rect">
            <a:avLst/>
          </a:prstGeom>
          <a:noFill/>
        </p:spPr>
        <p:txBody>
          <a:bodyPr wrap="square" anchor="ctr">
            <a:spAutoFit/>
          </a:bodyPr>
          <a:lstStyle/>
          <a:p>
            <a:pPr algn="ctr" rtl="1"/>
            <a:r>
              <a:rPr sz="1400" b="1">
                <a:solidFill>
                  <a:srgbClr val="FFFFFF"/>
                </a:solidFill>
                <a:latin typeface="Calibri"/>
              </a:rPr>
              <a:t>ד</a:t>
            </a:r>
          </a:p>
        </p:txBody>
      </p:sp>
      <p:sp>
        <p:nvSpPr>
          <p:cNvPr id="21" name="TextBox 20"/>
          <p:cNvSpPr txBox="1"/>
          <p:nvPr/>
        </p:nvSpPr>
        <p:spPr>
          <a:xfrm>
            <a:off x="822960" y="5449824"/>
            <a:ext cx="9784080" cy="777240"/>
          </a:xfrm>
          <a:prstGeom prst="rect">
            <a:avLst/>
          </a:prstGeom>
          <a:noFill/>
        </p:spPr>
        <p:txBody>
          <a:bodyPr wrap="square" anchor="ctr">
            <a:spAutoFit/>
          </a:bodyPr>
          <a:lstStyle/>
          <a:p>
            <a:pPr algn="r" rtl="1"/>
            <a:r>
              <a:rPr sz="1350" b="0">
                <a:solidFill>
                  <a:srgbClr val="1F2937"/>
                </a:solidFill>
                <a:latin typeface="Calibri"/>
              </a:rPr>
              <a:t>אנדקסנט אלפא 800 מ"ג בולוס</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08960" cy="365760"/>
          </a:xfrm>
          <a:prstGeom prst="rect">
            <a:avLst/>
          </a:prstGeom>
          <a:noFill/>
        </p:spPr>
        <p:txBody>
          <a:bodyPr wrap="square" anchor="ctr">
            <a:spAutoFit/>
          </a:bodyPr>
          <a:lstStyle/>
          <a:p>
            <a:pPr algn="ctr" rtl="1"/>
            <a:r>
              <a:rPr sz="1200" b="1">
                <a:solidFill>
                  <a:srgbClr val="FFFFFF"/>
                </a:solidFill>
                <a:latin typeface="Calibri"/>
              </a:rPr>
              <a:t>היפוך וורפרין</a:t>
            </a:r>
          </a:p>
        </p:txBody>
      </p:sp>
      <p:sp>
        <p:nvSpPr>
          <p:cNvPr id="4" name="TextBox 3"/>
          <p:cNvSpPr txBox="1"/>
          <p:nvPr/>
        </p:nvSpPr>
        <p:spPr>
          <a:xfrm>
            <a:off x="548640" y="777240"/>
            <a:ext cx="11064240" cy="640080"/>
          </a:xfrm>
          <a:prstGeom prst="rect">
            <a:avLst/>
          </a:prstGeom>
          <a:noFill/>
        </p:spPr>
        <p:txBody>
          <a:bodyPr wrap="square">
            <a:spAutoFit/>
          </a:bodyPr>
          <a:lstStyle/>
          <a:p>
            <a:pPr algn="r" rtl="1"/>
            <a:r>
              <a:rPr sz="1400" b="1">
                <a:solidFill>
                  <a:srgbClr val="15803D"/>
                </a:solidFill>
                <a:latin typeface="Calibri"/>
              </a:rPr>
              <a:t>התשובה הנכונה: ג) PCC ארבע-פקטוריאלי 35 IU/kg (לפי טווח INR 4-6) + ויטמין K IV 1-2 מ"ג</a:t>
            </a:r>
          </a:p>
        </p:txBody>
      </p:sp>
      <p:sp>
        <p:nvSpPr>
          <p:cNvPr id="5" name="Rounded Rectangle 4"/>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27632"/>
            <a:ext cx="7040880" cy="274320"/>
          </a:xfrm>
          <a:prstGeom prst="rect">
            <a:avLst/>
          </a:prstGeom>
          <a:noFill/>
        </p:spPr>
        <p:txBody>
          <a:bodyPr wrap="square">
            <a:spAutoFit/>
          </a:bodyPr>
          <a:lstStyle/>
          <a:p>
            <a:pPr algn="r" rtl="1"/>
            <a:r>
              <a:rPr sz="1200" b="1">
                <a:solidFill>
                  <a:srgbClr val="64748B"/>
                </a:solidFill>
                <a:latin typeface="Calibri"/>
              </a:rPr>
              <a:t>הסבר:</a:t>
            </a:r>
          </a:p>
        </p:txBody>
      </p:sp>
      <p:sp>
        <p:nvSpPr>
          <p:cNvPr id="7" name="TextBox 6"/>
          <p:cNvSpPr txBox="1"/>
          <p:nvPr/>
        </p:nvSpPr>
        <p:spPr>
          <a:xfrm>
            <a:off x="731520" y="1901952"/>
            <a:ext cx="7040880" cy="1005840"/>
          </a:xfrm>
          <a:prstGeom prst="rect">
            <a:avLst/>
          </a:prstGeom>
          <a:noFill/>
        </p:spPr>
        <p:txBody>
          <a:bodyPr wrap="square">
            <a:spAutoFit/>
          </a:bodyPr>
          <a:lstStyle/>
          <a:p>
            <a:pPr algn="r" rtl="1"/>
            <a:r>
              <a:rPr sz="1000" b="0">
                <a:solidFill>
                  <a:srgbClr val="1F2937"/>
                </a:solidFill>
                <a:latin typeface="Calibri"/>
              </a:rPr>
              <a:t>התשובה הנכונה (3): וורפרין מהופך בדימום דחוף עם PCC ארבע-פקטוריאלי (II,VII,IX,X) במינון לפי רמת ה-INR - כאן 35 IU/kg כי INR בטווח 4-6, בתוספת ויטמין K IV להיפוך מתמשך. FFP איטי מדי לניתוח דחוף. אנדקסנט אלפא מיועד למעכבי Xa ישירים (ריברוקסבאן/אפיקסבאן), לא לוורפרין.</a:t>
            </a:r>
          </a:p>
        </p:txBody>
      </p:sp>
      <p:sp>
        <p:nvSpPr>
          <p:cNvPr id="8" name="Rounded Rectangle 7"/>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82112"/>
            <a:ext cx="7040880" cy="274320"/>
          </a:xfrm>
          <a:prstGeom prst="rect">
            <a:avLst/>
          </a:prstGeom>
          <a:noFill/>
        </p:spPr>
        <p:txBody>
          <a:bodyPr wrap="square">
            <a:spAutoFit/>
          </a:bodyPr>
          <a:lstStyle/>
          <a:p>
            <a:pPr algn="r" rtl="1"/>
            <a:r>
              <a:rPr sz="1150" b="1">
                <a:solidFill>
                  <a:srgbClr val="1E3A8A"/>
                </a:solidFill>
                <a:latin typeface="Calibri"/>
              </a:rPr>
              <a:t>מונח: PCC</a:t>
            </a:r>
          </a:p>
        </p:txBody>
      </p:sp>
      <p:sp>
        <p:nvSpPr>
          <p:cNvPr id="10" name="TextBox 9"/>
          <p:cNvSpPr txBox="1"/>
          <p:nvPr/>
        </p:nvSpPr>
        <p:spPr>
          <a:xfrm>
            <a:off x="731520" y="3474720"/>
            <a:ext cx="7040880" cy="502920"/>
          </a:xfrm>
          <a:prstGeom prst="rect">
            <a:avLst/>
          </a:prstGeom>
          <a:noFill/>
        </p:spPr>
        <p:txBody>
          <a:bodyPr wrap="square">
            <a:spAutoFit/>
          </a:bodyPr>
          <a:lstStyle/>
          <a:p>
            <a:pPr algn="r" rtl="1"/>
            <a:r>
              <a:rPr sz="950" b="0">
                <a:solidFill>
                  <a:srgbClr val="1E3A8A"/>
                </a:solidFill>
                <a:latin typeface="Calibri"/>
              </a:rPr>
              <a:t>ריכוז גורמי קרישה תלויי ויטמין K (II, VII, IX, X ±חלבונים C,S) - ריכוז פי 60 מ-FFP, ניתן כבולוס מהיר ללא התאמת סוג דם.</a:t>
            </a:r>
          </a:p>
        </p:txBody>
      </p:sp>
      <p:sp>
        <p:nvSpPr>
          <p:cNvPr id="11" name="Rounded Rectangle 10"/>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2"/>
            <a:ext cx="7040880" cy="274320"/>
          </a:xfrm>
          <a:prstGeom prst="rect">
            <a:avLst/>
          </a:prstGeom>
          <a:noFill/>
        </p:spPr>
        <p:txBody>
          <a:bodyPr wrap="square">
            <a:spAutoFit/>
          </a:bodyPr>
          <a:lstStyle/>
          <a:p>
            <a:pPr algn="r" rtl="1"/>
            <a:r>
              <a:rPr sz="1150" b="1">
                <a:solidFill>
                  <a:srgbClr val="5B21B6"/>
                </a:solidFill>
                <a:latin typeface="Calibri"/>
              </a:rPr>
              <a:t>סיפור לזכירה</a:t>
            </a:r>
          </a:p>
        </p:txBody>
      </p:sp>
      <p:sp>
        <p:nvSpPr>
          <p:cNvPr id="13" name="TextBox 12"/>
          <p:cNvSpPr txBox="1"/>
          <p:nvPr/>
        </p:nvSpPr>
        <p:spPr>
          <a:xfrm>
            <a:off x="731520" y="4526280"/>
            <a:ext cx="7040880" cy="502920"/>
          </a:xfrm>
          <a:prstGeom prst="rect">
            <a:avLst/>
          </a:prstGeom>
          <a:noFill/>
        </p:spPr>
        <p:txBody>
          <a:bodyPr wrap="square">
            <a:spAutoFit/>
          </a:bodyPr>
          <a:lstStyle/>
          <a:p>
            <a:pPr algn="r" rtl="1"/>
            <a:r>
              <a:rPr sz="950" b="0">
                <a:solidFill>
                  <a:srgbClr val="4C1D95"/>
                </a:solidFill>
                <a:latin typeface="Calibri"/>
              </a:rPr>
              <a:t>דמייני PCC כ'מילוי מהיר' של כל ארבעת גורמי הקרישה שהוורפרין 'ריקן' - בעוד FFP הוא כמו להחליף את כל מיכל הדלק (איטי, גדול, לא ממוקד).</a:t>
            </a:r>
          </a:p>
        </p:txBody>
      </p:sp>
      <p:sp>
        <p:nvSpPr>
          <p:cNvPr id="14" name="TextBox 13"/>
          <p:cNvSpPr txBox="1"/>
          <p:nvPr/>
        </p:nvSpPr>
        <p:spPr>
          <a:xfrm>
            <a:off x="731520" y="5047488"/>
            <a:ext cx="7040880" cy="502920"/>
          </a:xfrm>
          <a:prstGeom prst="rect">
            <a:avLst/>
          </a:prstGeom>
          <a:noFill/>
        </p:spPr>
        <p:txBody>
          <a:bodyPr wrap="square">
            <a:spAutoFit/>
          </a:bodyPr>
          <a:lstStyle/>
          <a:p>
            <a:pPr algn="r" rtl="1"/>
            <a:r>
              <a:rPr sz="900" b="0">
                <a:solidFill>
                  <a:srgbClr val="5B21B6"/>
                </a:solidFill>
                <a:latin typeface="Calibri"/>
              </a:rPr>
              <a:t>למה לא להסתפק בוויטמין K בלבד במצב דחוף?</a:t>
            </a:r>
          </a:p>
        </p:txBody>
      </p:sp>
      <p:sp>
        <p:nvSpPr>
          <p:cNvPr id="15" name="TextBox 14"/>
          <p:cNvSpPr txBox="1"/>
          <p:nvPr/>
        </p:nvSpPr>
        <p:spPr>
          <a:xfrm>
            <a:off x="8138160" y="1554480"/>
            <a:ext cx="3474720" cy="320040"/>
          </a:xfrm>
          <a:prstGeom prst="rect">
            <a:avLst/>
          </a:prstGeom>
          <a:noFill/>
        </p:spPr>
        <p:txBody>
          <a:bodyPr wrap="square">
            <a:spAutoFit/>
          </a:bodyPr>
          <a:lstStyle/>
          <a:p>
            <a:pPr algn="r" rtl="1"/>
            <a:r>
              <a:rPr sz="1250" b="1">
                <a:solidFill>
                  <a:srgbClr val="64748B"/>
                </a:solidFill>
                <a:latin typeface="Calibri"/>
              </a:rPr>
              <a:t>מה קורה בפועל:</a:t>
            </a:r>
          </a:p>
        </p:txBody>
      </p:sp>
      <p:sp>
        <p:nvSpPr>
          <p:cNvPr id="16" name="Rounded Rectangle 15"/>
          <p:cNvSpPr/>
          <p:nvPr/>
        </p:nvSpPr>
        <p:spPr>
          <a:xfrm>
            <a:off x="8138160" y="1920240"/>
            <a:ext cx="3474720" cy="777240"/>
          </a:xfrm>
          <a:prstGeom prst="round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92840" y="217627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74864"/>
            <a:ext cx="2880360" cy="667512"/>
          </a:xfrm>
          <a:prstGeom prst="rect">
            <a:avLst/>
          </a:prstGeom>
          <a:noFill/>
        </p:spPr>
        <p:txBody>
          <a:bodyPr wrap="square" anchor="ctr">
            <a:spAutoFit/>
          </a:bodyPr>
          <a:lstStyle/>
          <a:p>
            <a:pPr algn="r" rtl="1"/>
            <a:r>
              <a:rPr sz="950" b="0">
                <a:solidFill>
                  <a:srgbClr val="FFFFFF"/>
                </a:solidFill>
                <a:latin typeface="Calibri"/>
              </a:rPr>
              <a:t>PCC ארבע-פקטוריאלי - 25 IU/kg ל-INR 2-4, 35 IU/kg ל-INR 4-6, 50 IU/kg ל-INR מעל 6</a:t>
            </a:r>
          </a:p>
        </p:txBody>
      </p:sp>
      <p:sp>
        <p:nvSpPr>
          <p:cNvPr id="19" name="Rounded Rectangle 18"/>
          <p:cNvSpPr/>
          <p:nvPr/>
        </p:nvSpPr>
        <p:spPr>
          <a:xfrm>
            <a:off x="8138160" y="2788920"/>
            <a:ext cx="3474720" cy="777240"/>
          </a:xfrm>
          <a:prstGeom prst="roundRect">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92840" y="3044952"/>
            <a:ext cx="256032" cy="25603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43544"/>
            <a:ext cx="2880360" cy="667512"/>
          </a:xfrm>
          <a:prstGeom prst="rect">
            <a:avLst/>
          </a:prstGeom>
          <a:noFill/>
        </p:spPr>
        <p:txBody>
          <a:bodyPr wrap="square" anchor="ctr">
            <a:spAutoFit/>
          </a:bodyPr>
          <a:lstStyle/>
          <a:p>
            <a:pPr algn="r" rtl="1"/>
            <a:r>
              <a:rPr sz="950" b="0">
                <a:solidFill>
                  <a:srgbClr val="FFFFFF"/>
                </a:solidFill>
                <a:latin typeface="Calibri"/>
              </a:rPr>
              <a:t>ויטמין K IV 1-2 מ"ג - משלים היפוך ארוך-טווח של גורמים תלויי ויטמין K</a:t>
            </a:r>
          </a:p>
        </p:txBody>
      </p:sp>
      <p:sp>
        <p:nvSpPr>
          <p:cNvPr id="22" name="Rounded Rectangle 21"/>
          <p:cNvSpPr/>
          <p:nvPr/>
        </p:nvSpPr>
        <p:spPr>
          <a:xfrm>
            <a:off x="8138160" y="3657600"/>
            <a:ext cx="3474720" cy="777240"/>
          </a:xfrm>
          <a:prstGeom prst="roundRect">
            <a:avLst/>
          </a:prstGeom>
          <a:solidFill>
            <a:srgbClr val="6B7280"/>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92840" y="3913632"/>
            <a:ext cx="256032" cy="256032"/>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712224"/>
            <a:ext cx="2880360" cy="667512"/>
          </a:xfrm>
          <a:prstGeom prst="rect">
            <a:avLst/>
          </a:prstGeom>
          <a:noFill/>
        </p:spPr>
        <p:txBody>
          <a:bodyPr wrap="square" anchor="ctr">
            <a:spAutoFit/>
          </a:bodyPr>
          <a:lstStyle/>
          <a:p>
            <a:pPr algn="r" rtl="1"/>
            <a:r>
              <a:rPr sz="950" b="0">
                <a:solidFill>
                  <a:srgbClr val="FFFFFF"/>
                </a:solidFill>
                <a:latin typeface="Calibri"/>
              </a:rPr>
              <a:t>PCC פי 60 מרוכז מ-FFP ולא דורש התאמת סוג דם - מהיר משמעותית</a:t>
            </a:r>
          </a:p>
        </p:txBody>
      </p:sp>
      <p:sp>
        <p:nvSpPr>
          <p:cNvPr id="25" name="TextBox 24"/>
          <p:cNvSpPr txBox="1"/>
          <p:nvPr/>
        </p:nvSpPr>
        <p:spPr>
          <a:xfrm>
            <a:off x="548640" y="6446520"/>
            <a:ext cx="11064240" cy="320040"/>
          </a:xfrm>
          <a:prstGeom prst="rect">
            <a:avLst/>
          </a:prstGeom>
          <a:noFill/>
        </p:spPr>
        <p:txBody>
          <a:bodyPr wrap="square">
            <a:spAutoFit/>
          </a:bodyPr>
          <a:lstStyle/>
          <a:p>
            <a:pPr algn="r" rtl="1"/>
            <a:r>
              <a:rPr sz="900" b="0">
                <a:solidFill>
                  <a:srgbClr val="9CA3AF"/>
                </a:solidFill>
                <a:latin typeface="Calibri"/>
              </a:rPr>
              <a:t>מצגת סטטית — ללא ניקוד חי. לתרגול עם סטטיסטיקה בזמן אמת, השתמשו באתר.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3108960" cy="384048"/>
          </a:xfrm>
          <a:prstGeom prst="rect">
            <a:avLst/>
          </a:prstGeom>
          <a:noFill/>
        </p:spPr>
        <p:txBody>
          <a:bodyPr wrap="square" anchor="ctr">
            <a:spAutoFit/>
          </a:bodyPr>
          <a:lstStyle/>
          <a:p>
            <a:pPr algn="ctr" rtl="1"/>
            <a:r>
              <a:rPr sz="1250" b="1">
                <a:solidFill>
                  <a:srgbClr val="FFFFFF"/>
                </a:solidFill>
                <a:latin typeface="Calibri"/>
              </a:rPr>
              <a:t>היפוך מעכבי Xa</a:t>
            </a:r>
          </a:p>
        </p:txBody>
      </p:sp>
      <p:sp>
        <p:nvSpPr>
          <p:cNvPr id="4" name="TextBox 3"/>
          <p:cNvSpPr txBox="1"/>
          <p:nvPr/>
        </p:nvSpPr>
        <p:spPr>
          <a:xfrm>
            <a:off x="8531352" y="365760"/>
            <a:ext cx="3108960" cy="384048"/>
          </a:xfrm>
          <a:prstGeom prst="rect">
            <a:avLst/>
          </a:prstGeom>
          <a:noFill/>
        </p:spPr>
        <p:txBody>
          <a:bodyPr wrap="square" anchor="ctr">
            <a:spAutoFit/>
          </a:bodyPr>
          <a:lstStyle/>
          <a:p>
            <a:pPr algn="l" rtl="1"/>
            <a:r>
              <a:rPr sz="1200" b="0">
                <a:solidFill>
                  <a:srgbClr val="9CA3AF"/>
                </a:solidFill>
                <a:latin typeface="Calibri"/>
              </a:rPr>
              <a:t>כרטיסייה 5 מתוך 8</a:t>
            </a:r>
          </a:p>
        </p:txBody>
      </p:sp>
      <p:sp>
        <p:nvSpPr>
          <p:cNvPr id="5" name="TextBox 4"/>
          <p:cNvSpPr txBox="1"/>
          <p:nvPr/>
        </p:nvSpPr>
        <p:spPr>
          <a:xfrm>
            <a:off x="548640" y="1005840"/>
            <a:ext cx="11064240" cy="1463040"/>
          </a:xfrm>
          <a:prstGeom prst="rect">
            <a:avLst/>
          </a:prstGeom>
          <a:noFill/>
        </p:spPr>
        <p:txBody>
          <a:bodyPr wrap="square">
            <a:spAutoFit/>
          </a:bodyPr>
          <a:lstStyle/>
          <a:p>
            <a:pPr algn="r" rtl="1"/>
            <a:r>
              <a:rPr sz="2000" b="1">
                <a:solidFill>
                  <a:srgbClr val="1F2937"/>
                </a:solidFill>
                <a:latin typeface="Calibri"/>
              </a:rPr>
              <a:t>מטופל על אפיקסבאן זקוק להיפוך דחוף לפני ניתוח. מהן שתי האסטרטגיות הישירות, ואיזו יתרון ייחודי יש לאנדקסנט אלפא?</a:t>
            </a:r>
          </a:p>
        </p:txBody>
      </p:sp>
      <p:sp>
        <p:nvSpPr>
          <p:cNvPr id="6" name="Rounded Rectangle 5"/>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44200" y="2852928"/>
            <a:ext cx="365760" cy="365760"/>
          </a:xfrm>
          <a:prstGeom prst="rect">
            <a:avLst/>
          </a:prstGeom>
          <a:noFill/>
        </p:spPr>
        <p:txBody>
          <a:bodyPr wrap="square" anchor="ctr">
            <a:spAutoFit/>
          </a:bodyPr>
          <a:lstStyle/>
          <a:p>
            <a:pPr algn="ctr" rtl="1"/>
            <a:r>
              <a:rPr sz="1400" b="1">
                <a:solidFill>
                  <a:srgbClr val="FFFFFF"/>
                </a:solidFill>
                <a:latin typeface="Calibri"/>
              </a:rPr>
              <a:t>א</a:t>
            </a:r>
          </a:p>
        </p:txBody>
      </p:sp>
      <p:sp>
        <p:nvSpPr>
          <p:cNvPr id="9" name="TextBox 8"/>
          <p:cNvSpPr txBox="1"/>
          <p:nvPr/>
        </p:nvSpPr>
        <p:spPr>
          <a:xfrm>
            <a:off x="822960" y="2651760"/>
            <a:ext cx="9784080" cy="777240"/>
          </a:xfrm>
          <a:prstGeom prst="rect">
            <a:avLst/>
          </a:prstGeom>
          <a:noFill/>
        </p:spPr>
        <p:txBody>
          <a:bodyPr wrap="square" anchor="ctr">
            <a:spAutoFit/>
          </a:bodyPr>
          <a:lstStyle/>
          <a:p>
            <a:pPr algn="r" rtl="1"/>
            <a:r>
              <a:rPr sz="1350" b="0">
                <a:solidFill>
                  <a:srgbClr val="1F2937"/>
                </a:solidFill>
                <a:latin typeface="Calibri"/>
              </a:rPr>
              <a:t>רק פרוטמין, בדיוק כמו בהפרין</a:t>
            </a:r>
          </a:p>
        </p:txBody>
      </p:sp>
      <p:sp>
        <p:nvSpPr>
          <p:cNvPr id="10" name="Rounded Rectangle 9"/>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3785616"/>
            <a:ext cx="365760" cy="365760"/>
          </a:xfrm>
          <a:prstGeom prst="rect">
            <a:avLst/>
          </a:prstGeom>
          <a:noFill/>
        </p:spPr>
        <p:txBody>
          <a:bodyPr wrap="square" anchor="ctr">
            <a:spAutoFit/>
          </a:bodyPr>
          <a:lstStyle/>
          <a:p>
            <a:pPr algn="ctr" rtl="1"/>
            <a:r>
              <a:rPr sz="1400" b="1">
                <a:solidFill>
                  <a:srgbClr val="FFFFFF"/>
                </a:solidFill>
                <a:latin typeface="Calibri"/>
              </a:rPr>
              <a:t>ב</a:t>
            </a:r>
          </a:p>
        </p:txBody>
      </p:sp>
      <p:sp>
        <p:nvSpPr>
          <p:cNvPr id="13" name="TextBox 12"/>
          <p:cNvSpPr txBox="1"/>
          <p:nvPr/>
        </p:nvSpPr>
        <p:spPr>
          <a:xfrm>
            <a:off x="822960" y="3584448"/>
            <a:ext cx="9784080" cy="777240"/>
          </a:xfrm>
          <a:prstGeom prst="rect">
            <a:avLst/>
          </a:prstGeom>
          <a:noFill/>
        </p:spPr>
        <p:txBody>
          <a:bodyPr wrap="square" anchor="ctr">
            <a:spAutoFit/>
          </a:bodyPr>
          <a:lstStyle/>
          <a:p>
            <a:pPr algn="r" rtl="1"/>
            <a:r>
              <a:rPr sz="1350" b="0">
                <a:solidFill>
                  <a:srgbClr val="1F2937"/>
                </a:solidFill>
                <a:latin typeface="Calibri"/>
              </a:rPr>
              <a:t>PCC 50 IU/kg או אנדקסנט אלפא (דקוי רקומביננטי של FXa שקושר את מעכבי ה-Xa ישירות וחסר פעילות קטליטית)</a:t>
            </a:r>
          </a:p>
        </p:txBody>
      </p:sp>
      <p:sp>
        <p:nvSpPr>
          <p:cNvPr id="14" name="Rounded Rectangle 13"/>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44200" y="4718304"/>
            <a:ext cx="365760" cy="365760"/>
          </a:xfrm>
          <a:prstGeom prst="rect">
            <a:avLst/>
          </a:prstGeom>
          <a:noFill/>
        </p:spPr>
        <p:txBody>
          <a:bodyPr wrap="square" anchor="ctr">
            <a:spAutoFit/>
          </a:bodyPr>
          <a:lstStyle/>
          <a:p>
            <a:pPr algn="ctr" rtl="1"/>
            <a:r>
              <a:rPr sz="1400" b="1">
                <a:solidFill>
                  <a:srgbClr val="FFFFFF"/>
                </a:solidFill>
                <a:latin typeface="Calibri"/>
              </a:rPr>
              <a:t>ג</a:t>
            </a:r>
          </a:p>
        </p:txBody>
      </p:sp>
      <p:sp>
        <p:nvSpPr>
          <p:cNvPr id="17" name="TextBox 16"/>
          <p:cNvSpPr txBox="1"/>
          <p:nvPr/>
        </p:nvSpPr>
        <p:spPr>
          <a:xfrm>
            <a:off x="822960" y="4517136"/>
            <a:ext cx="9784080" cy="777240"/>
          </a:xfrm>
          <a:prstGeom prst="rect">
            <a:avLst/>
          </a:prstGeom>
          <a:noFill/>
        </p:spPr>
        <p:txBody>
          <a:bodyPr wrap="square" anchor="ctr">
            <a:spAutoFit/>
          </a:bodyPr>
          <a:lstStyle/>
          <a:p>
            <a:pPr algn="r" rtl="1"/>
            <a:r>
              <a:rPr sz="1350" b="0">
                <a:solidFill>
                  <a:srgbClr val="1F2937"/>
                </a:solidFill>
                <a:latin typeface="Calibri"/>
              </a:rPr>
              <a:t>ויטמין K בלבד, מכיוון שגם אפיקסבאן תלוי ויטמין K</a:t>
            </a:r>
          </a:p>
        </p:txBody>
      </p:sp>
      <p:sp>
        <p:nvSpPr>
          <p:cNvPr id="18" name="Rounded Rectangle 17"/>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4200" y="5650992"/>
            <a:ext cx="365760" cy="365760"/>
          </a:xfrm>
          <a:prstGeom prst="rect">
            <a:avLst/>
          </a:prstGeom>
          <a:noFill/>
        </p:spPr>
        <p:txBody>
          <a:bodyPr wrap="square" anchor="ctr">
            <a:spAutoFit/>
          </a:bodyPr>
          <a:lstStyle/>
          <a:p>
            <a:pPr algn="ctr" rtl="1"/>
            <a:r>
              <a:rPr sz="1400" b="1">
                <a:solidFill>
                  <a:srgbClr val="FFFFFF"/>
                </a:solidFill>
                <a:latin typeface="Calibri"/>
              </a:rPr>
              <a:t>ד</a:t>
            </a:r>
          </a:p>
        </p:txBody>
      </p:sp>
      <p:sp>
        <p:nvSpPr>
          <p:cNvPr id="21" name="TextBox 20"/>
          <p:cNvSpPr txBox="1"/>
          <p:nvPr/>
        </p:nvSpPr>
        <p:spPr>
          <a:xfrm>
            <a:off x="822960" y="5449824"/>
            <a:ext cx="9784080" cy="777240"/>
          </a:xfrm>
          <a:prstGeom prst="rect">
            <a:avLst/>
          </a:prstGeom>
          <a:noFill/>
        </p:spPr>
        <p:txBody>
          <a:bodyPr wrap="square" anchor="ctr">
            <a:spAutoFit/>
          </a:bodyPr>
          <a:lstStyle/>
          <a:p>
            <a:pPr algn="r" rtl="1"/>
            <a:r>
              <a:rPr sz="1350" b="0">
                <a:solidFill>
                  <a:srgbClr val="1F2937"/>
                </a:solidFill>
                <a:latin typeface="Calibri"/>
              </a:rPr>
              <a:t>אין שום חומר היפוך למעכבי Xa, לעולם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08960" cy="365760"/>
          </a:xfrm>
          <a:prstGeom prst="rect">
            <a:avLst/>
          </a:prstGeom>
          <a:noFill/>
        </p:spPr>
        <p:txBody>
          <a:bodyPr wrap="square" anchor="ctr">
            <a:spAutoFit/>
          </a:bodyPr>
          <a:lstStyle/>
          <a:p>
            <a:pPr algn="ctr" rtl="1"/>
            <a:r>
              <a:rPr sz="1200" b="1">
                <a:solidFill>
                  <a:srgbClr val="FFFFFF"/>
                </a:solidFill>
                <a:latin typeface="Calibri"/>
              </a:rPr>
              <a:t>היפוך מעכבי Xa</a:t>
            </a:r>
          </a:p>
        </p:txBody>
      </p:sp>
      <p:sp>
        <p:nvSpPr>
          <p:cNvPr id="4" name="TextBox 3"/>
          <p:cNvSpPr txBox="1"/>
          <p:nvPr/>
        </p:nvSpPr>
        <p:spPr>
          <a:xfrm>
            <a:off x="548640" y="777240"/>
            <a:ext cx="11064240" cy="640080"/>
          </a:xfrm>
          <a:prstGeom prst="rect">
            <a:avLst/>
          </a:prstGeom>
          <a:noFill/>
        </p:spPr>
        <p:txBody>
          <a:bodyPr wrap="square">
            <a:spAutoFit/>
          </a:bodyPr>
          <a:lstStyle/>
          <a:p>
            <a:pPr algn="r" rtl="1"/>
            <a:r>
              <a:rPr sz="1400" b="1">
                <a:solidFill>
                  <a:srgbClr val="15803D"/>
                </a:solidFill>
                <a:latin typeface="Calibri"/>
              </a:rPr>
              <a:t>התשובה הנכונה: ב) PCC 50 IU/kg או אנדקסנט אלפא (דקוי רקומביננטי של FXa שקושר את מעכבי ה-Xa ישירות וחסר פעילות קטליטית)</a:t>
            </a:r>
          </a:p>
        </p:txBody>
      </p:sp>
      <p:sp>
        <p:nvSpPr>
          <p:cNvPr id="5" name="Rounded Rectangle 4"/>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27632"/>
            <a:ext cx="7040880" cy="274320"/>
          </a:xfrm>
          <a:prstGeom prst="rect">
            <a:avLst/>
          </a:prstGeom>
          <a:noFill/>
        </p:spPr>
        <p:txBody>
          <a:bodyPr wrap="square">
            <a:spAutoFit/>
          </a:bodyPr>
          <a:lstStyle/>
          <a:p>
            <a:pPr algn="r" rtl="1"/>
            <a:r>
              <a:rPr sz="1200" b="1">
                <a:solidFill>
                  <a:srgbClr val="64748B"/>
                </a:solidFill>
                <a:latin typeface="Calibri"/>
              </a:rPr>
              <a:t>הסבר:</a:t>
            </a:r>
          </a:p>
        </p:txBody>
      </p:sp>
      <p:sp>
        <p:nvSpPr>
          <p:cNvPr id="7" name="TextBox 6"/>
          <p:cNvSpPr txBox="1"/>
          <p:nvPr/>
        </p:nvSpPr>
        <p:spPr>
          <a:xfrm>
            <a:off x="731520" y="1901952"/>
            <a:ext cx="7040880" cy="1005840"/>
          </a:xfrm>
          <a:prstGeom prst="rect">
            <a:avLst/>
          </a:prstGeom>
          <a:noFill/>
        </p:spPr>
        <p:txBody>
          <a:bodyPr wrap="square">
            <a:spAutoFit/>
          </a:bodyPr>
          <a:lstStyle/>
          <a:p>
            <a:pPr algn="r" rtl="1"/>
            <a:r>
              <a:rPr sz="1000" b="0">
                <a:solidFill>
                  <a:srgbClr val="1F2937"/>
                </a:solidFill>
                <a:latin typeface="Calibri"/>
              </a:rPr>
              <a:t>התשובה הנכונה (2): מעכבי Xa ישירים (אפיקסבאן, ריברוקסבאן) לא מגיבים לוויטמין K (לא תלויים בו) ולא לפרוטמין (לא רלוונטי למנגנון). שתי אסטרטגיות קיימות: PCC כללי (50 IU/kg), או אנדקסנט אלפא - חלבון רקומביננטי שמחקה את FXa אך חסר פעילות אנזימטית, כך שהוא 'לוכד' את מעכב ה-Xa ישירות ומשחרר את FXa האמיתי לפעול.</a:t>
            </a:r>
          </a:p>
        </p:txBody>
      </p:sp>
      <p:sp>
        <p:nvSpPr>
          <p:cNvPr id="8" name="Rounded Rectangle 7"/>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82112"/>
            <a:ext cx="7040880" cy="274320"/>
          </a:xfrm>
          <a:prstGeom prst="rect">
            <a:avLst/>
          </a:prstGeom>
          <a:noFill/>
        </p:spPr>
        <p:txBody>
          <a:bodyPr wrap="square">
            <a:spAutoFit/>
          </a:bodyPr>
          <a:lstStyle/>
          <a:p>
            <a:pPr algn="r" rtl="1"/>
            <a:r>
              <a:rPr sz="1150" b="1">
                <a:solidFill>
                  <a:srgbClr val="1E3A8A"/>
                </a:solidFill>
                <a:latin typeface="Calibri"/>
              </a:rPr>
              <a:t>מונח: אנדקסנט אלפא</a:t>
            </a:r>
          </a:p>
        </p:txBody>
      </p:sp>
      <p:sp>
        <p:nvSpPr>
          <p:cNvPr id="10" name="TextBox 9"/>
          <p:cNvSpPr txBox="1"/>
          <p:nvPr/>
        </p:nvSpPr>
        <p:spPr>
          <a:xfrm>
            <a:off x="731520" y="3474720"/>
            <a:ext cx="7040880" cy="502920"/>
          </a:xfrm>
          <a:prstGeom prst="rect">
            <a:avLst/>
          </a:prstGeom>
          <a:noFill/>
        </p:spPr>
        <p:txBody>
          <a:bodyPr wrap="square">
            <a:spAutoFit/>
          </a:bodyPr>
          <a:lstStyle/>
          <a:p>
            <a:pPr algn="r" rtl="1"/>
            <a:r>
              <a:rPr sz="950" b="0">
                <a:solidFill>
                  <a:srgbClr val="1E3A8A"/>
                </a:solidFill>
                <a:latin typeface="Calibri"/>
              </a:rPr>
              <a:t>FXa דקוי רקומביננטי שחסר פעילות קטליטית - קושר ומנטרל ישירות את מעכבי ה-Xa (ריברוקסבאן, אפיקסבאן, אדוקסבאן, אנוקספרין).</a:t>
            </a:r>
          </a:p>
        </p:txBody>
      </p:sp>
      <p:sp>
        <p:nvSpPr>
          <p:cNvPr id="11" name="Rounded Rectangle 10"/>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2"/>
            <a:ext cx="7040880" cy="274320"/>
          </a:xfrm>
          <a:prstGeom prst="rect">
            <a:avLst/>
          </a:prstGeom>
          <a:noFill/>
        </p:spPr>
        <p:txBody>
          <a:bodyPr wrap="square">
            <a:spAutoFit/>
          </a:bodyPr>
          <a:lstStyle/>
          <a:p>
            <a:pPr algn="r" rtl="1"/>
            <a:r>
              <a:rPr sz="1150" b="1">
                <a:solidFill>
                  <a:srgbClr val="5B21B6"/>
                </a:solidFill>
                <a:latin typeface="Calibri"/>
              </a:rPr>
              <a:t>סיפור לזכירה</a:t>
            </a:r>
          </a:p>
        </p:txBody>
      </p:sp>
      <p:sp>
        <p:nvSpPr>
          <p:cNvPr id="13" name="TextBox 12"/>
          <p:cNvSpPr txBox="1"/>
          <p:nvPr/>
        </p:nvSpPr>
        <p:spPr>
          <a:xfrm>
            <a:off x="731520" y="4526280"/>
            <a:ext cx="7040880" cy="502920"/>
          </a:xfrm>
          <a:prstGeom prst="rect">
            <a:avLst/>
          </a:prstGeom>
          <a:noFill/>
        </p:spPr>
        <p:txBody>
          <a:bodyPr wrap="square">
            <a:spAutoFit/>
          </a:bodyPr>
          <a:lstStyle/>
          <a:p>
            <a:pPr algn="r" rtl="1"/>
            <a:r>
              <a:rPr sz="950" b="0">
                <a:solidFill>
                  <a:srgbClr val="4C1D95"/>
                </a:solidFill>
                <a:latin typeface="Calibri"/>
              </a:rPr>
              <a:t>דמייני אנדקסנט אלפא כ'פיתיון' שנראה בדיוק כמו FXa האמיתי - התרופה 'נופלת בפח' ונקשרת לפיתיון במקום לחסום את ה-FXa האמיתי שממשיך לעבוד.</a:t>
            </a:r>
          </a:p>
        </p:txBody>
      </p:sp>
      <p:sp>
        <p:nvSpPr>
          <p:cNvPr id="14" name="TextBox 13"/>
          <p:cNvSpPr txBox="1"/>
          <p:nvPr/>
        </p:nvSpPr>
        <p:spPr>
          <a:xfrm>
            <a:off x="731520" y="5047488"/>
            <a:ext cx="7040880" cy="502920"/>
          </a:xfrm>
          <a:prstGeom prst="rect">
            <a:avLst/>
          </a:prstGeom>
          <a:noFill/>
        </p:spPr>
        <p:txBody>
          <a:bodyPr wrap="square">
            <a:spAutoFit/>
          </a:bodyPr>
          <a:lstStyle/>
          <a:p>
            <a:pPr algn="r" rtl="1"/>
            <a:r>
              <a:rPr sz="900" b="0">
                <a:solidFill>
                  <a:srgbClr val="5B21B6"/>
                </a:solidFill>
                <a:latin typeface="Calibri"/>
              </a:rPr>
              <a:t>מה ההבדל המושגי בין PCC לאנדקסנט אלפא כאסטרטגיות היפוך?</a:t>
            </a:r>
          </a:p>
        </p:txBody>
      </p:sp>
      <p:sp>
        <p:nvSpPr>
          <p:cNvPr id="15" name="TextBox 14"/>
          <p:cNvSpPr txBox="1"/>
          <p:nvPr/>
        </p:nvSpPr>
        <p:spPr>
          <a:xfrm>
            <a:off x="8138160" y="1554480"/>
            <a:ext cx="3474720" cy="320040"/>
          </a:xfrm>
          <a:prstGeom prst="rect">
            <a:avLst/>
          </a:prstGeom>
          <a:noFill/>
        </p:spPr>
        <p:txBody>
          <a:bodyPr wrap="square">
            <a:spAutoFit/>
          </a:bodyPr>
          <a:lstStyle/>
          <a:p>
            <a:pPr algn="r" rtl="1"/>
            <a:r>
              <a:rPr sz="1250" b="1">
                <a:solidFill>
                  <a:srgbClr val="64748B"/>
                </a:solidFill>
                <a:latin typeface="Calibri"/>
              </a:rPr>
              <a:t>מה קורה בפועל:</a:t>
            </a:r>
          </a:p>
        </p:txBody>
      </p:sp>
      <p:sp>
        <p:nvSpPr>
          <p:cNvPr id="16" name="Rounded Rectangle 15"/>
          <p:cNvSpPr/>
          <p:nvPr/>
        </p:nvSpPr>
        <p:spPr>
          <a:xfrm>
            <a:off x="8138160" y="1920240"/>
            <a:ext cx="3474720" cy="777240"/>
          </a:xfrm>
          <a:prstGeom prst="roundRect">
            <a:avLst/>
          </a:prstGeom>
          <a:solidFill>
            <a:srgbClr val="1C7293"/>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92840" y="217627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74864"/>
            <a:ext cx="2880360" cy="667512"/>
          </a:xfrm>
          <a:prstGeom prst="rect">
            <a:avLst/>
          </a:prstGeom>
          <a:noFill/>
        </p:spPr>
        <p:txBody>
          <a:bodyPr wrap="square" anchor="ctr">
            <a:spAutoFit/>
          </a:bodyPr>
          <a:lstStyle/>
          <a:p>
            <a:pPr algn="r" rtl="1"/>
            <a:r>
              <a:rPr sz="950" b="0">
                <a:solidFill>
                  <a:srgbClr val="FFFFFF"/>
                </a:solidFill>
                <a:latin typeface="Calibri"/>
              </a:rPr>
              <a:t>PCC 50 IU/kg IV - מחליף גורמי קרישה כלליים, לא ספציפי</a:t>
            </a:r>
          </a:p>
        </p:txBody>
      </p:sp>
      <p:sp>
        <p:nvSpPr>
          <p:cNvPr id="19" name="Rounded Rectangle 18"/>
          <p:cNvSpPr/>
          <p:nvPr/>
        </p:nvSpPr>
        <p:spPr>
          <a:xfrm>
            <a:off x="8138160" y="2788920"/>
            <a:ext cx="3474720" cy="777240"/>
          </a:xfrm>
          <a:prstGeom prst="roundRect">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92840" y="3044952"/>
            <a:ext cx="256032" cy="25603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43544"/>
            <a:ext cx="2880360" cy="667512"/>
          </a:xfrm>
          <a:prstGeom prst="rect">
            <a:avLst/>
          </a:prstGeom>
          <a:noFill/>
        </p:spPr>
        <p:txBody>
          <a:bodyPr wrap="square" anchor="ctr">
            <a:spAutoFit/>
          </a:bodyPr>
          <a:lstStyle/>
          <a:p>
            <a:pPr algn="r" rtl="1"/>
            <a:r>
              <a:rPr sz="950" b="0">
                <a:solidFill>
                  <a:srgbClr val="FFFFFF"/>
                </a:solidFill>
                <a:latin typeface="Calibri"/>
              </a:rPr>
              <a:t>אנדקסנט אלפא - 'דקוי' רקומביננטי של FXa, קושר את התרופה ישירות בלי לקטלז</a:t>
            </a:r>
          </a:p>
        </p:txBody>
      </p:sp>
      <p:sp>
        <p:nvSpPr>
          <p:cNvPr id="22" name="Rounded Rectangle 21"/>
          <p:cNvSpPr/>
          <p:nvPr/>
        </p:nvSpPr>
        <p:spPr>
          <a:xfrm>
            <a:off x="8138160" y="3657600"/>
            <a:ext cx="3474720" cy="777240"/>
          </a:xfrm>
          <a:prstGeom prst="roundRect">
            <a:avLst/>
          </a:prstGeom>
          <a:solidFill>
            <a:srgbClr val="6B7280"/>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92840" y="3913632"/>
            <a:ext cx="256032" cy="256032"/>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712224"/>
            <a:ext cx="2880360" cy="667512"/>
          </a:xfrm>
          <a:prstGeom prst="rect">
            <a:avLst/>
          </a:prstGeom>
          <a:noFill/>
        </p:spPr>
        <p:txBody>
          <a:bodyPr wrap="square" anchor="ctr">
            <a:spAutoFit/>
          </a:bodyPr>
          <a:lstStyle/>
          <a:p>
            <a:pPr algn="r" rtl="1"/>
            <a:r>
              <a:rPr sz="950" b="0">
                <a:solidFill>
                  <a:srgbClr val="FFFFFF"/>
                </a:solidFill>
                <a:latin typeface="Calibri"/>
              </a:rPr>
              <a:t>מנת אנדקסנט לאפיקסבאן: 400 מ"ג בולוס + 480 מ"ג אינפוזיה</a:t>
            </a:r>
          </a:p>
        </p:txBody>
      </p:sp>
      <p:sp>
        <p:nvSpPr>
          <p:cNvPr id="25" name="TextBox 24"/>
          <p:cNvSpPr txBox="1"/>
          <p:nvPr/>
        </p:nvSpPr>
        <p:spPr>
          <a:xfrm>
            <a:off x="548640" y="6446520"/>
            <a:ext cx="11064240" cy="320040"/>
          </a:xfrm>
          <a:prstGeom prst="rect">
            <a:avLst/>
          </a:prstGeom>
          <a:noFill/>
        </p:spPr>
        <p:txBody>
          <a:bodyPr wrap="square">
            <a:spAutoFit/>
          </a:bodyPr>
          <a:lstStyle/>
          <a:p>
            <a:pPr algn="r" rtl="1"/>
            <a:r>
              <a:rPr sz="900" b="0">
                <a:solidFill>
                  <a:srgbClr val="9CA3AF"/>
                </a:solidFill>
                <a:latin typeface="Calibri"/>
              </a:rPr>
              <a:t>מצגת סטטית — ללא ניקוד חי. לתרגול עם סטטיסטיקה בזמן אמת, השתמשו באתר.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3108960" cy="384048"/>
          </a:xfrm>
          <a:prstGeom prst="rect">
            <a:avLst/>
          </a:prstGeom>
          <a:noFill/>
        </p:spPr>
        <p:txBody>
          <a:bodyPr wrap="square" anchor="ctr">
            <a:spAutoFit/>
          </a:bodyPr>
          <a:lstStyle/>
          <a:p>
            <a:pPr algn="ctr" rtl="1"/>
            <a:r>
              <a:rPr sz="1250" b="1">
                <a:solidFill>
                  <a:srgbClr val="FFFFFF"/>
                </a:solidFill>
                <a:latin typeface="Calibri"/>
              </a:rPr>
              <a:t>HIT</a:t>
            </a:r>
          </a:p>
        </p:txBody>
      </p:sp>
      <p:sp>
        <p:nvSpPr>
          <p:cNvPr id="4" name="TextBox 3"/>
          <p:cNvSpPr txBox="1"/>
          <p:nvPr/>
        </p:nvSpPr>
        <p:spPr>
          <a:xfrm>
            <a:off x="8531352" y="365760"/>
            <a:ext cx="3108960" cy="384048"/>
          </a:xfrm>
          <a:prstGeom prst="rect">
            <a:avLst/>
          </a:prstGeom>
          <a:noFill/>
        </p:spPr>
        <p:txBody>
          <a:bodyPr wrap="square" anchor="ctr">
            <a:spAutoFit/>
          </a:bodyPr>
          <a:lstStyle/>
          <a:p>
            <a:pPr algn="l" rtl="1"/>
            <a:r>
              <a:rPr sz="1200" b="0">
                <a:solidFill>
                  <a:srgbClr val="9CA3AF"/>
                </a:solidFill>
                <a:latin typeface="Calibri"/>
              </a:rPr>
              <a:t>כרטיסייה 6 מתוך 8</a:t>
            </a:r>
          </a:p>
        </p:txBody>
      </p:sp>
      <p:sp>
        <p:nvSpPr>
          <p:cNvPr id="5" name="TextBox 4"/>
          <p:cNvSpPr txBox="1"/>
          <p:nvPr/>
        </p:nvSpPr>
        <p:spPr>
          <a:xfrm>
            <a:off x="548640" y="1005840"/>
            <a:ext cx="11064240" cy="1463040"/>
          </a:xfrm>
          <a:prstGeom prst="rect">
            <a:avLst/>
          </a:prstGeom>
          <a:noFill/>
        </p:spPr>
        <p:txBody>
          <a:bodyPr wrap="square">
            <a:spAutoFit/>
          </a:bodyPr>
          <a:lstStyle/>
          <a:p>
            <a:pPr algn="r" rtl="1"/>
            <a:r>
              <a:rPr sz="2000" b="1">
                <a:solidFill>
                  <a:srgbClr val="1F2937"/>
                </a:solidFill>
                <a:latin typeface="Calibri"/>
              </a:rPr>
              <a:t>מטופל שמקבל הפרין IV כ-6 ימים מפתח ירידה חדה בספירת הטסיות ותרומבוזיס ורידי חדש, ללא דימום. מה האבחנה, המנגנון והטיפול?</a:t>
            </a:r>
          </a:p>
        </p:txBody>
      </p:sp>
      <p:sp>
        <p:nvSpPr>
          <p:cNvPr id="6" name="Rounded Rectangle 5"/>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44200" y="2852928"/>
            <a:ext cx="365760" cy="365760"/>
          </a:xfrm>
          <a:prstGeom prst="rect">
            <a:avLst/>
          </a:prstGeom>
          <a:noFill/>
        </p:spPr>
        <p:txBody>
          <a:bodyPr wrap="square" anchor="ctr">
            <a:spAutoFit/>
          </a:bodyPr>
          <a:lstStyle/>
          <a:p>
            <a:pPr algn="ctr" rtl="1"/>
            <a:r>
              <a:rPr sz="1400" b="1">
                <a:solidFill>
                  <a:srgbClr val="FFFFFF"/>
                </a:solidFill>
                <a:latin typeface="Calibri"/>
              </a:rPr>
              <a:t>א</a:t>
            </a:r>
          </a:p>
        </p:txBody>
      </p:sp>
      <p:sp>
        <p:nvSpPr>
          <p:cNvPr id="9" name="TextBox 8"/>
          <p:cNvSpPr txBox="1"/>
          <p:nvPr/>
        </p:nvSpPr>
        <p:spPr>
          <a:xfrm>
            <a:off x="822960" y="2651760"/>
            <a:ext cx="9784080" cy="777240"/>
          </a:xfrm>
          <a:prstGeom prst="rect">
            <a:avLst/>
          </a:prstGeom>
          <a:noFill/>
        </p:spPr>
        <p:txBody>
          <a:bodyPr wrap="square" anchor="ctr">
            <a:spAutoFit/>
          </a:bodyPr>
          <a:lstStyle/>
          <a:p>
            <a:pPr algn="r" rtl="1"/>
            <a:r>
              <a:rPr sz="1350" b="0">
                <a:solidFill>
                  <a:srgbClr val="1F2937"/>
                </a:solidFill>
                <a:latin typeface="Calibri"/>
              </a:rPr>
              <a:t>מנת יתר של הפרין - לתת פרוטמין מיידית</a:t>
            </a:r>
          </a:p>
        </p:txBody>
      </p:sp>
      <p:sp>
        <p:nvSpPr>
          <p:cNvPr id="10" name="Rounded Rectangle 9"/>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3785616"/>
            <a:ext cx="365760" cy="365760"/>
          </a:xfrm>
          <a:prstGeom prst="rect">
            <a:avLst/>
          </a:prstGeom>
          <a:noFill/>
        </p:spPr>
        <p:txBody>
          <a:bodyPr wrap="square" anchor="ctr">
            <a:spAutoFit/>
          </a:bodyPr>
          <a:lstStyle/>
          <a:p>
            <a:pPr algn="ctr" rtl="1"/>
            <a:r>
              <a:rPr sz="1400" b="1">
                <a:solidFill>
                  <a:srgbClr val="FFFFFF"/>
                </a:solidFill>
                <a:latin typeface="Calibri"/>
              </a:rPr>
              <a:t>ב</a:t>
            </a:r>
          </a:p>
        </p:txBody>
      </p:sp>
      <p:sp>
        <p:nvSpPr>
          <p:cNvPr id="13" name="TextBox 12"/>
          <p:cNvSpPr txBox="1"/>
          <p:nvPr/>
        </p:nvSpPr>
        <p:spPr>
          <a:xfrm>
            <a:off x="822960" y="3584448"/>
            <a:ext cx="9784080" cy="777240"/>
          </a:xfrm>
          <a:prstGeom prst="rect">
            <a:avLst/>
          </a:prstGeom>
          <a:noFill/>
        </p:spPr>
        <p:txBody>
          <a:bodyPr wrap="square" anchor="ctr">
            <a:spAutoFit/>
          </a:bodyPr>
          <a:lstStyle/>
          <a:p>
            <a:pPr algn="r" rtl="1"/>
            <a:r>
              <a:rPr sz="1350" b="0">
                <a:solidFill>
                  <a:srgbClr val="1F2937"/>
                </a:solidFill>
                <a:latin typeface="Calibri"/>
              </a:rPr>
              <a:t>HIT/HITT - נוגדן IgG נגד מתחם PF4-הפרין מפעיל טסיות ו/או מפנה אותן בטחול; הפסקת הפרין (וגם LMWH!) ומעבר למעכב תרומבין ישיר IV כמו ארגטרובאן</a:t>
            </a:r>
          </a:p>
        </p:txBody>
      </p:sp>
      <p:sp>
        <p:nvSpPr>
          <p:cNvPr id="14" name="Rounded Rectangle 13"/>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44200" y="4718304"/>
            <a:ext cx="365760" cy="365760"/>
          </a:xfrm>
          <a:prstGeom prst="rect">
            <a:avLst/>
          </a:prstGeom>
          <a:noFill/>
        </p:spPr>
        <p:txBody>
          <a:bodyPr wrap="square" anchor="ctr">
            <a:spAutoFit/>
          </a:bodyPr>
          <a:lstStyle/>
          <a:p>
            <a:pPr algn="ctr" rtl="1"/>
            <a:r>
              <a:rPr sz="1400" b="1">
                <a:solidFill>
                  <a:srgbClr val="FFFFFF"/>
                </a:solidFill>
                <a:latin typeface="Calibri"/>
              </a:rPr>
              <a:t>ג</a:t>
            </a:r>
          </a:p>
        </p:txBody>
      </p:sp>
      <p:sp>
        <p:nvSpPr>
          <p:cNvPr id="17" name="TextBox 16"/>
          <p:cNvSpPr txBox="1"/>
          <p:nvPr/>
        </p:nvSpPr>
        <p:spPr>
          <a:xfrm>
            <a:off x="822960" y="4517136"/>
            <a:ext cx="9784080" cy="777240"/>
          </a:xfrm>
          <a:prstGeom prst="rect">
            <a:avLst/>
          </a:prstGeom>
          <a:noFill/>
        </p:spPr>
        <p:txBody>
          <a:bodyPr wrap="square" anchor="ctr">
            <a:spAutoFit/>
          </a:bodyPr>
          <a:lstStyle/>
          <a:p>
            <a:pPr algn="r" rtl="1"/>
            <a:r>
              <a:rPr sz="1350" b="0">
                <a:solidFill>
                  <a:srgbClr val="1F2937"/>
                </a:solidFill>
                <a:latin typeface="Calibri"/>
              </a:rPr>
              <a:t>אין קשר בין תרומבוציטופניה לתרומבוזיס - שני אירועים נפרדים ומקריים</a:t>
            </a:r>
          </a:p>
        </p:txBody>
      </p:sp>
      <p:sp>
        <p:nvSpPr>
          <p:cNvPr id="18" name="Rounded Rectangle 17"/>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4200" y="5650992"/>
            <a:ext cx="365760" cy="365760"/>
          </a:xfrm>
          <a:prstGeom prst="rect">
            <a:avLst/>
          </a:prstGeom>
          <a:noFill/>
        </p:spPr>
        <p:txBody>
          <a:bodyPr wrap="square" anchor="ctr">
            <a:spAutoFit/>
          </a:bodyPr>
          <a:lstStyle/>
          <a:p>
            <a:pPr algn="ctr" rtl="1"/>
            <a:r>
              <a:rPr sz="1400" b="1">
                <a:solidFill>
                  <a:srgbClr val="FFFFFF"/>
                </a:solidFill>
                <a:latin typeface="Calibri"/>
              </a:rPr>
              <a:t>ד</a:t>
            </a:r>
          </a:p>
        </p:txBody>
      </p:sp>
      <p:sp>
        <p:nvSpPr>
          <p:cNvPr id="21" name="TextBox 20"/>
          <p:cNvSpPr txBox="1"/>
          <p:nvPr/>
        </p:nvSpPr>
        <p:spPr>
          <a:xfrm>
            <a:off x="822960" y="5449824"/>
            <a:ext cx="9784080" cy="777240"/>
          </a:xfrm>
          <a:prstGeom prst="rect">
            <a:avLst/>
          </a:prstGeom>
          <a:noFill/>
        </p:spPr>
        <p:txBody>
          <a:bodyPr wrap="square" anchor="ctr">
            <a:spAutoFit/>
          </a:bodyPr>
          <a:lstStyle/>
          <a:p>
            <a:pPr algn="r" rtl="1"/>
            <a:r>
              <a:rPr sz="1350" b="0">
                <a:solidFill>
                  <a:srgbClr val="1F2937"/>
                </a:solidFill>
                <a:latin typeface="Calibri"/>
              </a:rPr>
              <a:t>יש להחליף להפרין במשקל מולקולרי נמוך (LMWH) כי הוא בטוח יותר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08960" cy="365760"/>
          </a:xfrm>
          <a:prstGeom prst="rect">
            <a:avLst/>
          </a:prstGeom>
          <a:noFill/>
        </p:spPr>
        <p:txBody>
          <a:bodyPr wrap="square" anchor="ctr">
            <a:spAutoFit/>
          </a:bodyPr>
          <a:lstStyle/>
          <a:p>
            <a:pPr algn="ctr" rtl="1"/>
            <a:r>
              <a:rPr sz="1200" b="1">
                <a:solidFill>
                  <a:srgbClr val="FFFFFF"/>
                </a:solidFill>
                <a:latin typeface="Calibri"/>
              </a:rPr>
              <a:t>HIT</a:t>
            </a:r>
          </a:p>
        </p:txBody>
      </p:sp>
      <p:sp>
        <p:nvSpPr>
          <p:cNvPr id="4" name="TextBox 3"/>
          <p:cNvSpPr txBox="1"/>
          <p:nvPr/>
        </p:nvSpPr>
        <p:spPr>
          <a:xfrm>
            <a:off x="548640" y="777240"/>
            <a:ext cx="11064240" cy="640080"/>
          </a:xfrm>
          <a:prstGeom prst="rect">
            <a:avLst/>
          </a:prstGeom>
          <a:noFill/>
        </p:spPr>
        <p:txBody>
          <a:bodyPr wrap="square">
            <a:spAutoFit/>
          </a:bodyPr>
          <a:lstStyle/>
          <a:p>
            <a:pPr algn="r" rtl="1"/>
            <a:r>
              <a:rPr sz="1400" b="1">
                <a:solidFill>
                  <a:srgbClr val="15803D"/>
                </a:solidFill>
                <a:latin typeface="Calibri"/>
              </a:rPr>
              <a:t>התשובה הנכונה: ב) HIT/HITT - נוגדן IgG נגד מתחם PF4-הפרין מפעיל טסיות ו/או מפנה אותן בטחול; הפסקת הפרין (וגם LMWH!) ומעבר למעכב תרומבין ישיר IV כמו ארגטרובאן</a:t>
            </a:r>
          </a:p>
        </p:txBody>
      </p:sp>
      <p:sp>
        <p:nvSpPr>
          <p:cNvPr id="5" name="Rounded Rectangle 4"/>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27632"/>
            <a:ext cx="7040880" cy="274320"/>
          </a:xfrm>
          <a:prstGeom prst="rect">
            <a:avLst/>
          </a:prstGeom>
          <a:noFill/>
        </p:spPr>
        <p:txBody>
          <a:bodyPr wrap="square">
            <a:spAutoFit/>
          </a:bodyPr>
          <a:lstStyle/>
          <a:p>
            <a:pPr algn="r" rtl="1"/>
            <a:r>
              <a:rPr sz="1200" b="1">
                <a:solidFill>
                  <a:srgbClr val="64748B"/>
                </a:solidFill>
                <a:latin typeface="Calibri"/>
              </a:rPr>
              <a:t>הסבר:</a:t>
            </a:r>
          </a:p>
        </p:txBody>
      </p:sp>
      <p:sp>
        <p:nvSpPr>
          <p:cNvPr id="7" name="TextBox 6"/>
          <p:cNvSpPr txBox="1"/>
          <p:nvPr/>
        </p:nvSpPr>
        <p:spPr>
          <a:xfrm>
            <a:off x="731520" y="1901952"/>
            <a:ext cx="7040880" cy="1005840"/>
          </a:xfrm>
          <a:prstGeom prst="rect">
            <a:avLst/>
          </a:prstGeom>
          <a:noFill/>
        </p:spPr>
        <p:txBody>
          <a:bodyPr wrap="square">
            <a:spAutoFit/>
          </a:bodyPr>
          <a:lstStyle/>
          <a:p>
            <a:pPr algn="r" rtl="1"/>
            <a:r>
              <a:rPr sz="1000" b="0">
                <a:solidFill>
                  <a:srgbClr val="1F2937"/>
                </a:solidFill>
                <a:latin typeface="Calibri"/>
              </a:rPr>
              <a:t>התשובה הנכונה (2): השילוב של תרומבוציטופניה חדשה ואירוע תרומבוטי (לא דימום) כ-5-10 ימים אחרי התחלת הפרין הוא קלאסי ל-HIT המתקדם ל-HITT. המנגנון חיסוני (IgG נגד PF4-הפרין), ולכן יש להפסיק לחלוטין כל חשיפה להפרין - כולל LMWH, בשל צולבות אימונולוגית - ולעבור למעכב תרומבין ישיר IV כמו ארגטרובאן. פרוטמין לא רלוונטי כי זו לא מנת יתר.</a:t>
            </a:r>
          </a:p>
        </p:txBody>
      </p:sp>
      <p:sp>
        <p:nvSpPr>
          <p:cNvPr id="8" name="Rounded Rectangle 7"/>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82112"/>
            <a:ext cx="7040880" cy="274320"/>
          </a:xfrm>
          <a:prstGeom prst="rect">
            <a:avLst/>
          </a:prstGeom>
          <a:noFill/>
        </p:spPr>
        <p:txBody>
          <a:bodyPr wrap="square">
            <a:spAutoFit/>
          </a:bodyPr>
          <a:lstStyle/>
          <a:p>
            <a:pPr algn="r" rtl="1"/>
            <a:r>
              <a:rPr sz="1150" b="1">
                <a:solidFill>
                  <a:srgbClr val="1E3A8A"/>
                </a:solidFill>
                <a:latin typeface="Calibri"/>
              </a:rPr>
              <a:t>מונח: HITT</a:t>
            </a:r>
          </a:p>
        </p:txBody>
      </p:sp>
      <p:sp>
        <p:nvSpPr>
          <p:cNvPr id="10" name="TextBox 9"/>
          <p:cNvSpPr txBox="1"/>
          <p:nvPr/>
        </p:nvSpPr>
        <p:spPr>
          <a:xfrm>
            <a:off x="731520" y="3474720"/>
            <a:ext cx="7040880" cy="502920"/>
          </a:xfrm>
          <a:prstGeom prst="rect">
            <a:avLst/>
          </a:prstGeom>
          <a:noFill/>
        </p:spPr>
        <p:txBody>
          <a:bodyPr wrap="square">
            <a:spAutoFit/>
          </a:bodyPr>
          <a:lstStyle/>
          <a:p>
            <a:pPr algn="r" rtl="1"/>
            <a:r>
              <a:rPr sz="950" b="0">
                <a:solidFill>
                  <a:srgbClr val="1E3A8A"/>
                </a:solidFill>
                <a:latin typeface="Calibri"/>
              </a:rPr>
              <a:t>Heparin-Induced Thrombocytopenia with Thrombosis - הצורה החמורה של HIT שבה הטסיות המופעלות גורמות לתרומבוזיס ולא רק לפינוין.</a:t>
            </a:r>
          </a:p>
        </p:txBody>
      </p:sp>
      <p:sp>
        <p:nvSpPr>
          <p:cNvPr id="11" name="Rounded Rectangle 10"/>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2"/>
            <a:ext cx="7040880" cy="274320"/>
          </a:xfrm>
          <a:prstGeom prst="rect">
            <a:avLst/>
          </a:prstGeom>
          <a:noFill/>
        </p:spPr>
        <p:txBody>
          <a:bodyPr wrap="square">
            <a:spAutoFit/>
          </a:bodyPr>
          <a:lstStyle/>
          <a:p>
            <a:pPr algn="r" rtl="1"/>
            <a:r>
              <a:rPr sz="1150" b="1">
                <a:solidFill>
                  <a:srgbClr val="5B21B6"/>
                </a:solidFill>
                <a:latin typeface="Calibri"/>
              </a:rPr>
              <a:t>סיפור לזכירה</a:t>
            </a:r>
          </a:p>
        </p:txBody>
      </p:sp>
      <p:sp>
        <p:nvSpPr>
          <p:cNvPr id="13" name="TextBox 12"/>
          <p:cNvSpPr txBox="1"/>
          <p:nvPr/>
        </p:nvSpPr>
        <p:spPr>
          <a:xfrm>
            <a:off x="731520" y="4526280"/>
            <a:ext cx="7040880" cy="502920"/>
          </a:xfrm>
          <a:prstGeom prst="rect">
            <a:avLst/>
          </a:prstGeom>
          <a:noFill/>
        </p:spPr>
        <p:txBody>
          <a:bodyPr wrap="square">
            <a:spAutoFit/>
          </a:bodyPr>
          <a:lstStyle/>
          <a:p>
            <a:pPr algn="r" rtl="1"/>
            <a:r>
              <a:rPr sz="950" b="0">
                <a:solidFill>
                  <a:srgbClr val="4C1D95"/>
                </a:solidFill>
                <a:latin typeface="Calibri"/>
              </a:rPr>
              <a:t>דמייני את הטסיות המצופות IgG כ'מטרות מסומנות' - חלקן מפונות ע"י הטחול (ספירה נופלת) וחלקן 'מתפוצצות' ויוצרות קרישים (HITT) - שני צדדים של אותו מטבע חיסוני.</a:t>
            </a:r>
          </a:p>
        </p:txBody>
      </p:sp>
      <p:sp>
        <p:nvSpPr>
          <p:cNvPr id="14" name="TextBox 13"/>
          <p:cNvSpPr txBox="1"/>
          <p:nvPr/>
        </p:nvSpPr>
        <p:spPr>
          <a:xfrm>
            <a:off x="731520" y="5047488"/>
            <a:ext cx="7040880" cy="502920"/>
          </a:xfrm>
          <a:prstGeom prst="rect">
            <a:avLst/>
          </a:prstGeom>
          <a:noFill/>
        </p:spPr>
        <p:txBody>
          <a:bodyPr wrap="square">
            <a:spAutoFit/>
          </a:bodyPr>
          <a:lstStyle/>
          <a:p>
            <a:pPr algn="r" rtl="1"/>
            <a:r>
              <a:rPr sz="900" b="0">
                <a:solidFill>
                  <a:srgbClr val="5B21B6"/>
                </a:solidFill>
                <a:latin typeface="Calibri"/>
              </a:rPr>
              <a:t>למה פרדוקסלי שמטופל עם ספירת טסיות נמוכה דווקא מפתח קרישים ולא דימום?</a:t>
            </a:r>
          </a:p>
        </p:txBody>
      </p:sp>
      <p:sp>
        <p:nvSpPr>
          <p:cNvPr id="15" name="TextBox 14"/>
          <p:cNvSpPr txBox="1"/>
          <p:nvPr/>
        </p:nvSpPr>
        <p:spPr>
          <a:xfrm>
            <a:off x="8138160" y="1554480"/>
            <a:ext cx="3474720" cy="320040"/>
          </a:xfrm>
          <a:prstGeom prst="rect">
            <a:avLst/>
          </a:prstGeom>
          <a:noFill/>
        </p:spPr>
        <p:txBody>
          <a:bodyPr wrap="square">
            <a:spAutoFit/>
          </a:bodyPr>
          <a:lstStyle/>
          <a:p>
            <a:pPr algn="r" rtl="1"/>
            <a:r>
              <a:rPr sz="1250" b="1">
                <a:solidFill>
                  <a:srgbClr val="64748B"/>
                </a:solidFill>
                <a:latin typeface="Calibri"/>
              </a:rPr>
              <a:t>מה קורה בפועל:</a:t>
            </a:r>
          </a:p>
        </p:txBody>
      </p:sp>
      <p:sp>
        <p:nvSpPr>
          <p:cNvPr id="16" name="Rounded Rectangle 15"/>
          <p:cNvSpPr/>
          <p:nvPr/>
        </p:nvSpPr>
        <p:spPr>
          <a:xfrm>
            <a:off x="8138160" y="1920240"/>
            <a:ext cx="3474720" cy="777240"/>
          </a:xfrm>
          <a:prstGeom prst="roundRect">
            <a:avLst/>
          </a:prstGeom>
          <a:solidFill>
            <a:srgbClr val="B91C1C"/>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74864"/>
            <a:ext cx="2880360" cy="667512"/>
          </a:xfrm>
          <a:prstGeom prst="rect">
            <a:avLst/>
          </a:prstGeom>
          <a:noFill/>
        </p:spPr>
        <p:txBody>
          <a:bodyPr wrap="square" anchor="ctr">
            <a:spAutoFit/>
          </a:bodyPr>
          <a:lstStyle/>
          <a:p>
            <a:pPr algn="r" rtl="1"/>
            <a:r>
              <a:rPr sz="950" b="0">
                <a:solidFill>
                  <a:srgbClr val="FFFFFF"/>
                </a:solidFill>
                <a:latin typeface="Calibri"/>
              </a:rPr>
              <a:t>מנגנון: IgG נגד PF4-הפרין - מפנה טסיות בטחול (תרומבוציטופניה) או מפעיל אותן (תרומבוזיס)</a:t>
            </a:r>
          </a:p>
        </p:txBody>
      </p:sp>
      <p:sp>
        <p:nvSpPr>
          <p:cNvPr id="19" name="Rounded Rectangle 18"/>
          <p:cNvSpPr/>
          <p:nvPr/>
        </p:nvSpPr>
        <p:spPr>
          <a:xfrm>
            <a:off x="8138160" y="2788920"/>
            <a:ext cx="3474720" cy="777240"/>
          </a:xfrm>
          <a:prstGeom prst="roundRect">
            <a:avLst/>
          </a:prstGeom>
          <a:solidFill>
            <a:srgbClr val="D99A2B"/>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92840" y="3044952"/>
            <a:ext cx="256032" cy="256032"/>
          </a:xfrm>
          <a:prstGeom prst="ellipse">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43544"/>
            <a:ext cx="2880360" cy="667512"/>
          </a:xfrm>
          <a:prstGeom prst="rect">
            <a:avLst/>
          </a:prstGeom>
          <a:noFill/>
        </p:spPr>
        <p:txBody>
          <a:bodyPr wrap="square" anchor="ctr">
            <a:spAutoFit/>
          </a:bodyPr>
          <a:lstStyle/>
          <a:p>
            <a:pPr algn="r" rtl="1"/>
            <a:r>
              <a:rPr sz="950" b="0">
                <a:solidFill>
                  <a:srgbClr val="FFFFFF"/>
                </a:solidFill>
                <a:latin typeface="Calibri"/>
              </a:rPr>
              <a:t>שכיחות: 3-5% ממקבלי הפרין; מתוכם 30-50% מתקדמים ל-HITT, תמותה כ-50%</a:t>
            </a:r>
          </a:p>
        </p:txBody>
      </p:sp>
      <p:sp>
        <p:nvSpPr>
          <p:cNvPr id="22" name="Rounded Rectangle 21"/>
          <p:cNvSpPr/>
          <p:nvPr/>
        </p:nvSpPr>
        <p:spPr>
          <a:xfrm>
            <a:off x="8138160" y="3657600"/>
            <a:ext cx="3474720" cy="777240"/>
          </a:xfrm>
          <a:prstGeom prst="roundRect">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92840" y="3913632"/>
            <a:ext cx="256032" cy="25603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712224"/>
            <a:ext cx="2880360" cy="667512"/>
          </a:xfrm>
          <a:prstGeom prst="rect">
            <a:avLst/>
          </a:prstGeom>
          <a:noFill/>
        </p:spPr>
        <p:txBody>
          <a:bodyPr wrap="square" anchor="ctr">
            <a:spAutoFit/>
          </a:bodyPr>
          <a:lstStyle/>
          <a:p>
            <a:pPr algn="r" rtl="1"/>
            <a:r>
              <a:rPr sz="950" b="0">
                <a:solidFill>
                  <a:srgbClr val="FFFFFF"/>
                </a:solidFill>
                <a:latin typeface="Calibri"/>
              </a:rPr>
              <a:t>טיפול: הפסקת כל חשיפה להפרין (כולל LMWH - צולב-תגובה!) + מעכב תרומבין ישיר IV</a:t>
            </a:r>
          </a:p>
        </p:txBody>
      </p:sp>
      <p:sp>
        <p:nvSpPr>
          <p:cNvPr id="25" name="TextBox 24"/>
          <p:cNvSpPr txBox="1"/>
          <p:nvPr/>
        </p:nvSpPr>
        <p:spPr>
          <a:xfrm>
            <a:off x="548640" y="6446520"/>
            <a:ext cx="11064240" cy="320040"/>
          </a:xfrm>
          <a:prstGeom prst="rect">
            <a:avLst/>
          </a:prstGeom>
          <a:noFill/>
        </p:spPr>
        <p:txBody>
          <a:bodyPr wrap="square">
            <a:spAutoFit/>
          </a:bodyPr>
          <a:lstStyle/>
          <a:p>
            <a:pPr algn="r" rtl="1"/>
            <a:r>
              <a:rPr sz="900" b="0">
                <a:solidFill>
                  <a:srgbClr val="9CA3AF"/>
                </a:solidFill>
                <a:latin typeface="Calibri"/>
              </a:rPr>
              <a:t>מצגת סטטית — ללא ניקוד חי. לתרגול עם סטטיסטיקה בזמן אמת, השתמשו באתר.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3108960" cy="384048"/>
          </a:xfrm>
          <a:prstGeom prst="rect">
            <a:avLst/>
          </a:prstGeom>
          <a:noFill/>
        </p:spPr>
        <p:txBody>
          <a:bodyPr wrap="square" anchor="ctr">
            <a:spAutoFit/>
          </a:bodyPr>
          <a:lstStyle/>
          <a:p>
            <a:pPr algn="ctr" rtl="1"/>
            <a:r>
              <a:rPr sz="1250" b="1">
                <a:solidFill>
                  <a:srgbClr val="FFFFFF"/>
                </a:solidFill>
                <a:latin typeface="Calibri"/>
              </a:rPr>
              <a:t>המוסטזה תוך-ניתוחית</a:t>
            </a:r>
          </a:p>
        </p:txBody>
      </p:sp>
      <p:sp>
        <p:nvSpPr>
          <p:cNvPr id="4" name="TextBox 3"/>
          <p:cNvSpPr txBox="1"/>
          <p:nvPr/>
        </p:nvSpPr>
        <p:spPr>
          <a:xfrm>
            <a:off x="8531352" y="365760"/>
            <a:ext cx="3108960" cy="384048"/>
          </a:xfrm>
          <a:prstGeom prst="rect">
            <a:avLst/>
          </a:prstGeom>
          <a:noFill/>
        </p:spPr>
        <p:txBody>
          <a:bodyPr wrap="square" anchor="ctr">
            <a:spAutoFit/>
          </a:bodyPr>
          <a:lstStyle/>
          <a:p>
            <a:pPr algn="l" rtl="1"/>
            <a:r>
              <a:rPr sz="1200" b="0">
                <a:solidFill>
                  <a:srgbClr val="9CA3AF"/>
                </a:solidFill>
                <a:latin typeface="Calibri"/>
              </a:rPr>
              <a:t>כרטיסייה 7 מתוך 8</a:t>
            </a:r>
          </a:p>
        </p:txBody>
      </p:sp>
      <p:sp>
        <p:nvSpPr>
          <p:cNvPr id="5" name="TextBox 4"/>
          <p:cNvSpPr txBox="1"/>
          <p:nvPr/>
        </p:nvSpPr>
        <p:spPr>
          <a:xfrm>
            <a:off x="548640" y="1005840"/>
            <a:ext cx="11064240" cy="1463040"/>
          </a:xfrm>
          <a:prstGeom prst="rect">
            <a:avLst/>
          </a:prstGeom>
          <a:noFill/>
        </p:spPr>
        <p:txBody>
          <a:bodyPr wrap="square">
            <a:spAutoFit/>
          </a:bodyPr>
          <a:lstStyle/>
          <a:p>
            <a:pPr algn="r" rtl="1"/>
            <a:r>
              <a:rPr sz="2000" b="1">
                <a:solidFill>
                  <a:srgbClr val="1F2937"/>
                </a:solidFill>
                <a:latin typeface="Calibri"/>
              </a:rPr>
              <a:t>לאחר השגת המוסטזיס עם Surgicel סביב חוט השדrah בזמן למינקטומיה, מה הסיכון אם משאירים את החומר במקום, ומה יש לעשות?</a:t>
            </a:r>
          </a:p>
        </p:txBody>
      </p:sp>
      <p:sp>
        <p:nvSpPr>
          <p:cNvPr id="6" name="Rounded Rectangle 5"/>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44200" y="2852928"/>
            <a:ext cx="365760" cy="365760"/>
          </a:xfrm>
          <a:prstGeom prst="rect">
            <a:avLst/>
          </a:prstGeom>
          <a:noFill/>
        </p:spPr>
        <p:txBody>
          <a:bodyPr wrap="square" anchor="ctr">
            <a:spAutoFit/>
          </a:bodyPr>
          <a:lstStyle/>
          <a:p>
            <a:pPr algn="ctr" rtl="1"/>
            <a:r>
              <a:rPr sz="1400" b="1">
                <a:solidFill>
                  <a:srgbClr val="FFFFFF"/>
                </a:solidFill>
                <a:latin typeface="Calibri"/>
              </a:rPr>
              <a:t>א</a:t>
            </a:r>
          </a:p>
        </p:txBody>
      </p:sp>
      <p:sp>
        <p:nvSpPr>
          <p:cNvPr id="9" name="TextBox 8"/>
          <p:cNvSpPr txBox="1"/>
          <p:nvPr/>
        </p:nvSpPr>
        <p:spPr>
          <a:xfrm>
            <a:off x="822960" y="2651760"/>
            <a:ext cx="9784080" cy="777240"/>
          </a:xfrm>
          <a:prstGeom prst="rect">
            <a:avLst/>
          </a:prstGeom>
          <a:noFill/>
        </p:spPr>
        <p:txBody>
          <a:bodyPr wrap="square" anchor="ctr">
            <a:spAutoFit/>
          </a:bodyPr>
          <a:lstStyle/>
          <a:p>
            <a:pPr algn="r" rtl="1"/>
            <a:r>
              <a:rPr sz="1350" b="0">
                <a:solidFill>
                  <a:srgbClr val="1F2937"/>
                </a:solidFill>
                <a:latin typeface="Calibri"/>
              </a:rPr>
              <a:t>אין שום סיכון - ניתן להשאיר לצמיתות בביטחון מלא</a:t>
            </a:r>
          </a:p>
        </p:txBody>
      </p:sp>
      <p:sp>
        <p:nvSpPr>
          <p:cNvPr id="10" name="Rounded Rectangle 9"/>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3785616"/>
            <a:ext cx="365760" cy="365760"/>
          </a:xfrm>
          <a:prstGeom prst="rect">
            <a:avLst/>
          </a:prstGeom>
          <a:noFill/>
        </p:spPr>
        <p:txBody>
          <a:bodyPr wrap="square" anchor="ctr">
            <a:spAutoFit/>
          </a:bodyPr>
          <a:lstStyle/>
          <a:p>
            <a:pPr algn="ctr" rtl="1"/>
            <a:r>
              <a:rPr sz="1400" b="1">
                <a:solidFill>
                  <a:srgbClr val="FFFFFF"/>
                </a:solidFill>
                <a:latin typeface="Calibri"/>
              </a:rPr>
              <a:t>ב</a:t>
            </a:r>
          </a:p>
        </p:txBody>
      </p:sp>
      <p:sp>
        <p:nvSpPr>
          <p:cNvPr id="13" name="TextBox 12"/>
          <p:cNvSpPr txBox="1"/>
          <p:nvPr/>
        </p:nvSpPr>
        <p:spPr>
          <a:xfrm>
            <a:off x="822960" y="3584448"/>
            <a:ext cx="9784080" cy="777240"/>
          </a:xfrm>
          <a:prstGeom prst="rect">
            <a:avLst/>
          </a:prstGeom>
          <a:noFill/>
        </p:spPr>
        <p:txBody>
          <a:bodyPr wrap="square" anchor="ctr">
            <a:spAutoFit/>
          </a:bodyPr>
          <a:lstStyle/>
          <a:p>
            <a:pPr algn="r" rtl="1"/>
            <a:r>
              <a:rPr sz="1350" b="0">
                <a:solidFill>
                  <a:srgbClr val="1F2937"/>
                </a:solidFill>
                <a:latin typeface="Calibri"/>
              </a:rPr>
              <a:t>Surgicel, FloSeal ו-Gelfoam עלולים לנפוח מאוחר ולהפעיל לחץ על מבנים עצביים רגישים - יש להסירם לאחר השגת המוסטזיס באזורים אלה</a:t>
            </a:r>
          </a:p>
        </p:txBody>
      </p:sp>
      <p:sp>
        <p:nvSpPr>
          <p:cNvPr id="14" name="Rounded Rectangle 13"/>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44200" y="4718304"/>
            <a:ext cx="365760" cy="365760"/>
          </a:xfrm>
          <a:prstGeom prst="rect">
            <a:avLst/>
          </a:prstGeom>
          <a:noFill/>
        </p:spPr>
        <p:txBody>
          <a:bodyPr wrap="square" anchor="ctr">
            <a:spAutoFit/>
          </a:bodyPr>
          <a:lstStyle/>
          <a:p>
            <a:pPr algn="ctr" rtl="1"/>
            <a:r>
              <a:rPr sz="1400" b="1">
                <a:solidFill>
                  <a:srgbClr val="FFFFFF"/>
                </a:solidFill>
                <a:latin typeface="Calibri"/>
              </a:rPr>
              <a:t>ג</a:t>
            </a:r>
          </a:p>
        </p:txBody>
      </p:sp>
      <p:sp>
        <p:nvSpPr>
          <p:cNvPr id="17" name="TextBox 16"/>
          <p:cNvSpPr txBox="1"/>
          <p:nvPr/>
        </p:nvSpPr>
        <p:spPr>
          <a:xfrm>
            <a:off x="822960" y="4517136"/>
            <a:ext cx="9784080" cy="777240"/>
          </a:xfrm>
          <a:prstGeom prst="rect">
            <a:avLst/>
          </a:prstGeom>
          <a:noFill/>
        </p:spPr>
        <p:txBody>
          <a:bodyPr wrap="square" anchor="ctr">
            <a:spAutoFit/>
          </a:bodyPr>
          <a:lstStyle/>
          <a:p>
            <a:pPr algn="r" rtl="1"/>
            <a:r>
              <a:rPr sz="1350" b="0">
                <a:solidFill>
                  <a:srgbClr val="1F2937"/>
                </a:solidFill>
                <a:latin typeface="Calibri"/>
              </a:rPr>
              <a:t>הסיכון היחיד הוא זיהום, ולכן תמיד יש לתת אנטיביוטיקה ולא להסיר</a:t>
            </a:r>
          </a:p>
        </p:txBody>
      </p:sp>
      <p:sp>
        <p:nvSpPr>
          <p:cNvPr id="18" name="Rounded Rectangle 17"/>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4200" y="5650992"/>
            <a:ext cx="365760" cy="365760"/>
          </a:xfrm>
          <a:prstGeom prst="rect">
            <a:avLst/>
          </a:prstGeom>
          <a:noFill/>
        </p:spPr>
        <p:txBody>
          <a:bodyPr wrap="square" anchor="ctr">
            <a:spAutoFit/>
          </a:bodyPr>
          <a:lstStyle/>
          <a:p>
            <a:pPr algn="ctr" rtl="1"/>
            <a:r>
              <a:rPr sz="1400" b="1">
                <a:solidFill>
                  <a:srgbClr val="FFFFFF"/>
                </a:solidFill>
                <a:latin typeface="Calibri"/>
              </a:rPr>
              <a:t>ד</a:t>
            </a:r>
          </a:p>
        </p:txBody>
      </p:sp>
      <p:sp>
        <p:nvSpPr>
          <p:cNvPr id="21" name="TextBox 20"/>
          <p:cNvSpPr txBox="1"/>
          <p:nvPr/>
        </p:nvSpPr>
        <p:spPr>
          <a:xfrm>
            <a:off x="822960" y="5449824"/>
            <a:ext cx="9784080" cy="777240"/>
          </a:xfrm>
          <a:prstGeom prst="rect">
            <a:avLst/>
          </a:prstGeom>
          <a:noFill/>
        </p:spPr>
        <p:txBody>
          <a:bodyPr wrap="square" anchor="ctr">
            <a:spAutoFit/>
          </a:bodyPr>
          <a:lstStyle/>
          <a:p>
            <a:pPr algn="r" rtl="1"/>
            <a:r>
              <a:rPr sz="1350" b="0">
                <a:solidFill>
                  <a:srgbClr val="1F2937"/>
                </a:solidFill>
                <a:latin typeface="Calibri"/>
              </a:rPr>
              <a:t>יש להשאיר רק אם המטופל מדמם - אחרת תמיד להסיר מיידית בלי קשר למיקום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08960" cy="365760"/>
          </a:xfrm>
          <a:prstGeom prst="rect">
            <a:avLst/>
          </a:prstGeom>
          <a:noFill/>
        </p:spPr>
        <p:txBody>
          <a:bodyPr wrap="square" anchor="ctr">
            <a:spAutoFit/>
          </a:bodyPr>
          <a:lstStyle/>
          <a:p>
            <a:pPr algn="ctr" rtl="1"/>
            <a:r>
              <a:rPr sz="1200" b="1">
                <a:solidFill>
                  <a:srgbClr val="FFFFFF"/>
                </a:solidFill>
                <a:latin typeface="Calibri"/>
              </a:rPr>
              <a:t>המוסטזה תוך-ניתוחית</a:t>
            </a:r>
          </a:p>
        </p:txBody>
      </p:sp>
      <p:sp>
        <p:nvSpPr>
          <p:cNvPr id="4" name="TextBox 3"/>
          <p:cNvSpPr txBox="1"/>
          <p:nvPr/>
        </p:nvSpPr>
        <p:spPr>
          <a:xfrm>
            <a:off x="548640" y="777240"/>
            <a:ext cx="11064240" cy="640080"/>
          </a:xfrm>
          <a:prstGeom prst="rect">
            <a:avLst/>
          </a:prstGeom>
          <a:noFill/>
        </p:spPr>
        <p:txBody>
          <a:bodyPr wrap="square">
            <a:spAutoFit/>
          </a:bodyPr>
          <a:lstStyle/>
          <a:p>
            <a:pPr algn="r" rtl="1"/>
            <a:r>
              <a:rPr sz="1400" b="1">
                <a:solidFill>
                  <a:srgbClr val="15803D"/>
                </a:solidFill>
                <a:latin typeface="Calibri"/>
              </a:rPr>
              <a:t>התשובה הנכונה: ב) Surgicel, FloSeal ו-Gelfoam עלולים לנפוח מאוחר ולהפעיל לחץ על מבנים עצביים רגישים - יש להסירם לאחר השגת המוסטזיס באזורים אלה</a:t>
            </a:r>
          </a:p>
        </p:txBody>
      </p:sp>
      <p:sp>
        <p:nvSpPr>
          <p:cNvPr id="5" name="Rounded Rectangle 4"/>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27632"/>
            <a:ext cx="7040880" cy="274320"/>
          </a:xfrm>
          <a:prstGeom prst="rect">
            <a:avLst/>
          </a:prstGeom>
          <a:noFill/>
        </p:spPr>
        <p:txBody>
          <a:bodyPr wrap="square">
            <a:spAutoFit/>
          </a:bodyPr>
          <a:lstStyle/>
          <a:p>
            <a:pPr algn="r" rtl="1"/>
            <a:r>
              <a:rPr sz="1200" b="1">
                <a:solidFill>
                  <a:srgbClr val="64748B"/>
                </a:solidFill>
                <a:latin typeface="Calibri"/>
              </a:rPr>
              <a:t>הסבר:</a:t>
            </a:r>
          </a:p>
        </p:txBody>
      </p:sp>
      <p:sp>
        <p:nvSpPr>
          <p:cNvPr id="7" name="TextBox 6"/>
          <p:cNvSpPr txBox="1"/>
          <p:nvPr/>
        </p:nvSpPr>
        <p:spPr>
          <a:xfrm>
            <a:off x="731520" y="1901952"/>
            <a:ext cx="7040880" cy="1005840"/>
          </a:xfrm>
          <a:prstGeom prst="rect">
            <a:avLst/>
          </a:prstGeom>
          <a:noFill/>
        </p:spPr>
        <p:txBody>
          <a:bodyPr wrap="square">
            <a:spAutoFit/>
          </a:bodyPr>
          <a:lstStyle/>
          <a:p>
            <a:pPr algn="r" rtl="1"/>
            <a:r>
              <a:rPr sz="1000" b="0">
                <a:solidFill>
                  <a:srgbClr val="1F2937"/>
                </a:solidFill>
                <a:latin typeface="Calibri"/>
              </a:rPr>
              <a:t>התשובה הנכונה (2): הפרק מדגיש שחומרים מבוססי צלולוז וג'לטין (Surgicel, FloSeal, Gelfoam) נוטים לנפיחות מאוחרת שלא תמיד מוערכת מספיק - באזורים עם מרחב מוגבל סביב מבנים עצביים רגישים (חוט שדרה, עצב אופטי, כיאזמה), הנפיחות עלולה להפעיל לחץ ולגרום לנזק עצבי משני. לכן, בניגוד לאזורים אחרים, יש להסיר חומרים אלה אחרי השגת המוסטזיס.</a:t>
            </a:r>
          </a:p>
        </p:txBody>
      </p:sp>
      <p:sp>
        <p:nvSpPr>
          <p:cNvPr id="8" name="Rounded Rectangle 7"/>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82112"/>
            <a:ext cx="7040880" cy="274320"/>
          </a:xfrm>
          <a:prstGeom prst="rect">
            <a:avLst/>
          </a:prstGeom>
          <a:noFill/>
        </p:spPr>
        <p:txBody>
          <a:bodyPr wrap="square">
            <a:spAutoFit/>
          </a:bodyPr>
          <a:lstStyle/>
          <a:p>
            <a:pPr algn="r" rtl="1"/>
            <a:r>
              <a:rPr sz="1150" b="1">
                <a:solidFill>
                  <a:srgbClr val="1E3A8A"/>
                </a:solidFill>
                <a:latin typeface="Calibri"/>
              </a:rPr>
              <a:t>מונח: נפיחות מאוחרת</a:t>
            </a:r>
          </a:p>
        </p:txBody>
      </p:sp>
      <p:sp>
        <p:nvSpPr>
          <p:cNvPr id="10" name="TextBox 9"/>
          <p:cNvSpPr txBox="1"/>
          <p:nvPr/>
        </p:nvSpPr>
        <p:spPr>
          <a:xfrm>
            <a:off x="731520" y="3474720"/>
            <a:ext cx="7040880" cy="502920"/>
          </a:xfrm>
          <a:prstGeom prst="rect">
            <a:avLst/>
          </a:prstGeom>
          <a:noFill/>
        </p:spPr>
        <p:txBody>
          <a:bodyPr wrap="square">
            <a:spAutoFit/>
          </a:bodyPr>
          <a:lstStyle/>
          <a:p>
            <a:pPr algn="r" rtl="1"/>
            <a:r>
              <a:rPr sz="950" b="0">
                <a:solidFill>
                  <a:srgbClr val="1E3A8A"/>
                </a:solidFill>
                <a:latin typeface="Calibri"/>
              </a:rPr>
              <a:t>תופעה שבה חומרי המוסטזה מבוססי צלולוז/ג'לטין סופגים נוזלים ומתנפחים לאחר ההנחה, עד כדי יצירת אפקט מסה מקומי.</a:t>
            </a:r>
          </a:p>
        </p:txBody>
      </p:sp>
      <p:sp>
        <p:nvSpPr>
          <p:cNvPr id="11" name="Rounded Rectangle 10"/>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2"/>
            <a:ext cx="7040880" cy="274320"/>
          </a:xfrm>
          <a:prstGeom prst="rect">
            <a:avLst/>
          </a:prstGeom>
          <a:noFill/>
        </p:spPr>
        <p:txBody>
          <a:bodyPr wrap="square">
            <a:spAutoFit/>
          </a:bodyPr>
          <a:lstStyle/>
          <a:p>
            <a:pPr algn="r" rtl="1"/>
            <a:r>
              <a:rPr sz="1150" b="1">
                <a:solidFill>
                  <a:srgbClr val="5B21B6"/>
                </a:solidFill>
                <a:latin typeface="Calibri"/>
              </a:rPr>
              <a:t>סיפור לזכירה</a:t>
            </a:r>
          </a:p>
        </p:txBody>
      </p:sp>
      <p:sp>
        <p:nvSpPr>
          <p:cNvPr id="13" name="TextBox 12"/>
          <p:cNvSpPr txBox="1"/>
          <p:nvPr/>
        </p:nvSpPr>
        <p:spPr>
          <a:xfrm>
            <a:off x="731520" y="4526280"/>
            <a:ext cx="7040880" cy="502920"/>
          </a:xfrm>
          <a:prstGeom prst="rect">
            <a:avLst/>
          </a:prstGeom>
          <a:noFill/>
        </p:spPr>
        <p:txBody>
          <a:bodyPr wrap="square">
            <a:spAutoFit/>
          </a:bodyPr>
          <a:lstStyle/>
          <a:p>
            <a:pPr algn="r" rtl="1"/>
            <a:r>
              <a:rPr sz="950" b="0">
                <a:solidFill>
                  <a:srgbClr val="4C1D95"/>
                </a:solidFill>
                <a:latin typeface="Calibri"/>
              </a:rPr>
              <a:t>דמייני ספוגית שאת שמה בחריץ צר ליד עצב רגיש - בהתחלה היא קטנה, אבל אחרי שעות היא סופגת נוזל ותופחת - ואז לוחצת על מה שלידה.</a:t>
            </a:r>
          </a:p>
        </p:txBody>
      </p:sp>
      <p:sp>
        <p:nvSpPr>
          <p:cNvPr id="14" name="TextBox 13"/>
          <p:cNvSpPr txBox="1"/>
          <p:nvPr/>
        </p:nvSpPr>
        <p:spPr>
          <a:xfrm>
            <a:off x="731520" y="5047488"/>
            <a:ext cx="7040880" cy="502920"/>
          </a:xfrm>
          <a:prstGeom prst="rect">
            <a:avLst/>
          </a:prstGeom>
          <a:noFill/>
        </p:spPr>
        <p:txBody>
          <a:bodyPr wrap="square">
            <a:spAutoFit/>
          </a:bodyPr>
          <a:lstStyle/>
          <a:p>
            <a:pPr algn="r" rtl="1"/>
            <a:r>
              <a:rPr sz="900" b="0">
                <a:solidFill>
                  <a:srgbClr val="5B21B6"/>
                </a:solidFill>
                <a:latin typeface="Calibri"/>
              </a:rPr>
              <a:t>למה דווקא סביב חוט השדרה והעצב האופטי הסיכון גבוה יותר מאשר, למשל, על פני קליפת המוח הכללית?</a:t>
            </a:r>
          </a:p>
        </p:txBody>
      </p:sp>
      <p:sp>
        <p:nvSpPr>
          <p:cNvPr id="15" name="TextBox 14"/>
          <p:cNvSpPr txBox="1"/>
          <p:nvPr/>
        </p:nvSpPr>
        <p:spPr>
          <a:xfrm>
            <a:off x="8138160" y="1554480"/>
            <a:ext cx="3474720" cy="320040"/>
          </a:xfrm>
          <a:prstGeom prst="rect">
            <a:avLst/>
          </a:prstGeom>
          <a:noFill/>
        </p:spPr>
        <p:txBody>
          <a:bodyPr wrap="square">
            <a:spAutoFit/>
          </a:bodyPr>
          <a:lstStyle/>
          <a:p>
            <a:pPr algn="r" rtl="1"/>
            <a:r>
              <a:rPr sz="1250" b="1">
                <a:solidFill>
                  <a:srgbClr val="64748B"/>
                </a:solidFill>
                <a:latin typeface="Calibri"/>
              </a:rPr>
              <a:t>מה קורה בפועל:</a:t>
            </a:r>
          </a:p>
        </p:txBody>
      </p:sp>
      <p:sp>
        <p:nvSpPr>
          <p:cNvPr id="16" name="Rounded Rectangle 15"/>
          <p:cNvSpPr/>
          <p:nvPr/>
        </p:nvSpPr>
        <p:spPr>
          <a:xfrm>
            <a:off x="8138160" y="1920240"/>
            <a:ext cx="3474720" cy="777240"/>
          </a:xfrm>
          <a:prstGeom prst="roundRect">
            <a:avLst/>
          </a:prstGeom>
          <a:solidFill>
            <a:srgbClr val="B91C1C"/>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74864"/>
            <a:ext cx="2880360" cy="667512"/>
          </a:xfrm>
          <a:prstGeom prst="rect">
            <a:avLst/>
          </a:prstGeom>
          <a:noFill/>
        </p:spPr>
        <p:txBody>
          <a:bodyPr wrap="square" anchor="ctr">
            <a:spAutoFit/>
          </a:bodyPr>
          <a:lstStyle/>
          <a:p>
            <a:pPr algn="r" rtl="1"/>
            <a:r>
              <a:rPr sz="950" b="0">
                <a:solidFill>
                  <a:srgbClr val="FFFFFF"/>
                </a:solidFill>
                <a:latin typeface="Calibri"/>
              </a:rPr>
              <a:t>Surgicel/FloSeal/Gelfoam מבוססי צלולוז/ג'לטין - עלולים לנפוח אחרי הנחה</a:t>
            </a:r>
          </a:p>
        </p:txBody>
      </p:sp>
      <p:sp>
        <p:nvSpPr>
          <p:cNvPr id="19" name="Rounded Rectangle 18"/>
          <p:cNvSpPr/>
          <p:nvPr/>
        </p:nvSpPr>
        <p:spPr>
          <a:xfrm>
            <a:off x="8138160" y="2788920"/>
            <a:ext cx="3474720" cy="777240"/>
          </a:xfrm>
          <a:prstGeom prst="roundRect">
            <a:avLst/>
          </a:prstGeom>
          <a:solidFill>
            <a:srgbClr val="D99A2B"/>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92840" y="3044952"/>
            <a:ext cx="256032" cy="256032"/>
          </a:xfrm>
          <a:prstGeom prst="ellipse">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43544"/>
            <a:ext cx="2880360" cy="667512"/>
          </a:xfrm>
          <a:prstGeom prst="rect">
            <a:avLst/>
          </a:prstGeom>
          <a:noFill/>
        </p:spPr>
        <p:txBody>
          <a:bodyPr wrap="square" anchor="ctr">
            <a:spAutoFit/>
          </a:bodyPr>
          <a:lstStyle/>
          <a:p>
            <a:pPr algn="r" rtl="1"/>
            <a:r>
              <a:rPr sz="950" b="0">
                <a:solidFill>
                  <a:srgbClr val="FFFFFF"/>
                </a:solidFill>
                <a:latin typeface="Calibri"/>
              </a:rPr>
              <a:t>נפיחות מאוחרת מסביב לחוט שדרה/עצב אופטי/כיאזמה = לחץ על מבנה רגיש</a:t>
            </a:r>
          </a:p>
        </p:txBody>
      </p:sp>
      <p:sp>
        <p:nvSpPr>
          <p:cNvPr id="22" name="Rounded Rectangle 21"/>
          <p:cNvSpPr/>
          <p:nvPr/>
        </p:nvSpPr>
        <p:spPr>
          <a:xfrm>
            <a:off x="8138160" y="3657600"/>
            <a:ext cx="3474720" cy="777240"/>
          </a:xfrm>
          <a:prstGeom prst="roundRect">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92840" y="3913632"/>
            <a:ext cx="256032" cy="25603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712224"/>
            <a:ext cx="2880360" cy="667512"/>
          </a:xfrm>
          <a:prstGeom prst="rect">
            <a:avLst/>
          </a:prstGeom>
          <a:noFill/>
        </p:spPr>
        <p:txBody>
          <a:bodyPr wrap="square" anchor="ctr">
            <a:spAutoFit/>
          </a:bodyPr>
          <a:lstStyle/>
          <a:p>
            <a:pPr algn="r" rtl="1"/>
            <a:r>
              <a:rPr sz="950" b="0">
                <a:solidFill>
                  <a:srgbClr val="FFFFFF"/>
                </a:solidFill>
                <a:latin typeface="Calibri"/>
              </a:rPr>
              <a:t>פעולה: הסרה לאחר שהמוסטזיס הושג באזורים אלה, לא השארה 'ליתר ביטחון'</a:t>
            </a:r>
          </a:p>
        </p:txBody>
      </p:sp>
      <p:sp>
        <p:nvSpPr>
          <p:cNvPr id="25" name="TextBox 24"/>
          <p:cNvSpPr txBox="1"/>
          <p:nvPr/>
        </p:nvSpPr>
        <p:spPr>
          <a:xfrm>
            <a:off x="548640" y="6446520"/>
            <a:ext cx="11064240" cy="320040"/>
          </a:xfrm>
          <a:prstGeom prst="rect">
            <a:avLst/>
          </a:prstGeom>
          <a:noFill/>
        </p:spPr>
        <p:txBody>
          <a:bodyPr wrap="square">
            <a:spAutoFit/>
          </a:bodyPr>
          <a:lstStyle/>
          <a:p>
            <a:pPr algn="r" rtl="1"/>
            <a:r>
              <a:rPr sz="900" b="0">
                <a:solidFill>
                  <a:srgbClr val="9CA3AF"/>
                </a:solidFill>
                <a:latin typeface="Calibri"/>
              </a:rPr>
              <a:t>מצגת סטטית — ללא ניקוד חי. לתרגול עם סטטיסטיקה בזמן אמת, השתמשו באתר.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3108960" cy="384048"/>
          </a:xfrm>
          <a:prstGeom prst="rect">
            <a:avLst/>
          </a:prstGeom>
          <a:noFill/>
        </p:spPr>
        <p:txBody>
          <a:bodyPr wrap="square" anchor="ctr">
            <a:spAutoFit/>
          </a:bodyPr>
          <a:lstStyle/>
          <a:p>
            <a:pPr algn="ctr" rtl="1"/>
            <a:r>
              <a:rPr sz="1250" b="1">
                <a:solidFill>
                  <a:srgbClr val="FFFFFF"/>
                </a:solidFill>
                <a:latin typeface="Calibri"/>
              </a:rPr>
              <a:t>הפעלת טסיות</a:t>
            </a:r>
          </a:p>
        </p:txBody>
      </p:sp>
      <p:sp>
        <p:nvSpPr>
          <p:cNvPr id="4" name="TextBox 3"/>
          <p:cNvSpPr txBox="1"/>
          <p:nvPr/>
        </p:nvSpPr>
        <p:spPr>
          <a:xfrm>
            <a:off x="8531352" y="365760"/>
            <a:ext cx="3108960" cy="384048"/>
          </a:xfrm>
          <a:prstGeom prst="rect">
            <a:avLst/>
          </a:prstGeom>
          <a:noFill/>
        </p:spPr>
        <p:txBody>
          <a:bodyPr wrap="square" anchor="ctr">
            <a:spAutoFit/>
          </a:bodyPr>
          <a:lstStyle/>
          <a:p>
            <a:pPr algn="l" rtl="1"/>
            <a:r>
              <a:rPr sz="1200" b="0">
                <a:solidFill>
                  <a:srgbClr val="9CA3AF"/>
                </a:solidFill>
                <a:latin typeface="Calibri"/>
              </a:rPr>
              <a:t>כרטיסייה 8 מתוך 8</a:t>
            </a:r>
          </a:p>
        </p:txBody>
      </p:sp>
      <p:sp>
        <p:nvSpPr>
          <p:cNvPr id="5" name="TextBox 4"/>
          <p:cNvSpPr txBox="1"/>
          <p:nvPr/>
        </p:nvSpPr>
        <p:spPr>
          <a:xfrm>
            <a:off x="548640" y="1005840"/>
            <a:ext cx="11064240" cy="1463040"/>
          </a:xfrm>
          <a:prstGeom prst="rect">
            <a:avLst/>
          </a:prstGeom>
          <a:noFill/>
        </p:spPr>
        <p:txBody>
          <a:bodyPr wrap="square">
            <a:spAutoFit/>
          </a:bodyPr>
          <a:lstStyle/>
          <a:p>
            <a:pPr algn="r" rtl="1"/>
            <a:r>
              <a:rPr sz="2000" b="1">
                <a:solidFill>
                  <a:srgbClr val="1F2937"/>
                </a:solidFill>
                <a:latin typeface="Calibri"/>
              </a:rPr>
              <a:t>מהי לולאת ההגברה העצמית (TX-A2 ו-ADP) בהפעלת טסיות, ואיך היא קשורה לשתי מחלקות תרופתיות מרכזיות?</a:t>
            </a:r>
          </a:p>
        </p:txBody>
      </p:sp>
      <p:sp>
        <p:nvSpPr>
          <p:cNvPr id="6" name="Rounded Rectangle 5"/>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44200" y="2852928"/>
            <a:ext cx="365760" cy="365760"/>
          </a:xfrm>
          <a:prstGeom prst="rect">
            <a:avLst/>
          </a:prstGeom>
          <a:noFill/>
        </p:spPr>
        <p:txBody>
          <a:bodyPr wrap="square" anchor="ctr">
            <a:spAutoFit/>
          </a:bodyPr>
          <a:lstStyle/>
          <a:p>
            <a:pPr algn="ctr" rtl="1"/>
            <a:r>
              <a:rPr sz="1400" b="1">
                <a:solidFill>
                  <a:srgbClr val="FFFFFF"/>
                </a:solidFill>
                <a:latin typeface="Calibri"/>
              </a:rPr>
              <a:t>א</a:t>
            </a:r>
          </a:p>
        </p:txBody>
      </p:sp>
      <p:sp>
        <p:nvSpPr>
          <p:cNvPr id="9" name="TextBox 8"/>
          <p:cNvSpPr txBox="1"/>
          <p:nvPr/>
        </p:nvSpPr>
        <p:spPr>
          <a:xfrm>
            <a:off x="822960" y="2651760"/>
            <a:ext cx="9784080" cy="777240"/>
          </a:xfrm>
          <a:prstGeom prst="rect">
            <a:avLst/>
          </a:prstGeom>
          <a:noFill/>
        </p:spPr>
        <p:txBody>
          <a:bodyPr wrap="square" anchor="ctr">
            <a:spAutoFit/>
          </a:bodyPr>
          <a:lstStyle/>
          <a:p>
            <a:pPr algn="r" rtl="1"/>
            <a:r>
              <a:rPr sz="1350" b="0">
                <a:solidFill>
                  <a:srgbClr val="1F2937"/>
                </a:solidFill>
                <a:latin typeface="Calibri"/>
              </a:rPr>
              <a:t>COX-1 מייצר TX-A2 שמגביר אקטיבציית gpIIb/IIIa; ADP מגרגירי הטסית פועל על P2Y12 - שתי נקודות שמעוכבות ע"י אספירין ומעכבי P2Y12 בהתאמה</a:t>
            </a:r>
          </a:p>
        </p:txBody>
      </p:sp>
      <p:sp>
        <p:nvSpPr>
          <p:cNvPr id="10" name="Rounded Rectangle 9"/>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44200" y="3785616"/>
            <a:ext cx="365760" cy="365760"/>
          </a:xfrm>
          <a:prstGeom prst="rect">
            <a:avLst/>
          </a:prstGeom>
          <a:noFill/>
        </p:spPr>
        <p:txBody>
          <a:bodyPr wrap="square" anchor="ctr">
            <a:spAutoFit/>
          </a:bodyPr>
          <a:lstStyle/>
          <a:p>
            <a:pPr algn="ctr" rtl="1"/>
            <a:r>
              <a:rPr sz="1400" b="1">
                <a:solidFill>
                  <a:srgbClr val="FFFFFF"/>
                </a:solidFill>
                <a:latin typeface="Calibri"/>
              </a:rPr>
              <a:t>ב</a:t>
            </a:r>
          </a:p>
        </p:txBody>
      </p:sp>
      <p:sp>
        <p:nvSpPr>
          <p:cNvPr id="13" name="TextBox 12"/>
          <p:cNvSpPr txBox="1"/>
          <p:nvPr/>
        </p:nvSpPr>
        <p:spPr>
          <a:xfrm>
            <a:off x="822960" y="3584448"/>
            <a:ext cx="9784080" cy="777240"/>
          </a:xfrm>
          <a:prstGeom prst="rect">
            <a:avLst/>
          </a:prstGeom>
          <a:noFill/>
        </p:spPr>
        <p:txBody>
          <a:bodyPr wrap="square" anchor="ctr">
            <a:spAutoFit/>
          </a:bodyPr>
          <a:lstStyle/>
          <a:p>
            <a:pPr algn="r" rtl="1"/>
            <a:r>
              <a:rPr sz="1350" b="0">
                <a:solidFill>
                  <a:srgbClr val="1F2937"/>
                </a:solidFill>
                <a:latin typeface="Calibri"/>
              </a:rPr>
              <a:t>TX-A2 ו-ADP פועלים רק על אריתרוציטים, לא על טסיות</a:t>
            </a:r>
          </a:p>
        </p:txBody>
      </p:sp>
      <p:sp>
        <p:nvSpPr>
          <p:cNvPr id="14" name="Rounded Rectangle 13"/>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44200" y="4718304"/>
            <a:ext cx="365760" cy="365760"/>
          </a:xfrm>
          <a:prstGeom prst="rect">
            <a:avLst/>
          </a:prstGeom>
          <a:noFill/>
        </p:spPr>
        <p:txBody>
          <a:bodyPr wrap="square" anchor="ctr">
            <a:spAutoFit/>
          </a:bodyPr>
          <a:lstStyle/>
          <a:p>
            <a:pPr algn="ctr" rtl="1"/>
            <a:r>
              <a:rPr sz="1400" b="1">
                <a:solidFill>
                  <a:srgbClr val="FFFFFF"/>
                </a:solidFill>
                <a:latin typeface="Calibri"/>
              </a:rPr>
              <a:t>ג</a:t>
            </a:r>
          </a:p>
        </p:txBody>
      </p:sp>
      <p:sp>
        <p:nvSpPr>
          <p:cNvPr id="17" name="TextBox 16"/>
          <p:cNvSpPr txBox="1"/>
          <p:nvPr/>
        </p:nvSpPr>
        <p:spPr>
          <a:xfrm>
            <a:off x="822960" y="4517136"/>
            <a:ext cx="9784080" cy="777240"/>
          </a:xfrm>
          <a:prstGeom prst="rect">
            <a:avLst/>
          </a:prstGeom>
          <a:noFill/>
        </p:spPr>
        <p:txBody>
          <a:bodyPr wrap="square" anchor="ctr">
            <a:spAutoFit/>
          </a:bodyPr>
          <a:lstStyle/>
          <a:p>
            <a:pPr algn="r" rtl="1"/>
            <a:r>
              <a:rPr sz="1350" b="0">
                <a:solidFill>
                  <a:srgbClr val="1F2937"/>
                </a:solidFill>
                <a:latin typeface="Calibri"/>
              </a:rPr>
              <a:t>ADP מופרש מהכבד בלבד ואינו קשור לטסיות כלל</a:t>
            </a:r>
          </a:p>
        </p:txBody>
      </p:sp>
      <p:sp>
        <p:nvSpPr>
          <p:cNvPr id="18" name="Rounded Rectangle 17"/>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4200" y="5650992"/>
            <a:ext cx="365760" cy="365760"/>
          </a:xfrm>
          <a:prstGeom prst="rect">
            <a:avLst/>
          </a:prstGeom>
          <a:noFill/>
        </p:spPr>
        <p:txBody>
          <a:bodyPr wrap="square" anchor="ctr">
            <a:spAutoFit/>
          </a:bodyPr>
          <a:lstStyle/>
          <a:p>
            <a:pPr algn="ctr" rtl="1"/>
            <a:r>
              <a:rPr sz="1400" b="1">
                <a:solidFill>
                  <a:srgbClr val="FFFFFF"/>
                </a:solidFill>
                <a:latin typeface="Calibri"/>
              </a:rPr>
              <a:t>ד</a:t>
            </a:r>
          </a:p>
        </p:txBody>
      </p:sp>
      <p:sp>
        <p:nvSpPr>
          <p:cNvPr id="21" name="TextBox 20"/>
          <p:cNvSpPr txBox="1"/>
          <p:nvPr/>
        </p:nvSpPr>
        <p:spPr>
          <a:xfrm>
            <a:off x="822960" y="5449824"/>
            <a:ext cx="9784080" cy="777240"/>
          </a:xfrm>
          <a:prstGeom prst="rect">
            <a:avLst/>
          </a:prstGeom>
          <a:noFill/>
        </p:spPr>
        <p:txBody>
          <a:bodyPr wrap="square" anchor="ctr">
            <a:spAutoFit/>
          </a:bodyPr>
          <a:lstStyle/>
          <a:p>
            <a:pPr algn="r" rtl="1"/>
            <a:r>
              <a:rPr sz="1350" b="0">
                <a:solidFill>
                  <a:srgbClr val="1F2937"/>
                </a:solidFill>
                <a:latin typeface="Calibri"/>
              </a:rPr>
              <a:t>COX-1 ו-P2Y12 הם אותו קולטן בדיוק, ולכן תרופה אחת מספיקה לחסום את שניהם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3108960" cy="365760"/>
          </a:xfrm>
          <a:prstGeom prst="rect">
            <a:avLst/>
          </a:prstGeom>
          <a:noFill/>
        </p:spPr>
        <p:txBody>
          <a:bodyPr wrap="square" anchor="ctr">
            <a:spAutoFit/>
          </a:bodyPr>
          <a:lstStyle/>
          <a:p>
            <a:pPr algn="ctr" rtl="1"/>
            <a:r>
              <a:rPr sz="1200" b="1">
                <a:solidFill>
                  <a:srgbClr val="FFFFFF"/>
                </a:solidFill>
                <a:latin typeface="Calibri"/>
              </a:rPr>
              <a:t>הפעלת טסיות</a:t>
            </a:r>
          </a:p>
        </p:txBody>
      </p:sp>
      <p:sp>
        <p:nvSpPr>
          <p:cNvPr id="4" name="TextBox 3"/>
          <p:cNvSpPr txBox="1"/>
          <p:nvPr/>
        </p:nvSpPr>
        <p:spPr>
          <a:xfrm>
            <a:off x="548640" y="777240"/>
            <a:ext cx="11064240" cy="640080"/>
          </a:xfrm>
          <a:prstGeom prst="rect">
            <a:avLst/>
          </a:prstGeom>
          <a:noFill/>
        </p:spPr>
        <p:txBody>
          <a:bodyPr wrap="square">
            <a:spAutoFit/>
          </a:bodyPr>
          <a:lstStyle/>
          <a:p>
            <a:pPr algn="r" rtl="1"/>
            <a:r>
              <a:rPr sz="1400" b="1">
                <a:solidFill>
                  <a:srgbClr val="15803D"/>
                </a:solidFill>
                <a:latin typeface="Calibri"/>
              </a:rPr>
              <a:t>התשובה הנכונה: א) COX-1 מייצר TX-A2 שמגביר אקטיבציית gpIIb/IIIa; ADP מגרגירי הטסית פועל על P2Y12 - שתי נקודות שמעוכבות ע"י אספירין ומעכבי P2Y12 בהתאמה</a:t>
            </a:r>
          </a:p>
        </p:txBody>
      </p:sp>
      <p:sp>
        <p:nvSpPr>
          <p:cNvPr id="5" name="Rounded Rectangle 4"/>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27632"/>
            <a:ext cx="7040880" cy="274320"/>
          </a:xfrm>
          <a:prstGeom prst="rect">
            <a:avLst/>
          </a:prstGeom>
          <a:noFill/>
        </p:spPr>
        <p:txBody>
          <a:bodyPr wrap="square">
            <a:spAutoFit/>
          </a:bodyPr>
          <a:lstStyle/>
          <a:p>
            <a:pPr algn="r" rtl="1"/>
            <a:r>
              <a:rPr sz="1200" b="1">
                <a:solidFill>
                  <a:srgbClr val="64748B"/>
                </a:solidFill>
                <a:latin typeface="Calibri"/>
              </a:rPr>
              <a:t>הסבר:</a:t>
            </a:r>
          </a:p>
        </p:txBody>
      </p:sp>
      <p:sp>
        <p:nvSpPr>
          <p:cNvPr id="7" name="TextBox 6"/>
          <p:cNvSpPr txBox="1"/>
          <p:nvPr/>
        </p:nvSpPr>
        <p:spPr>
          <a:xfrm>
            <a:off x="731520" y="1901952"/>
            <a:ext cx="7040880" cy="1005840"/>
          </a:xfrm>
          <a:prstGeom prst="rect">
            <a:avLst/>
          </a:prstGeom>
          <a:noFill/>
        </p:spPr>
        <p:txBody>
          <a:bodyPr wrap="square">
            <a:spAutoFit/>
          </a:bodyPr>
          <a:lstStyle/>
          <a:p>
            <a:pPr algn="r" rtl="1"/>
            <a:r>
              <a:rPr sz="1000" b="0">
                <a:solidFill>
                  <a:srgbClr val="1F2937"/>
                </a:solidFill>
                <a:latin typeface="Calibri"/>
              </a:rPr>
              <a:t>התשובה הנכונה (1): TX-A2 (תוצר COX-1) ו-ADP (משתחרר מגרגירי הטסית) הם שני משובים חיוביים עצמאיים שמגבירים את הפעלת gpIIb/IIIa וממשיכים את אגרגציית הטסיות גם אחרי ההפעלה הראשונית. אספירין חוסם את זרוע ה-TX-A2 (דרך COX-1), ומעכבי P2Y12 חוסמים את זרוע ה-ADP - שתי תרופות שונות לשתי נקודות שונות באותה לולאה, מה שמסביר למה שילוב שתיהן (טיפול אנטיפלטלט כפול) חזק יותר מכל אחת לבד.</a:t>
            </a:r>
          </a:p>
        </p:txBody>
      </p:sp>
      <p:sp>
        <p:nvSpPr>
          <p:cNvPr id="8" name="Rounded Rectangle 7"/>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82112"/>
            <a:ext cx="7040880" cy="274320"/>
          </a:xfrm>
          <a:prstGeom prst="rect">
            <a:avLst/>
          </a:prstGeom>
          <a:noFill/>
        </p:spPr>
        <p:txBody>
          <a:bodyPr wrap="square">
            <a:spAutoFit/>
          </a:bodyPr>
          <a:lstStyle/>
          <a:p>
            <a:pPr algn="r" rtl="1"/>
            <a:r>
              <a:rPr sz="1150" b="1">
                <a:solidFill>
                  <a:srgbClr val="1E3A8A"/>
                </a:solidFill>
                <a:latin typeface="Calibri"/>
              </a:rPr>
              <a:t>מונח: לולאת הגברה עצמית</a:t>
            </a:r>
          </a:p>
        </p:txBody>
      </p:sp>
      <p:sp>
        <p:nvSpPr>
          <p:cNvPr id="10" name="TextBox 9"/>
          <p:cNvSpPr txBox="1"/>
          <p:nvPr/>
        </p:nvSpPr>
        <p:spPr>
          <a:xfrm>
            <a:off x="731520" y="3474720"/>
            <a:ext cx="7040880" cy="502920"/>
          </a:xfrm>
          <a:prstGeom prst="rect">
            <a:avLst/>
          </a:prstGeom>
          <a:noFill/>
        </p:spPr>
        <p:txBody>
          <a:bodyPr wrap="square">
            <a:spAutoFit/>
          </a:bodyPr>
          <a:lstStyle/>
          <a:p>
            <a:pPr algn="r" rtl="1"/>
            <a:r>
              <a:rPr sz="950" b="0">
                <a:solidFill>
                  <a:srgbClr val="1E3A8A"/>
                </a:solidFill>
                <a:latin typeface="Calibri"/>
              </a:rPr>
              <a:t>מנגנון שבו תוצרים משוחררים מטסית מופעלת (TX-A2, ADP) חוזרים ומפעילים טסיות נוספות - מגביר ומאיץ את האגרגציה.</a:t>
            </a:r>
          </a:p>
        </p:txBody>
      </p:sp>
      <p:sp>
        <p:nvSpPr>
          <p:cNvPr id="11" name="Rounded Rectangle 10"/>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233672"/>
            <a:ext cx="7040880" cy="274320"/>
          </a:xfrm>
          <a:prstGeom prst="rect">
            <a:avLst/>
          </a:prstGeom>
          <a:noFill/>
        </p:spPr>
        <p:txBody>
          <a:bodyPr wrap="square">
            <a:spAutoFit/>
          </a:bodyPr>
          <a:lstStyle/>
          <a:p>
            <a:pPr algn="r" rtl="1"/>
            <a:r>
              <a:rPr sz="1150" b="1">
                <a:solidFill>
                  <a:srgbClr val="5B21B6"/>
                </a:solidFill>
                <a:latin typeface="Calibri"/>
              </a:rPr>
              <a:t>סיפור לזכירה</a:t>
            </a:r>
          </a:p>
        </p:txBody>
      </p:sp>
      <p:sp>
        <p:nvSpPr>
          <p:cNvPr id="13" name="TextBox 12"/>
          <p:cNvSpPr txBox="1"/>
          <p:nvPr/>
        </p:nvSpPr>
        <p:spPr>
          <a:xfrm>
            <a:off x="731520" y="4526280"/>
            <a:ext cx="7040880" cy="502920"/>
          </a:xfrm>
          <a:prstGeom prst="rect">
            <a:avLst/>
          </a:prstGeom>
          <a:noFill/>
        </p:spPr>
        <p:txBody>
          <a:bodyPr wrap="square">
            <a:spAutoFit/>
          </a:bodyPr>
          <a:lstStyle/>
          <a:p>
            <a:pPr algn="r" rtl="1"/>
            <a:r>
              <a:rPr sz="950" b="0">
                <a:solidFill>
                  <a:srgbClr val="4C1D95"/>
                </a:solidFill>
                <a:latin typeface="Calibri"/>
              </a:rPr>
              <a:t>דמייני שתי שלוחות של אותה מערכת כריזה שמכריזות יחד 'התגייסו!' לטסיות שכנות - גם אם תסתמי שלוחה אחת (אספירין), השנייה (ADP) עדיין פעילה, ולכן לעיתים משתמשים בשתיהן יחד.</a:t>
            </a:r>
          </a:p>
        </p:txBody>
      </p:sp>
      <p:sp>
        <p:nvSpPr>
          <p:cNvPr id="14" name="TextBox 13"/>
          <p:cNvSpPr txBox="1"/>
          <p:nvPr/>
        </p:nvSpPr>
        <p:spPr>
          <a:xfrm>
            <a:off x="731520" y="5047488"/>
            <a:ext cx="7040880" cy="502920"/>
          </a:xfrm>
          <a:prstGeom prst="rect">
            <a:avLst/>
          </a:prstGeom>
          <a:noFill/>
        </p:spPr>
        <p:txBody>
          <a:bodyPr wrap="square">
            <a:spAutoFit/>
          </a:bodyPr>
          <a:lstStyle/>
          <a:p>
            <a:pPr algn="r" rtl="1"/>
            <a:r>
              <a:rPr sz="900" b="0">
                <a:solidFill>
                  <a:srgbClr val="5B21B6"/>
                </a:solidFill>
                <a:latin typeface="Calibri"/>
              </a:rPr>
              <a:t>למה טיפול אנטיפלטלטי כפול (DAPT - אספירין+P2Y12) נפוץ יותר מתרופה בודדת בחולי סיכון גבוה?</a:t>
            </a:r>
          </a:p>
        </p:txBody>
      </p:sp>
      <p:sp>
        <p:nvSpPr>
          <p:cNvPr id="15" name="TextBox 14"/>
          <p:cNvSpPr txBox="1"/>
          <p:nvPr/>
        </p:nvSpPr>
        <p:spPr>
          <a:xfrm>
            <a:off x="8138160" y="1554480"/>
            <a:ext cx="3474720" cy="320040"/>
          </a:xfrm>
          <a:prstGeom prst="rect">
            <a:avLst/>
          </a:prstGeom>
          <a:noFill/>
        </p:spPr>
        <p:txBody>
          <a:bodyPr wrap="square">
            <a:spAutoFit/>
          </a:bodyPr>
          <a:lstStyle/>
          <a:p>
            <a:pPr algn="r" rtl="1"/>
            <a:r>
              <a:rPr sz="1250" b="1">
                <a:solidFill>
                  <a:srgbClr val="64748B"/>
                </a:solidFill>
                <a:latin typeface="Calibri"/>
              </a:rPr>
              <a:t>מה קורה בפועל:</a:t>
            </a:r>
          </a:p>
        </p:txBody>
      </p:sp>
      <p:sp>
        <p:nvSpPr>
          <p:cNvPr id="16" name="Rounded Rectangle 15"/>
          <p:cNvSpPr/>
          <p:nvPr/>
        </p:nvSpPr>
        <p:spPr>
          <a:xfrm>
            <a:off x="8138160" y="1920240"/>
            <a:ext cx="3474720" cy="777240"/>
          </a:xfrm>
          <a:prstGeom prst="roundRect">
            <a:avLst/>
          </a:prstGeom>
          <a:solidFill>
            <a:srgbClr val="B91C1C"/>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74864"/>
            <a:ext cx="2880360" cy="667512"/>
          </a:xfrm>
          <a:prstGeom prst="rect">
            <a:avLst/>
          </a:prstGeom>
          <a:noFill/>
        </p:spPr>
        <p:txBody>
          <a:bodyPr wrap="square" anchor="ctr">
            <a:spAutoFit/>
          </a:bodyPr>
          <a:lstStyle/>
          <a:p>
            <a:pPr algn="r" rtl="1"/>
            <a:r>
              <a:rPr sz="950" b="0">
                <a:solidFill>
                  <a:srgbClr val="FFFFFF"/>
                </a:solidFill>
                <a:latin typeface="Calibri"/>
              </a:rPr>
              <a:t>COX-1 → PGH2 → TX-A2 - נקשר לקולטנו בטסית, מגביר gpIIb/IIIa (אספירין חוסם כאן)</a:t>
            </a:r>
          </a:p>
        </p:txBody>
      </p:sp>
      <p:sp>
        <p:nvSpPr>
          <p:cNvPr id="19" name="Rounded Rectangle 18"/>
          <p:cNvSpPr/>
          <p:nvPr/>
        </p:nvSpPr>
        <p:spPr>
          <a:xfrm>
            <a:off x="8138160" y="2788920"/>
            <a:ext cx="3474720" cy="777240"/>
          </a:xfrm>
          <a:prstGeom prst="roundRect">
            <a:avLst/>
          </a:prstGeom>
          <a:solidFill>
            <a:srgbClr val="D99A2B"/>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292840" y="3044952"/>
            <a:ext cx="256032" cy="256032"/>
          </a:xfrm>
          <a:prstGeom prst="ellipse">
            <a:avLst/>
          </a:prstGeom>
          <a:solidFill>
            <a:srgbClr val="D99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20" y="2843544"/>
            <a:ext cx="2880360" cy="667512"/>
          </a:xfrm>
          <a:prstGeom prst="rect">
            <a:avLst/>
          </a:prstGeom>
          <a:noFill/>
        </p:spPr>
        <p:txBody>
          <a:bodyPr wrap="square" anchor="ctr">
            <a:spAutoFit/>
          </a:bodyPr>
          <a:lstStyle/>
          <a:p>
            <a:pPr algn="r" rtl="1"/>
            <a:r>
              <a:rPr sz="950" b="0">
                <a:solidFill>
                  <a:srgbClr val="FFFFFF"/>
                </a:solidFill>
                <a:latin typeface="Calibri"/>
              </a:rPr>
              <a:t>ADP מגרגירי טסית → קולטן P2Y12 - מגביר gpIIb/IIIa (קלופידוגרל/טיקגרלור חוסמים כאן)</a:t>
            </a:r>
          </a:p>
        </p:txBody>
      </p:sp>
      <p:sp>
        <p:nvSpPr>
          <p:cNvPr id="22" name="Rounded Rectangle 21"/>
          <p:cNvSpPr/>
          <p:nvPr/>
        </p:nvSpPr>
        <p:spPr>
          <a:xfrm>
            <a:off x="8138160" y="3657600"/>
            <a:ext cx="3474720" cy="777240"/>
          </a:xfrm>
          <a:prstGeom prst="roundRect">
            <a:avLst/>
          </a:prstGeom>
          <a:solidFill>
            <a:srgbClr val="2C5F2D"/>
          </a:solidFill>
          <a:ln w="12700">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1292840" y="3913632"/>
            <a:ext cx="256032" cy="256032"/>
          </a:xfrm>
          <a:prstGeom prst="ellipse">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3712224"/>
            <a:ext cx="2880360" cy="667512"/>
          </a:xfrm>
          <a:prstGeom prst="rect">
            <a:avLst/>
          </a:prstGeom>
          <a:noFill/>
        </p:spPr>
        <p:txBody>
          <a:bodyPr wrap="square" anchor="ctr">
            <a:spAutoFit/>
          </a:bodyPr>
          <a:lstStyle/>
          <a:p>
            <a:pPr algn="r" rtl="1"/>
            <a:r>
              <a:rPr sz="950" b="0">
                <a:solidFill>
                  <a:srgbClr val="FFFFFF"/>
                </a:solidFill>
                <a:latin typeface="Calibri"/>
              </a:rPr>
              <a:t>שתי הלולאות מתכנסות לאותה נקודת סיום: הפעלת gpIIb/IIIa ואגרגציה</a:t>
            </a:r>
          </a:p>
        </p:txBody>
      </p:sp>
      <p:sp>
        <p:nvSpPr>
          <p:cNvPr id="25" name="TextBox 24"/>
          <p:cNvSpPr txBox="1"/>
          <p:nvPr/>
        </p:nvSpPr>
        <p:spPr>
          <a:xfrm>
            <a:off x="548640" y="6446520"/>
            <a:ext cx="11064240" cy="320040"/>
          </a:xfrm>
          <a:prstGeom prst="rect">
            <a:avLst/>
          </a:prstGeom>
          <a:noFill/>
        </p:spPr>
        <p:txBody>
          <a:bodyPr wrap="square">
            <a:spAutoFit/>
          </a:bodyPr>
          <a:lstStyle/>
          <a:p>
            <a:pPr algn="r" rtl="1"/>
            <a:r>
              <a:rPr sz="900" b="0">
                <a:solidFill>
                  <a:srgbClr val="9CA3AF"/>
                </a:solidFill>
                <a:latin typeface="Calibri"/>
              </a:rPr>
              <a:t>מצגת סטטית — ללא ניקוד חי. לתרגול עם סטטיסטיקה בזמן אמת, השתמשו באתר.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extBox 1"/>
          <p:cNvSpPr txBox="1"/>
          <p:nvPr/>
        </p:nvSpPr>
        <p:spPr>
          <a:xfrm>
            <a:off x="914400" y="548640"/>
            <a:ext cx="10360152" cy="640080"/>
          </a:xfrm>
          <a:prstGeom prst="rect">
            <a:avLst/>
          </a:prstGeom>
          <a:noFill/>
        </p:spPr>
        <p:txBody>
          <a:bodyPr wrap="square">
            <a:spAutoFit/>
          </a:bodyPr>
          <a:lstStyle/>
          <a:p>
            <a:pPr algn="r" rtl="1"/>
            <a:r>
              <a:rPr sz="3000" b="1">
                <a:solidFill>
                  <a:srgbClr val="FFFFFF"/>
                </a:solidFill>
                <a:latin typeface="Calibri"/>
              </a:rPr>
              <a:t>סיכום הכרטיסיות</a:t>
            </a:r>
          </a:p>
        </p:txBody>
      </p:sp>
      <p:sp>
        <p:nvSpPr>
          <p:cNvPr id="3" name="TextBox 2"/>
          <p:cNvSpPr txBox="1"/>
          <p:nvPr/>
        </p:nvSpPr>
        <p:spPr>
          <a:xfrm>
            <a:off x="1097280" y="1463040"/>
            <a:ext cx="9994392" cy="4389120"/>
          </a:xfrm>
          <a:prstGeom prst="rect">
            <a:avLst/>
          </a:prstGeom>
          <a:noFill/>
        </p:spPr>
        <p:txBody>
          <a:bodyPr wrap="square">
            <a:spAutoFit/>
          </a:bodyPr>
          <a:lstStyle/>
          <a:p>
            <a:pPr algn="r" rtl="1"/>
            <a:r>
              <a:rPr sz="1600">
                <a:solidFill>
                  <a:srgbClr val="E5E7EB"/>
                </a:solidFill>
                <a:latin typeface="Calibri"/>
              </a:rPr>
              <a:t>• המודל התאי</a:t>
            </a:r>
          </a:p>
          <a:p>
            <a:pPr algn="r" rtl="1"/>
            <a:r>
              <a:rPr sz="1600">
                <a:solidFill>
                  <a:srgbClr val="E5E7EB"/>
                </a:solidFill>
                <a:latin typeface="Calibri"/>
              </a:rPr>
              <a:t>• Tenase</a:t>
            </a:r>
          </a:p>
          <a:p>
            <a:pPr algn="r" rtl="1"/>
            <a:r>
              <a:rPr sz="1600">
                <a:solidFill>
                  <a:srgbClr val="E5E7EB"/>
                </a:solidFill>
                <a:latin typeface="Calibri"/>
              </a:rPr>
              <a:t>• DDAVP</a:t>
            </a:r>
          </a:p>
          <a:p>
            <a:pPr algn="r" rtl="1"/>
            <a:r>
              <a:rPr sz="1600">
                <a:solidFill>
                  <a:srgbClr val="E5E7EB"/>
                </a:solidFill>
                <a:latin typeface="Calibri"/>
              </a:rPr>
              <a:t>• PCC</a:t>
            </a:r>
          </a:p>
          <a:p>
            <a:pPr algn="r" rtl="1"/>
            <a:r>
              <a:rPr sz="1600">
                <a:solidFill>
                  <a:srgbClr val="E5E7EB"/>
                </a:solidFill>
                <a:latin typeface="Calibri"/>
              </a:rPr>
              <a:t>• אנדקסנט אלפא</a:t>
            </a:r>
          </a:p>
          <a:p>
            <a:pPr algn="r" rtl="1"/>
            <a:r>
              <a:rPr sz="1600">
                <a:solidFill>
                  <a:srgbClr val="E5E7EB"/>
                </a:solidFill>
                <a:latin typeface="Calibri"/>
              </a:rPr>
              <a:t>• HITT</a:t>
            </a:r>
          </a:p>
          <a:p>
            <a:pPr algn="r" rtl="1"/>
            <a:r>
              <a:rPr sz="1600">
                <a:solidFill>
                  <a:srgbClr val="E5E7EB"/>
                </a:solidFill>
                <a:latin typeface="Calibri"/>
              </a:rPr>
              <a:t>• נפיחות מאוחרת</a:t>
            </a:r>
          </a:p>
          <a:p>
            <a:pPr algn="r" rtl="1"/>
            <a:r>
              <a:rPr sz="1600">
                <a:solidFill>
                  <a:srgbClr val="E5E7EB"/>
                </a:solidFill>
                <a:latin typeface="Calibri"/>
              </a:rPr>
              <a:t>• לולאת הגברה עצמית</a:t>
            </a:r>
          </a:p>
        </p:txBody>
      </p:sp>
      <p:sp>
        <p:nvSpPr>
          <p:cNvPr id="4" name="TextBox 3"/>
          <p:cNvSpPr txBox="1"/>
          <p:nvPr/>
        </p:nvSpPr>
        <p:spPr>
          <a:xfrm>
            <a:off x="914400" y="6309360"/>
            <a:ext cx="10360152" cy="365760"/>
          </a:xfrm>
          <a:prstGeom prst="rect">
            <a:avLst/>
          </a:prstGeom>
          <a:noFill/>
        </p:spPr>
        <p:txBody>
          <a:bodyPr wrap="square">
            <a:spAutoFit/>
          </a:bodyPr>
          <a:lstStyle/>
          <a:p>
            <a:pPr algn="r" rtl="1"/>
            <a:r>
              <a:rPr sz="1200" b="0">
                <a:solidFill>
                  <a:srgbClr val="64748B"/>
                </a:solidFill>
                <a:latin typeface="Calibri"/>
              </a:rPr>
              <a:t>maskit101.github.io/summeries-medicine/neurosurgery8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