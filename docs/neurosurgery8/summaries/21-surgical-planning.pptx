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txBox="1"/>
          <p:nvPr/>
        </p:nvSpPr>
        <p:spPr>
          <a:xfrm>
            <a:off x="914400" y="2103120"/>
            <a:ext cx="10360152" cy="914400"/>
          </a:xfrm>
          <a:prstGeom prst="rect">
            <a:avLst/>
          </a:prstGeom>
          <a:noFill/>
          <a:ln/>
        </p:spPr>
        <p:txBody>
          <a:bodyPr wrap="square" lIns="0" tIns="0" rIns="0" bIns="0" rtlCol="0" anchor="ctr"/>
          <a:lstStyle/>
          <a:p>
            <a:pPr rtl="1" algn="ctr" indent="0" marL="0">
              <a:buNone/>
            </a:pPr>
            <a:r>
              <a:rPr lang="en-US" sz="4000" b="1" dirty="0">
                <a:solidFill>
                  <a:srgbClr val="FFFFFF"/>
                </a:solidFill>
                <a:latin typeface="Calibri" pitchFamily="34" charset="0"/>
                <a:ea typeface="Calibri" pitchFamily="34" charset="-122"/>
                <a:cs typeface="Calibri" pitchFamily="34" charset="-120"/>
              </a:rPr>
              <a:t>נוירוכירורגיה — מהדורה 8</a:t>
            </a:r>
            <a:endParaRPr lang="en-US" sz="4000" dirty="0"/>
          </a:p>
        </p:txBody>
      </p:sp>
      <p:sp>
        <p:nvSpPr>
          <p:cNvPr id="5" name="Text 3"/>
          <p:cNvSpPr txBox="1"/>
          <p:nvPr/>
        </p:nvSpPr>
        <p:spPr>
          <a:xfrm>
            <a:off x="914400" y="3017520"/>
            <a:ext cx="10360152" cy="640080"/>
          </a:xfrm>
          <a:prstGeom prst="rect">
            <a:avLst/>
          </a:prstGeom>
          <a:noFill/>
          <a:ln/>
        </p:spPr>
        <p:txBody>
          <a:bodyPr wrap="square" lIns="0" tIns="0" rIns="0" bIns="0" rtlCol="0" anchor="ctr"/>
          <a:lstStyle/>
          <a:p>
            <a:pPr rtl="1" algn="ctr" indent="0" marL="0">
              <a:buNone/>
            </a:pPr>
            <a:r>
              <a:rPr lang="en-US" sz="2200" dirty="0">
                <a:solidFill>
                  <a:srgbClr val="93C5FD"/>
                </a:solidFill>
                <a:latin typeface="Calibri" pitchFamily="34" charset="0"/>
                <a:ea typeface="Calibri" pitchFamily="34" charset="-122"/>
                <a:cs typeface="Calibri" pitchFamily="34" charset="-120"/>
              </a:rPr>
              <a:t>פרק 21: תכנון כירורגי</a:t>
            </a:r>
            <a:endParaRPr lang="en-US" sz="2200" dirty="0"/>
          </a:p>
        </p:txBody>
      </p:sp>
      <p:sp>
        <p:nvSpPr>
          <p:cNvPr id="6" name="Text 4"/>
          <p:cNvSpPr txBox="1"/>
          <p:nvPr/>
        </p:nvSpPr>
        <p:spPr>
          <a:xfrm>
            <a:off x="914400" y="3657600"/>
            <a:ext cx="10360152" cy="457200"/>
          </a:xfrm>
          <a:prstGeom prst="rect">
            <a:avLst/>
          </a:prstGeom>
          <a:noFill/>
          <a:ln/>
        </p:spPr>
        <p:txBody>
          <a:bodyPr wrap="square" lIns="0" tIns="0" rIns="0" bIns="0" rtlCol="0" anchor="ctr"/>
          <a:lstStyle/>
          <a:p>
            <a:pPr rtl="1" algn="ctr" indent="0" marL="0">
              <a:buNone/>
            </a:pPr>
            <a:r>
              <a:rPr lang="en-US" sz="1300" dirty="0">
                <a:solidFill>
                  <a:srgbClr val="7DD3FC"/>
                </a:solidFill>
                <a:latin typeface="Calibri" pitchFamily="34" charset="0"/>
                <a:ea typeface="Calibri" pitchFamily="34" charset="-122"/>
                <a:cs typeface="Calibri" pitchFamily="34" charset="-120"/>
              </a:rPr>
              <a:t>Surgical Planning  ·  Youmans Neurological Surgery, 8th Ed. · Gabriel Zada, Frank J. Attenello III, Martin Pham, Saman Sizdahkhani, Martin H. Weiss</a:t>
            </a:r>
            <a:endParaRPr lang="en-US" sz="1300" dirty="0"/>
          </a:p>
        </p:txBody>
      </p:sp>
      <p:sp>
        <p:nvSpPr>
          <p:cNvPr id="7" name="Text 5"/>
          <p:cNvSpPr txBox="1"/>
          <p:nvPr/>
        </p:nvSpPr>
        <p:spPr>
          <a:xfrm>
            <a:off x="914400" y="5943600"/>
            <a:ext cx="10360152" cy="548640"/>
          </a:xfrm>
          <a:prstGeom prst="rect">
            <a:avLst/>
          </a:prstGeom>
          <a:noFill/>
          <a:ln/>
        </p:spPr>
        <p:txBody>
          <a:bodyPr wrap="square" lIns="0" tIns="0" rIns="0" bIns="0"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5 כרטיסיות תרגול · שאלה ואז תשובה מלאה בכל כרטיסייה · לסטטיסטיקה חיה השתמשו באתר</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txBox="1"/>
          <p:nvPr/>
        </p:nvSpPr>
        <p:spPr>
          <a:xfrm>
            <a:off x="457200" y="365760"/>
            <a:ext cx="3108960" cy="384048"/>
          </a:xfrm>
          <a:prstGeom prst="rect">
            <a:avLst/>
          </a:prstGeom>
          <a:noFill/>
          <a:ln/>
        </p:spPr>
        <p:txBody>
          <a:bodyPr wrap="square" lIns="0" tIns="0" rIns="0" bIns="0"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הערכה טרום-ניתוחית</a:t>
            </a:r>
            <a:endParaRPr lang="en-US" sz="1250" dirty="0"/>
          </a:p>
        </p:txBody>
      </p:sp>
      <p:sp>
        <p:nvSpPr>
          <p:cNvPr id="4" name="Text 2"/>
          <p:cNvSpPr txBox="1"/>
          <p:nvPr/>
        </p:nvSpPr>
        <p:spPr>
          <a:xfrm>
            <a:off x="8531352" y="365760"/>
            <a:ext cx="3108960" cy="384048"/>
          </a:xfrm>
          <a:prstGeom prst="rect">
            <a:avLst/>
          </a:prstGeom>
          <a:noFill/>
          <a:ln/>
        </p:spPr>
        <p:txBody>
          <a:bodyPr wrap="square" lIns="0" tIns="0" rIns="0" bIns="0" rtlCol="0" anchor="ctr"/>
          <a:lstStyle/>
          <a:p>
            <a:pPr rtl="1" algn="l" indent="0" marL="0">
              <a:buNone/>
            </a:pPr>
            <a:r>
              <a:rPr lang="en-US" sz="1200" dirty="0">
                <a:solidFill>
                  <a:srgbClr val="9CA3AF"/>
                </a:solidFill>
                <a:latin typeface="Calibri" pitchFamily="34" charset="0"/>
                <a:ea typeface="Calibri" pitchFamily="34" charset="-122"/>
                <a:cs typeface="Calibri" pitchFamily="34" charset="-120"/>
              </a:rPr>
              <a:t>כרטיסייה 1 מתוך 5</a:t>
            </a:r>
            <a:endParaRPr lang="en-US" sz="1200" dirty="0"/>
          </a:p>
        </p:txBody>
      </p:sp>
      <p:sp>
        <p:nvSpPr>
          <p:cNvPr id="5" name="Text 3"/>
          <p:cNvSpPr txBox="1"/>
          <p:nvPr/>
        </p:nvSpPr>
        <p:spPr>
          <a:xfrm>
            <a:off x="548640" y="1005840"/>
            <a:ext cx="11064240" cy="1463040"/>
          </a:xfrm>
          <a:prstGeom prst="rect">
            <a:avLst/>
          </a:prstGeom>
          <a:noFill/>
          <a:ln/>
        </p:spPr>
        <p:txBody>
          <a:bodyPr wrap="square" lIns="0" tIns="0" rIns="0" bIns="0" rtlCol="0" anchor="t"/>
          <a:lstStyle/>
          <a:p>
            <a:pPr rtl="1" algn="r" indent="0" marL="0">
              <a:buNone/>
            </a:pPr>
            <a:r>
              <a:rPr lang="en-US" sz="2000" b="1" dirty="0">
                <a:solidFill>
                  <a:srgbClr val="1F2937"/>
                </a:solidFill>
                <a:latin typeface="Calibri" pitchFamily="34" charset="0"/>
                <a:ea typeface="Calibri" pitchFamily="34" charset="-122"/>
                <a:cs typeface="Calibri" pitchFamily="34" charset="-120"/>
              </a:rPr>
              <a:t>למה חשוב לתעד גם "שליליים פרטינטיים" (pertinent negatives) ולא רק ממצאים חיוביים בבדיקה הנוירולוגית הטרום-ניתוחית?</a:t>
            </a:r>
            <a:endParaRPr lang="en-US" sz="2000" dirty="0"/>
          </a:p>
        </p:txBody>
      </p:sp>
      <p:sp>
        <p:nvSpPr>
          <p:cNvPr id="6" name="Shape 4"/>
          <p:cNvSpPr/>
          <p:nvPr/>
        </p:nvSpPr>
        <p:spPr>
          <a:xfrm>
            <a:off x="548640" y="2651760"/>
            <a:ext cx="11064240" cy="777240"/>
          </a:xfrm>
          <a:prstGeom prst="roundRect">
            <a:avLst>
              <a:gd name="adj" fmla="val 7059"/>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txBox="1"/>
          <p:nvPr/>
        </p:nvSpPr>
        <p:spPr>
          <a:xfrm>
            <a:off x="10744200" y="2852928"/>
            <a:ext cx="365760" cy="3657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txBox="1"/>
          <p:nvPr/>
        </p:nvSpPr>
        <p:spPr>
          <a:xfrm>
            <a:off x="822960" y="2651760"/>
            <a:ext cx="9784080" cy="777240"/>
          </a:xfrm>
          <a:prstGeom prst="rect">
            <a:avLst/>
          </a:prstGeom>
          <a:noFill/>
          <a:ln/>
        </p:spPr>
        <p:txBody>
          <a:bodyPr wrap="square" lIns="0" tIns="0" rIns="0" bIns="0" rtlCol="0" anchor="ctr"/>
          <a:lstStyle/>
          <a:p>
            <a:pPr rtl="1" algn="r" indent="0" marL="0">
              <a:buNone/>
            </a:pPr>
            <a:r>
              <a:rPr lang="en-US" sz="1350" dirty="0">
                <a:solidFill>
                  <a:srgbClr val="1F2937"/>
                </a:solidFill>
                <a:latin typeface="Calibri" pitchFamily="34" charset="0"/>
                <a:ea typeface="Calibri" pitchFamily="34" charset="-122"/>
                <a:cs typeface="Calibri" pitchFamily="34" charset="-120"/>
              </a:rPr>
              <a:t>כדי לתעד חוסרים נוירולוגיים טרום-ניתוחיים (או היעדרם) שיוצרים קו-בסיס מהימן להשוואה עם הממצאים אחרי הניתוח</a:t>
            </a:r>
            <a:endParaRPr lang="en-US" sz="1350" dirty="0"/>
          </a:p>
        </p:txBody>
      </p:sp>
      <p:sp>
        <p:nvSpPr>
          <p:cNvPr id="10" name="Shape 8"/>
          <p:cNvSpPr/>
          <p:nvPr/>
        </p:nvSpPr>
        <p:spPr>
          <a:xfrm>
            <a:off x="548640" y="3584448"/>
            <a:ext cx="11064240" cy="777240"/>
          </a:xfrm>
          <a:prstGeom prst="roundRect">
            <a:avLst>
              <a:gd name="adj" fmla="val 7059"/>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txBox="1"/>
          <p:nvPr/>
        </p:nvSpPr>
        <p:spPr>
          <a:xfrm>
            <a:off x="10744200" y="3785616"/>
            <a:ext cx="365760" cy="3657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txBox="1"/>
          <p:nvPr/>
        </p:nvSpPr>
        <p:spPr>
          <a:xfrm>
            <a:off x="822960" y="3584448"/>
            <a:ext cx="9784080" cy="777240"/>
          </a:xfrm>
          <a:prstGeom prst="rect">
            <a:avLst/>
          </a:prstGeom>
          <a:noFill/>
          <a:ln/>
        </p:spPr>
        <p:txBody>
          <a:bodyPr wrap="square" lIns="0" tIns="0" rIns="0" bIns="0" rtlCol="0" anchor="ctr"/>
          <a:lstStyle/>
          <a:p>
            <a:pPr rtl="1" algn="r" indent="0" marL="0">
              <a:buNone/>
            </a:pPr>
            <a:r>
              <a:rPr lang="en-US" sz="1350" dirty="0">
                <a:solidFill>
                  <a:srgbClr val="1F2937"/>
                </a:solidFill>
                <a:latin typeface="Calibri" pitchFamily="34" charset="0"/>
                <a:ea typeface="Calibri" pitchFamily="34" charset="-122"/>
                <a:cs typeface="Calibri" pitchFamily="34" charset="-120"/>
              </a:rPr>
              <a:t>כי זה נדרש על פי חוק בכל מדינה, ללא קשר קליני</a:t>
            </a:r>
            <a:endParaRPr lang="en-US" sz="1350" dirty="0"/>
          </a:p>
        </p:txBody>
      </p:sp>
      <p:sp>
        <p:nvSpPr>
          <p:cNvPr id="14" name="Shape 12"/>
          <p:cNvSpPr/>
          <p:nvPr/>
        </p:nvSpPr>
        <p:spPr>
          <a:xfrm>
            <a:off x="548640" y="4517136"/>
            <a:ext cx="11064240" cy="777240"/>
          </a:xfrm>
          <a:prstGeom prst="roundRect">
            <a:avLst>
              <a:gd name="adj" fmla="val 7059"/>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txBox="1"/>
          <p:nvPr/>
        </p:nvSpPr>
        <p:spPr>
          <a:xfrm>
            <a:off x="10744200" y="4718304"/>
            <a:ext cx="365760" cy="3657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txBox="1"/>
          <p:nvPr/>
        </p:nvSpPr>
        <p:spPr>
          <a:xfrm>
            <a:off x="822960" y="4517136"/>
            <a:ext cx="9784080" cy="777240"/>
          </a:xfrm>
          <a:prstGeom prst="rect">
            <a:avLst/>
          </a:prstGeom>
          <a:noFill/>
          <a:ln/>
        </p:spPr>
        <p:txBody>
          <a:bodyPr wrap="square" lIns="0" tIns="0" rIns="0" bIns="0" rtlCol="0" anchor="ctr"/>
          <a:lstStyle/>
          <a:p>
            <a:pPr rtl="1" algn="r" indent="0" marL="0">
              <a:buNone/>
            </a:pPr>
            <a:r>
              <a:rPr lang="en-US" sz="1350" dirty="0">
                <a:solidFill>
                  <a:srgbClr val="1F2937"/>
                </a:solidFill>
                <a:latin typeface="Calibri" pitchFamily="34" charset="0"/>
                <a:ea typeface="Calibri" pitchFamily="34" charset="-122"/>
                <a:cs typeface="Calibri" pitchFamily="34" charset="-120"/>
              </a:rPr>
              <a:t>אין צורך לתעד שליליים כלל - רק ממצאים חיוביים חשובים</a:t>
            </a:r>
            <a:endParaRPr lang="en-US" sz="1350" dirty="0"/>
          </a:p>
        </p:txBody>
      </p:sp>
      <p:sp>
        <p:nvSpPr>
          <p:cNvPr id="18" name="Shape 16"/>
          <p:cNvSpPr/>
          <p:nvPr/>
        </p:nvSpPr>
        <p:spPr>
          <a:xfrm>
            <a:off x="548640" y="5449824"/>
            <a:ext cx="11064240" cy="777240"/>
          </a:xfrm>
          <a:prstGeom prst="roundRect">
            <a:avLst>
              <a:gd name="adj" fmla="val 7059"/>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txBox="1"/>
          <p:nvPr/>
        </p:nvSpPr>
        <p:spPr>
          <a:xfrm>
            <a:off x="10744200" y="5650992"/>
            <a:ext cx="365760" cy="3657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txBox="1"/>
          <p:nvPr/>
        </p:nvSpPr>
        <p:spPr>
          <a:xfrm>
            <a:off x="822960" y="5449824"/>
            <a:ext cx="9784080" cy="777240"/>
          </a:xfrm>
          <a:prstGeom prst="rect">
            <a:avLst/>
          </a:prstGeom>
          <a:noFill/>
          <a:ln/>
        </p:spPr>
        <p:txBody>
          <a:bodyPr wrap="square" lIns="0" tIns="0" rIns="0" bIns="0" rtlCol="0" anchor="ctr"/>
          <a:lstStyle/>
          <a:p>
            <a:pPr rtl="1" algn="r" indent="0" marL="0">
              <a:buNone/>
            </a:pPr>
            <a:r>
              <a:rPr lang="en-US" sz="1350" dirty="0">
                <a:solidFill>
                  <a:srgbClr val="1F2937"/>
                </a:solidFill>
                <a:latin typeface="Calibri" pitchFamily="34" charset="0"/>
                <a:ea typeface="Calibri" pitchFamily="34" charset="-122"/>
                <a:cs typeface="Calibri" pitchFamily="34" charset="-120"/>
              </a:rPr>
              <a:t>כדי לקצר את זמן הבדיקה הגופנית</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txBox="1"/>
          <p:nvPr/>
        </p:nvSpPr>
        <p:spPr>
          <a:xfrm>
            <a:off x="457200" y="320040"/>
            <a:ext cx="3108960" cy="365760"/>
          </a:xfrm>
          <a:prstGeom prst="rect">
            <a:avLst/>
          </a:prstGeom>
          <a:noFill/>
          <a:ln/>
        </p:spPr>
        <p:txBody>
          <a:bodyPr wrap="square" lIns="0" tIns="0" rIns="0" bIns="0"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הערכה טרום-ניתוחית</a:t>
            </a:r>
            <a:endParaRPr lang="en-US" sz="1200" dirty="0"/>
          </a:p>
        </p:txBody>
      </p:sp>
      <p:sp>
        <p:nvSpPr>
          <p:cNvPr id="4" name="Text 2"/>
          <p:cNvSpPr txBox="1"/>
          <p:nvPr/>
        </p:nvSpPr>
        <p:spPr>
          <a:xfrm>
            <a:off x="548640" y="777240"/>
            <a:ext cx="11064240" cy="640080"/>
          </a:xfrm>
          <a:prstGeom prst="rect">
            <a:avLst/>
          </a:prstGeom>
          <a:noFill/>
          <a:ln/>
        </p:spPr>
        <p:txBody>
          <a:bodyPr wrap="square" lIns="0" tIns="0" rIns="0" bIns="0" rtlCol="0" anchor="t"/>
          <a:lstStyle/>
          <a:p>
            <a:pPr rtl="1" algn="r" indent="0" marL="0">
              <a:buNone/>
            </a:pPr>
            <a:r>
              <a:rPr lang="en-US" sz="1400" b="1" dirty="0">
                <a:solidFill>
                  <a:srgbClr val="15803D"/>
                </a:solidFill>
                <a:latin typeface="Calibri" pitchFamily="34" charset="0"/>
                <a:ea typeface="Calibri" pitchFamily="34" charset="-122"/>
                <a:cs typeface="Calibri" pitchFamily="34" charset="-120"/>
              </a:rPr>
              <a:t>התשובה הנכונה: א) כדי לתעד חוסרים נוירולוגיים טרום-ניתוחיים (או היעדרם) שיוצרים קו-בסיס מהימן להשוואה עם הממצאים אחרי הניתוח</a:t>
            </a:r>
            <a:endParaRPr lang="en-US" sz="1400" dirty="0"/>
          </a:p>
        </p:txBody>
      </p:sp>
      <p:sp>
        <p:nvSpPr>
          <p:cNvPr id="5" name="Shape 3"/>
          <p:cNvSpPr/>
          <p:nvPr/>
        </p:nvSpPr>
        <p:spPr>
          <a:xfrm>
            <a:off x="548640" y="1554480"/>
            <a:ext cx="7406640" cy="1417320"/>
          </a:xfrm>
          <a:prstGeom prst="roundRect">
            <a:avLst>
              <a:gd name="adj" fmla="val 3226"/>
            </a:avLst>
          </a:prstGeom>
          <a:solidFill>
            <a:srgbClr val="F8FAFC"/>
          </a:solidFill>
          <a:ln/>
        </p:spPr>
      </p:sp>
      <p:sp>
        <p:nvSpPr>
          <p:cNvPr id="6" name="Text 4"/>
          <p:cNvSpPr txBox="1"/>
          <p:nvPr/>
        </p:nvSpPr>
        <p:spPr>
          <a:xfrm>
            <a:off x="731520" y="1627632"/>
            <a:ext cx="7040880" cy="274320"/>
          </a:xfrm>
          <a:prstGeom prst="rect">
            <a:avLst/>
          </a:prstGeom>
          <a:noFill/>
          <a:ln/>
        </p:spPr>
        <p:txBody>
          <a:bodyPr wrap="square" lIns="0" tIns="0" rIns="0" bIns="0" rtlCol="0" anchor="t"/>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7" name="Text 5"/>
          <p:cNvSpPr txBox="1"/>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הפרק מדגיש שלצד תיעוד הממצאים החיוביים (התלונה המובילה, הסימנים שנמצאו), יש לתעד גם את ה"שליליים הפרטינטיים" - כלומר אישור מפורש שתפקודים מסוימים תקינים. תיעוד זה חיוני כי הוא יוצר רשומה של החוסרים (או העדרם) הטרום-ניתוחיים, שמשמשת להשוואה ישירה עם הממצאים שאחרי הניתוח - כך ניתן להבחין בבירור בין חסר חדש (סיבוך אפשרי) לבין חסר שהיה קיים כבר לפני הניתוח.</a:t>
            </a:r>
            <a:endParaRPr lang="en-US" sz="1000" dirty="0"/>
          </a:p>
        </p:txBody>
      </p:sp>
      <p:sp>
        <p:nvSpPr>
          <p:cNvPr id="8" name="Shape 6"/>
          <p:cNvSpPr/>
          <p:nvPr/>
        </p:nvSpPr>
        <p:spPr>
          <a:xfrm>
            <a:off x="548640" y="3108960"/>
            <a:ext cx="7406640" cy="914400"/>
          </a:xfrm>
          <a:prstGeom prst="roundRect">
            <a:avLst>
              <a:gd name="adj" fmla="val 5000"/>
            </a:avLst>
          </a:prstGeom>
          <a:solidFill>
            <a:srgbClr val="EFF6FF"/>
          </a:solidFill>
          <a:ln/>
        </p:spPr>
      </p:sp>
      <p:sp>
        <p:nvSpPr>
          <p:cNvPr id="9" name="Text 7"/>
          <p:cNvSpPr txBox="1"/>
          <p:nvPr/>
        </p:nvSpPr>
        <p:spPr>
          <a:xfrm>
            <a:off x="731520" y="3182112"/>
            <a:ext cx="7040880" cy="274320"/>
          </a:xfrm>
          <a:prstGeom prst="rect">
            <a:avLst/>
          </a:prstGeom>
          <a:noFill/>
          <a:ln/>
        </p:spPr>
        <p:txBody>
          <a:bodyPr wrap="square" lIns="0" tIns="0" rIns="0" bIns="0" rtlCol="0" anchor="t"/>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Pertinent negatives</a:t>
            </a:r>
            <a:endParaRPr lang="en-US" sz="1150" dirty="0"/>
          </a:p>
        </p:txBody>
      </p:sp>
      <p:sp>
        <p:nvSpPr>
          <p:cNvPr id="10" name="Text 8"/>
          <p:cNvSpPr txBox="1"/>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ממצאים שליליים (תפקודים תקינים) שתועדו באופן אקטיבי ומכוון בבדיקה, לא רק החיוביים - חשובים ליצירת קו-בסיס השוואתי מהימן.</a:t>
            </a:r>
            <a:endParaRPr lang="en-US" sz="950" dirty="0"/>
          </a:p>
        </p:txBody>
      </p:sp>
      <p:sp>
        <p:nvSpPr>
          <p:cNvPr id="11" name="Shape 9"/>
          <p:cNvSpPr/>
          <p:nvPr/>
        </p:nvSpPr>
        <p:spPr>
          <a:xfrm>
            <a:off x="548640" y="4160520"/>
            <a:ext cx="7406640" cy="1417320"/>
          </a:xfrm>
          <a:prstGeom prst="roundRect">
            <a:avLst>
              <a:gd name="adj" fmla="val 3226"/>
            </a:avLst>
          </a:prstGeom>
          <a:solidFill>
            <a:srgbClr val="F5F3FF"/>
          </a:solidFill>
          <a:ln/>
        </p:spPr>
      </p:sp>
      <p:sp>
        <p:nvSpPr>
          <p:cNvPr id="12" name="Text 10"/>
          <p:cNvSpPr txBox="1"/>
          <p:nvPr/>
        </p:nvSpPr>
        <p:spPr>
          <a:xfrm>
            <a:off x="731520" y="4233672"/>
            <a:ext cx="7040880" cy="274320"/>
          </a:xfrm>
          <a:prstGeom prst="rect">
            <a:avLst/>
          </a:prstGeom>
          <a:noFill/>
          <a:ln/>
        </p:spPr>
        <p:txBody>
          <a:bodyPr wrap="square" lIns="0" tIns="0" rIns="0" bIns="0" rtlCol="0" anchor="t"/>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13" name="Text 11"/>
          <p:cNvSpPr txBox="1"/>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צילום 'לפני' שצריך לצלם לפני כל שיפוץ - בלי תמונת 'לפני' מדויקת, אי אפשר להוכיח מה בדיוק השתנה אחרי.</a:t>
            </a:r>
            <a:endParaRPr lang="en-US" sz="950" dirty="0"/>
          </a:p>
        </p:txBody>
      </p:sp>
      <p:sp>
        <p:nvSpPr>
          <p:cNvPr id="14" name="Text 12"/>
          <p:cNvSpPr txBox="1"/>
          <p:nvPr/>
        </p:nvSpPr>
        <p:spPr>
          <a:xfrm>
            <a:off x="731520" y="5047488"/>
            <a:ext cx="7040880" cy="502920"/>
          </a:xfrm>
          <a:prstGeom prst="rect">
            <a:avLst/>
          </a:prstGeom>
          <a:noFill/>
          <a:ln/>
        </p:spPr>
        <p:txBody>
          <a:bodyPr wrap="square" lIns="0" tIns="0" rIns="0" bIns="0" rtlCol="0" anchor="t"/>
          <a:lstStyle/>
          <a:p>
            <a:pPr rtl="1" algn="r" indent="0" marL="0">
              <a:buNone/>
            </a:pPr>
            <a:r>
              <a:rPr lang="en-US" sz="900" dirty="0">
                <a:solidFill>
                  <a:srgbClr val="5B21B6"/>
                </a:solidFill>
                <a:latin typeface="Calibri" pitchFamily="34" charset="0"/>
                <a:ea typeface="Calibri" pitchFamily="34" charset="-122"/>
                <a:cs typeface="Calibri" pitchFamily="34" charset="-120"/>
              </a:rPr>
              <a:t>שאלי את עצמך: מה קורה אם לא מתעדים שליליים פרטינטיים ומטופל מתעורר עם חולשה ביד?</a:t>
            </a:r>
            <a:endParaRPr lang="en-US" sz="900" dirty="0"/>
          </a:p>
        </p:txBody>
      </p:sp>
      <p:sp>
        <p:nvSpPr>
          <p:cNvPr id="15" name="Text 13"/>
          <p:cNvSpPr txBox="1"/>
          <p:nvPr/>
        </p:nvSpPr>
        <p:spPr>
          <a:xfrm>
            <a:off x="8138160" y="1554480"/>
            <a:ext cx="3474720" cy="320040"/>
          </a:xfrm>
          <a:prstGeom prst="rect">
            <a:avLst/>
          </a:prstGeom>
          <a:noFill/>
          <a:ln/>
        </p:spPr>
        <p:txBody>
          <a:bodyPr wrap="square" lIns="0" tIns="0" rIns="0" bIns="0" rtlCol="0" anchor="t"/>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16" name="Shape 14"/>
          <p:cNvSpPr/>
          <p:nvPr/>
        </p:nvSpPr>
        <p:spPr>
          <a:xfrm>
            <a:off x="8138160" y="1920240"/>
            <a:ext cx="3474720" cy="777240"/>
          </a:xfrm>
          <a:prstGeom prst="roundRect">
            <a:avLst>
              <a:gd name="adj" fmla="val 5882"/>
            </a:avLst>
          </a:prstGeom>
          <a:solidFill>
            <a:srgbClr val="1C7293"/>
          </a:solidFill>
          <a:ln/>
        </p:spPr>
      </p:sp>
      <p:sp>
        <p:nvSpPr>
          <p:cNvPr id="17" name="Text 15"/>
          <p:cNvSpPr txBox="1"/>
          <p:nvPr/>
        </p:nvSpPr>
        <p:spPr>
          <a:xfrm>
            <a:off x="8275320" y="1975968"/>
            <a:ext cx="2880360" cy="667512"/>
          </a:xfrm>
          <a:prstGeom prst="rect">
            <a:avLst/>
          </a:prstGeom>
          <a:noFill/>
          <a:ln/>
        </p:spPr>
        <p:txBody>
          <a:bodyPr wrap="square" lIns="0" tIns="0" rIns="0" bIns="0" rtlCol="0" anchor="ctr"/>
          <a:lstStyle/>
          <a:p>
            <a:pPr rtl="1" algn="r" indent="0" marL="0">
              <a:buNone/>
            </a:pPr>
            <a:r>
              <a:rPr lang="en-US" sz="950" dirty="0">
                <a:solidFill>
                  <a:srgbClr val="FFFFFF"/>
                </a:solidFill>
                <a:latin typeface="Calibri" pitchFamily="34" charset="0"/>
                <a:ea typeface="Calibri" pitchFamily="34" charset="-122"/>
                <a:cs typeface="Calibri" pitchFamily="34" charset="-120"/>
              </a:rPr>
              <a:t>קו-בסיס טרום-ניתוחי: חיוני להשוואה פוסט-ניתוחית</a:t>
            </a:r>
            <a:endParaRPr lang="en-US" sz="950" dirty="0"/>
          </a:p>
        </p:txBody>
      </p:sp>
      <p:sp>
        <p:nvSpPr>
          <p:cNvPr id="18" name="Shape 16"/>
          <p:cNvSpPr/>
          <p:nvPr/>
        </p:nvSpPr>
        <p:spPr>
          <a:xfrm>
            <a:off x="8138160" y="2788920"/>
            <a:ext cx="3474720" cy="777240"/>
          </a:xfrm>
          <a:prstGeom prst="roundRect">
            <a:avLst>
              <a:gd name="adj" fmla="val 5882"/>
            </a:avLst>
          </a:prstGeom>
          <a:solidFill>
            <a:srgbClr val="15803D"/>
          </a:solidFill>
          <a:ln/>
        </p:spPr>
      </p:sp>
      <p:sp>
        <p:nvSpPr>
          <p:cNvPr id="19" name="Text 17"/>
          <p:cNvSpPr txBox="1"/>
          <p:nvPr/>
        </p:nvSpPr>
        <p:spPr>
          <a:xfrm>
            <a:off x="8275320" y="2844648"/>
            <a:ext cx="2880360" cy="667512"/>
          </a:xfrm>
          <a:prstGeom prst="rect">
            <a:avLst/>
          </a:prstGeom>
          <a:noFill/>
          <a:ln/>
        </p:spPr>
        <p:txBody>
          <a:bodyPr wrap="square" lIns="0" tIns="0" rIns="0" bIns="0" rtlCol="0" anchor="ctr"/>
          <a:lstStyle/>
          <a:p>
            <a:pPr rtl="1" algn="r" indent="0" marL="0">
              <a:buNone/>
            </a:pPr>
            <a:r>
              <a:rPr lang="en-US" sz="950" dirty="0">
                <a:solidFill>
                  <a:srgbClr val="FFFFFF"/>
                </a:solidFill>
                <a:latin typeface="Calibri" pitchFamily="34" charset="0"/>
                <a:ea typeface="Calibri" pitchFamily="34" charset="-122"/>
                <a:cs typeface="Calibri" pitchFamily="34" charset="-120"/>
              </a:rPr>
              <a:t>בדיקה נוירולוגית מלאה: מצב מנטלי, עצבים קרניאליים, מוטוריקה, תחושה, רפלקסים</a:t>
            </a:r>
            <a:endParaRPr lang="en-US" sz="950" dirty="0"/>
          </a:p>
        </p:txBody>
      </p:sp>
      <p:sp>
        <p:nvSpPr>
          <p:cNvPr id="20" name="Shape 18"/>
          <p:cNvSpPr/>
          <p:nvPr/>
        </p:nvSpPr>
        <p:spPr>
          <a:xfrm>
            <a:off x="8138160" y="3657600"/>
            <a:ext cx="3474720" cy="777240"/>
          </a:xfrm>
          <a:prstGeom prst="roundRect">
            <a:avLst>
              <a:gd name="adj" fmla="val 5882"/>
            </a:avLst>
          </a:prstGeom>
          <a:solidFill>
            <a:srgbClr val="B45309"/>
          </a:solidFill>
          <a:ln/>
        </p:spPr>
      </p:sp>
      <p:sp>
        <p:nvSpPr>
          <p:cNvPr id="21" name="Text 19"/>
          <p:cNvSpPr txBox="1"/>
          <p:nvPr/>
        </p:nvSpPr>
        <p:spPr>
          <a:xfrm>
            <a:off x="8275320" y="3713328"/>
            <a:ext cx="2880360" cy="667512"/>
          </a:xfrm>
          <a:prstGeom prst="rect">
            <a:avLst/>
          </a:prstGeom>
          <a:noFill/>
          <a:ln/>
        </p:spPr>
        <p:txBody>
          <a:bodyPr wrap="square" lIns="0" tIns="0" rIns="0" bIns="0" rtlCol="0" anchor="ctr"/>
          <a:lstStyle/>
          <a:p>
            <a:pPr rtl="1" algn="r" indent="0" marL="0">
              <a:buNone/>
            </a:pPr>
            <a:r>
              <a:rPr lang="en-US" sz="950" dirty="0">
                <a:solidFill>
                  <a:srgbClr val="FFFFFF"/>
                </a:solidFill>
                <a:latin typeface="Calibri" pitchFamily="34" charset="0"/>
                <a:ea typeface="Calibri" pitchFamily="34" charset="-122"/>
                <a:cs typeface="Calibri" pitchFamily="34" charset="-120"/>
              </a:rPr>
              <a:t>חוסר תיעוד = אי-יכולת להבדיל בין חסר חדש לישן אחרי הניתוח</a:t>
            </a:r>
            <a:endParaRPr lang="en-US" sz="950" dirty="0"/>
          </a:p>
        </p:txBody>
      </p:sp>
      <p:sp>
        <p:nvSpPr>
          <p:cNvPr id="22" name="Text 20"/>
          <p:cNvSpPr txBox="1"/>
          <p:nvPr/>
        </p:nvSpPr>
        <p:spPr>
          <a:xfrm>
            <a:off x="548640" y="6446520"/>
            <a:ext cx="11064240" cy="320040"/>
          </a:xfrm>
          <a:prstGeom prst="rect">
            <a:avLst/>
          </a:prstGeom>
          <a:noFill/>
          <a:ln/>
        </p:spPr>
        <p:txBody>
          <a:bodyPr wrap="square" lIns="0" tIns="0" rIns="0" bIns="0" rtlCol="0" anchor="t"/>
          <a:lstStyle/>
          <a:p>
            <a:pPr rtl="1" algn="ctr" indent="0" marL="0">
              <a:buNone/>
            </a:pPr>
            <a:r>
              <a:rPr lang="en-US" sz="900"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השתמשו באתר הכרטיסיות המקוון.</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txBox="1"/>
          <p:nvPr/>
        </p:nvSpPr>
        <p:spPr>
          <a:xfrm>
            <a:off x="457200" y="365760"/>
            <a:ext cx="3108960" cy="384048"/>
          </a:xfrm>
          <a:prstGeom prst="rect">
            <a:avLst/>
          </a:prstGeom>
          <a:noFill/>
          <a:ln/>
        </p:spPr>
        <p:txBody>
          <a:bodyPr wrap="square" lIns="0" tIns="0" rIns="0" bIns="0"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הדמיה וטכנולוגיה</a:t>
            </a:r>
            <a:endParaRPr lang="en-US" sz="1250" dirty="0"/>
          </a:p>
        </p:txBody>
      </p:sp>
      <p:sp>
        <p:nvSpPr>
          <p:cNvPr id="4" name="Text 2"/>
          <p:cNvSpPr txBox="1"/>
          <p:nvPr/>
        </p:nvSpPr>
        <p:spPr>
          <a:xfrm>
            <a:off x="8531352" y="365760"/>
            <a:ext cx="3108960" cy="384048"/>
          </a:xfrm>
          <a:prstGeom prst="rect">
            <a:avLst/>
          </a:prstGeom>
          <a:noFill/>
          <a:ln/>
        </p:spPr>
        <p:txBody>
          <a:bodyPr wrap="square" lIns="0" tIns="0" rIns="0" bIns="0" rtlCol="0" anchor="ctr"/>
          <a:lstStyle/>
          <a:p>
            <a:pPr rtl="1" algn="l" indent="0" marL="0">
              <a:buNone/>
            </a:pPr>
            <a:r>
              <a:rPr lang="en-US" sz="1200" dirty="0">
                <a:solidFill>
                  <a:srgbClr val="9CA3AF"/>
                </a:solidFill>
                <a:latin typeface="Calibri" pitchFamily="34" charset="0"/>
                <a:ea typeface="Calibri" pitchFamily="34" charset="-122"/>
                <a:cs typeface="Calibri" pitchFamily="34" charset="-120"/>
              </a:rPr>
              <a:t>כרטיסייה 2 מתוך 5</a:t>
            </a:r>
            <a:endParaRPr lang="en-US" sz="1200" dirty="0"/>
          </a:p>
        </p:txBody>
      </p:sp>
      <p:sp>
        <p:nvSpPr>
          <p:cNvPr id="5" name="Text 3"/>
          <p:cNvSpPr txBox="1"/>
          <p:nvPr/>
        </p:nvSpPr>
        <p:spPr>
          <a:xfrm>
            <a:off x="548640" y="1005840"/>
            <a:ext cx="11064240" cy="1463040"/>
          </a:xfrm>
          <a:prstGeom prst="rect">
            <a:avLst/>
          </a:prstGeom>
          <a:noFill/>
          <a:ln/>
        </p:spPr>
        <p:txBody>
          <a:bodyPr wrap="square" lIns="0" tIns="0" rIns="0" bIns="0" rtlCol="0" anchor="t"/>
          <a:lstStyle/>
          <a:p>
            <a:pPr rtl="1" algn="r" indent="0" marL="0">
              <a:buNone/>
            </a:pPr>
            <a:r>
              <a:rPr lang="en-US" sz="2000" b="1" dirty="0">
                <a:solidFill>
                  <a:srgbClr val="1F2937"/>
                </a:solidFill>
                <a:latin typeface="Calibri" pitchFamily="34" charset="0"/>
                <a:ea typeface="Calibri" pitchFamily="34" charset="-122"/>
                <a:cs typeface="Calibri" pitchFamily="34" charset="-120"/>
              </a:rPr>
              <a:t>למה לעתים נדרשת אנגיוגרפיה בקטטר, גם כש-CT ו-MRA כבר סיפקו הערכה אנטומית סטטית טובה של כלי הדם?</a:t>
            </a:r>
            <a:endParaRPr lang="en-US" sz="2000" dirty="0"/>
          </a:p>
        </p:txBody>
      </p:sp>
      <p:sp>
        <p:nvSpPr>
          <p:cNvPr id="6" name="Shape 4"/>
          <p:cNvSpPr/>
          <p:nvPr/>
        </p:nvSpPr>
        <p:spPr>
          <a:xfrm>
            <a:off x="548640" y="2651760"/>
            <a:ext cx="11064240" cy="777240"/>
          </a:xfrm>
          <a:prstGeom prst="roundRect">
            <a:avLst>
              <a:gd name="adj" fmla="val 7059"/>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txBox="1"/>
          <p:nvPr/>
        </p:nvSpPr>
        <p:spPr>
          <a:xfrm>
            <a:off x="10744200" y="2852928"/>
            <a:ext cx="365760" cy="3657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txBox="1"/>
          <p:nvPr/>
        </p:nvSpPr>
        <p:spPr>
          <a:xfrm>
            <a:off x="822960" y="2651760"/>
            <a:ext cx="9784080" cy="777240"/>
          </a:xfrm>
          <a:prstGeom prst="rect">
            <a:avLst/>
          </a:prstGeom>
          <a:noFill/>
          <a:ln/>
        </p:spPr>
        <p:txBody>
          <a:bodyPr wrap="square" lIns="0" tIns="0" rIns="0" bIns="0" rtlCol="0" anchor="ctr"/>
          <a:lstStyle/>
          <a:p>
            <a:pPr rtl="1" algn="r" indent="0" marL="0">
              <a:buNone/>
            </a:pPr>
            <a:r>
              <a:rPr lang="en-US" sz="1350" dirty="0">
                <a:solidFill>
                  <a:srgbClr val="1F2937"/>
                </a:solidFill>
                <a:latin typeface="Calibri" pitchFamily="34" charset="0"/>
                <a:ea typeface="Calibri" pitchFamily="34" charset="-122"/>
                <a:cs typeface="Calibri" pitchFamily="34" charset="-120"/>
              </a:rPr>
              <a:t>כי לנגעים מסוימים, כמו AVM, יש מרכיב זרימה עם מילוי מוקדם או מאוחר שהדמיה סטטית לא תמיד תופסת - אנגיוגרפיה בקטטר מספקת את מרכיב הזמן</a:t>
            </a:r>
            <a:endParaRPr lang="en-US" sz="1350" dirty="0"/>
          </a:p>
        </p:txBody>
      </p:sp>
      <p:sp>
        <p:nvSpPr>
          <p:cNvPr id="10" name="Shape 8"/>
          <p:cNvSpPr/>
          <p:nvPr/>
        </p:nvSpPr>
        <p:spPr>
          <a:xfrm>
            <a:off x="548640" y="3584448"/>
            <a:ext cx="11064240" cy="777240"/>
          </a:xfrm>
          <a:prstGeom prst="roundRect">
            <a:avLst>
              <a:gd name="adj" fmla="val 7059"/>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txBox="1"/>
          <p:nvPr/>
        </p:nvSpPr>
        <p:spPr>
          <a:xfrm>
            <a:off x="10744200" y="3785616"/>
            <a:ext cx="365760" cy="3657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txBox="1"/>
          <p:nvPr/>
        </p:nvSpPr>
        <p:spPr>
          <a:xfrm>
            <a:off x="822960" y="3584448"/>
            <a:ext cx="9784080" cy="777240"/>
          </a:xfrm>
          <a:prstGeom prst="rect">
            <a:avLst/>
          </a:prstGeom>
          <a:noFill/>
          <a:ln/>
        </p:spPr>
        <p:txBody>
          <a:bodyPr wrap="square" lIns="0" tIns="0" rIns="0" bIns="0" rtlCol="0" anchor="ctr"/>
          <a:lstStyle/>
          <a:p>
            <a:pPr rtl="1" algn="r" indent="0" marL="0">
              <a:buNone/>
            </a:pPr>
            <a:r>
              <a:rPr lang="en-US" sz="1350" dirty="0">
                <a:solidFill>
                  <a:srgbClr val="1F2937"/>
                </a:solidFill>
                <a:latin typeface="Calibri" pitchFamily="34" charset="0"/>
                <a:ea typeface="Calibri" pitchFamily="34" charset="-122"/>
                <a:cs typeface="Calibri" pitchFamily="34" charset="-120"/>
              </a:rPr>
              <a:t>כי CT ו-MRA אינם מסוגלים כלל לדמות כלי דם</a:t>
            </a:r>
            <a:endParaRPr lang="en-US" sz="1350" dirty="0"/>
          </a:p>
        </p:txBody>
      </p:sp>
      <p:sp>
        <p:nvSpPr>
          <p:cNvPr id="14" name="Shape 12"/>
          <p:cNvSpPr/>
          <p:nvPr/>
        </p:nvSpPr>
        <p:spPr>
          <a:xfrm>
            <a:off x="548640" y="4517136"/>
            <a:ext cx="11064240" cy="777240"/>
          </a:xfrm>
          <a:prstGeom prst="roundRect">
            <a:avLst>
              <a:gd name="adj" fmla="val 7059"/>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txBox="1"/>
          <p:nvPr/>
        </p:nvSpPr>
        <p:spPr>
          <a:xfrm>
            <a:off x="10744200" y="4718304"/>
            <a:ext cx="365760" cy="3657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txBox="1"/>
          <p:nvPr/>
        </p:nvSpPr>
        <p:spPr>
          <a:xfrm>
            <a:off x="822960" y="4517136"/>
            <a:ext cx="9784080" cy="777240"/>
          </a:xfrm>
          <a:prstGeom prst="rect">
            <a:avLst/>
          </a:prstGeom>
          <a:noFill/>
          <a:ln/>
        </p:spPr>
        <p:txBody>
          <a:bodyPr wrap="square" lIns="0" tIns="0" rIns="0" bIns="0" rtlCol="0" anchor="ctr"/>
          <a:lstStyle/>
          <a:p>
            <a:pPr rtl="1" algn="r" indent="0" marL="0">
              <a:buNone/>
            </a:pPr>
            <a:r>
              <a:rPr lang="en-US" sz="1350" dirty="0">
                <a:solidFill>
                  <a:srgbClr val="1F2937"/>
                </a:solidFill>
                <a:latin typeface="Calibri" pitchFamily="34" charset="0"/>
                <a:ea typeface="Calibri" pitchFamily="34" charset="-122"/>
                <a:cs typeface="Calibri" pitchFamily="34" charset="-120"/>
              </a:rPr>
              <a:t>כי אנגיוגרפיה בקטטר זולה יותר ומהירה יותר מ-CT/MRA</a:t>
            </a:r>
            <a:endParaRPr lang="en-US" sz="1350" dirty="0"/>
          </a:p>
        </p:txBody>
      </p:sp>
      <p:sp>
        <p:nvSpPr>
          <p:cNvPr id="18" name="Shape 16"/>
          <p:cNvSpPr/>
          <p:nvPr/>
        </p:nvSpPr>
        <p:spPr>
          <a:xfrm>
            <a:off x="548640" y="5449824"/>
            <a:ext cx="11064240" cy="777240"/>
          </a:xfrm>
          <a:prstGeom prst="roundRect">
            <a:avLst>
              <a:gd name="adj" fmla="val 7059"/>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txBox="1"/>
          <p:nvPr/>
        </p:nvSpPr>
        <p:spPr>
          <a:xfrm>
            <a:off x="10744200" y="5650992"/>
            <a:ext cx="365760" cy="3657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txBox="1"/>
          <p:nvPr/>
        </p:nvSpPr>
        <p:spPr>
          <a:xfrm>
            <a:off x="822960" y="5449824"/>
            <a:ext cx="9784080" cy="777240"/>
          </a:xfrm>
          <a:prstGeom prst="rect">
            <a:avLst/>
          </a:prstGeom>
          <a:noFill/>
          <a:ln/>
        </p:spPr>
        <p:txBody>
          <a:bodyPr wrap="square" lIns="0" tIns="0" rIns="0" bIns="0" rtlCol="0" anchor="ctr"/>
          <a:lstStyle/>
          <a:p>
            <a:pPr rtl="1" algn="r" indent="0" marL="0">
              <a:buNone/>
            </a:pPr>
            <a:r>
              <a:rPr lang="en-US" sz="1350" dirty="0">
                <a:solidFill>
                  <a:srgbClr val="1F2937"/>
                </a:solidFill>
                <a:latin typeface="Calibri" pitchFamily="34" charset="0"/>
                <a:ea typeface="Calibri" pitchFamily="34" charset="-122"/>
                <a:cs typeface="Calibri" pitchFamily="34" charset="-120"/>
              </a:rPr>
              <a:t>כי אנגיוגרפיה בקטטר אינה דורשת חומר ניגוד</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txBox="1"/>
          <p:nvPr/>
        </p:nvSpPr>
        <p:spPr>
          <a:xfrm>
            <a:off x="457200" y="320040"/>
            <a:ext cx="3108960" cy="365760"/>
          </a:xfrm>
          <a:prstGeom prst="rect">
            <a:avLst/>
          </a:prstGeom>
          <a:noFill/>
          <a:ln/>
        </p:spPr>
        <p:txBody>
          <a:bodyPr wrap="square" lIns="0" tIns="0" rIns="0" bIns="0"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הדמיה וטכנולוגיה</a:t>
            </a:r>
            <a:endParaRPr lang="en-US" sz="1200" dirty="0"/>
          </a:p>
        </p:txBody>
      </p:sp>
      <p:sp>
        <p:nvSpPr>
          <p:cNvPr id="4" name="Text 2"/>
          <p:cNvSpPr txBox="1"/>
          <p:nvPr/>
        </p:nvSpPr>
        <p:spPr>
          <a:xfrm>
            <a:off x="548640" y="777240"/>
            <a:ext cx="11064240" cy="640080"/>
          </a:xfrm>
          <a:prstGeom prst="rect">
            <a:avLst/>
          </a:prstGeom>
          <a:noFill/>
          <a:ln/>
        </p:spPr>
        <p:txBody>
          <a:bodyPr wrap="square" lIns="0" tIns="0" rIns="0" bIns="0" rtlCol="0" anchor="t"/>
          <a:lstStyle/>
          <a:p>
            <a:pPr rtl="1" algn="r" indent="0" marL="0">
              <a:buNone/>
            </a:pPr>
            <a:r>
              <a:rPr lang="en-US" sz="1400" b="1" dirty="0">
                <a:solidFill>
                  <a:srgbClr val="15803D"/>
                </a:solidFill>
                <a:latin typeface="Calibri" pitchFamily="34" charset="0"/>
                <a:ea typeface="Calibri" pitchFamily="34" charset="-122"/>
                <a:cs typeface="Calibri" pitchFamily="34" charset="-120"/>
              </a:rPr>
              <a:t>התשובה הנכונה: א) כי לנגעים מסוימים, כמו AVM, יש מרכיב זרימה עם מילוי מוקדם או מאוחר שהדמיה סטטית לא תמיד תופסת - אנגיוגרפיה בקטטר מספקת את מרכיב הזמן</a:t>
            </a:r>
            <a:endParaRPr lang="en-US" sz="1400" dirty="0"/>
          </a:p>
        </p:txBody>
      </p:sp>
      <p:sp>
        <p:nvSpPr>
          <p:cNvPr id="5" name="Shape 3"/>
          <p:cNvSpPr/>
          <p:nvPr/>
        </p:nvSpPr>
        <p:spPr>
          <a:xfrm>
            <a:off x="548640" y="1554480"/>
            <a:ext cx="7406640" cy="1417320"/>
          </a:xfrm>
          <a:prstGeom prst="roundRect">
            <a:avLst>
              <a:gd name="adj" fmla="val 3226"/>
            </a:avLst>
          </a:prstGeom>
          <a:solidFill>
            <a:srgbClr val="F8FAFC"/>
          </a:solidFill>
          <a:ln/>
        </p:spPr>
      </p:sp>
      <p:sp>
        <p:nvSpPr>
          <p:cNvPr id="6" name="Text 4"/>
          <p:cNvSpPr txBox="1"/>
          <p:nvPr/>
        </p:nvSpPr>
        <p:spPr>
          <a:xfrm>
            <a:off x="731520" y="1627632"/>
            <a:ext cx="7040880" cy="274320"/>
          </a:xfrm>
          <a:prstGeom prst="rect">
            <a:avLst/>
          </a:prstGeom>
          <a:noFill/>
          <a:ln/>
        </p:spPr>
        <p:txBody>
          <a:bodyPr wrap="square" lIns="0" tIns="0" rIns="0" bIns="0" rtlCol="0" anchor="t"/>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7" name="Text 5"/>
          <p:cNvSpPr txBox="1"/>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הפרק מציין שבעוד CT ו-MRA מספקים הערכה אנטומית סטטית מצוינת, אנגיוגרפיה בקטטר שימושית במיוחד להדמיית מחלות עם מרכיב זמן - כלומר דפוסי מילוי מוקדם או מאוחר. ל-AVM למשל יש אבנורמליות בזרימת הדם, ולכן מרכיב הזמן חייב להילקח בחשבון בהערכה הטרום-ניתוחית - משהו שהדמיה סטטית בלבד עלולה לפספס.</a:t>
            </a:r>
            <a:endParaRPr lang="en-US" sz="1000" dirty="0"/>
          </a:p>
        </p:txBody>
      </p:sp>
      <p:sp>
        <p:nvSpPr>
          <p:cNvPr id="8" name="Shape 6"/>
          <p:cNvSpPr/>
          <p:nvPr/>
        </p:nvSpPr>
        <p:spPr>
          <a:xfrm>
            <a:off x="548640" y="3108960"/>
            <a:ext cx="7406640" cy="914400"/>
          </a:xfrm>
          <a:prstGeom prst="roundRect">
            <a:avLst>
              <a:gd name="adj" fmla="val 5000"/>
            </a:avLst>
          </a:prstGeom>
          <a:solidFill>
            <a:srgbClr val="EFF6FF"/>
          </a:solidFill>
          <a:ln/>
        </p:spPr>
      </p:sp>
      <p:sp>
        <p:nvSpPr>
          <p:cNvPr id="9" name="Text 7"/>
          <p:cNvSpPr txBox="1"/>
          <p:nvPr/>
        </p:nvSpPr>
        <p:spPr>
          <a:xfrm>
            <a:off x="731520" y="3182112"/>
            <a:ext cx="7040880" cy="274320"/>
          </a:xfrm>
          <a:prstGeom prst="rect">
            <a:avLst/>
          </a:prstGeom>
          <a:noFill/>
          <a:ln/>
        </p:spPr>
        <p:txBody>
          <a:bodyPr wrap="square" lIns="0" tIns="0" rIns="0" bIns="0" rtlCol="0" anchor="t"/>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Time-resolved / catheter angiography</a:t>
            </a:r>
            <a:endParaRPr lang="en-US" sz="1150" dirty="0"/>
          </a:p>
        </p:txBody>
      </p:sp>
      <p:sp>
        <p:nvSpPr>
          <p:cNvPr id="10" name="Text 8"/>
          <p:cNvSpPr txBox="1"/>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הדמיה המתעדת את רצף הזרימה בזמן אמת (מילוי עורקי מוקדם, ורידי מאוחר וכו'), בניגוד לתמונה אנטומית סטטית בודדת של CT/MRA.</a:t>
            </a:r>
            <a:endParaRPr lang="en-US" sz="950" dirty="0"/>
          </a:p>
        </p:txBody>
      </p:sp>
      <p:sp>
        <p:nvSpPr>
          <p:cNvPr id="11" name="Shape 9"/>
          <p:cNvSpPr/>
          <p:nvPr/>
        </p:nvSpPr>
        <p:spPr>
          <a:xfrm>
            <a:off x="548640" y="4160520"/>
            <a:ext cx="7406640" cy="1417320"/>
          </a:xfrm>
          <a:prstGeom prst="roundRect">
            <a:avLst>
              <a:gd name="adj" fmla="val 3226"/>
            </a:avLst>
          </a:prstGeom>
          <a:solidFill>
            <a:srgbClr val="F5F3FF"/>
          </a:solidFill>
          <a:ln/>
        </p:spPr>
      </p:sp>
      <p:sp>
        <p:nvSpPr>
          <p:cNvPr id="12" name="Text 10"/>
          <p:cNvSpPr txBox="1"/>
          <p:nvPr/>
        </p:nvSpPr>
        <p:spPr>
          <a:xfrm>
            <a:off x="731520" y="4233672"/>
            <a:ext cx="7040880" cy="274320"/>
          </a:xfrm>
          <a:prstGeom prst="rect">
            <a:avLst/>
          </a:prstGeom>
          <a:noFill/>
          <a:ln/>
        </p:spPr>
        <p:txBody>
          <a:bodyPr wrap="square" lIns="0" tIns="0" rIns="0" bIns="0" rtlCol="0" anchor="t"/>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13" name="Text 11"/>
          <p:cNvSpPr txBox="1"/>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הבדל בין תמונת סטילס לבין סרטון של מפל מים - הסטילס מראה את צורת המפל, אבל רק הסרטון מראה כמה מהר הוא זורם ולאן בדיוק.</a:t>
            </a:r>
            <a:endParaRPr lang="en-US" sz="950" dirty="0"/>
          </a:p>
        </p:txBody>
      </p:sp>
      <p:sp>
        <p:nvSpPr>
          <p:cNvPr id="14" name="Text 12"/>
          <p:cNvSpPr txBox="1"/>
          <p:nvPr/>
        </p:nvSpPr>
        <p:spPr>
          <a:xfrm>
            <a:off x="731520" y="5047488"/>
            <a:ext cx="7040880" cy="502920"/>
          </a:xfrm>
          <a:prstGeom prst="rect">
            <a:avLst/>
          </a:prstGeom>
          <a:noFill/>
          <a:ln/>
        </p:spPr>
        <p:txBody>
          <a:bodyPr wrap="square" lIns="0" tIns="0" rIns="0" bIns="0" rtlCol="0" anchor="t"/>
          <a:lstStyle/>
          <a:p>
            <a:pPr rtl="1" algn="r" indent="0" marL="0">
              <a:buNone/>
            </a:pPr>
            <a:r>
              <a:rPr lang="en-US" sz="900" dirty="0">
                <a:solidFill>
                  <a:srgbClr val="5B21B6"/>
                </a:solidFill>
                <a:latin typeface="Calibri" pitchFamily="34" charset="0"/>
                <a:ea typeface="Calibri" pitchFamily="34" charset="-122"/>
                <a:cs typeface="Calibri" pitchFamily="34" charset="-120"/>
              </a:rPr>
              <a:t>שאלי את עצמך: למה דווקא AVM, ולא כל גידול מוחי, דורש את מרכיב הזמן הזה?</a:t>
            </a:r>
            <a:endParaRPr lang="en-US" sz="900" dirty="0"/>
          </a:p>
        </p:txBody>
      </p:sp>
      <p:sp>
        <p:nvSpPr>
          <p:cNvPr id="15" name="Text 13"/>
          <p:cNvSpPr txBox="1"/>
          <p:nvPr/>
        </p:nvSpPr>
        <p:spPr>
          <a:xfrm>
            <a:off x="8138160" y="1554480"/>
            <a:ext cx="3474720" cy="320040"/>
          </a:xfrm>
          <a:prstGeom prst="rect">
            <a:avLst/>
          </a:prstGeom>
          <a:noFill/>
          <a:ln/>
        </p:spPr>
        <p:txBody>
          <a:bodyPr wrap="square" lIns="0" tIns="0" rIns="0" bIns="0" rtlCol="0" anchor="t"/>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16" name="Shape 14"/>
          <p:cNvSpPr/>
          <p:nvPr/>
        </p:nvSpPr>
        <p:spPr>
          <a:xfrm>
            <a:off x="8138160" y="1920240"/>
            <a:ext cx="3474720" cy="777240"/>
          </a:xfrm>
          <a:prstGeom prst="roundRect">
            <a:avLst>
              <a:gd name="adj" fmla="val 5882"/>
            </a:avLst>
          </a:prstGeom>
          <a:solidFill>
            <a:srgbClr val="1C7293"/>
          </a:solidFill>
          <a:ln/>
        </p:spPr>
      </p:sp>
      <p:sp>
        <p:nvSpPr>
          <p:cNvPr id="17" name="Text 15"/>
          <p:cNvSpPr txBox="1"/>
          <p:nvPr/>
        </p:nvSpPr>
        <p:spPr>
          <a:xfrm>
            <a:off x="8275320" y="1975968"/>
            <a:ext cx="2880360" cy="667512"/>
          </a:xfrm>
          <a:prstGeom prst="rect">
            <a:avLst/>
          </a:prstGeom>
          <a:noFill/>
          <a:ln/>
        </p:spPr>
        <p:txBody>
          <a:bodyPr wrap="square" lIns="0" tIns="0" rIns="0" bIns="0" rtlCol="0" anchor="ctr"/>
          <a:lstStyle/>
          <a:p>
            <a:pPr rtl="1" algn="r" indent="0" marL="0">
              <a:buNone/>
            </a:pPr>
            <a:r>
              <a:rPr lang="en-US" sz="950" dirty="0">
                <a:solidFill>
                  <a:srgbClr val="FFFFFF"/>
                </a:solidFill>
                <a:latin typeface="Calibri" pitchFamily="34" charset="0"/>
                <a:ea typeface="Calibri" pitchFamily="34" charset="-122"/>
                <a:cs typeface="Calibri" pitchFamily="34" charset="-120"/>
              </a:rPr>
              <a:t>CT/MRA: הערכה אנטומית סטטית מצוינת</a:t>
            </a:r>
            <a:endParaRPr lang="en-US" sz="950" dirty="0"/>
          </a:p>
        </p:txBody>
      </p:sp>
      <p:sp>
        <p:nvSpPr>
          <p:cNvPr id="18" name="Shape 16"/>
          <p:cNvSpPr/>
          <p:nvPr/>
        </p:nvSpPr>
        <p:spPr>
          <a:xfrm>
            <a:off x="8138160" y="2788920"/>
            <a:ext cx="3474720" cy="777240"/>
          </a:xfrm>
          <a:prstGeom prst="roundRect">
            <a:avLst>
              <a:gd name="adj" fmla="val 5882"/>
            </a:avLst>
          </a:prstGeom>
          <a:solidFill>
            <a:srgbClr val="6D28D9"/>
          </a:solidFill>
          <a:ln/>
        </p:spPr>
      </p:sp>
      <p:sp>
        <p:nvSpPr>
          <p:cNvPr id="19" name="Text 17"/>
          <p:cNvSpPr txBox="1"/>
          <p:nvPr/>
        </p:nvSpPr>
        <p:spPr>
          <a:xfrm>
            <a:off x="8275320" y="2844648"/>
            <a:ext cx="2880360" cy="667512"/>
          </a:xfrm>
          <a:prstGeom prst="rect">
            <a:avLst/>
          </a:prstGeom>
          <a:noFill/>
          <a:ln/>
        </p:spPr>
        <p:txBody>
          <a:bodyPr wrap="square" lIns="0" tIns="0" rIns="0" bIns="0" rtlCol="0" anchor="ctr"/>
          <a:lstStyle/>
          <a:p>
            <a:pPr rtl="1" algn="r" indent="0" marL="0">
              <a:buNone/>
            </a:pPr>
            <a:r>
              <a:rPr lang="en-US" sz="950" dirty="0">
                <a:solidFill>
                  <a:srgbClr val="FFFFFF"/>
                </a:solidFill>
                <a:latin typeface="Calibri" pitchFamily="34" charset="0"/>
                <a:ea typeface="Calibri" pitchFamily="34" charset="-122"/>
                <a:cs typeface="Calibri" pitchFamily="34" charset="-120"/>
              </a:rPr>
              <a:t>אנגיוגרפיה בקטטר: מוסיפה את מרכיב הזמן - מילוי מוקדם/מאוחר</a:t>
            </a:r>
            <a:endParaRPr lang="en-US" sz="950" dirty="0"/>
          </a:p>
        </p:txBody>
      </p:sp>
      <p:sp>
        <p:nvSpPr>
          <p:cNvPr id="20" name="Shape 18"/>
          <p:cNvSpPr/>
          <p:nvPr/>
        </p:nvSpPr>
        <p:spPr>
          <a:xfrm>
            <a:off x="8138160" y="3657600"/>
            <a:ext cx="3474720" cy="777240"/>
          </a:xfrm>
          <a:prstGeom prst="roundRect">
            <a:avLst>
              <a:gd name="adj" fmla="val 5882"/>
            </a:avLst>
          </a:prstGeom>
          <a:solidFill>
            <a:srgbClr val="B45309"/>
          </a:solidFill>
          <a:ln/>
        </p:spPr>
      </p:sp>
      <p:sp>
        <p:nvSpPr>
          <p:cNvPr id="21" name="Text 19"/>
          <p:cNvSpPr txBox="1"/>
          <p:nvPr/>
        </p:nvSpPr>
        <p:spPr>
          <a:xfrm>
            <a:off x="8275320" y="3713328"/>
            <a:ext cx="2880360" cy="667512"/>
          </a:xfrm>
          <a:prstGeom prst="rect">
            <a:avLst/>
          </a:prstGeom>
          <a:noFill/>
          <a:ln/>
        </p:spPr>
        <p:txBody>
          <a:bodyPr wrap="square" lIns="0" tIns="0" rIns="0" bIns="0" rtlCol="0" anchor="ctr"/>
          <a:lstStyle/>
          <a:p>
            <a:pPr rtl="1" algn="r" indent="0" marL="0">
              <a:buNone/>
            </a:pPr>
            <a:r>
              <a:rPr lang="en-US" sz="950" dirty="0">
                <a:solidFill>
                  <a:srgbClr val="FFFFFF"/>
                </a:solidFill>
                <a:latin typeface="Calibri" pitchFamily="34" charset="0"/>
                <a:ea typeface="Calibri" pitchFamily="34" charset="-122"/>
                <a:cs typeface="Calibri" pitchFamily="34" charset="-120"/>
              </a:rPr>
              <a:t>AVM: דוגמה קלאסית לנגע עם אבנורמליות זרימה שדורשת הערכת זמן</a:t>
            </a:r>
            <a:endParaRPr lang="en-US" sz="950" dirty="0"/>
          </a:p>
        </p:txBody>
      </p:sp>
      <p:sp>
        <p:nvSpPr>
          <p:cNvPr id="22" name="Text 20"/>
          <p:cNvSpPr txBox="1"/>
          <p:nvPr/>
        </p:nvSpPr>
        <p:spPr>
          <a:xfrm>
            <a:off x="548640" y="6446520"/>
            <a:ext cx="11064240" cy="320040"/>
          </a:xfrm>
          <a:prstGeom prst="rect">
            <a:avLst/>
          </a:prstGeom>
          <a:noFill/>
          <a:ln/>
        </p:spPr>
        <p:txBody>
          <a:bodyPr wrap="square" lIns="0" tIns="0" rIns="0" bIns="0" rtlCol="0" anchor="t"/>
          <a:lstStyle/>
          <a:p>
            <a:pPr rtl="1" algn="ctr" indent="0" marL="0">
              <a:buNone/>
            </a:pPr>
            <a:r>
              <a:rPr lang="en-US" sz="900"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השתמשו באתר הכרטיסיות המקוון.</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txBox="1"/>
          <p:nvPr/>
        </p:nvSpPr>
        <p:spPr>
          <a:xfrm>
            <a:off x="457200" y="365760"/>
            <a:ext cx="3108960" cy="384048"/>
          </a:xfrm>
          <a:prstGeom prst="rect">
            <a:avLst/>
          </a:prstGeom>
          <a:noFill/>
          <a:ln/>
        </p:spPr>
        <p:txBody>
          <a:bodyPr wrap="square" lIns="0" tIns="0" rIns="0" bIns="0"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אנסתזיה</a:t>
            </a:r>
            <a:endParaRPr lang="en-US" sz="1250" dirty="0"/>
          </a:p>
        </p:txBody>
      </p:sp>
      <p:sp>
        <p:nvSpPr>
          <p:cNvPr id="4" name="Text 2"/>
          <p:cNvSpPr txBox="1"/>
          <p:nvPr/>
        </p:nvSpPr>
        <p:spPr>
          <a:xfrm>
            <a:off x="8531352" y="365760"/>
            <a:ext cx="3108960" cy="384048"/>
          </a:xfrm>
          <a:prstGeom prst="rect">
            <a:avLst/>
          </a:prstGeom>
          <a:noFill/>
          <a:ln/>
        </p:spPr>
        <p:txBody>
          <a:bodyPr wrap="square" lIns="0" tIns="0" rIns="0" bIns="0" rtlCol="0" anchor="ctr"/>
          <a:lstStyle/>
          <a:p>
            <a:pPr rtl="1" algn="l" indent="0" marL="0">
              <a:buNone/>
            </a:pPr>
            <a:r>
              <a:rPr lang="en-US" sz="1200" dirty="0">
                <a:solidFill>
                  <a:srgbClr val="9CA3AF"/>
                </a:solidFill>
                <a:latin typeface="Calibri" pitchFamily="34" charset="0"/>
                <a:ea typeface="Calibri" pitchFamily="34" charset="-122"/>
                <a:cs typeface="Calibri" pitchFamily="34" charset="-120"/>
              </a:rPr>
              <a:t>כרטיסייה 3 מתוך 5</a:t>
            </a:r>
            <a:endParaRPr lang="en-US" sz="1200" dirty="0"/>
          </a:p>
        </p:txBody>
      </p:sp>
      <p:sp>
        <p:nvSpPr>
          <p:cNvPr id="5" name="Text 3"/>
          <p:cNvSpPr txBox="1"/>
          <p:nvPr/>
        </p:nvSpPr>
        <p:spPr>
          <a:xfrm>
            <a:off x="548640" y="1005840"/>
            <a:ext cx="11064240" cy="1463040"/>
          </a:xfrm>
          <a:prstGeom prst="rect">
            <a:avLst/>
          </a:prstGeom>
          <a:noFill/>
          <a:ln/>
        </p:spPr>
        <p:txBody>
          <a:bodyPr wrap="square" lIns="0" tIns="0" rIns="0" bIns="0" rtlCol="0" anchor="t"/>
          <a:lstStyle/>
          <a:p>
            <a:pPr rtl="1" algn="r" indent="0" marL="0">
              <a:buNone/>
            </a:pPr>
            <a:r>
              <a:rPr lang="en-US" sz="2000" b="1" dirty="0">
                <a:solidFill>
                  <a:srgbClr val="1F2937"/>
                </a:solidFill>
                <a:latin typeface="Calibri" pitchFamily="34" charset="0"/>
                <a:ea typeface="Calibri" pitchFamily="34" charset="-122"/>
                <a:cs typeface="Calibri" pitchFamily="34" charset="-120"/>
              </a:rPr>
              <a:t>מתי נדרשת אינטובציה פיברואופטית במקום אינטובציה אנדוטרכיאלית סטנדרטית לפני ניתוח?</a:t>
            </a:r>
            <a:endParaRPr lang="en-US" sz="2000" dirty="0"/>
          </a:p>
        </p:txBody>
      </p:sp>
      <p:sp>
        <p:nvSpPr>
          <p:cNvPr id="6" name="Shape 4"/>
          <p:cNvSpPr/>
          <p:nvPr/>
        </p:nvSpPr>
        <p:spPr>
          <a:xfrm>
            <a:off x="548640" y="2651760"/>
            <a:ext cx="11064240" cy="777240"/>
          </a:xfrm>
          <a:prstGeom prst="roundRect">
            <a:avLst>
              <a:gd name="adj" fmla="val 7059"/>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txBox="1"/>
          <p:nvPr/>
        </p:nvSpPr>
        <p:spPr>
          <a:xfrm>
            <a:off x="10744200" y="2852928"/>
            <a:ext cx="365760" cy="3657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txBox="1"/>
          <p:nvPr/>
        </p:nvSpPr>
        <p:spPr>
          <a:xfrm>
            <a:off x="822960" y="2651760"/>
            <a:ext cx="9784080" cy="777240"/>
          </a:xfrm>
          <a:prstGeom prst="rect">
            <a:avLst/>
          </a:prstGeom>
          <a:noFill/>
          <a:ln/>
        </p:spPr>
        <p:txBody>
          <a:bodyPr wrap="square" lIns="0" tIns="0" rIns="0" bIns="0" rtlCol="0" anchor="ctr"/>
          <a:lstStyle/>
          <a:p>
            <a:pPr rtl="1" algn="r" indent="0" marL="0">
              <a:buNone/>
            </a:pPr>
            <a:r>
              <a:rPr lang="en-US" sz="1350" dirty="0">
                <a:solidFill>
                  <a:srgbClr val="1F2937"/>
                </a:solidFill>
                <a:latin typeface="Calibri" pitchFamily="34" charset="0"/>
                <a:ea typeface="Calibri" pitchFamily="34" charset="-122"/>
                <a:cs typeface="Calibri" pitchFamily="34" charset="-120"/>
              </a:rPr>
              <a:t>בכל ניתוח נוירוכירורגי, ללא יוצא מן הכלל</a:t>
            </a:r>
            <a:endParaRPr lang="en-US" sz="1350" dirty="0"/>
          </a:p>
        </p:txBody>
      </p:sp>
      <p:sp>
        <p:nvSpPr>
          <p:cNvPr id="10" name="Shape 8"/>
          <p:cNvSpPr/>
          <p:nvPr/>
        </p:nvSpPr>
        <p:spPr>
          <a:xfrm>
            <a:off x="548640" y="3584448"/>
            <a:ext cx="11064240" cy="777240"/>
          </a:xfrm>
          <a:prstGeom prst="roundRect">
            <a:avLst>
              <a:gd name="adj" fmla="val 7059"/>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txBox="1"/>
          <p:nvPr/>
        </p:nvSpPr>
        <p:spPr>
          <a:xfrm>
            <a:off x="10744200" y="3785616"/>
            <a:ext cx="365760" cy="3657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txBox="1"/>
          <p:nvPr/>
        </p:nvSpPr>
        <p:spPr>
          <a:xfrm>
            <a:off x="822960" y="3584448"/>
            <a:ext cx="9784080" cy="777240"/>
          </a:xfrm>
          <a:prstGeom prst="rect">
            <a:avLst/>
          </a:prstGeom>
          <a:noFill/>
          <a:ln/>
        </p:spPr>
        <p:txBody>
          <a:bodyPr wrap="square" lIns="0" tIns="0" rIns="0" bIns="0" rtlCol="0" anchor="ctr"/>
          <a:lstStyle/>
          <a:p>
            <a:pPr rtl="1" algn="r" indent="0" marL="0">
              <a:buNone/>
            </a:pPr>
            <a:r>
              <a:rPr lang="en-US" sz="1350" dirty="0">
                <a:solidFill>
                  <a:srgbClr val="1F2937"/>
                </a:solidFill>
                <a:latin typeface="Calibri" pitchFamily="34" charset="0"/>
                <a:ea typeface="Calibri" pitchFamily="34" charset="-122"/>
                <a:cs typeface="Calibri" pitchFamily="34" charset="-120"/>
              </a:rPr>
              <a:t>רק במטופלים מתחת לגיל 18</a:t>
            </a:r>
            <a:endParaRPr lang="en-US" sz="1350" dirty="0"/>
          </a:p>
        </p:txBody>
      </p:sp>
      <p:sp>
        <p:nvSpPr>
          <p:cNvPr id="14" name="Shape 12"/>
          <p:cNvSpPr/>
          <p:nvPr/>
        </p:nvSpPr>
        <p:spPr>
          <a:xfrm>
            <a:off x="548640" y="4517136"/>
            <a:ext cx="11064240" cy="777240"/>
          </a:xfrm>
          <a:prstGeom prst="roundRect">
            <a:avLst>
              <a:gd name="adj" fmla="val 7059"/>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txBox="1"/>
          <p:nvPr/>
        </p:nvSpPr>
        <p:spPr>
          <a:xfrm>
            <a:off x="10744200" y="4718304"/>
            <a:ext cx="365760" cy="3657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txBox="1"/>
          <p:nvPr/>
        </p:nvSpPr>
        <p:spPr>
          <a:xfrm>
            <a:off x="822960" y="4517136"/>
            <a:ext cx="9784080" cy="777240"/>
          </a:xfrm>
          <a:prstGeom prst="rect">
            <a:avLst/>
          </a:prstGeom>
          <a:noFill/>
          <a:ln/>
        </p:spPr>
        <p:txBody>
          <a:bodyPr wrap="square" lIns="0" tIns="0" rIns="0" bIns="0" rtlCol="0" anchor="ctr"/>
          <a:lstStyle/>
          <a:p>
            <a:pPr rtl="1" algn="r" indent="0" marL="0">
              <a:buNone/>
            </a:pPr>
            <a:r>
              <a:rPr lang="en-US" sz="1350" dirty="0">
                <a:solidFill>
                  <a:srgbClr val="1F2937"/>
                </a:solidFill>
                <a:latin typeface="Calibri" pitchFamily="34" charset="0"/>
                <a:ea typeface="Calibri" pitchFamily="34" charset="-122"/>
                <a:cs typeface="Calibri" pitchFamily="34" charset="-120"/>
              </a:rPr>
              <a:t>כאשר קיימת יציבות ספינלית צווארית בסיכון או ספונדילוזיס קשה - כי ההיפראקסטנציה הנדרשת לאינטובציה סטנדרטית עלולה לפגוע בחוט השדרה הצווארי</a:t>
            </a:r>
            <a:endParaRPr lang="en-US" sz="1350" dirty="0"/>
          </a:p>
        </p:txBody>
      </p:sp>
      <p:sp>
        <p:nvSpPr>
          <p:cNvPr id="18" name="Shape 16"/>
          <p:cNvSpPr/>
          <p:nvPr/>
        </p:nvSpPr>
        <p:spPr>
          <a:xfrm>
            <a:off x="548640" y="5449824"/>
            <a:ext cx="11064240" cy="777240"/>
          </a:xfrm>
          <a:prstGeom prst="roundRect">
            <a:avLst>
              <a:gd name="adj" fmla="val 7059"/>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txBox="1"/>
          <p:nvPr/>
        </p:nvSpPr>
        <p:spPr>
          <a:xfrm>
            <a:off x="10744200" y="5650992"/>
            <a:ext cx="365760" cy="3657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txBox="1"/>
          <p:nvPr/>
        </p:nvSpPr>
        <p:spPr>
          <a:xfrm>
            <a:off x="822960" y="5449824"/>
            <a:ext cx="9784080" cy="777240"/>
          </a:xfrm>
          <a:prstGeom prst="rect">
            <a:avLst/>
          </a:prstGeom>
          <a:noFill/>
          <a:ln/>
        </p:spPr>
        <p:txBody>
          <a:bodyPr wrap="square" lIns="0" tIns="0" rIns="0" bIns="0" rtlCol="0" anchor="ctr"/>
          <a:lstStyle/>
          <a:p>
            <a:pPr rtl="1" algn="r" indent="0" marL="0">
              <a:buNone/>
            </a:pPr>
            <a:r>
              <a:rPr lang="en-US" sz="1350" dirty="0">
                <a:solidFill>
                  <a:srgbClr val="1F2937"/>
                </a:solidFill>
                <a:latin typeface="Calibri" pitchFamily="34" charset="0"/>
                <a:ea typeface="Calibri" pitchFamily="34" charset="-122"/>
                <a:cs typeface="Calibri" pitchFamily="34" charset="-120"/>
              </a:rPr>
              <a:t>רק כאשר המטופל מסרב להרדמה כללית</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txBox="1"/>
          <p:nvPr/>
        </p:nvSpPr>
        <p:spPr>
          <a:xfrm>
            <a:off x="457200" y="320040"/>
            <a:ext cx="3108960" cy="365760"/>
          </a:xfrm>
          <a:prstGeom prst="rect">
            <a:avLst/>
          </a:prstGeom>
          <a:noFill/>
          <a:ln/>
        </p:spPr>
        <p:txBody>
          <a:bodyPr wrap="square" lIns="0" tIns="0" rIns="0" bIns="0"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אנסתזיה</a:t>
            </a:r>
            <a:endParaRPr lang="en-US" sz="1200" dirty="0"/>
          </a:p>
        </p:txBody>
      </p:sp>
      <p:sp>
        <p:nvSpPr>
          <p:cNvPr id="4" name="Text 2"/>
          <p:cNvSpPr txBox="1"/>
          <p:nvPr/>
        </p:nvSpPr>
        <p:spPr>
          <a:xfrm>
            <a:off x="548640" y="777240"/>
            <a:ext cx="11064240" cy="640080"/>
          </a:xfrm>
          <a:prstGeom prst="rect">
            <a:avLst/>
          </a:prstGeom>
          <a:noFill/>
          <a:ln/>
        </p:spPr>
        <p:txBody>
          <a:bodyPr wrap="square" lIns="0" tIns="0" rIns="0" bIns="0" rtlCol="0" anchor="t"/>
          <a:lstStyle/>
          <a:p>
            <a:pPr rtl="1" algn="r" indent="0" marL="0">
              <a:buNone/>
            </a:pPr>
            <a:r>
              <a:rPr lang="en-US" sz="1400" b="1" dirty="0">
                <a:solidFill>
                  <a:srgbClr val="15803D"/>
                </a:solidFill>
                <a:latin typeface="Calibri" pitchFamily="34" charset="0"/>
                <a:ea typeface="Calibri" pitchFamily="34" charset="-122"/>
                <a:cs typeface="Calibri" pitchFamily="34" charset="-120"/>
              </a:rPr>
              <a:t>התשובה הנכונה: ג) כאשר קיימת יציבות ספינלית צווארית בסיכון או ספונדילוזיס קשה - כי ההיפראקסטנציה הנדרשת לאינטובציה סטנדרטית עלולה לפגוע בחוט השדרה הצווארי</a:t>
            </a:r>
            <a:endParaRPr lang="en-US" sz="1400" dirty="0"/>
          </a:p>
        </p:txBody>
      </p:sp>
      <p:sp>
        <p:nvSpPr>
          <p:cNvPr id="5" name="Shape 3"/>
          <p:cNvSpPr/>
          <p:nvPr/>
        </p:nvSpPr>
        <p:spPr>
          <a:xfrm>
            <a:off x="548640" y="1554480"/>
            <a:ext cx="7406640" cy="1417320"/>
          </a:xfrm>
          <a:prstGeom prst="roundRect">
            <a:avLst>
              <a:gd name="adj" fmla="val 3226"/>
            </a:avLst>
          </a:prstGeom>
          <a:solidFill>
            <a:srgbClr val="F8FAFC"/>
          </a:solidFill>
          <a:ln/>
        </p:spPr>
      </p:sp>
      <p:sp>
        <p:nvSpPr>
          <p:cNvPr id="6" name="Text 4"/>
          <p:cNvSpPr txBox="1"/>
          <p:nvPr/>
        </p:nvSpPr>
        <p:spPr>
          <a:xfrm>
            <a:off x="731520" y="1627632"/>
            <a:ext cx="7040880" cy="274320"/>
          </a:xfrm>
          <a:prstGeom prst="rect">
            <a:avLst/>
          </a:prstGeom>
          <a:noFill/>
          <a:ln/>
        </p:spPr>
        <p:txBody>
          <a:bodyPr wrap="square" lIns="0" tIns="0" rIns="0" bIns="0" rtlCol="0" anchor="t"/>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7" name="Text 5"/>
          <p:cNvSpPr txBox="1"/>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הפרק מציין במפורש שבמקרים של אי-יציבות צווארית או ספונדילוזיס קשה, ההיפראקסטנציה הנדרשת לאינטובציה אנדוטרכיאלית סטנדרטית עלולה לסכן את חוט השדרה הצווארי. אינטובציה פיברואופטית מאפשרת החדרת הצינור בלי לחייב את אותה היפראקסטנציה מסוכנת, ולכן היא הבחירה הבטוחה יותר במקרים אלו. זהו שיקול שחייב להיות מתואם מראש עם צוות האנסתזיה.</a:t>
            </a:r>
            <a:endParaRPr lang="en-US" sz="1000" dirty="0"/>
          </a:p>
        </p:txBody>
      </p:sp>
      <p:sp>
        <p:nvSpPr>
          <p:cNvPr id="8" name="Shape 6"/>
          <p:cNvSpPr/>
          <p:nvPr/>
        </p:nvSpPr>
        <p:spPr>
          <a:xfrm>
            <a:off x="548640" y="3108960"/>
            <a:ext cx="7406640" cy="914400"/>
          </a:xfrm>
          <a:prstGeom prst="roundRect">
            <a:avLst>
              <a:gd name="adj" fmla="val 5000"/>
            </a:avLst>
          </a:prstGeom>
          <a:solidFill>
            <a:srgbClr val="EFF6FF"/>
          </a:solidFill>
          <a:ln/>
        </p:spPr>
      </p:sp>
      <p:sp>
        <p:nvSpPr>
          <p:cNvPr id="9" name="Text 7"/>
          <p:cNvSpPr txBox="1"/>
          <p:nvPr/>
        </p:nvSpPr>
        <p:spPr>
          <a:xfrm>
            <a:off x="731520" y="3182112"/>
            <a:ext cx="7040880" cy="274320"/>
          </a:xfrm>
          <a:prstGeom prst="rect">
            <a:avLst/>
          </a:prstGeom>
          <a:noFill/>
          <a:ln/>
        </p:spPr>
        <p:txBody>
          <a:bodyPr wrap="square" lIns="0" tIns="0" rIns="0" bIns="0" rtlCol="0" anchor="t"/>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Fiberoptic intubation</a:t>
            </a:r>
            <a:endParaRPr lang="en-US" sz="1150" dirty="0"/>
          </a:p>
        </p:txBody>
      </p:sp>
      <p:sp>
        <p:nvSpPr>
          <p:cNvPr id="10" name="Text 8"/>
          <p:cNvSpPr txBox="1"/>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שיטת אינטובציה המשתמשת בסיב אופטי גמיש להחדרת הצינור לקנה הנשימה, תוך הימנעות מהיפראקסטנציה משמעותית של הצוואר - מועדפת ביציבות צווארית בסיכון.</a:t>
            </a:r>
            <a:endParaRPr lang="en-US" sz="950" dirty="0"/>
          </a:p>
        </p:txBody>
      </p:sp>
      <p:sp>
        <p:nvSpPr>
          <p:cNvPr id="11" name="Shape 9"/>
          <p:cNvSpPr/>
          <p:nvPr/>
        </p:nvSpPr>
        <p:spPr>
          <a:xfrm>
            <a:off x="548640" y="4160520"/>
            <a:ext cx="7406640" cy="1417320"/>
          </a:xfrm>
          <a:prstGeom prst="roundRect">
            <a:avLst>
              <a:gd name="adj" fmla="val 3226"/>
            </a:avLst>
          </a:prstGeom>
          <a:solidFill>
            <a:srgbClr val="F5F3FF"/>
          </a:solidFill>
          <a:ln/>
        </p:spPr>
      </p:sp>
      <p:sp>
        <p:nvSpPr>
          <p:cNvPr id="12" name="Text 10"/>
          <p:cNvSpPr txBox="1"/>
          <p:nvPr/>
        </p:nvSpPr>
        <p:spPr>
          <a:xfrm>
            <a:off x="731520" y="4233672"/>
            <a:ext cx="7040880" cy="274320"/>
          </a:xfrm>
          <a:prstGeom prst="rect">
            <a:avLst/>
          </a:prstGeom>
          <a:noFill/>
          <a:ln/>
        </p:spPr>
        <p:txBody>
          <a:bodyPr wrap="square" lIns="0" tIns="0" rIns="0" bIns="0" rtlCol="0" anchor="t"/>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13" name="Text 11"/>
          <p:cNvSpPr txBox="1"/>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ניסיון להרכין ראש של בובת עץ עם ציר שבור בצוואר - כל הטיה אחורית נוספת עלולה לשבור אותו לגמרי. אינטובציה פיברואופטית היא הדרך 'לעקוף' את ההטיה המסוכנת הזו.</a:t>
            </a:r>
            <a:endParaRPr lang="en-US" sz="950" dirty="0"/>
          </a:p>
        </p:txBody>
      </p:sp>
      <p:sp>
        <p:nvSpPr>
          <p:cNvPr id="14" name="Text 12"/>
          <p:cNvSpPr txBox="1"/>
          <p:nvPr/>
        </p:nvSpPr>
        <p:spPr>
          <a:xfrm>
            <a:off x="731520" y="5047488"/>
            <a:ext cx="7040880" cy="502920"/>
          </a:xfrm>
          <a:prstGeom prst="rect">
            <a:avLst/>
          </a:prstGeom>
          <a:noFill/>
          <a:ln/>
        </p:spPr>
        <p:txBody>
          <a:bodyPr wrap="square" lIns="0" tIns="0" rIns="0" bIns="0" rtlCol="0" anchor="t"/>
          <a:lstStyle/>
          <a:p>
            <a:pPr rtl="1" algn="r" indent="0" marL="0">
              <a:buNone/>
            </a:pPr>
            <a:r>
              <a:rPr lang="en-US" sz="900" dirty="0">
                <a:solidFill>
                  <a:srgbClr val="5B21B6"/>
                </a:solidFill>
                <a:latin typeface="Calibri" pitchFamily="34" charset="0"/>
                <a:ea typeface="Calibri" pitchFamily="34" charset="-122"/>
                <a:cs typeface="Calibri" pitchFamily="34" charset="-120"/>
              </a:rPr>
              <a:t>שאלי את עצמך: למה בכלל אינטובציה סטנדרטית דורשת היפראקסטנציה?</a:t>
            </a:r>
            <a:endParaRPr lang="en-US" sz="900" dirty="0"/>
          </a:p>
        </p:txBody>
      </p:sp>
      <p:sp>
        <p:nvSpPr>
          <p:cNvPr id="15" name="Text 13"/>
          <p:cNvSpPr txBox="1"/>
          <p:nvPr/>
        </p:nvSpPr>
        <p:spPr>
          <a:xfrm>
            <a:off x="8138160" y="1554480"/>
            <a:ext cx="3474720" cy="320040"/>
          </a:xfrm>
          <a:prstGeom prst="rect">
            <a:avLst/>
          </a:prstGeom>
          <a:noFill/>
          <a:ln/>
        </p:spPr>
        <p:txBody>
          <a:bodyPr wrap="square" lIns="0" tIns="0" rIns="0" bIns="0" rtlCol="0" anchor="t"/>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16" name="Shape 14"/>
          <p:cNvSpPr/>
          <p:nvPr/>
        </p:nvSpPr>
        <p:spPr>
          <a:xfrm>
            <a:off x="8138160" y="1920240"/>
            <a:ext cx="3474720" cy="777240"/>
          </a:xfrm>
          <a:prstGeom prst="roundRect">
            <a:avLst>
              <a:gd name="adj" fmla="val 5882"/>
            </a:avLst>
          </a:prstGeom>
          <a:solidFill>
            <a:srgbClr val="1C7293"/>
          </a:solidFill>
          <a:ln/>
        </p:spPr>
      </p:sp>
      <p:sp>
        <p:nvSpPr>
          <p:cNvPr id="17" name="Text 15"/>
          <p:cNvSpPr txBox="1"/>
          <p:nvPr/>
        </p:nvSpPr>
        <p:spPr>
          <a:xfrm>
            <a:off x="8275320" y="1975968"/>
            <a:ext cx="2880360" cy="667512"/>
          </a:xfrm>
          <a:prstGeom prst="rect">
            <a:avLst/>
          </a:prstGeom>
          <a:noFill/>
          <a:ln/>
        </p:spPr>
        <p:txBody>
          <a:bodyPr wrap="square" lIns="0" tIns="0" rIns="0" bIns="0" rtlCol="0" anchor="ctr"/>
          <a:lstStyle/>
          <a:p>
            <a:pPr rtl="1" algn="r" indent="0" marL="0">
              <a:buNone/>
            </a:pPr>
            <a:r>
              <a:rPr lang="en-US" sz="950" dirty="0">
                <a:solidFill>
                  <a:srgbClr val="FFFFFF"/>
                </a:solidFill>
                <a:latin typeface="Calibri" pitchFamily="34" charset="0"/>
                <a:ea typeface="Calibri" pitchFamily="34" charset="-122"/>
                <a:cs typeface="Calibri" pitchFamily="34" charset="-120"/>
              </a:rPr>
              <a:t>אינטובציה סטנדרטית: דורשת היפראקסטנציה של הצוואר</a:t>
            </a:r>
            <a:endParaRPr lang="en-US" sz="950" dirty="0"/>
          </a:p>
        </p:txBody>
      </p:sp>
      <p:sp>
        <p:nvSpPr>
          <p:cNvPr id="18" name="Shape 16"/>
          <p:cNvSpPr/>
          <p:nvPr/>
        </p:nvSpPr>
        <p:spPr>
          <a:xfrm>
            <a:off x="8138160" y="2788920"/>
            <a:ext cx="3474720" cy="777240"/>
          </a:xfrm>
          <a:prstGeom prst="roundRect">
            <a:avLst>
              <a:gd name="adj" fmla="val 5882"/>
            </a:avLst>
          </a:prstGeom>
          <a:solidFill>
            <a:srgbClr val="B91C1C"/>
          </a:solidFill>
          <a:ln/>
        </p:spPr>
      </p:sp>
      <p:sp>
        <p:nvSpPr>
          <p:cNvPr id="19" name="Text 17"/>
          <p:cNvSpPr txBox="1"/>
          <p:nvPr/>
        </p:nvSpPr>
        <p:spPr>
          <a:xfrm>
            <a:off x="8275320" y="2844648"/>
            <a:ext cx="2880360" cy="667512"/>
          </a:xfrm>
          <a:prstGeom prst="rect">
            <a:avLst/>
          </a:prstGeom>
          <a:noFill/>
          <a:ln/>
        </p:spPr>
        <p:txBody>
          <a:bodyPr wrap="square" lIns="0" tIns="0" rIns="0" bIns="0" rtlCol="0" anchor="ctr"/>
          <a:lstStyle/>
          <a:p>
            <a:pPr rtl="1" algn="r" indent="0" marL="0">
              <a:buNone/>
            </a:pPr>
            <a:r>
              <a:rPr lang="en-US" sz="950" dirty="0">
                <a:solidFill>
                  <a:srgbClr val="FFFFFF"/>
                </a:solidFill>
                <a:latin typeface="Calibri" pitchFamily="34" charset="0"/>
                <a:ea typeface="Calibri" pitchFamily="34" charset="-122"/>
                <a:cs typeface="Calibri" pitchFamily="34" charset="-120"/>
              </a:rPr>
              <a:t>יציבות צווארית בסיכון / ספונדילוזיס קשה: היפראקסטנציה מסוכנת</a:t>
            </a:r>
            <a:endParaRPr lang="en-US" sz="950" dirty="0"/>
          </a:p>
        </p:txBody>
      </p:sp>
      <p:sp>
        <p:nvSpPr>
          <p:cNvPr id="20" name="Shape 18"/>
          <p:cNvSpPr/>
          <p:nvPr/>
        </p:nvSpPr>
        <p:spPr>
          <a:xfrm>
            <a:off x="8138160" y="3657600"/>
            <a:ext cx="3474720" cy="777240"/>
          </a:xfrm>
          <a:prstGeom prst="roundRect">
            <a:avLst>
              <a:gd name="adj" fmla="val 5882"/>
            </a:avLst>
          </a:prstGeom>
          <a:solidFill>
            <a:srgbClr val="15803D"/>
          </a:solidFill>
          <a:ln/>
        </p:spPr>
      </p:sp>
      <p:sp>
        <p:nvSpPr>
          <p:cNvPr id="21" name="Text 19"/>
          <p:cNvSpPr txBox="1"/>
          <p:nvPr/>
        </p:nvSpPr>
        <p:spPr>
          <a:xfrm>
            <a:off x="8275320" y="3713328"/>
            <a:ext cx="2880360" cy="667512"/>
          </a:xfrm>
          <a:prstGeom prst="rect">
            <a:avLst/>
          </a:prstGeom>
          <a:noFill/>
          <a:ln/>
        </p:spPr>
        <p:txBody>
          <a:bodyPr wrap="square" lIns="0" tIns="0" rIns="0" bIns="0" rtlCol="0" anchor="ctr"/>
          <a:lstStyle/>
          <a:p>
            <a:pPr rtl="1" algn="r" indent="0" marL="0">
              <a:buNone/>
            </a:pPr>
            <a:r>
              <a:rPr lang="en-US" sz="950" dirty="0">
                <a:solidFill>
                  <a:srgbClr val="FFFFFF"/>
                </a:solidFill>
                <a:latin typeface="Calibri" pitchFamily="34" charset="0"/>
                <a:ea typeface="Calibri" pitchFamily="34" charset="-122"/>
                <a:cs typeface="Calibri" pitchFamily="34" charset="-120"/>
              </a:rPr>
              <a:t>אינטובציה פיברואופטית: פותרת - בלי צורך בהיפראקסטנציה</a:t>
            </a:r>
            <a:endParaRPr lang="en-US" sz="950" dirty="0"/>
          </a:p>
        </p:txBody>
      </p:sp>
      <p:sp>
        <p:nvSpPr>
          <p:cNvPr id="22" name="Text 20"/>
          <p:cNvSpPr txBox="1"/>
          <p:nvPr/>
        </p:nvSpPr>
        <p:spPr>
          <a:xfrm>
            <a:off x="548640" y="6446520"/>
            <a:ext cx="11064240" cy="320040"/>
          </a:xfrm>
          <a:prstGeom prst="rect">
            <a:avLst/>
          </a:prstGeom>
          <a:noFill/>
          <a:ln/>
        </p:spPr>
        <p:txBody>
          <a:bodyPr wrap="square" lIns="0" tIns="0" rIns="0" bIns="0" rtlCol="0" anchor="t"/>
          <a:lstStyle/>
          <a:p>
            <a:pPr rtl="1" algn="ctr" indent="0" marL="0">
              <a:buNone/>
            </a:pPr>
            <a:r>
              <a:rPr lang="en-US" sz="900"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השתמשו באתר הכרטיסיות המקוון.</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txBox="1"/>
          <p:nvPr/>
        </p:nvSpPr>
        <p:spPr>
          <a:xfrm>
            <a:off x="457200" y="365760"/>
            <a:ext cx="3108960" cy="384048"/>
          </a:xfrm>
          <a:prstGeom prst="rect">
            <a:avLst/>
          </a:prstGeom>
          <a:noFill/>
          <a:ln/>
        </p:spPr>
        <p:txBody>
          <a:bodyPr wrap="square" lIns="0" tIns="0" rIns="0" bIns="0"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תכנון ספינלי</a:t>
            </a:r>
            <a:endParaRPr lang="en-US" sz="1250" dirty="0"/>
          </a:p>
        </p:txBody>
      </p:sp>
      <p:sp>
        <p:nvSpPr>
          <p:cNvPr id="4" name="Text 2"/>
          <p:cNvSpPr txBox="1"/>
          <p:nvPr/>
        </p:nvSpPr>
        <p:spPr>
          <a:xfrm>
            <a:off x="8531352" y="365760"/>
            <a:ext cx="3108960" cy="384048"/>
          </a:xfrm>
          <a:prstGeom prst="rect">
            <a:avLst/>
          </a:prstGeom>
          <a:noFill/>
          <a:ln/>
        </p:spPr>
        <p:txBody>
          <a:bodyPr wrap="square" lIns="0" tIns="0" rIns="0" bIns="0" rtlCol="0" anchor="ctr"/>
          <a:lstStyle/>
          <a:p>
            <a:pPr rtl="1" algn="l" indent="0" marL="0">
              <a:buNone/>
            </a:pPr>
            <a:r>
              <a:rPr lang="en-US" sz="1200" dirty="0">
                <a:solidFill>
                  <a:srgbClr val="9CA3AF"/>
                </a:solidFill>
                <a:latin typeface="Calibri" pitchFamily="34" charset="0"/>
                <a:ea typeface="Calibri" pitchFamily="34" charset="-122"/>
                <a:cs typeface="Calibri" pitchFamily="34" charset="-120"/>
              </a:rPr>
              <a:t>כרטיסייה 4 מתוך 5</a:t>
            </a:r>
            <a:endParaRPr lang="en-US" sz="1200" dirty="0"/>
          </a:p>
        </p:txBody>
      </p:sp>
      <p:sp>
        <p:nvSpPr>
          <p:cNvPr id="5" name="Text 3"/>
          <p:cNvSpPr txBox="1"/>
          <p:nvPr/>
        </p:nvSpPr>
        <p:spPr>
          <a:xfrm>
            <a:off x="548640" y="1005840"/>
            <a:ext cx="11064240" cy="1463040"/>
          </a:xfrm>
          <a:prstGeom prst="rect">
            <a:avLst/>
          </a:prstGeom>
          <a:noFill/>
          <a:ln/>
        </p:spPr>
        <p:txBody>
          <a:bodyPr wrap="square" lIns="0" tIns="0" rIns="0" bIns="0" rtlCol="0" anchor="t"/>
          <a:lstStyle/>
          <a:p>
            <a:pPr rtl="1" algn="r" indent="0" marL="0">
              <a:buNone/>
            </a:pPr>
            <a:r>
              <a:rPr lang="en-US" sz="2000" b="1" dirty="0">
                <a:solidFill>
                  <a:srgbClr val="1F2937"/>
                </a:solidFill>
                <a:latin typeface="Calibri" pitchFamily="34" charset="0"/>
                <a:ea typeface="Calibri" pitchFamily="34" charset="-122"/>
                <a:cs typeface="Calibri" pitchFamily="34" charset="-120"/>
              </a:rPr>
              <a:t>מה חייב להיכלל בשיחת ההסכמה מדעת כשהתוכנית הכירורגית כוללת פיוזן עם קציר אוטוגרפט מכסל האגן?</a:t>
            </a:r>
            <a:endParaRPr lang="en-US" sz="2000" dirty="0"/>
          </a:p>
        </p:txBody>
      </p:sp>
      <p:sp>
        <p:nvSpPr>
          <p:cNvPr id="6" name="Shape 4"/>
          <p:cNvSpPr/>
          <p:nvPr/>
        </p:nvSpPr>
        <p:spPr>
          <a:xfrm>
            <a:off x="548640" y="2651760"/>
            <a:ext cx="11064240" cy="777240"/>
          </a:xfrm>
          <a:prstGeom prst="roundRect">
            <a:avLst>
              <a:gd name="adj" fmla="val 7059"/>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txBox="1"/>
          <p:nvPr/>
        </p:nvSpPr>
        <p:spPr>
          <a:xfrm>
            <a:off x="10744200" y="2852928"/>
            <a:ext cx="365760" cy="3657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txBox="1"/>
          <p:nvPr/>
        </p:nvSpPr>
        <p:spPr>
          <a:xfrm>
            <a:off x="822960" y="2651760"/>
            <a:ext cx="9784080" cy="777240"/>
          </a:xfrm>
          <a:prstGeom prst="rect">
            <a:avLst/>
          </a:prstGeom>
          <a:noFill/>
          <a:ln/>
        </p:spPr>
        <p:txBody>
          <a:bodyPr wrap="square" lIns="0" tIns="0" rIns="0" bIns="0" rtlCol="0" anchor="ctr"/>
          <a:lstStyle/>
          <a:p>
            <a:pPr rtl="1" algn="r" indent="0" marL="0">
              <a:buNone/>
            </a:pPr>
            <a:r>
              <a:rPr lang="en-US" sz="1350" dirty="0">
                <a:solidFill>
                  <a:srgbClr val="1F2937"/>
                </a:solidFill>
                <a:latin typeface="Calibri" pitchFamily="34" charset="0"/>
                <a:ea typeface="Calibri" pitchFamily="34" charset="-122"/>
                <a:cs typeface="Calibri" pitchFamily="34" charset="-120"/>
              </a:rPr>
              <a:t>המטופל צריך להיות מודע מראש לתוכנית קציר כסל האגן, וכן לדיון בחלופות (אלוגרפט/סינתטי) - כי חלק מהמטופלים אינם מסכימים לכל אחת מהאפשרויות הללו</a:t>
            </a:r>
            <a:endParaRPr lang="en-US" sz="1350" dirty="0"/>
          </a:p>
        </p:txBody>
      </p:sp>
      <p:sp>
        <p:nvSpPr>
          <p:cNvPr id="10" name="Shape 8"/>
          <p:cNvSpPr/>
          <p:nvPr/>
        </p:nvSpPr>
        <p:spPr>
          <a:xfrm>
            <a:off x="548640" y="3584448"/>
            <a:ext cx="11064240" cy="777240"/>
          </a:xfrm>
          <a:prstGeom prst="roundRect">
            <a:avLst>
              <a:gd name="adj" fmla="val 7059"/>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txBox="1"/>
          <p:nvPr/>
        </p:nvSpPr>
        <p:spPr>
          <a:xfrm>
            <a:off x="10744200" y="3785616"/>
            <a:ext cx="365760" cy="3657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txBox="1"/>
          <p:nvPr/>
        </p:nvSpPr>
        <p:spPr>
          <a:xfrm>
            <a:off x="822960" y="3584448"/>
            <a:ext cx="9784080" cy="777240"/>
          </a:xfrm>
          <a:prstGeom prst="rect">
            <a:avLst/>
          </a:prstGeom>
          <a:noFill/>
          <a:ln/>
        </p:spPr>
        <p:txBody>
          <a:bodyPr wrap="square" lIns="0" tIns="0" rIns="0" bIns="0" rtlCol="0" anchor="ctr"/>
          <a:lstStyle/>
          <a:p>
            <a:pPr rtl="1" algn="r" indent="0" marL="0">
              <a:buNone/>
            </a:pPr>
            <a:r>
              <a:rPr lang="en-US" sz="1350" dirty="0">
                <a:solidFill>
                  <a:srgbClr val="1F2937"/>
                </a:solidFill>
                <a:latin typeface="Calibri" pitchFamily="34" charset="0"/>
                <a:ea typeface="Calibri" pitchFamily="34" charset="-122"/>
                <a:cs typeface="Calibri" pitchFamily="34" charset="-120"/>
              </a:rPr>
              <a:t>אין צורך להזכיר זאת כלל - זה פרט טכני פנימי של הניתוח</a:t>
            </a:r>
            <a:endParaRPr lang="en-US" sz="1350" dirty="0"/>
          </a:p>
        </p:txBody>
      </p:sp>
      <p:sp>
        <p:nvSpPr>
          <p:cNvPr id="14" name="Shape 12"/>
          <p:cNvSpPr/>
          <p:nvPr/>
        </p:nvSpPr>
        <p:spPr>
          <a:xfrm>
            <a:off x="548640" y="4517136"/>
            <a:ext cx="11064240" cy="777240"/>
          </a:xfrm>
          <a:prstGeom prst="roundRect">
            <a:avLst>
              <a:gd name="adj" fmla="val 7059"/>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txBox="1"/>
          <p:nvPr/>
        </p:nvSpPr>
        <p:spPr>
          <a:xfrm>
            <a:off x="10744200" y="4718304"/>
            <a:ext cx="365760" cy="3657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txBox="1"/>
          <p:nvPr/>
        </p:nvSpPr>
        <p:spPr>
          <a:xfrm>
            <a:off x="822960" y="4517136"/>
            <a:ext cx="9784080" cy="777240"/>
          </a:xfrm>
          <a:prstGeom prst="rect">
            <a:avLst/>
          </a:prstGeom>
          <a:noFill/>
          <a:ln/>
        </p:spPr>
        <p:txBody>
          <a:bodyPr wrap="square" lIns="0" tIns="0" rIns="0" bIns="0" rtlCol="0" anchor="ctr"/>
          <a:lstStyle/>
          <a:p>
            <a:pPr rtl="1" algn="r" indent="0" marL="0">
              <a:buNone/>
            </a:pPr>
            <a:r>
              <a:rPr lang="en-US" sz="1350" dirty="0">
                <a:solidFill>
                  <a:srgbClr val="1F2937"/>
                </a:solidFill>
                <a:latin typeface="Calibri" pitchFamily="34" charset="0"/>
                <a:ea typeface="Calibri" pitchFamily="34" charset="-122"/>
                <a:cs typeface="Calibri" pitchFamily="34" charset="-120"/>
              </a:rPr>
              <a:t>יש להחליט על כך רק תוך-ניתוחית, לפי מה שהמנתח מוצא מתאים בזמן אמת</a:t>
            </a:r>
            <a:endParaRPr lang="en-US" sz="1350" dirty="0"/>
          </a:p>
        </p:txBody>
      </p:sp>
      <p:sp>
        <p:nvSpPr>
          <p:cNvPr id="18" name="Shape 16"/>
          <p:cNvSpPr/>
          <p:nvPr/>
        </p:nvSpPr>
        <p:spPr>
          <a:xfrm>
            <a:off x="548640" y="5449824"/>
            <a:ext cx="11064240" cy="777240"/>
          </a:xfrm>
          <a:prstGeom prst="roundRect">
            <a:avLst>
              <a:gd name="adj" fmla="val 7059"/>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txBox="1"/>
          <p:nvPr/>
        </p:nvSpPr>
        <p:spPr>
          <a:xfrm>
            <a:off x="10744200" y="5650992"/>
            <a:ext cx="365760" cy="3657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txBox="1"/>
          <p:nvPr/>
        </p:nvSpPr>
        <p:spPr>
          <a:xfrm>
            <a:off x="822960" y="5449824"/>
            <a:ext cx="9784080" cy="777240"/>
          </a:xfrm>
          <a:prstGeom prst="rect">
            <a:avLst/>
          </a:prstGeom>
          <a:noFill/>
          <a:ln/>
        </p:spPr>
        <p:txBody>
          <a:bodyPr wrap="square" lIns="0" tIns="0" rIns="0" bIns="0" rtlCol="0" anchor="ctr"/>
          <a:lstStyle/>
          <a:p>
            <a:pPr rtl="1" algn="r" indent="0" marL="0">
              <a:buNone/>
            </a:pPr>
            <a:r>
              <a:rPr lang="en-US" sz="1350" dirty="0">
                <a:solidFill>
                  <a:srgbClr val="1F2937"/>
                </a:solidFill>
                <a:latin typeface="Calibri" pitchFamily="34" charset="0"/>
                <a:ea typeface="Calibri" pitchFamily="34" charset="-122"/>
                <a:cs typeface="Calibri" pitchFamily="34" charset="-120"/>
              </a:rPr>
              <a:t>קציר כסל האגן אף פעם לא נדרש בניתוחי פיוזן ספינלי</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txBox="1"/>
          <p:nvPr/>
        </p:nvSpPr>
        <p:spPr>
          <a:xfrm>
            <a:off x="457200" y="320040"/>
            <a:ext cx="3108960" cy="365760"/>
          </a:xfrm>
          <a:prstGeom prst="rect">
            <a:avLst/>
          </a:prstGeom>
          <a:noFill/>
          <a:ln/>
        </p:spPr>
        <p:txBody>
          <a:bodyPr wrap="square" lIns="0" tIns="0" rIns="0" bIns="0"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תכנון ספינלי</a:t>
            </a:r>
            <a:endParaRPr lang="en-US" sz="1200" dirty="0"/>
          </a:p>
        </p:txBody>
      </p:sp>
      <p:sp>
        <p:nvSpPr>
          <p:cNvPr id="4" name="Text 2"/>
          <p:cNvSpPr txBox="1"/>
          <p:nvPr/>
        </p:nvSpPr>
        <p:spPr>
          <a:xfrm>
            <a:off x="548640" y="777240"/>
            <a:ext cx="11064240" cy="640080"/>
          </a:xfrm>
          <a:prstGeom prst="rect">
            <a:avLst/>
          </a:prstGeom>
          <a:noFill/>
          <a:ln/>
        </p:spPr>
        <p:txBody>
          <a:bodyPr wrap="square" lIns="0" tIns="0" rIns="0" bIns="0" rtlCol="0" anchor="t"/>
          <a:lstStyle/>
          <a:p>
            <a:pPr rtl="1" algn="r" indent="0" marL="0">
              <a:buNone/>
            </a:pPr>
            <a:r>
              <a:rPr lang="en-US" sz="1400" b="1" dirty="0">
                <a:solidFill>
                  <a:srgbClr val="15803D"/>
                </a:solidFill>
                <a:latin typeface="Calibri" pitchFamily="34" charset="0"/>
                <a:ea typeface="Calibri" pitchFamily="34" charset="-122"/>
                <a:cs typeface="Calibri" pitchFamily="34" charset="-120"/>
              </a:rPr>
              <a:t>התשובה הנכונה: א) המטופל צריך להיות מודע מראש לתוכנית קציר כסל האגן, וכן לדיון בחלופות (אלוגרפט/סינתטי) - כי חלק מהמטופלים אינם מסכימים לכל אחת מהאפשרויות הללו</a:t>
            </a:r>
            <a:endParaRPr lang="en-US" sz="1400" dirty="0"/>
          </a:p>
        </p:txBody>
      </p:sp>
      <p:sp>
        <p:nvSpPr>
          <p:cNvPr id="5" name="Shape 3"/>
          <p:cNvSpPr/>
          <p:nvPr/>
        </p:nvSpPr>
        <p:spPr>
          <a:xfrm>
            <a:off x="548640" y="1554480"/>
            <a:ext cx="7406640" cy="1417320"/>
          </a:xfrm>
          <a:prstGeom prst="roundRect">
            <a:avLst>
              <a:gd name="adj" fmla="val 3226"/>
            </a:avLst>
          </a:prstGeom>
          <a:solidFill>
            <a:srgbClr val="F8FAFC"/>
          </a:solidFill>
          <a:ln/>
        </p:spPr>
      </p:sp>
      <p:sp>
        <p:nvSpPr>
          <p:cNvPr id="6" name="Text 4"/>
          <p:cNvSpPr txBox="1"/>
          <p:nvPr/>
        </p:nvSpPr>
        <p:spPr>
          <a:xfrm>
            <a:off x="731520" y="1627632"/>
            <a:ext cx="7040880" cy="274320"/>
          </a:xfrm>
          <a:prstGeom prst="rect">
            <a:avLst/>
          </a:prstGeom>
          <a:noFill/>
          <a:ln/>
        </p:spPr>
        <p:txBody>
          <a:bodyPr wrap="square" lIns="0" tIns="0" rIns="0" bIns="0" rtlCol="0" anchor="t"/>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7" name="Text 5"/>
          <p:cNvSpPr txBox="1"/>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הפרק מציין שאם התוכנית הכירורגית כוללת פיוזן עם צורך בשתל עצם, יש לתכנן מראש את קציר האוטוגרפט (כולל כסל האגן), ולהודיע למטופל מראש על התוכנית. בנוסף, יש לדון עם המטופל בחלופות - אלוגרפט או שתל סינתטי - כי חלק מהמטופלים אינם מסכימים לשימוש בחלופות אלו מסיבות אישיות, ולכן זהו חלק בלתי נפרד משיחת ההסכמה מדעת, לא פרט טכני שאפשר לדלג עליו.</a:t>
            </a:r>
            <a:endParaRPr lang="en-US" sz="1000" dirty="0"/>
          </a:p>
        </p:txBody>
      </p:sp>
      <p:sp>
        <p:nvSpPr>
          <p:cNvPr id="8" name="Shape 6"/>
          <p:cNvSpPr/>
          <p:nvPr/>
        </p:nvSpPr>
        <p:spPr>
          <a:xfrm>
            <a:off x="548640" y="3108960"/>
            <a:ext cx="7406640" cy="914400"/>
          </a:xfrm>
          <a:prstGeom prst="roundRect">
            <a:avLst>
              <a:gd name="adj" fmla="val 5000"/>
            </a:avLst>
          </a:prstGeom>
          <a:solidFill>
            <a:srgbClr val="EFF6FF"/>
          </a:solidFill>
          <a:ln/>
        </p:spPr>
      </p:sp>
      <p:sp>
        <p:nvSpPr>
          <p:cNvPr id="9" name="Text 7"/>
          <p:cNvSpPr txBox="1"/>
          <p:nvPr/>
        </p:nvSpPr>
        <p:spPr>
          <a:xfrm>
            <a:off x="731520" y="3182112"/>
            <a:ext cx="7040880" cy="274320"/>
          </a:xfrm>
          <a:prstGeom prst="rect">
            <a:avLst/>
          </a:prstGeom>
          <a:noFill/>
          <a:ln/>
        </p:spPr>
        <p:txBody>
          <a:bodyPr wrap="square" lIns="0" tIns="0" rIns="0" bIns="0" rtlCol="0" anchor="t"/>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Autograft vs. allograft bone</a:t>
            </a:r>
            <a:endParaRPr lang="en-US" sz="1150" dirty="0"/>
          </a:p>
        </p:txBody>
      </p:sp>
      <p:sp>
        <p:nvSpPr>
          <p:cNvPr id="10" name="Text 8"/>
          <p:cNvSpPr txBox="1"/>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אוטוגרפט - עצם הנלקחת מגוף המטופל עצמו (למשל כסל האגן); אלוגרפט - עצם תורם; יש מטופלים שמתנגדים משיקולים אישיים לאחת מהחלופות, ולכן נדרשת הסכמה מפורשת.</a:t>
            </a:r>
            <a:endParaRPr lang="en-US" sz="950" dirty="0"/>
          </a:p>
        </p:txBody>
      </p:sp>
      <p:sp>
        <p:nvSpPr>
          <p:cNvPr id="11" name="Shape 9"/>
          <p:cNvSpPr/>
          <p:nvPr/>
        </p:nvSpPr>
        <p:spPr>
          <a:xfrm>
            <a:off x="548640" y="4160520"/>
            <a:ext cx="7406640" cy="1417320"/>
          </a:xfrm>
          <a:prstGeom prst="roundRect">
            <a:avLst>
              <a:gd name="adj" fmla="val 3226"/>
            </a:avLst>
          </a:prstGeom>
          <a:solidFill>
            <a:srgbClr val="F5F3FF"/>
          </a:solidFill>
          <a:ln/>
        </p:spPr>
      </p:sp>
      <p:sp>
        <p:nvSpPr>
          <p:cNvPr id="12" name="Text 10"/>
          <p:cNvSpPr txBox="1"/>
          <p:nvPr/>
        </p:nvSpPr>
        <p:spPr>
          <a:xfrm>
            <a:off x="731520" y="4233672"/>
            <a:ext cx="7040880" cy="274320"/>
          </a:xfrm>
          <a:prstGeom prst="rect">
            <a:avLst/>
          </a:prstGeom>
          <a:noFill/>
          <a:ln/>
        </p:spPr>
        <p:txBody>
          <a:bodyPr wrap="square" lIns="0" tIns="0" rIns="0" bIns="0" rtlCol="0" anchor="t"/>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13" name="Text 11"/>
          <p:cNvSpPr txBox="1"/>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שאתה עובר שיפוץ בית וקבלן מודיע לך רק אחרי שהעבודה הסתיימה שהוא השתמש בחומרי בניין שלא אישרת - כך בדיוק מרגיש מטופל שלא נשאל מראש על מקור השתל.</a:t>
            </a:r>
            <a:endParaRPr lang="en-US" sz="950" dirty="0"/>
          </a:p>
        </p:txBody>
      </p:sp>
      <p:sp>
        <p:nvSpPr>
          <p:cNvPr id="14" name="Text 12"/>
          <p:cNvSpPr txBox="1"/>
          <p:nvPr/>
        </p:nvSpPr>
        <p:spPr>
          <a:xfrm>
            <a:off x="731520" y="5047488"/>
            <a:ext cx="7040880" cy="502920"/>
          </a:xfrm>
          <a:prstGeom prst="rect">
            <a:avLst/>
          </a:prstGeom>
          <a:noFill/>
          <a:ln/>
        </p:spPr>
        <p:txBody>
          <a:bodyPr wrap="square" lIns="0" tIns="0" rIns="0" bIns="0" rtlCol="0" anchor="t"/>
          <a:lstStyle/>
          <a:p>
            <a:pPr rtl="1" algn="r" indent="0" marL="0">
              <a:buNone/>
            </a:pPr>
            <a:r>
              <a:rPr lang="en-US" sz="900" dirty="0">
                <a:solidFill>
                  <a:srgbClr val="5B21B6"/>
                </a:solidFill>
                <a:latin typeface="Calibri" pitchFamily="34" charset="0"/>
                <a:ea typeface="Calibri" pitchFamily="34" charset="-122"/>
                <a:cs typeface="Calibri" pitchFamily="34" charset="-120"/>
              </a:rPr>
              <a:t>שאלי את עצמך: למה בכלל יש מטופלים שמתנגדים לאלוגרפט או לשתל סינתטי?</a:t>
            </a:r>
            <a:endParaRPr lang="en-US" sz="900" dirty="0"/>
          </a:p>
        </p:txBody>
      </p:sp>
      <p:sp>
        <p:nvSpPr>
          <p:cNvPr id="15" name="Text 13"/>
          <p:cNvSpPr txBox="1"/>
          <p:nvPr/>
        </p:nvSpPr>
        <p:spPr>
          <a:xfrm>
            <a:off x="8138160" y="1554480"/>
            <a:ext cx="3474720" cy="320040"/>
          </a:xfrm>
          <a:prstGeom prst="rect">
            <a:avLst/>
          </a:prstGeom>
          <a:noFill/>
          <a:ln/>
        </p:spPr>
        <p:txBody>
          <a:bodyPr wrap="square" lIns="0" tIns="0" rIns="0" bIns="0" rtlCol="0" anchor="t"/>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16" name="Shape 14"/>
          <p:cNvSpPr/>
          <p:nvPr/>
        </p:nvSpPr>
        <p:spPr>
          <a:xfrm>
            <a:off x="8138160" y="1920240"/>
            <a:ext cx="3474720" cy="777240"/>
          </a:xfrm>
          <a:prstGeom prst="roundRect">
            <a:avLst>
              <a:gd name="adj" fmla="val 5882"/>
            </a:avLst>
          </a:prstGeom>
          <a:solidFill>
            <a:srgbClr val="1C7293"/>
          </a:solidFill>
          <a:ln/>
        </p:spPr>
      </p:sp>
      <p:sp>
        <p:nvSpPr>
          <p:cNvPr id="17" name="Text 15"/>
          <p:cNvSpPr txBox="1"/>
          <p:nvPr/>
        </p:nvSpPr>
        <p:spPr>
          <a:xfrm>
            <a:off x="8275320" y="1975968"/>
            <a:ext cx="2880360" cy="667512"/>
          </a:xfrm>
          <a:prstGeom prst="rect">
            <a:avLst/>
          </a:prstGeom>
          <a:noFill/>
          <a:ln/>
        </p:spPr>
        <p:txBody>
          <a:bodyPr wrap="square" lIns="0" tIns="0" rIns="0" bIns="0" rtlCol="0" anchor="ctr"/>
          <a:lstStyle/>
          <a:p>
            <a:pPr rtl="1" algn="r" indent="0" marL="0">
              <a:buNone/>
            </a:pPr>
            <a:r>
              <a:rPr lang="en-US" sz="950" dirty="0">
                <a:solidFill>
                  <a:srgbClr val="FFFFFF"/>
                </a:solidFill>
                <a:latin typeface="Calibri" pitchFamily="34" charset="0"/>
                <a:ea typeface="Calibri" pitchFamily="34" charset="-122"/>
                <a:cs typeface="Calibri" pitchFamily="34" charset="-120"/>
              </a:rPr>
              <a:t>אוטוגרפט מכסל האגן: מקור שתל נפוץ לפיוזן</a:t>
            </a:r>
            <a:endParaRPr lang="en-US" sz="950" dirty="0"/>
          </a:p>
        </p:txBody>
      </p:sp>
      <p:sp>
        <p:nvSpPr>
          <p:cNvPr id="18" name="Shape 16"/>
          <p:cNvSpPr/>
          <p:nvPr/>
        </p:nvSpPr>
        <p:spPr>
          <a:xfrm>
            <a:off x="8138160" y="2788920"/>
            <a:ext cx="3474720" cy="777240"/>
          </a:xfrm>
          <a:prstGeom prst="roundRect">
            <a:avLst>
              <a:gd name="adj" fmla="val 5882"/>
            </a:avLst>
          </a:prstGeom>
          <a:solidFill>
            <a:srgbClr val="B45309"/>
          </a:solidFill>
          <a:ln/>
        </p:spPr>
      </p:sp>
      <p:sp>
        <p:nvSpPr>
          <p:cNvPr id="19" name="Text 17"/>
          <p:cNvSpPr txBox="1"/>
          <p:nvPr/>
        </p:nvSpPr>
        <p:spPr>
          <a:xfrm>
            <a:off x="8275320" y="2844648"/>
            <a:ext cx="2880360" cy="667512"/>
          </a:xfrm>
          <a:prstGeom prst="rect">
            <a:avLst/>
          </a:prstGeom>
          <a:noFill/>
          <a:ln/>
        </p:spPr>
        <p:txBody>
          <a:bodyPr wrap="square" lIns="0" tIns="0" rIns="0" bIns="0" rtlCol="0" anchor="ctr"/>
          <a:lstStyle/>
          <a:p>
            <a:pPr rtl="1" algn="r" indent="0" marL="0">
              <a:buNone/>
            </a:pPr>
            <a:r>
              <a:rPr lang="en-US" sz="950" dirty="0">
                <a:solidFill>
                  <a:srgbClr val="FFFFFF"/>
                </a:solidFill>
                <a:latin typeface="Calibri" pitchFamily="34" charset="0"/>
                <a:ea typeface="Calibri" pitchFamily="34" charset="-122"/>
                <a:cs typeface="Calibri" pitchFamily="34" charset="-120"/>
              </a:rPr>
              <a:t>לא כל מטופל מסכים לאלוגרפט/סינתטי - שיחה מראש הכרחית</a:t>
            </a:r>
            <a:endParaRPr lang="en-US" sz="950" dirty="0"/>
          </a:p>
        </p:txBody>
      </p:sp>
      <p:sp>
        <p:nvSpPr>
          <p:cNvPr id="20" name="Shape 18"/>
          <p:cNvSpPr/>
          <p:nvPr/>
        </p:nvSpPr>
        <p:spPr>
          <a:xfrm>
            <a:off x="8138160" y="3657600"/>
            <a:ext cx="3474720" cy="777240"/>
          </a:xfrm>
          <a:prstGeom prst="roundRect">
            <a:avLst>
              <a:gd name="adj" fmla="val 5882"/>
            </a:avLst>
          </a:prstGeom>
          <a:solidFill>
            <a:srgbClr val="15803D"/>
          </a:solidFill>
          <a:ln/>
        </p:spPr>
      </p:sp>
      <p:sp>
        <p:nvSpPr>
          <p:cNvPr id="21" name="Text 19"/>
          <p:cNvSpPr txBox="1"/>
          <p:nvPr/>
        </p:nvSpPr>
        <p:spPr>
          <a:xfrm>
            <a:off x="8275320" y="3713328"/>
            <a:ext cx="2880360" cy="667512"/>
          </a:xfrm>
          <a:prstGeom prst="rect">
            <a:avLst/>
          </a:prstGeom>
          <a:noFill/>
          <a:ln/>
        </p:spPr>
        <p:txBody>
          <a:bodyPr wrap="square" lIns="0" tIns="0" rIns="0" bIns="0" rtlCol="0" anchor="ctr"/>
          <a:lstStyle/>
          <a:p>
            <a:pPr rtl="1" algn="r" indent="0" marL="0">
              <a:buNone/>
            </a:pPr>
            <a:r>
              <a:rPr lang="en-US" sz="950" dirty="0">
                <a:solidFill>
                  <a:srgbClr val="FFFFFF"/>
                </a:solidFill>
                <a:latin typeface="Calibri" pitchFamily="34" charset="0"/>
                <a:ea typeface="Calibri" pitchFamily="34" charset="-122"/>
                <a:cs typeface="Calibri" pitchFamily="34" charset="-120"/>
              </a:rPr>
              <a:t>הסכמה מדעת: סיכונים, תועלות וחלופות - חלק אינטגרלי מהתכנון</a:t>
            </a:r>
            <a:endParaRPr lang="en-US" sz="950" dirty="0"/>
          </a:p>
        </p:txBody>
      </p:sp>
      <p:sp>
        <p:nvSpPr>
          <p:cNvPr id="22" name="Text 20"/>
          <p:cNvSpPr txBox="1"/>
          <p:nvPr/>
        </p:nvSpPr>
        <p:spPr>
          <a:xfrm>
            <a:off x="548640" y="6446520"/>
            <a:ext cx="11064240" cy="320040"/>
          </a:xfrm>
          <a:prstGeom prst="rect">
            <a:avLst/>
          </a:prstGeom>
          <a:noFill/>
          <a:ln/>
        </p:spPr>
        <p:txBody>
          <a:bodyPr wrap="square" lIns="0" tIns="0" rIns="0" bIns="0" rtlCol="0" anchor="t"/>
          <a:lstStyle/>
          <a:p>
            <a:pPr rtl="1" algn="ctr" indent="0" marL="0">
              <a:buNone/>
            </a:pPr>
            <a:r>
              <a:rPr lang="en-US" sz="900"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השתמשו באתר הכרטיסיות המקוון.</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txBox="1"/>
          <p:nvPr/>
        </p:nvSpPr>
        <p:spPr>
          <a:xfrm>
            <a:off x="457200" y="365760"/>
            <a:ext cx="3108960" cy="384048"/>
          </a:xfrm>
          <a:prstGeom prst="rect">
            <a:avLst/>
          </a:prstGeom>
          <a:noFill/>
          <a:ln/>
        </p:spPr>
        <p:txBody>
          <a:bodyPr wrap="square" lIns="0" tIns="0" rIns="0" bIns="0"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בינה מלאכותית</a:t>
            </a:r>
            <a:endParaRPr lang="en-US" sz="1250" dirty="0"/>
          </a:p>
        </p:txBody>
      </p:sp>
      <p:sp>
        <p:nvSpPr>
          <p:cNvPr id="4" name="Text 2"/>
          <p:cNvSpPr txBox="1"/>
          <p:nvPr/>
        </p:nvSpPr>
        <p:spPr>
          <a:xfrm>
            <a:off x="8531352" y="365760"/>
            <a:ext cx="3108960" cy="384048"/>
          </a:xfrm>
          <a:prstGeom prst="rect">
            <a:avLst/>
          </a:prstGeom>
          <a:noFill/>
          <a:ln/>
        </p:spPr>
        <p:txBody>
          <a:bodyPr wrap="square" lIns="0" tIns="0" rIns="0" bIns="0" rtlCol="0" anchor="ctr"/>
          <a:lstStyle/>
          <a:p>
            <a:pPr rtl="1" algn="l" indent="0" marL="0">
              <a:buNone/>
            </a:pPr>
            <a:r>
              <a:rPr lang="en-US" sz="1200" dirty="0">
                <a:solidFill>
                  <a:srgbClr val="9CA3AF"/>
                </a:solidFill>
                <a:latin typeface="Calibri" pitchFamily="34" charset="0"/>
                <a:ea typeface="Calibri" pitchFamily="34" charset="-122"/>
                <a:cs typeface="Calibri" pitchFamily="34" charset="-120"/>
              </a:rPr>
              <a:t>כרטיסייה 5 מתוך 5</a:t>
            </a:r>
            <a:endParaRPr lang="en-US" sz="1200" dirty="0"/>
          </a:p>
        </p:txBody>
      </p:sp>
      <p:sp>
        <p:nvSpPr>
          <p:cNvPr id="5" name="Text 3"/>
          <p:cNvSpPr txBox="1"/>
          <p:nvPr/>
        </p:nvSpPr>
        <p:spPr>
          <a:xfrm>
            <a:off x="548640" y="1005840"/>
            <a:ext cx="11064240" cy="1463040"/>
          </a:xfrm>
          <a:prstGeom prst="rect">
            <a:avLst/>
          </a:prstGeom>
          <a:noFill/>
          <a:ln/>
        </p:spPr>
        <p:txBody>
          <a:bodyPr wrap="square" lIns="0" tIns="0" rIns="0" bIns="0" rtlCol="0" anchor="t"/>
          <a:lstStyle/>
          <a:p>
            <a:pPr rtl="1" algn="r" indent="0" marL="0">
              <a:buNone/>
            </a:pPr>
            <a:r>
              <a:rPr lang="en-US" sz="2000" b="1" dirty="0">
                <a:solidFill>
                  <a:srgbClr val="1F2937"/>
                </a:solidFill>
                <a:latin typeface="Calibri" pitchFamily="34" charset="0"/>
                <a:ea typeface="Calibri" pitchFamily="34" charset="-122"/>
                <a:cs typeface="Calibri" pitchFamily="34" charset="-120"/>
              </a:rPr>
              <a:t>מה מעמדה הנוכחי של בינה מלאכותית (AI) בתכנון כירורגי נוירוכירורגי, לפי הפרק?</a:t>
            </a:r>
            <a:endParaRPr lang="en-US" sz="2000" dirty="0"/>
          </a:p>
        </p:txBody>
      </p:sp>
      <p:sp>
        <p:nvSpPr>
          <p:cNvPr id="6" name="Shape 4"/>
          <p:cNvSpPr/>
          <p:nvPr/>
        </p:nvSpPr>
        <p:spPr>
          <a:xfrm>
            <a:off x="548640" y="2651760"/>
            <a:ext cx="11064240" cy="777240"/>
          </a:xfrm>
          <a:prstGeom prst="roundRect">
            <a:avLst>
              <a:gd name="adj" fmla="val 7059"/>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txBox="1"/>
          <p:nvPr/>
        </p:nvSpPr>
        <p:spPr>
          <a:xfrm>
            <a:off x="10744200" y="2852928"/>
            <a:ext cx="365760" cy="3657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txBox="1"/>
          <p:nvPr/>
        </p:nvSpPr>
        <p:spPr>
          <a:xfrm>
            <a:off x="822960" y="2651760"/>
            <a:ext cx="9784080" cy="777240"/>
          </a:xfrm>
          <a:prstGeom prst="rect">
            <a:avLst/>
          </a:prstGeom>
          <a:noFill/>
          <a:ln/>
        </p:spPr>
        <p:txBody>
          <a:bodyPr wrap="square" lIns="0" tIns="0" rIns="0" bIns="0" rtlCol="0" anchor="ctr"/>
          <a:lstStyle/>
          <a:p>
            <a:pPr rtl="1" algn="r" indent="0" marL="0">
              <a:buNone/>
            </a:pPr>
            <a:r>
              <a:rPr lang="en-US" sz="1350" dirty="0">
                <a:solidFill>
                  <a:srgbClr val="1F2937"/>
                </a:solidFill>
                <a:latin typeface="Calibri" pitchFamily="34" charset="0"/>
                <a:ea typeface="Calibri" pitchFamily="34" charset="-122"/>
                <a:cs typeface="Calibri" pitchFamily="34" charset="-120"/>
              </a:rPr>
              <a:t>AI היא תחליף מלא לשיקול הדעת הקליני של המנתח בכל ההחלטות הטרום-ניתוחיות</a:t>
            </a:r>
            <a:endParaRPr lang="en-US" sz="1350" dirty="0"/>
          </a:p>
        </p:txBody>
      </p:sp>
      <p:sp>
        <p:nvSpPr>
          <p:cNvPr id="10" name="Shape 8"/>
          <p:cNvSpPr/>
          <p:nvPr/>
        </p:nvSpPr>
        <p:spPr>
          <a:xfrm>
            <a:off x="548640" y="3584448"/>
            <a:ext cx="11064240" cy="777240"/>
          </a:xfrm>
          <a:prstGeom prst="roundRect">
            <a:avLst>
              <a:gd name="adj" fmla="val 7059"/>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txBox="1"/>
          <p:nvPr/>
        </p:nvSpPr>
        <p:spPr>
          <a:xfrm>
            <a:off x="10744200" y="3785616"/>
            <a:ext cx="365760" cy="3657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txBox="1"/>
          <p:nvPr/>
        </p:nvSpPr>
        <p:spPr>
          <a:xfrm>
            <a:off x="822960" y="3584448"/>
            <a:ext cx="9784080" cy="777240"/>
          </a:xfrm>
          <a:prstGeom prst="rect">
            <a:avLst/>
          </a:prstGeom>
          <a:noFill/>
          <a:ln/>
        </p:spPr>
        <p:txBody>
          <a:bodyPr wrap="square" lIns="0" tIns="0" rIns="0" bIns="0" rtlCol="0" anchor="ctr"/>
          <a:lstStyle/>
          <a:p>
            <a:pPr rtl="1" algn="r" indent="0" marL="0">
              <a:buNone/>
            </a:pPr>
            <a:r>
              <a:rPr lang="en-US" sz="1350" dirty="0">
                <a:solidFill>
                  <a:srgbClr val="1F2937"/>
                </a:solidFill>
                <a:latin typeface="Calibri" pitchFamily="34" charset="0"/>
                <a:ea typeface="Calibri" pitchFamily="34" charset="-122"/>
                <a:cs typeface="Calibri" pitchFamily="34" charset="-120"/>
              </a:rPr>
              <a:t>כלי משלים בפיתוח פעיל - חיזוי מאפייני גידול, זיהוי זיהום באתר הניתוח, חיזוי מוקדי אפילפסיה - אך אינה סטנדרט טיפול, ואינה תחליף לשיקול דעת קליני</a:t>
            </a:r>
            <a:endParaRPr lang="en-US" sz="1350" dirty="0"/>
          </a:p>
        </p:txBody>
      </p:sp>
      <p:sp>
        <p:nvSpPr>
          <p:cNvPr id="14" name="Shape 12"/>
          <p:cNvSpPr/>
          <p:nvPr/>
        </p:nvSpPr>
        <p:spPr>
          <a:xfrm>
            <a:off x="548640" y="4517136"/>
            <a:ext cx="11064240" cy="777240"/>
          </a:xfrm>
          <a:prstGeom prst="roundRect">
            <a:avLst>
              <a:gd name="adj" fmla="val 7059"/>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txBox="1"/>
          <p:nvPr/>
        </p:nvSpPr>
        <p:spPr>
          <a:xfrm>
            <a:off x="10744200" y="4718304"/>
            <a:ext cx="365760" cy="3657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txBox="1"/>
          <p:nvPr/>
        </p:nvSpPr>
        <p:spPr>
          <a:xfrm>
            <a:off x="822960" y="4517136"/>
            <a:ext cx="9784080" cy="777240"/>
          </a:xfrm>
          <a:prstGeom prst="rect">
            <a:avLst/>
          </a:prstGeom>
          <a:noFill/>
          <a:ln/>
        </p:spPr>
        <p:txBody>
          <a:bodyPr wrap="square" lIns="0" tIns="0" rIns="0" bIns="0" rtlCol="0" anchor="ctr"/>
          <a:lstStyle/>
          <a:p>
            <a:pPr rtl="1" algn="r" indent="0" marL="0">
              <a:buNone/>
            </a:pPr>
            <a:r>
              <a:rPr lang="en-US" sz="1350" dirty="0">
                <a:solidFill>
                  <a:srgbClr val="1F2937"/>
                </a:solidFill>
                <a:latin typeface="Calibri" pitchFamily="34" charset="0"/>
                <a:ea typeface="Calibri" pitchFamily="34" charset="-122"/>
                <a:cs typeface="Calibri" pitchFamily="34" charset="-120"/>
              </a:rPr>
              <a:t>AI אינה רלוונטית בכלל לנוירוכירורגיה כיום ולא נעשה בה כל שימוש</a:t>
            </a:r>
            <a:endParaRPr lang="en-US" sz="1350" dirty="0"/>
          </a:p>
        </p:txBody>
      </p:sp>
      <p:sp>
        <p:nvSpPr>
          <p:cNvPr id="18" name="Shape 16"/>
          <p:cNvSpPr/>
          <p:nvPr/>
        </p:nvSpPr>
        <p:spPr>
          <a:xfrm>
            <a:off x="548640" y="5449824"/>
            <a:ext cx="11064240" cy="777240"/>
          </a:xfrm>
          <a:prstGeom prst="roundRect">
            <a:avLst>
              <a:gd name="adj" fmla="val 7059"/>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txBox="1"/>
          <p:nvPr/>
        </p:nvSpPr>
        <p:spPr>
          <a:xfrm>
            <a:off x="10744200" y="5650992"/>
            <a:ext cx="365760" cy="3657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txBox="1"/>
          <p:nvPr/>
        </p:nvSpPr>
        <p:spPr>
          <a:xfrm>
            <a:off x="822960" y="5449824"/>
            <a:ext cx="9784080" cy="777240"/>
          </a:xfrm>
          <a:prstGeom prst="rect">
            <a:avLst/>
          </a:prstGeom>
          <a:noFill/>
          <a:ln/>
        </p:spPr>
        <p:txBody>
          <a:bodyPr wrap="square" lIns="0" tIns="0" rIns="0" bIns="0" rtlCol="0" anchor="ctr"/>
          <a:lstStyle/>
          <a:p>
            <a:pPr rtl="1" algn="r" indent="0" marL="0">
              <a:buNone/>
            </a:pPr>
            <a:r>
              <a:rPr lang="en-US" sz="1350" dirty="0">
                <a:solidFill>
                  <a:srgbClr val="1F2937"/>
                </a:solidFill>
                <a:latin typeface="Calibri" pitchFamily="34" charset="0"/>
                <a:ea typeface="Calibri" pitchFamily="34" charset="-122"/>
                <a:cs typeface="Calibri" pitchFamily="34" charset="-120"/>
              </a:rPr>
              <a:t>AI משמשת אך ורק לתיעוד אדמיניסטרטיבי של הניתוח</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txBox="1"/>
          <p:nvPr/>
        </p:nvSpPr>
        <p:spPr>
          <a:xfrm>
            <a:off x="457200" y="320040"/>
            <a:ext cx="3108960" cy="365760"/>
          </a:xfrm>
          <a:prstGeom prst="rect">
            <a:avLst/>
          </a:prstGeom>
          <a:noFill/>
          <a:ln/>
        </p:spPr>
        <p:txBody>
          <a:bodyPr wrap="square" lIns="0" tIns="0" rIns="0" bIns="0"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בינה מלאכותית</a:t>
            </a:r>
            <a:endParaRPr lang="en-US" sz="1200" dirty="0"/>
          </a:p>
        </p:txBody>
      </p:sp>
      <p:sp>
        <p:nvSpPr>
          <p:cNvPr id="4" name="Text 2"/>
          <p:cNvSpPr txBox="1"/>
          <p:nvPr/>
        </p:nvSpPr>
        <p:spPr>
          <a:xfrm>
            <a:off x="548640" y="777240"/>
            <a:ext cx="11064240" cy="640080"/>
          </a:xfrm>
          <a:prstGeom prst="rect">
            <a:avLst/>
          </a:prstGeom>
          <a:noFill/>
          <a:ln/>
        </p:spPr>
        <p:txBody>
          <a:bodyPr wrap="square" lIns="0" tIns="0" rIns="0" bIns="0" rtlCol="0" anchor="t"/>
          <a:lstStyle/>
          <a:p>
            <a:pPr rtl="1" algn="r" indent="0" marL="0">
              <a:buNone/>
            </a:pPr>
            <a:r>
              <a:rPr lang="en-US" sz="1400" b="1" dirty="0">
                <a:solidFill>
                  <a:srgbClr val="15803D"/>
                </a:solidFill>
                <a:latin typeface="Calibri" pitchFamily="34" charset="0"/>
                <a:ea typeface="Calibri" pitchFamily="34" charset="-122"/>
                <a:cs typeface="Calibri" pitchFamily="34" charset="-120"/>
              </a:rPr>
              <a:t>התשובה הנכונה: ב) כלי משלים בפיתוח פעיל - חיזוי מאפייני גידול, זיהוי זיהום באתר הניתוח, חיזוי מוקדי אפילפסיה - אך אינה סטנדרט טיפול, ואינה תחליף לשיקול דעת קליני</a:t>
            </a:r>
            <a:endParaRPr lang="en-US" sz="1400" dirty="0"/>
          </a:p>
        </p:txBody>
      </p:sp>
      <p:sp>
        <p:nvSpPr>
          <p:cNvPr id="5" name="Shape 3"/>
          <p:cNvSpPr/>
          <p:nvPr/>
        </p:nvSpPr>
        <p:spPr>
          <a:xfrm>
            <a:off x="548640" y="1554480"/>
            <a:ext cx="7406640" cy="1417320"/>
          </a:xfrm>
          <a:prstGeom prst="roundRect">
            <a:avLst>
              <a:gd name="adj" fmla="val 3226"/>
            </a:avLst>
          </a:prstGeom>
          <a:solidFill>
            <a:srgbClr val="F8FAFC"/>
          </a:solidFill>
          <a:ln/>
        </p:spPr>
      </p:sp>
      <p:sp>
        <p:nvSpPr>
          <p:cNvPr id="6" name="Text 4"/>
          <p:cNvSpPr txBox="1"/>
          <p:nvPr/>
        </p:nvSpPr>
        <p:spPr>
          <a:xfrm>
            <a:off x="731520" y="1627632"/>
            <a:ext cx="7040880" cy="274320"/>
          </a:xfrm>
          <a:prstGeom prst="rect">
            <a:avLst/>
          </a:prstGeom>
          <a:noFill/>
          <a:ln/>
        </p:spPr>
        <p:txBody>
          <a:bodyPr wrap="square" lIns="0" tIns="0" rIns="0" bIns="0" rtlCol="0" anchor="t"/>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7" name="Text 5"/>
          <p:cNvSpPr txBox="1"/>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הפרק מציג דוגמאות ליישומי AI מתפתחים בנוירוכירורגיה - חיזוי מאפייני גידול, זיהוי זיהום באתר הניתוח, חיזוי מוקדים אפילפטוגניים, ובחירת מטופלים לניתוחי אפילפסיה - אך קובע באופן מפורש ש-AI 'אינה בשום אופן הסטנדרט הטיפולי' כיום. היא כלי משלים בפיתוח פעיל שמטרתו לסייע, לא להחליף, את קבלת ההחלטות הקלינית של הצוות המנתח.</a:t>
            </a:r>
            <a:endParaRPr lang="en-US" sz="1000" dirty="0"/>
          </a:p>
        </p:txBody>
      </p:sp>
      <p:sp>
        <p:nvSpPr>
          <p:cNvPr id="8" name="Shape 6"/>
          <p:cNvSpPr/>
          <p:nvPr/>
        </p:nvSpPr>
        <p:spPr>
          <a:xfrm>
            <a:off x="548640" y="3108960"/>
            <a:ext cx="7406640" cy="914400"/>
          </a:xfrm>
          <a:prstGeom prst="roundRect">
            <a:avLst>
              <a:gd name="adj" fmla="val 5000"/>
            </a:avLst>
          </a:prstGeom>
          <a:solidFill>
            <a:srgbClr val="EFF6FF"/>
          </a:solidFill>
          <a:ln/>
        </p:spPr>
      </p:sp>
      <p:sp>
        <p:nvSpPr>
          <p:cNvPr id="9" name="Text 7"/>
          <p:cNvSpPr txBox="1"/>
          <p:nvPr/>
        </p:nvSpPr>
        <p:spPr>
          <a:xfrm>
            <a:off x="731520" y="3182112"/>
            <a:ext cx="7040880" cy="274320"/>
          </a:xfrm>
          <a:prstGeom prst="rect">
            <a:avLst/>
          </a:prstGeom>
          <a:noFill/>
          <a:ln/>
        </p:spPr>
        <p:txBody>
          <a:bodyPr wrap="square" lIns="0" tIns="0" rIns="0" bIns="0" rtlCol="0" anchor="t"/>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AI as a clinical adjunct</a:t>
            </a:r>
            <a:endParaRPr lang="en-US" sz="1150" dirty="0"/>
          </a:p>
        </p:txBody>
      </p:sp>
      <p:sp>
        <p:nvSpPr>
          <p:cNvPr id="10" name="Text 8"/>
          <p:cNvSpPr txBox="1"/>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כלי המסייע בחיזוי ובזיהוי דפוסים (למשל מאפייני גידול או סיכון לזיהום), אך אינו תחליף לשיקול הדעת הקליני - מעמד שעשוי להשתנות ככל שהטכנולוגיה מתפתחת.</a:t>
            </a:r>
            <a:endParaRPr lang="en-US" sz="950" dirty="0"/>
          </a:p>
        </p:txBody>
      </p:sp>
      <p:sp>
        <p:nvSpPr>
          <p:cNvPr id="11" name="Shape 9"/>
          <p:cNvSpPr/>
          <p:nvPr/>
        </p:nvSpPr>
        <p:spPr>
          <a:xfrm>
            <a:off x="548640" y="4160520"/>
            <a:ext cx="7406640" cy="1417320"/>
          </a:xfrm>
          <a:prstGeom prst="roundRect">
            <a:avLst>
              <a:gd name="adj" fmla="val 3226"/>
            </a:avLst>
          </a:prstGeom>
          <a:solidFill>
            <a:srgbClr val="F5F3FF"/>
          </a:solidFill>
          <a:ln/>
        </p:spPr>
      </p:sp>
      <p:sp>
        <p:nvSpPr>
          <p:cNvPr id="12" name="Text 10"/>
          <p:cNvSpPr txBox="1"/>
          <p:nvPr/>
        </p:nvSpPr>
        <p:spPr>
          <a:xfrm>
            <a:off x="731520" y="4233672"/>
            <a:ext cx="7040880" cy="274320"/>
          </a:xfrm>
          <a:prstGeom prst="rect">
            <a:avLst/>
          </a:prstGeom>
          <a:noFill/>
          <a:ln/>
        </p:spPr>
        <p:txBody>
          <a:bodyPr wrap="square" lIns="0" tIns="0" rIns="0" bIns="0" rtlCol="0" anchor="t"/>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13" name="Text 11"/>
          <p:cNvSpPr txBox="1"/>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מכשיר GPS מתקדם בטיסה - הוא עוזר לנווט ומזהה דפוסי סיכון, אבל הטייס עדיין זה שמחליט בסופו של דבר, ובטח לא מחליף אותו לגמרי.</a:t>
            </a:r>
            <a:endParaRPr lang="en-US" sz="950" dirty="0"/>
          </a:p>
        </p:txBody>
      </p:sp>
      <p:sp>
        <p:nvSpPr>
          <p:cNvPr id="14" name="Text 12"/>
          <p:cNvSpPr txBox="1"/>
          <p:nvPr/>
        </p:nvSpPr>
        <p:spPr>
          <a:xfrm>
            <a:off x="731520" y="5047488"/>
            <a:ext cx="7040880" cy="502920"/>
          </a:xfrm>
          <a:prstGeom prst="rect">
            <a:avLst/>
          </a:prstGeom>
          <a:noFill/>
          <a:ln/>
        </p:spPr>
        <p:txBody>
          <a:bodyPr wrap="square" lIns="0" tIns="0" rIns="0" bIns="0" rtlCol="0" anchor="t"/>
          <a:lstStyle/>
          <a:p>
            <a:pPr rtl="1" algn="r" indent="0" marL="0">
              <a:buNone/>
            </a:pPr>
            <a:r>
              <a:rPr lang="en-US" sz="900" dirty="0">
                <a:solidFill>
                  <a:srgbClr val="5B21B6"/>
                </a:solidFill>
                <a:latin typeface="Calibri" pitchFamily="34" charset="0"/>
                <a:ea typeface="Calibri" pitchFamily="34" charset="-122"/>
                <a:cs typeface="Calibri" pitchFamily="34" charset="-120"/>
              </a:rPr>
              <a:t>שאלי את עצמך: למה הפרק מדגיש כל כך שה-AI 'אינו סטנדרט טיפול' ולא רק מתאר את היישומים שלו?</a:t>
            </a:r>
            <a:endParaRPr lang="en-US" sz="900" dirty="0"/>
          </a:p>
        </p:txBody>
      </p:sp>
      <p:sp>
        <p:nvSpPr>
          <p:cNvPr id="15" name="Text 13"/>
          <p:cNvSpPr txBox="1"/>
          <p:nvPr/>
        </p:nvSpPr>
        <p:spPr>
          <a:xfrm>
            <a:off x="8138160" y="1554480"/>
            <a:ext cx="3474720" cy="320040"/>
          </a:xfrm>
          <a:prstGeom prst="rect">
            <a:avLst/>
          </a:prstGeom>
          <a:noFill/>
          <a:ln/>
        </p:spPr>
        <p:txBody>
          <a:bodyPr wrap="square" lIns="0" tIns="0" rIns="0" bIns="0" rtlCol="0" anchor="t"/>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16" name="Shape 14"/>
          <p:cNvSpPr/>
          <p:nvPr/>
        </p:nvSpPr>
        <p:spPr>
          <a:xfrm>
            <a:off x="8138160" y="1920240"/>
            <a:ext cx="3474720" cy="777240"/>
          </a:xfrm>
          <a:prstGeom prst="roundRect">
            <a:avLst>
              <a:gd name="adj" fmla="val 5882"/>
            </a:avLst>
          </a:prstGeom>
          <a:solidFill>
            <a:srgbClr val="1C7293"/>
          </a:solidFill>
          <a:ln/>
        </p:spPr>
      </p:sp>
      <p:sp>
        <p:nvSpPr>
          <p:cNvPr id="17" name="Text 15"/>
          <p:cNvSpPr txBox="1"/>
          <p:nvPr/>
        </p:nvSpPr>
        <p:spPr>
          <a:xfrm>
            <a:off x="8275320" y="1975968"/>
            <a:ext cx="2880360" cy="667512"/>
          </a:xfrm>
          <a:prstGeom prst="rect">
            <a:avLst/>
          </a:prstGeom>
          <a:noFill/>
          <a:ln/>
        </p:spPr>
        <p:txBody>
          <a:bodyPr wrap="square" lIns="0" tIns="0" rIns="0" bIns="0" rtlCol="0" anchor="ctr"/>
          <a:lstStyle/>
          <a:p>
            <a:pPr rtl="1" algn="r" indent="0" marL="0">
              <a:buNone/>
            </a:pPr>
            <a:r>
              <a:rPr lang="en-US" sz="950" dirty="0">
                <a:solidFill>
                  <a:srgbClr val="FFFFFF"/>
                </a:solidFill>
                <a:latin typeface="Calibri" pitchFamily="34" charset="0"/>
                <a:ea typeface="Calibri" pitchFamily="34" charset="-122"/>
                <a:cs typeface="Calibri" pitchFamily="34" charset="-120"/>
              </a:rPr>
              <a:t>יישומים מתפתחים: חיזוי מאפייני גידול, זיהוי זיהום, חיזוי מוקדי אפילפסיה</a:t>
            </a:r>
            <a:endParaRPr lang="en-US" sz="950" dirty="0"/>
          </a:p>
        </p:txBody>
      </p:sp>
      <p:sp>
        <p:nvSpPr>
          <p:cNvPr id="18" name="Shape 16"/>
          <p:cNvSpPr/>
          <p:nvPr/>
        </p:nvSpPr>
        <p:spPr>
          <a:xfrm>
            <a:off x="8138160" y="2788920"/>
            <a:ext cx="3474720" cy="777240"/>
          </a:xfrm>
          <a:prstGeom prst="roundRect">
            <a:avLst>
              <a:gd name="adj" fmla="val 5882"/>
            </a:avLst>
          </a:prstGeom>
          <a:solidFill>
            <a:srgbClr val="B45309"/>
          </a:solidFill>
          <a:ln/>
        </p:spPr>
      </p:sp>
      <p:sp>
        <p:nvSpPr>
          <p:cNvPr id="19" name="Text 17"/>
          <p:cNvSpPr txBox="1"/>
          <p:nvPr/>
        </p:nvSpPr>
        <p:spPr>
          <a:xfrm>
            <a:off x="8275320" y="2844648"/>
            <a:ext cx="2880360" cy="667512"/>
          </a:xfrm>
          <a:prstGeom prst="rect">
            <a:avLst/>
          </a:prstGeom>
          <a:noFill/>
          <a:ln/>
        </p:spPr>
        <p:txBody>
          <a:bodyPr wrap="square" lIns="0" tIns="0" rIns="0" bIns="0" rtlCol="0" anchor="ctr"/>
          <a:lstStyle/>
          <a:p>
            <a:pPr rtl="1" algn="r" indent="0" marL="0">
              <a:buNone/>
            </a:pPr>
            <a:r>
              <a:rPr lang="en-US" sz="950" dirty="0">
                <a:solidFill>
                  <a:srgbClr val="FFFFFF"/>
                </a:solidFill>
                <a:latin typeface="Calibri" pitchFamily="34" charset="0"/>
                <a:ea typeface="Calibri" pitchFamily="34" charset="-122"/>
                <a:cs typeface="Calibri" pitchFamily="34" charset="-120"/>
              </a:rPr>
              <a:t>לא עדיין סטנדרט טיפול - כלי עזר בלבד</a:t>
            </a:r>
            <a:endParaRPr lang="en-US" sz="950" dirty="0"/>
          </a:p>
        </p:txBody>
      </p:sp>
      <p:sp>
        <p:nvSpPr>
          <p:cNvPr id="20" name="Shape 18"/>
          <p:cNvSpPr/>
          <p:nvPr/>
        </p:nvSpPr>
        <p:spPr>
          <a:xfrm>
            <a:off x="8138160" y="3657600"/>
            <a:ext cx="3474720" cy="777240"/>
          </a:xfrm>
          <a:prstGeom prst="roundRect">
            <a:avLst>
              <a:gd name="adj" fmla="val 5882"/>
            </a:avLst>
          </a:prstGeom>
          <a:solidFill>
            <a:srgbClr val="15803D"/>
          </a:solidFill>
          <a:ln/>
        </p:spPr>
      </p:sp>
      <p:sp>
        <p:nvSpPr>
          <p:cNvPr id="21" name="Text 19"/>
          <p:cNvSpPr txBox="1"/>
          <p:nvPr/>
        </p:nvSpPr>
        <p:spPr>
          <a:xfrm>
            <a:off x="8275320" y="3713328"/>
            <a:ext cx="2880360" cy="667512"/>
          </a:xfrm>
          <a:prstGeom prst="rect">
            <a:avLst/>
          </a:prstGeom>
          <a:noFill/>
          <a:ln/>
        </p:spPr>
        <p:txBody>
          <a:bodyPr wrap="square" lIns="0" tIns="0" rIns="0" bIns="0" rtlCol="0" anchor="ctr"/>
          <a:lstStyle/>
          <a:p>
            <a:pPr rtl="1" algn="r" indent="0" marL="0">
              <a:buNone/>
            </a:pPr>
            <a:r>
              <a:rPr lang="en-US" sz="950" dirty="0">
                <a:solidFill>
                  <a:srgbClr val="FFFFFF"/>
                </a:solidFill>
                <a:latin typeface="Calibri" pitchFamily="34" charset="0"/>
                <a:ea typeface="Calibri" pitchFamily="34" charset="-122"/>
                <a:cs typeface="Calibri" pitchFamily="34" charset="-120"/>
              </a:rPr>
              <a:t>המטרה: לשפר, לא להחליף, את קבלת ההחלטות הקלינית</a:t>
            </a:r>
            <a:endParaRPr lang="en-US" sz="950" dirty="0"/>
          </a:p>
        </p:txBody>
      </p:sp>
      <p:sp>
        <p:nvSpPr>
          <p:cNvPr id="22" name="Text 20"/>
          <p:cNvSpPr txBox="1"/>
          <p:nvPr/>
        </p:nvSpPr>
        <p:spPr>
          <a:xfrm>
            <a:off x="548640" y="6446520"/>
            <a:ext cx="11064240" cy="320040"/>
          </a:xfrm>
          <a:prstGeom prst="rect">
            <a:avLst/>
          </a:prstGeom>
          <a:noFill/>
          <a:ln/>
        </p:spPr>
        <p:txBody>
          <a:bodyPr wrap="square" lIns="0" tIns="0" rIns="0" bIns="0" rtlCol="0" anchor="t"/>
          <a:lstStyle/>
          <a:p>
            <a:pPr rtl="1" algn="ctr" indent="0" marL="0">
              <a:buNone/>
            </a:pPr>
            <a:r>
              <a:rPr lang="en-US" sz="900"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השתמשו באתר הכרטיסיות המקוון.</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1B2A"/>
        </a:solidFill>
      </p:bgPr>
    </p:bg>
    <p:spTree>
      <p:nvGrpSpPr>
        <p:cNvPr id="1" name=""/>
        <p:cNvGrpSpPr/>
        <p:nvPr/>
      </p:nvGrpSpPr>
      <p:grpSpPr>
        <a:xfrm>
          <a:off x="0" y="0"/>
          <a:ext cx="0" cy="0"/>
          <a:chOff x="0" y="0"/>
          <a:chExt cx="0" cy="0"/>
        </a:xfrm>
      </p:grpSpPr>
      <p:sp>
        <p:nvSpPr>
          <p:cNvPr id="2" name="Text 0"/>
          <p:cNvSpPr txBox="1"/>
          <p:nvPr/>
        </p:nvSpPr>
        <p:spPr>
          <a:xfrm>
            <a:off x="914400" y="548640"/>
            <a:ext cx="10360152" cy="640080"/>
          </a:xfrm>
          <a:prstGeom prst="rect">
            <a:avLst/>
          </a:prstGeom>
          <a:noFill/>
          <a:ln/>
        </p:spPr>
        <p:txBody>
          <a:bodyPr wrap="square" lIns="0" tIns="0" rIns="0" bIns="0"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txBox="1"/>
          <p:nvPr/>
        </p:nvSpPr>
        <p:spPr>
          <a:xfrm>
            <a:off x="1097280" y="1463040"/>
            <a:ext cx="9994392" cy="4389120"/>
          </a:xfrm>
          <a:prstGeom prst="rect">
            <a:avLst/>
          </a:prstGeom>
          <a:noFill/>
          <a:ln/>
        </p:spPr>
        <p:txBody>
          <a:bodyPr wrap="square" lIns="0" tIns="0" rIns="0" bIns="0" rtlCol="0" anchor="t"/>
          <a:lstStyle/>
          <a:p>
            <a:pPr algn="r" indent="0" marL="0">
              <a:spcAft>
                <a:spcPts val="1000"/>
              </a:spcAft>
              <a:buNone/>
            </a:pPr>
            <a:r>
              <a:rPr lang="en-US" sz="1600" dirty="0">
                <a:solidFill>
                  <a:srgbClr val="E5E7EB"/>
                </a:solidFill>
                <a:latin typeface="Calibri" pitchFamily="34" charset="0"/>
                <a:ea typeface="Calibri" pitchFamily="34" charset="-122"/>
                <a:cs typeface="Calibri" pitchFamily="34" charset="-120"/>
              </a:rPr>
              <a:t>"להיכשל בהכנה זה להתכונן להיכשל" - אין הזדמנות שנייה תוך-ניתוחית במערכת העצבים</a:t>
            </a:r>
            <a:endParaRPr lang="en-US" sz="1600" dirty="0"/>
          </a:p>
          <a:p>
            <a:pPr algn="r" indent="0" marL="0">
              <a:spcAft>
                <a:spcPts val="1000"/>
              </a:spcAft>
              <a:buNone/>
            </a:pPr>
            <a:r>
              <a:rPr lang="en-US" sz="1600" dirty="0">
                <a:solidFill>
                  <a:srgbClr val="E5E7EB"/>
                </a:solidFill>
                <a:latin typeface="Calibri" pitchFamily="34" charset="0"/>
                <a:ea typeface="Calibri" pitchFamily="34" charset="-122"/>
                <a:cs typeface="Calibri" pitchFamily="34" charset="-120"/>
              </a:rPr>
              <a:t>הערכה טרום-ניתוחית שיטתית: אנמנזה+בדיקה גופנית מלאה (כולל שליליים פרטינטיים!) + מעבדה + תחלואה נלווית</a:t>
            </a:r>
            <a:endParaRPr lang="en-US" sz="1600" dirty="0"/>
          </a:p>
          <a:p>
            <a:pPr algn="r" indent="0" marL="0">
              <a:spcAft>
                <a:spcPts val="1000"/>
              </a:spcAft>
              <a:buNone/>
            </a:pPr>
            <a:r>
              <a:rPr lang="en-US" sz="1600" dirty="0">
                <a:solidFill>
                  <a:srgbClr val="E5E7EB"/>
                </a:solidFill>
                <a:latin typeface="Calibri" pitchFamily="34" charset="0"/>
                <a:ea typeface="Calibri" pitchFamily="34" charset="-122"/>
                <a:cs typeface="Calibri" pitchFamily="34" charset="-120"/>
              </a:rPr>
              <a:t>דחיפות קובעת זמן תכנון: דחוף/חירום → אורגנטי/טראומה → אלקטיבי</a:t>
            </a:r>
            <a:endParaRPr lang="en-US" sz="1600" dirty="0"/>
          </a:p>
          <a:p>
            <a:pPr algn="r" indent="0" marL="0">
              <a:spcAft>
                <a:spcPts val="1000"/>
              </a:spcAft>
              <a:buNone/>
            </a:pPr>
            <a:r>
              <a:rPr lang="en-US" sz="1600" dirty="0">
                <a:solidFill>
                  <a:srgbClr val="E5E7EB"/>
                </a:solidFill>
                <a:latin typeface="Calibri" pitchFamily="34" charset="0"/>
                <a:ea typeface="Calibri" pitchFamily="34" charset="-122"/>
                <a:cs typeface="Calibri" pitchFamily="34" charset="-120"/>
              </a:rPr>
              <a:t>הדמיה חייבת להיות זמינה תוך-ניתוחית; אנגיוגרפיה בקטטר מוסיפה מרכיב זמן ל-AVM ונגעים וסקולריים</a:t>
            </a:r>
            <a:endParaRPr lang="en-US" sz="1600" dirty="0"/>
          </a:p>
          <a:p>
            <a:pPr algn="r" indent="0" marL="0">
              <a:spcAft>
                <a:spcPts val="1000"/>
              </a:spcAft>
              <a:buNone/>
            </a:pPr>
            <a:r>
              <a:rPr lang="en-US" sz="1600" dirty="0">
                <a:solidFill>
                  <a:srgbClr val="E5E7EB"/>
                </a:solidFill>
                <a:latin typeface="Calibri" pitchFamily="34" charset="0"/>
                <a:ea typeface="Calibri" pitchFamily="34" charset="-122"/>
                <a:cs typeface="Calibri" pitchFamily="34" charset="-120"/>
              </a:rPr>
              <a:t>תיאום מוקדם עם אנסתזיה: ניטור נוירופיזיולוגי, אינטובציה פיברואופטית ביציבות צווארית בסיכון</a:t>
            </a:r>
            <a:endParaRPr lang="en-US" sz="1600" dirty="0"/>
          </a:p>
          <a:p>
            <a:pPr algn="r" indent="0" marL="0">
              <a:spcAft>
                <a:spcPts val="1000"/>
              </a:spcAft>
              <a:buNone/>
            </a:pPr>
            <a:r>
              <a:rPr lang="en-US" sz="1600" dirty="0">
                <a:solidFill>
                  <a:srgbClr val="E5E7EB"/>
                </a:solidFill>
                <a:latin typeface="Calibri" pitchFamily="34" charset="0"/>
                <a:ea typeface="Calibri" pitchFamily="34" charset="-122"/>
                <a:cs typeface="Calibri" pitchFamily="34" charset="-120"/>
              </a:rPr>
              <a:t>קרניאלי: קיבוע+ניווט+המוסטזיס. ספינלי: בחירת גישה+מקור שתל+הסכמה. וסקולרי: תוכנית למצב קרע</a:t>
            </a:r>
            <a:endParaRPr lang="en-US" sz="1600" dirty="0"/>
          </a:p>
          <a:p>
            <a:pPr algn="r" indent="0" marL="0">
              <a:spcAft>
                <a:spcPts val="1000"/>
              </a:spcAft>
              <a:buNone/>
            </a:pPr>
            <a:r>
              <a:rPr lang="en-US" sz="1600" dirty="0">
                <a:solidFill>
                  <a:srgbClr val="E5E7EB"/>
                </a:solidFill>
                <a:latin typeface="Calibri" pitchFamily="34" charset="0"/>
                <a:ea typeface="Calibri" pitchFamily="34" charset="-122"/>
                <a:cs typeface="Calibri" pitchFamily="34" charset="-120"/>
              </a:rPr>
              <a:t>הסכמה מדעת מלאה: מטרות, חלופות לא-כירורגיות, שתלים, עירויים - נדונה לפני הניתוח, לא במהלכו</a:t>
            </a:r>
            <a:endParaRPr lang="en-US" sz="1600" dirty="0"/>
          </a:p>
          <a:p>
            <a:pPr algn="r" indent="0" marL="0">
              <a:spcAft>
                <a:spcPts val="1000"/>
              </a:spcAft>
              <a:buNone/>
            </a:pPr>
            <a:r>
              <a:rPr lang="en-US" sz="1600" dirty="0">
                <a:solidFill>
                  <a:srgbClr val="E5E7EB"/>
                </a:solidFill>
                <a:latin typeface="Calibri" pitchFamily="34" charset="0"/>
                <a:ea typeface="Calibri" pitchFamily="34" charset="-122"/>
                <a:cs typeface="Calibri" pitchFamily="34" charset="-120"/>
              </a:rPr>
              <a:t>AI: כלי משלים מתפתח (חיזוי גידול, זיהום, מוקדי אפילפסיה) - לא עדיין סטנדרט טיפול</a:t>
            </a:r>
            <a:endParaRPr lang="en-US" sz="1600" dirty="0"/>
          </a:p>
        </p:txBody>
      </p:sp>
      <p:sp>
        <p:nvSpPr>
          <p:cNvPr id="4" name="Text 2"/>
          <p:cNvSpPr txBox="1"/>
          <p:nvPr/>
        </p:nvSpPr>
        <p:spPr>
          <a:xfrm>
            <a:off x="914400" y="6309360"/>
            <a:ext cx="10360152" cy="365760"/>
          </a:xfrm>
          <a:prstGeom prst="rect">
            <a:avLst/>
          </a:prstGeom>
          <a:noFill/>
          <a:ln/>
        </p:spPr>
        <p:txBody>
          <a:bodyPr wrap="square" lIns="0" tIns="0" rIns="0" bIns="0" rtlCol="0" anchor="t"/>
          <a:lstStyle/>
          <a:p>
            <a:pPr rtl="1" algn="ctr" indent="0" marL="0">
              <a:buNone/>
            </a:pPr>
            <a:r>
              <a:rPr lang="en-US" sz="1200" dirty="0">
                <a:solidFill>
                  <a:srgbClr val="64748B"/>
                </a:solidFill>
                <a:latin typeface="Calibri" pitchFamily="34" charset="0"/>
                <a:ea typeface="Calibri" pitchFamily="34" charset="-122"/>
                <a:cs typeface="Calibri" pitchFamily="34" charset="-120"/>
              </a:rPr>
              <a:t>maskit101 · neurosurgery8 (local)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2026-10-10T06:33:08Z</dcterms:created>
  <dcterms:modified xsi:type="dcterms:W3CDTF">2026-10-10T06:33:08Z</dcterms:modified>
</cp:coreProperties>
</file>