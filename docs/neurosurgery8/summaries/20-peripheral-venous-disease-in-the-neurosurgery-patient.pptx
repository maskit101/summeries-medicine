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Oval 3"/>
          <p:cNvSpPr/>
          <p:nvPr/>
        </p:nvSpPr>
        <p:spPr>
          <a:xfrm>
            <a:off x="5559552" y="640080"/>
            <a:ext cx="1078992" cy="1078992"/>
          </a:xfrm>
          <a:prstGeom prst="ellipse">
            <a:avLst/>
          </a:prstGeom>
          <a:noFill/>
          <a:ln w="381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60152" cy="914400"/>
          </a:xfrm>
          <a:prstGeom prst="rect">
            <a:avLst/>
          </a:prstGeom>
          <a:noFill/>
        </p:spPr>
        <p:txBody>
          <a:bodyPr wrap="square" lIns="0" rIns="0" tIns="0" bIns="0" anchor="ctr"/>
          <a:lstStyle/>
          <a:p>
            <a:pPr algn="ctr" rtl="1"/>
            <a:r>
              <a:rPr sz="4000" b="1">
                <a:solidFill>
                  <a:srgbClr val="FFFFFF"/>
                </a:solidFill>
                <a:latin typeface="Calibri"/>
              </a:rPr>
              <a:t>נוירוכירורגיה — מהדורה 8</a:t>
            </a:r>
          </a:p>
        </p:txBody>
      </p:sp>
      <p:sp>
        <p:nvSpPr>
          <p:cNvPr id="7" name="TextBox 6"/>
          <p:cNvSpPr txBox="1"/>
          <p:nvPr/>
        </p:nvSpPr>
        <p:spPr>
          <a:xfrm>
            <a:off x="914400" y="3017520"/>
            <a:ext cx="10360152" cy="640080"/>
          </a:xfrm>
          <a:prstGeom prst="rect">
            <a:avLst/>
          </a:prstGeom>
          <a:noFill/>
        </p:spPr>
        <p:txBody>
          <a:bodyPr wrap="square" lIns="0" rIns="0" tIns="0" bIns="0" anchor="ctr"/>
          <a:lstStyle/>
          <a:p>
            <a:pPr algn="ctr" rtl="1"/>
            <a:r>
              <a:rPr sz="2200" b="0">
                <a:solidFill>
                  <a:srgbClr val="93C5FD"/>
                </a:solidFill>
                <a:latin typeface="Calibri"/>
              </a:rPr>
              <a:t>פרק 20: מחלת ורידים היקפית בחולה הנוירוכירורגי</a:t>
            </a:r>
          </a:p>
        </p:txBody>
      </p:sp>
      <p:sp>
        <p:nvSpPr>
          <p:cNvPr id="8" name="TextBox 7"/>
          <p:cNvSpPr txBox="1"/>
          <p:nvPr/>
        </p:nvSpPr>
        <p:spPr>
          <a:xfrm>
            <a:off x="914400" y="3657600"/>
            <a:ext cx="10360152" cy="457200"/>
          </a:xfrm>
          <a:prstGeom prst="rect">
            <a:avLst/>
          </a:prstGeom>
          <a:noFill/>
        </p:spPr>
        <p:txBody>
          <a:bodyPr wrap="square" lIns="0" rIns="0" tIns="0" bIns="0" anchor="ctr"/>
          <a:lstStyle/>
          <a:p>
            <a:pPr algn="ctr" rtl="1"/>
            <a:r>
              <a:rPr sz="1300" b="0">
                <a:solidFill>
                  <a:srgbClr val="7DD3FC"/>
                </a:solidFill>
                <a:latin typeface="Calibri"/>
              </a:rPr>
              <a:t>Peripheral Venous Disease in the Neurosurgery Patient  ·  Youmans Neurological Surgery, 8th Ed. · Michael Zhang, Vicken Pamoukian, Stephen Skirboll</a:t>
            </a:r>
          </a:p>
        </p:txBody>
      </p:sp>
      <p:sp>
        <p:nvSpPr>
          <p:cNvPr id="9" name="TextBox 8"/>
          <p:cNvSpPr txBox="1"/>
          <p:nvPr/>
        </p:nvSpPr>
        <p:spPr>
          <a:xfrm>
            <a:off x="914400" y="5943600"/>
            <a:ext cx="10360152" cy="548640"/>
          </a:xfrm>
          <a:prstGeom prst="rect">
            <a:avLst/>
          </a:prstGeom>
          <a:noFill/>
        </p:spPr>
        <p:txBody>
          <a:bodyPr wrap="square" lIns="0" rIns="0" tIns="0" bIns="0" anchor="ctr"/>
          <a:lstStyle/>
          <a:p>
            <a:pPr algn="ctr" rtl="1"/>
            <a:r>
              <a:rPr sz="1250" b="0">
                <a:solidFill>
                  <a:srgbClr val="64748B"/>
                </a:solidFill>
                <a:latin typeface="Calibri"/>
              </a:rPr>
              <a:t>7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אפידמיולוגיה וגורמי סיכון</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1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איזו קבוצת חולי גידולי מוח נמצאת בסיכון הגבוה ביותר לפתח DVT, ומה המנגנון המוביל לכך?</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חולי glioma בדרגה גבוהה - בשל רגולציה-יתר תוכית (אינטרינזית) של tissue factor וחלבוני קסקדת הקרישה בתוך הגידול עצמו</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חולי אדנומה של יותרת המוח - בשל לחץ מכני ישיר על הוורידים התוך-גולגולתיים</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חולי מדולובלסטומה - בשל מיקום הגידול הפוסט-פוסה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חולי אפנדימומה - בשל חסימת מעבר נוזל השדרה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אפידמיולוגיה וגורמי סיכון</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א) חולי glioma בדרגה גבוהה - בשל רגולציה-יתר תוכית (אינטרינזית) של tissue factor וחלבוני קסקדת הקרישה בתוך הגידול עצמו</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(1): חולי glioma בדרגה גבוהה מציגים את אחד משיעורי ה-VTE הגבוהים ביותר בקרב חולי גידולי מוח, כתוצאה מרגולציה-יתר תוכית (אינטרינזית) של tissue factor וחלבוני קסקדת הקרישה - תהליך ביולוגי בתוך הגידול עצמו ולא תוצאה של מיקום אנטומי או לחץ מכני. מחקר NSQIP דיווח על שיעור VTE של 3.1% בקרניוטומיה לגידול ממאיר ראשוני. בניגוד לכך, פיטואיטרי ומדולובלסטומה נמצאים בקצה הסיכון הנמוך.</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Tissue factor upregulation</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עלייה בביטוי tissue factor (הגורם היוזם את קסקדת הקרישה החוץ-וסקולרית) בתוך תאי הגידול עצמם - מנגנון תוכי שמסביר נטייה מוגברת לקרישה אצל חולי glioma, בלתי תלוי בגורמי סיכון חיצוניים כמו חוסר תזוזה.</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דמייני את הגידול כמפעל קטן שמייצר באופן עצמאי את "כפתור ההתחלה" של קרישת הדם (tissue factor) - בלי קשר למה שקורה בשאר הגוף.</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למה זה משנה קלינית אם הסיכון 'תוכי' (בגידול) ולא רק 'מכני' (חוסר תזוזה)?</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High-grade glioma: שיעור VTE של כ-3.1% ב-NSQIP</a:t>
            </a:r>
          </a:p>
        </p:txBody>
      </p:sp>
      <p:sp>
        <p:nvSpPr>
          <p:cNvPr id="21" name="Rounded Rectangle 20"/>
          <p:cNvSpPr/>
          <p:nvPr/>
        </p:nvSpPr>
        <p:spPr>
          <a:xfrm>
            <a:off x="8138160" y="278892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מנגנון: תוכי - תהליך תרומבוגני בתוך תאי הגידול עצמם</a:t>
            </a:r>
          </a:p>
        </p:txBody>
      </p:sp>
      <p:sp>
        <p:nvSpPr>
          <p:cNvPr id="24" name="Rounded Rectangle 23"/>
          <p:cNvSpPr/>
          <p:nvPr/>
        </p:nvSpPr>
        <p:spPr>
          <a:xfrm>
            <a:off x="8138160" y="3657600"/>
            <a:ext cx="3474720" cy="7772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פיטואיטרי/מדולובלסטומה: בסיכון הנמוך ביותר מבין הגידולים</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אבחנה</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2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מדוע לא ניתן להסתמך על D-dimer כדי לשלול DVT/PE בחולה נוירוכירורגי פוסט-ניתוחי טיפוסי?</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D-dimer כלל לא קיים כבדיקה זמינה בבתי חולים</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D-dimer חיובי רק אצל חולים מתחת לגיל 40</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D-dimer נשאר מוגבר שבועות אחרי ניתוח גדול, כך שרגישותו השלילית הגבוהה לשלילת VTE לא תקפה בחולה עם CPTP גבוה מראש (ניתוח גדול, חוסר תזוזה, סרטן)</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D-dimer מודד רק תפקוד כבד ואין לו קשר לקרישה</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אבחנה</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ג) D-dimer נשאר מוגבר שבועות אחרי ניתוח גדול, כך שרגישותו השלילית הגבוהה לשלילת VTE לא תקפה בחולה עם CPTP גבוה מראש (ניתוח גדול, חוסר תזוזה, סרטן)</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(3): D-dimer מועיל בעיקר לשלילת VTE בחולים עם CPTP (קלינית pretest probability) נמוכה-בינונית, הודות לרגישותו השלילית הגבוהה. אולם חולה נוירוכירורגי פוסט-ניתוחי טיפוסי כבר נמצא ב-CPTP גבוהה מעיקרון (ניתוח גדול, חוסר תזוזה, ולעתים ממאירות) - ו-D-dimer נשאר מוגבר במצב זה למשך שבועות ללא קשר לקיום VTE בפועל, כך שתוצאה שלילית אינה אינפורמטיבית. לכן יש לעבור ישירות להדמיה (US ורידים / CTPA) בהתאם לחשד הקליני.</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Clinical pretest probability (CPTP)</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הערכה קלינית מובנית (למשל ניקוד Wells) של סבירות VTE לפני בדיקת אבחון, הקובעת אילו בדיקות יהיו מועילות ואילו לא ימנעו מידע.</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D-dimer הוא כמו גלאי עשן שתקוע ב'התראה' כבר מהתבשיל הקודם - אי אפשר לדעת אם יש שרפה חדשה אם הוא כבר צפרר כל השבוע.</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אם D-dimer לא עוזר, מה כן עושים כשיש חשד ל-DVT בחולה נוירוכירורגי?</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D-dimer: רגישות שלילית גבוהה - שימושי כשה-CPTP נמוך-בינוני</a:t>
            </a:r>
          </a:p>
        </p:txBody>
      </p:sp>
      <p:sp>
        <p:nvSpPr>
          <p:cNvPr id="21" name="Rounded Rectangle 20"/>
          <p:cNvSpPr/>
          <p:nvPr/>
        </p:nvSpPr>
        <p:spPr>
          <a:xfrm>
            <a:off x="8138160" y="278892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אחרי ניתוח גדול: נשאר מוגבר שבועות - לא אינפורמטיבי</a:t>
            </a:r>
          </a:p>
        </p:txBody>
      </p:sp>
      <p:sp>
        <p:nvSpPr>
          <p:cNvPr id="24" name="Rounded Rectangle 23"/>
          <p:cNvSpPr/>
          <p:nvPr/>
        </p:nvSpPr>
        <p:spPr>
          <a:xfrm>
            <a:off x="8138160" y="365760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חולה נוירוכירורגי = כבר CPTP גבוה (ניתוח+immobilization+לעתים סרטן)</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פרופילקסיה</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3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מהו עקרון התזמון המקובל לפרופילקסיית VTE בחולה נוירוכירורגי לאחר ניתוח?</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להמתין 2 שבועות מלאות לפני כל פרופילקסיה, מכל סוג</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מכאנופרופילקסיה (גרביים/מכשיר לחץ לסירוגין) מתחילה באופן מיידי; כימופרופילקסיה (כגון LMWH) מקובלת סביב 24 שעות, ומנה טיפולית-מלאה נדחית לפחות 72 שעות</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כימופרופילקסיה תמיד קודמת למכאנופרופילקסיה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אין שום הבדל בתזמון בין מכאנופרופילקסיה לכימופרופילקסיה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פרופילקסיה</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ב) מכאנופרופילקסיה (גרביים/מכשיר לחץ לסירוגין) מתחילה באופן מיידי; כימופרופילקסיה (כגון LMWH) מקובלת סביב 24 שעות, ומנה טיפולית-מלאה נדחית לפחות 72 שעות</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(2): מכאנופרופילקסיה (התקני לחץ לסירוגין, גרביים) מקובלת כבטוחה להתחלה מיידית ומומלצת באופן גורף להפחתת VTE. כימופרופילקסיה (כגון LMWH/UFH במנה מניעתית) מקובלת בד״כ בסביבות 24 שעות אחרי הניתוח. לעומת זאת, מנה טיפולית-מלאה (לדוגמה לטיפול ב-VTE מוכח) נדחית לפחות 72 שעות - כי חולי נוירוכירורגיה נמצאים בסיכון הגבוה ביותר לדימום תוך-גולגולתי חוזר (2.56 ל-100 שנות-מטופל אחרי VKA). ההחלטה הסופית תמיד מאוזנת אישית מול סיכון הדימום הספציפי של המטופל.</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Mechanoprophylaxis vs chemoprophylaxis</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מכאנופרופילקסיה = אמצעים פיזיים (גרביים, מכשיר לחץ לסירוגין) ללא סיכון דימומי; כימופרופילקסיה = תרופות אנטיקואגולנטיות (LMWH/UFH) במנה מונעת, הנושאות סיכון דימומי ולכן מתוזמנות בקפידה אחרי ניתוח.</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דמייני שלוש תחנות בכביש אחד: ברמזור הראשון (מיידי) - תמיד נוסעים (מכאנופרופילקסיה); ברמזור השני (24 שעות) - נוסעים בזהירות (כימופרופילקסיה מונעת); ברמזור השלישי (72 שעות) - עוצרים לבדוק את כל הכיוונים לפני שממשיכים במהירות מלאה (מנה טיפולית).</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למה בכלל מתחילים כימופרופילקסיה לפני שעברו 72 שעות, אם יש סיכון דימומי?</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מכאנופרופילקסיה: מיידית - מקובלת ונטולת סיכון דימומי</a:t>
            </a:r>
          </a:p>
        </p:txBody>
      </p:sp>
      <p:sp>
        <p:nvSpPr>
          <p:cNvPr id="21" name="Rounded Rectangle 20"/>
          <p:cNvSpPr/>
          <p:nvPr/>
        </p:nvSpPr>
        <p:spPr>
          <a:xfrm>
            <a:off x="8138160" y="278892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כימופרופילקסיה מניעתית: ~24 שעות אחרי ניתוח</a:t>
            </a:r>
          </a:p>
        </p:txBody>
      </p:sp>
      <p:sp>
        <p:nvSpPr>
          <p:cNvPr id="24" name="Rounded Rectangle 23"/>
          <p:cNvSpPr/>
          <p:nvPr/>
        </p:nvSpPr>
        <p:spPr>
          <a:xfrm>
            <a:off x="8138160" y="365760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מנה טיפולית מלאה: נדחית ≥72 שעות - איזון מול סיכון דימום תוך-גולגולתי</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IVC filter</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4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מתי מוצדק לשקול הצבת מסנן לווריד הנבוב התחתון (IVCF) בחולה נוירוכירורגי עם DVT חריף?</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בכל חולה עם DVT כלשהו, ללא תנאי</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ב-DVT דיסטלי מבודד בלבד</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ב-DVT כרוני בן יותר מחודש</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בחולה פוסט-ניתוחי, המודינמית יציב, עם DVT חריף (מתחת לחודש) וצורך רפואי באנטיקואגולציה - כאשר האנטיקואגולציה המלאה יכולה 'להידחות' זמנית בעזרת המסנן, בבחירה ומעקב קפדניים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IVC filter</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ד) בחולה פוסט-ניתוחי, המודינמית יציב, עם DVT חריף (מתחת לחודש) וצורך רפואי באנטיקואגולציה - כאשר האנטיקואגולציה המלאה יכולה 'להידחות' זמנית בעזרת המסנן, בבחירה ומעקב קפדניים</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(4): IVCF אינו מומלץ ל-DVT דיסטלי מבודד, DVT גפה עליונה, או DVT כרוני (מעל חודש). השימוש המתאים הוא בחולה פוסט-ניתוחי יציב המודינמית, עם DVT חריף (מתחת לחודש) וצורך רפואי באנטיקואגולציה מלאה - כאשר ניתן 'לקנות זמן' עד שהאנטיקואגולציה תהיה בטוחה יותר, בבחירת חולים קפדנית. חשוב לזכור שמסנן אינו חף מסיכון (מיגרציה, פקקת IVC עצמה, חדירת כלי), וניסוי אקראי הראה שהצבה מניעתית לא הפחיתה PE סימפטומטי או תמותה בחולי טראומה - ומסננים צריכים להיות מוסרים תוך 6 חודשים.</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IVC filter (IVCF)</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מכשיר תוך-וסקולרי המוחדר לווריד הנבוב התחתון כדי ללכוד תסחיפים נודדים מהגפיים התחתונות ולמנוע PE, מבלי לטפל בפקקת עצמה - אינו תחליף לאנטיקואגולציה אלא גישור זמני.</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ה-IVCF הוא כמו מחסום תנועה זמני בכביש בזמן שמתקנים את הגשר (אנטיקואגולציה) - הוא לא פותר את הבעיה בכביש עצמו (הפקקת), ויש לפרק אותו ברגע שהגשר תקין.</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אם המסנן 'קונה זמן' עד שאנטיקואגולציה בטוחה - למה לא להציב אותו כשגרה בכל חולה נוירוכירורגי עם DVT?</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לא מומלץ: DVT דיסטלי מבודד, DVT גפה עליונה, או DVT כרוני &gt;חודש</a:t>
            </a:r>
          </a:p>
        </p:txBody>
      </p:sp>
      <p:sp>
        <p:nvSpPr>
          <p:cNvPr id="21" name="Rounded Rectangle 20"/>
          <p:cNvSpPr/>
          <p:nvPr/>
        </p:nvSpPr>
        <p:spPr>
          <a:xfrm>
            <a:off x="8138160" y="2788920"/>
            <a:ext cx="3474720" cy="777240"/>
          </a:xfrm>
          <a:prstGeom prst="round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שימוש סביר: DVT חריף + צורך באנטיקואגולציה שרוצים לדחות מעט</a:t>
            </a:r>
          </a:p>
        </p:txBody>
      </p:sp>
      <p:sp>
        <p:nvSpPr>
          <p:cNvPr id="24" name="Rounded Rectangle 23"/>
          <p:cNvSpPr/>
          <p:nvPr/>
        </p:nvSpPr>
        <p:spPr>
          <a:xfrm>
            <a:off x="8138160" y="365760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אינו חף מסיכון: מיגרציה, IVC thrombosis, חדירת כלי - להסיר תוך 6 חודשים</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DOACs</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5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מהו החיסרון המעשי המרכזי של תרופות אנטיקואגולנט פומיות ישירות (DOACs) בהשוואה ל-VKA, חרף יתרונותיהן?</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סוכני ההיפוך (idarucizumab, andexanet) יקרים משמעותית ($3,300 עד $30,000-$60,000) בהשוואה ל-PCC/FFP, ומחקרים ייעודיים החריגו חולי שבץ מוחי אחרונים, מה שמקשה לקבוע מתי לחדש DOAC אחרי שבץ</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DOACs דורשים מעקב מעבדה שבועי קבוע</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DOACs בעלי זמן מחצית-חיים ארוך בהרבה מ-VKA</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אין בכלל סוכן היפוך ל-DOACs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DOACs</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א) סוכני ההיפוך (idarucizumab, andexanet) יקרים משמעותית ($3,300 עד $30,000-$60,000) בהשוואה ל-PCC/FFP, ומחקרים ייעודיים החריגו חולי שבץ מוחי אחרונים, מה שמקשה לקבוע מתי לחדש DOAC אחרי שבץ</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(1): ל-DOACs יש יתרונות ברורים (תגובה אנטיקואגולנטית צפויה, מנה קבועה, אין צורך במעקב מעבדה שוטף, זמן מחצית-חיים קצר המתיר היפוך מהיר). אולם סוכני ההיפוך הייעודיים - idarucizumab (לדביגטרן) ו-andexanet (לאפיקסבן/ריברוקסבן) - יקרים בהרבה מ-PCC או FFP המשמשים להיפוך VKA ($3,300 ועד $30,000-$60,000 בהתאמה). בנוסף, מחקרי היסוד החריגו חולים עם שבץ מוחי אחרון, כך שאין קונצנזוס ברור מתי בטוח לחדש DOAC אחרי שבץ בחולה נוירוכירורגי/נוירולוגי.</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Idarucizumab / Andexanet</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idarucizumab - נוגדן מונוקלונלי אנושי שנקשר ישירות ל-dabigatran להיפוכו; andexanet - חלבון פקטור Xa רקומביננטי משונה שמתפקד כ'מתחרה' ומהפך את apixaban ו-rivaroxaban.</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ה-DOAC הוא כמו מכונית חדשה ומהירה - נוחה לנהוג, אין צורך לבדוק אותה כל שבוע - אבל אם היא מתקלקלת, מוסך ההיפוך שלה גובה הרבה יותר מהמוסך הישן (VKA) שתמיד זמין וזול יחסית (PCC/FFP).</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אם ה-DOAC כל כך נוח, למה VKA עדיין בשימוש נרחב בחולים נוירוכירורגיים מסוימים?</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יתרונות DOAC: תגובה צפויה, מנה קבועה, בלי מעקב מעבדתי, זמן מחצית-חיים קצר</a:t>
            </a:r>
          </a:p>
        </p:txBody>
      </p:sp>
      <p:sp>
        <p:nvSpPr>
          <p:cNvPr id="21" name="Rounded Rectangle 20"/>
          <p:cNvSpPr/>
          <p:nvPr/>
        </p:nvSpPr>
        <p:spPr>
          <a:xfrm>
            <a:off x="8138160" y="278892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חיסרון מעשי: סוכני היפוך יקרים משמעותית מ-PCC/FFP</a:t>
            </a:r>
          </a:p>
        </p:txBody>
      </p:sp>
      <p:sp>
        <p:nvSpPr>
          <p:cNvPr id="24" name="Rounded Rectangle 23"/>
          <p:cNvSpPr/>
          <p:nvPr/>
        </p:nvSpPr>
        <p:spPr>
          <a:xfrm>
            <a:off x="8138160" y="365760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פער מחקרי: נחקרו אחרי שבץ מוחי אחרון - לא ברור מתי לחדש בבטחה</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פגיעת חוט שדרה (SCI)</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6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מה הראה המחקר של Aito ואחרים בחולי SCI בנוגע לתזמון התחלת LMWH, דחיסה וניוד?</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אין שום הבדל בשיעור DVT בין התחלה מוקדמת למאוחרת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התחלה מוקדמת (תוך 72 שעות) העלתה את שיעור ה-DVT ל-26%</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חולים שקיבלו LMWH, דחיסה וניוד תוך 72 שעות מהפגיעה הציגו שיעור DVT נמוך משמעותית (2%) בהשוואה להתחלה מאוחרת יותר (שבוע) שהציגה 26%</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ניוד בלבד, בלי LMWH, הספיק להגיע לאותה תוצאה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פגיעת חוט שדרה (SCI)</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ג) חולים שקיבלו LMWH, דחיסה וניוד תוך 72 שעות מהפגיעה הציגו שיעור DVT נמוך משמעותית (2%) בהשוואה להתחלה מאוחרת יותר (שבוע) שהציגה 26%</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(3): Aito ועמיתיו הדגימו שחולי SCI שקיבלו שילוב של LMWH, דחיסה וניוד תוך 72 שעות מהפגיעה הציגו שיעור DVT של 2% בלבד - לעומת 26% בקבוצה שהתחילה את אותו הפרוטוקול רק אחרי שבוע. זהו הבדל דרמטי שממחיש עד כמה קריטי התזמון המוקדם של פרופילקסיה משולשת (לא רק תרופתית, ולא רק מכאנית) בחולי SCI, שנחשבים בקטגוריית סיכון גבוהה ביותר.</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SCI VTE prophylaxis bundle</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שילוב של שלושה מרכיבים - אנטיקואגולציה (LMWH), אמצעי דחיסה מכאניים, וניוד מוקדם ככל האפשר - שהודגם כמפחית דרמטית את שיעור ה-DVT בחולי פגיעת חוט שדרה כאשר מתחילים תוך 72 שעות.</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דמייני שלושה מגני-גשם (תרופה, דחיסה, ניוד) שנפתחים תוך 3 ימים מתחילת הסערה - ההבדל בין פתיחתם ביום הראשון לפתיחתם רק בסוף השבוע הוא ההבדל בין להישאר רטוב כמעט לחלוטין (26%) לבין להישאר רטוב רק במקצת (2%).</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למה שילוב של שלושה אמצעים (לא רק אחד) כה חשוב בדיוק בחולי SCI?</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התחלה תוך 72 שעות (LMWH+דחיסה+ניוד): DVT ב-2% מהחולים</a:t>
            </a:r>
          </a:p>
        </p:txBody>
      </p:sp>
      <p:sp>
        <p:nvSpPr>
          <p:cNvPr id="21" name="Rounded Rectangle 20"/>
          <p:cNvSpPr/>
          <p:nvPr/>
        </p:nvSpPr>
        <p:spPr>
          <a:xfrm>
            <a:off x="8138160" y="278892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התחלה אחרי שבוע: DVT ב-26% מהחולים - פער עצום</a:t>
            </a:r>
          </a:p>
        </p:txBody>
      </p:sp>
      <p:sp>
        <p:nvSpPr>
          <p:cNvPr id="24" name="Rounded Rectangle 23"/>
          <p:cNvSpPr/>
          <p:nvPr/>
        </p:nvSpPr>
        <p:spPr>
          <a:xfrm>
            <a:off x="8138160" y="365760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מסר קליני: SCI מצריך פרופילקסיה מוקדמת ומשולשת, לא רק אחת מהשלוש</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lIns="0" rIns="0" tIns="0" bIns="0" anchor="ctr"/>
          <a:lstStyle/>
          <a:p>
            <a:pPr algn="ctr" rtl="1"/>
            <a:r>
              <a:rPr sz="1250" b="1">
                <a:solidFill>
                  <a:srgbClr val="FFFFFF"/>
                </a:solidFill>
                <a:latin typeface="Calibri"/>
              </a:rPr>
              <a:t>טיפול ממושך</a:t>
            </a:r>
          </a:p>
        </p:txBody>
      </p:sp>
      <p:sp>
        <p:nvSpPr>
          <p:cNvPr id="6" name="TextBox 5"/>
          <p:cNvSpPr txBox="1"/>
          <p:nvPr/>
        </p:nvSpPr>
        <p:spPr>
          <a:xfrm>
            <a:off x="8531352" y="365760"/>
            <a:ext cx="3108960" cy="384048"/>
          </a:xfrm>
          <a:prstGeom prst="rect">
            <a:avLst/>
          </a:prstGeom>
          <a:noFill/>
        </p:spPr>
        <p:txBody>
          <a:bodyPr wrap="square" lIns="0" rIns="0" tIns="0" bIns="0" anchor="ctr"/>
          <a:lstStyle/>
          <a:p>
            <a:pPr algn="l" rtl="1"/>
            <a:r>
              <a:rPr sz="1200" b="0">
                <a:solidFill>
                  <a:srgbClr val="9CA3AF"/>
                </a:solidFill>
                <a:latin typeface="Calibri"/>
              </a:rPr>
              <a:t>כרטיסייה 7 מתוך 7</a:t>
            </a:r>
          </a:p>
        </p:txBody>
      </p:sp>
      <p:sp>
        <p:nvSpPr>
          <p:cNvPr id="7" name="TextBox 6"/>
          <p:cNvSpPr txBox="1"/>
          <p:nvPr/>
        </p:nvSpPr>
        <p:spPr>
          <a:xfrm>
            <a:off x="548640" y="1005840"/>
            <a:ext cx="11064240" cy="1463040"/>
          </a:xfrm>
          <a:prstGeom prst="rect">
            <a:avLst/>
          </a:prstGeom>
          <a:noFill/>
        </p:spPr>
        <p:txBody>
          <a:bodyPr wrap="square" lIns="0" rIns="0" tIns="0" bIns="0" anchor="t"/>
          <a:lstStyle/>
          <a:p>
            <a:pPr algn="r" rtl="1"/>
            <a:r>
              <a:rPr sz="2000" b="1">
                <a:solidFill>
                  <a:srgbClr val="1F2937"/>
                </a:solidFill>
                <a:latin typeface="Calibri"/>
              </a:rPr>
              <a:t>מה משך האנטיקואגולציה המומלץ לאחר VTE מוספק (provoked) בחולה פוסט-ניתוחי, ומתי מאריכים אותו?</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lIns="0" rIns="0" tIns="0" bIns="0" anchor="ct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lIns="0" rIns="0" tIns="0" bIns="0" anchor="ctr"/>
          <a:lstStyle/>
          <a:p>
            <a:pPr algn="r" rtl="1"/>
            <a:r>
              <a:rPr sz="1350" b="0">
                <a:solidFill>
                  <a:srgbClr val="1F2937"/>
                </a:solidFill>
                <a:latin typeface="Calibri"/>
              </a:rPr>
              <a:t>שבוע אחד בלבד בכל מקרה</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lIns="0" rIns="0" tIns="0" bIns="0" anchor="ct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lIns="0" rIns="0" tIns="0" bIns="0" anchor="ctr"/>
          <a:lstStyle/>
          <a:p>
            <a:pPr algn="r" rtl="1"/>
            <a:r>
              <a:rPr sz="1350" b="0">
                <a:solidFill>
                  <a:srgbClr val="1F2937"/>
                </a:solidFill>
                <a:latin typeface="Calibri"/>
              </a:rPr>
              <a:t>לפחות 3 חודשים כבסיס; מאריכים ל-6-12 חודשים במקרה של DVT בלתי-מוספק (unprovoked) או PE סימפטומטי</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lIns="0" rIns="0" tIns="0" bIns="0" anchor="ct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lIns="0" rIns="0" tIns="0" bIns="0" anchor="ctr"/>
          <a:lstStyle/>
          <a:p>
            <a:pPr algn="r" rtl="1"/>
            <a:r>
              <a:rPr sz="1350" b="0">
                <a:solidFill>
                  <a:srgbClr val="1F2937"/>
                </a:solidFill>
                <a:latin typeface="Calibri"/>
              </a:rPr>
              <a:t>אנטיקואגולציה לכל החיים בכל חולה עם VTE כלשהו, בלי יוצא מן הכלל</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lIns="0" rIns="0" tIns="0" bIns="0" anchor="ct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lIns="0" rIns="0" tIns="0" bIns="0" anchor="ctr"/>
          <a:lstStyle/>
          <a:p>
            <a:pPr algn="r" rtl="1"/>
            <a:r>
              <a:rPr sz="1350" b="0">
                <a:solidFill>
                  <a:srgbClr val="1F2937"/>
                </a:solidFill>
                <a:latin typeface="Calibri"/>
              </a:rPr>
              <a:t>24 שעות בלבד, ואז מפסיקים לחלוטין</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lIns="0" rIns="0" tIns="0" bIns="0" anchor="ctr"/>
          <a:lstStyle/>
          <a:p>
            <a:pPr algn="ctr" rtl="1"/>
            <a:r>
              <a:rPr sz="1200" b="1">
                <a:solidFill>
                  <a:srgbClr val="FFFFFF"/>
                </a:solidFill>
                <a:latin typeface="Calibri"/>
              </a:rPr>
              <a:t>טיפול ממושך</a:t>
            </a:r>
          </a:p>
        </p:txBody>
      </p:sp>
      <p:sp>
        <p:nvSpPr>
          <p:cNvPr id="6" name="TextBox 5"/>
          <p:cNvSpPr txBox="1"/>
          <p:nvPr/>
        </p:nvSpPr>
        <p:spPr>
          <a:xfrm>
            <a:off x="548640" y="777240"/>
            <a:ext cx="11064240" cy="640080"/>
          </a:xfrm>
          <a:prstGeom prst="rect">
            <a:avLst/>
          </a:prstGeom>
          <a:noFill/>
        </p:spPr>
        <p:txBody>
          <a:bodyPr wrap="square" lIns="0" rIns="0" tIns="0" bIns="0" anchor="t"/>
          <a:lstStyle/>
          <a:p>
            <a:pPr algn="r" rtl="1"/>
            <a:r>
              <a:rPr sz="1400" b="1">
                <a:solidFill>
                  <a:srgbClr val="15803D"/>
                </a:solidFill>
                <a:latin typeface="Calibri"/>
              </a:rPr>
              <a:t>התשובה הנכונה: ב) לפחות 3 חודשים כבסיס; מאריכים ל-6-12 חודשים במקרה של DVT בלתי-מוספק (unprovoked) או PE סימפטומטי</a:t>
            </a:r>
          </a:p>
        </p:txBody>
      </p:sp>
      <p:sp>
        <p:nvSpPr>
          <p:cNvPr id="7" name="Rounded Rectangle 6"/>
          <p:cNvSpPr/>
          <p:nvPr/>
        </p:nvSpPr>
        <p:spPr>
          <a:xfrm>
            <a:off x="548640" y="1554480"/>
            <a:ext cx="7406640" cy="1417320"/>
          </a:xfrm>
          <a:prstGeom prst="round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lIns="0" rIns="0" tIns="0" bIns="0" anchor="t"/>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lIns="0" rIns="0" tIns="0" bIns="0" anchor="t"/>
          <a:lstStyle/>
          <a:p>
            <a:pPr algn="r" rtl="1"/>
            <a:r>
              <a:rPr sz="1000" b="0">
                <a:solidFill>
                  <a:srgbClr val="1F2937"/>
                </a:solidFill>
                <a:latin typeface="Calibri"/>
              </a:rPr>
              <a:t>התשובה הנכונה (2): הסיכון היחסי ל-VTE אצל חולה פוסט-ניתוחי נשאר מוגבר במיוחד ב-12 השבועות הראשונות, ולא חוזר לבסיס עד שנה. לכן מומלצת אנטיקואגולציה לפחות 3 חודשים, אם נסבל. לאחר מכן הסיכון ל-VTE חוזר יורד לפחות מ-1%. עם זאת, ב-DVT בלתי-מוספק (unprovoked) או PE סימפטומטי, הטיפול מוארך באופן שגרתי ל-6 או 12 חודשים, בשל סיכון חזרה גבוה יותר. VKAs היסטורית נועדו ל-INR יעד של 2.0-3.0.</a:t>
            </a:r>
          </a:p>
        </p:txBody>
      </p:sp>
      <p:sp>
        <p:nvSpPr>
          <p:cNvPr id="10" name="Rounded Rectangle 9"/>
          <p:cNvSpPr/>
          <p:nvPr/>
        </p:nvSpPr>
        <p:spPr>
          <a:xfrm>
            <a:off x="548640" y="3108960"/>
            <a:ext cx="7406640" cy="914400"/>
          </a:xfrm>
          <a:prstGeom prst="round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lIns="0" rIns="0" tIns="0" bIns="0" anchor="t"/>
          <a:lstStyle/>
          <a:p>
            <a:pPr algn="r" rtl="1"/>
            <a:r>
              <a:rPr sz="1150" b="1">
                <a:solidFill>
                  <a:srgbClr val="1E3A8A"/>
                </a:solidFill>
                <a:latin typeface="Calibri"/>
              </a:rPr>
              <a:t>מונח: Provoked vs. unprovoked VTE</a:t>
            </a:r>
          </a:p>
        </p:txBody>
      </p:sp>
      <p:sp>
        <p:nvSpPr>
          <p:cNvPr id="12" name="TextBox 11"/>
          <p:cNvSpPr txBox="1"/>
          <p:nvPr/>
        </p:nvSpPr>
        <p:spPr>
          <a:xfrm>
            <a:off x="731520" y="3474720"/>
            <a:ext cx="7040880" cy="502920"/>
          </a:xfrm>
          <a:prstGeom prst="rect">
            <a:avLst/>
          </a:prstGeom>
          <a:noFill/>
        </p:spPr>
        <p:txBody>
          <a:bodyPr wrap="square" lIns="0" rIns="0" tIns="0" bIns="0" anchor="t"/>
          <a:lstStyle/>
          <a:p>
            <a:pPr algn="r" rtl="1"/>
            <a:r>
              <a:rPr sz="950" b="0">
                <a:solidFill>
                  <a:srgbClr val="1E3A8A"/>
                </a:solidFill>
                <a:latin typeface="Calibri"/>
              </a:rPr>
              <a:t>VTE 'מוספק' - מתרחש בהקשר של גורם סיכון זמני וברור (למשל ניתוח גדול); VTE 'בלתי-מוספק' - מתרחש ללא גורם מעורר ברור, ונושא סיכון חזרה גבוה יותר המצדיק טיפול ממושך יותר.</a:t>
            </a:r>
          </a:p>
        </p:txBody>
      </p:sp>
      <p:sp>
        <p:nvSpPr>
          <p:cNvPr id="13" name="Rounded Rectangle 12"/>
          <p:cNvSpPr/>
          <p:nvPr/>
        </p:nvSpPr>
        <p:spPr>
          <a:xfrm>
            <a:off x="548640" y="4160520"/>
            <a:ext cx="7406640" cy="1417320"/>
          </a:xfrm>
          <a:prstGeom prst="roundRect">
            <a:avLst/>
          </a:prstGeom>
          <a:solidFill>
            <a:srgbClr val="F5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lIns="0" rIns="0" tIns="0" bIns="0" anchor="t"/>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lIns="0" rIns="0" tIns="0" bIns="0" anchor="t"/>
          <a:lstStyle/>
          <a:p>
            <a:pPr algn="r" rtl="1"/>
            <a:r>
              <a:rPr sz="950" b="0">
                <a:solidFill>
                  <a:srgbClr val="4C1D95"/>
                </a:solidFill>
                <a:latin typeface="Calibri"/>
              </a:rPr>
              <a:t>דמייני סיכון כגל שמתחיל גבוה מאוד מיד אחרי הניתוח ודועך לאיטו במשך כשנה - 3 חודשי אנטיקואגולציה 'תופסים' את החלק הגבוה והחשוב ביותר של הגל, אבל אם אין 'סיבה' ברורה לגל (unprovoked) יש חשד שהגל ימשיך גבוה יותר זמן, ולכן מאריכים.</a:t>
            </a:r>
          </a:p>
        </p:txBody>
      </p:sp>
      <p:sp>
        <p:nvSpPr>
          <p:cNvPr id="16" name="TextBox 15"/>
          <p:cNvSpPr txBox="1"/>
          <p:nvPr/>
        </p:nvSpPr>
        <p:spPr>
          <a:xfrm>
            <a:off x="731520" y="5047488"/>
            <a:ext cx="7040880" cy="502920"/>
          </a:xfrm>
          <a:prstGeom prst="rect">
            <a:avLst/>
          </a:prstGeom>
          <a:noFill/>
        </p:spPr>
        <p:txBody>
          <a:bodyPr wrap="square" lIns="0" rIns="0" tIns="0" bIns="0" anchor="t"/>
          <a:lstStyle/>
          <a:p>
            <a:pPr algn="r" rtl="1"/>
            <a:r>
              <a:rPr sz="900" b="0">
                <a:solidFill>
                  <a:srgbClr val="5B21B6"/>
                </a:solidFill>
                <a:latin typeface="Calibri"/>
              </a:rPr>
              <a:t>שאלי את עצמך: למה בכלל מפסיקים אחרי 3 חודשים ולא ממשיכים 'כדי להיות בטוחים' יותר זמן בכל המקרים?</a:t>
            </a:r>
          </a:p>
        </p:txBody>
      </p:sp>
      <p:sp>
        <p:nvSpPr>
          <p:cNvPr id="17" name="TextBox 16"/>
          <p:cNvSpPr txBox="1"/>
          <p:nvPr/>
        </p:nvSpPr>
        <p:spPr>
          <a:xfrm>
            <a:off x="8138160" y="1554480"/>
            <a:ext cx="3474720" cy="320040"/>
          </a:xfrm>
          <a:prstGeom prst="rect">
            <a:avLst/>
          </a:prstGeom>
          <a:noFill/>
        </p:spPr>
        <p:txBody>
          <a:bodyPr wrap="square" lIns="0" rIns="0" tIns="0" bIns="0" anchor="t"/>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lIns="0" rIns="0" tIns="0" bIns="0" anchor="ctr"/>
          <a:lstStyle/>
          <a:p>
            <a:pPr algn="r" rtl="1"/>
            <a:r>
              <a:rPr sz="950" b="0">
                <a:solidFill>
                  <a:srgbClr val="FFFFFF"/>
                </a:solidFill>
                <a:latin typeface="Calibri"/>
              </a:rPr>
              <a:t>VTE מוספק (פוסט-ניתוחי): לפחות 3 חודשים</a:t>
            </a:r>
          </a:p>
        </p:txBody>
      </p:sp>
      <p:sp>
        <p:nvSpPr>
          <p:cNvPr id="21" name="Rounded Rectangle 20"/>
          <p:cNvSpPr/>
          <p:nvPr/>
        </p:nvSpPr>
        <p:spPr>
          <a:xfrm>
            <a:off x="8138160" y="2788920"/>
            <a:ext cx="3474720" cy="777240"/>
          </a:xfrm>
          <a:prstGeom prst="round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lIns="0" rIns="0" tIns="0" bIns="0" anchor="ctr"/>
          <a:lstStyle/>
          <a:p>
            <a:pPr algn="r" rtl="1"/>
            <a:r>
              <a:rPr sz="950" b="0">
                <a:solidFill>
                  <a:srgbClr val="FFFFFF"/>
                </a:solidFill>
                <a:latin typeface="Calibri"/>
              </a:rPr>
              <a:t>סיכון נותר גבוה: 12 שבועות הראשונות, לא חוזר לבסיס עד שנה</a:t>
            </a:r>
          </a:p>
        </p:txBody>
      </p:sp>
      <p:sp>
        <p:nvSpPr>
          <p:cNvPr id="24" name="Rounded Rectangle 23"/>
          <p:cNvSpPr/>
          <p:nvPr/>
        </p:nvSpPr>
        <p:spPr>
          <a:xfrm>
            <a:off x="8138160" y="3657600"/>
            <a:ext cx="3474720" cy="777240"/>
          </a:xfrm>
          <a:prstGeom prst="round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lIns="0" rIns="0" tIns="0" bIns="0" anchor="ctr"/>
          <a:lstStyle/>
          <a:p>
            <a:pPr algn="r" rtl="1"/>
            <a:r>
              <a:rPr sz="950" b="0">
                <a:solidFill>
                  <a:srgbClr val="FFFFFF"/>
                </a:solidFill>
                <a:latin typeface="Calibri"/>
              </a:rPr>
              <a:t>unprovoked DVT / PE סימפטומטי: מאריכים ל-6-12 חודשים</a:t>
            </a:r>
          </a:p>
        </p:txBody>
      </p:sp>
      <p:sp>
        <p:nvSpPr>
          <p:cNvPr id="27" name="TextBox 26"/>
          <p:cNvSpPr txBox="1"/>
          <p:nvPr/>
        </p:nvSpPr>
        <p:spPr>
          <a:xfrm>
            <a:off x="548640" y="6446520"/>
            <a:ext cx="11064240" cy="320040"/>
          </a:xfrm>
          <a:prstGeom prst="rect">
            <a:avLst/>
          </a:prstGeom>
          <a:noFill/>
        </p:spPr>
        <p:txBody>
          <a:bodyPr wrap="square" lIns="0" rIns="0" tIns="0" bIns="0" anchor="t"/>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548640"/>
            <a:ext cx="10360152" cy="640080"/>
          </a:xfrm>
          <a:prstGeom prst="rect">
            <a:avLst/>
          </a:prstGeom>
          <a:noFill/>
        </p:spPr>
        <p:txBody>
          <a:bodyPr wrap="square" lIns="0" rIns="0" tIns="0" bIns="0" anchor="ctr"/>
          <a:lstStyle/>
          <a:p>
            <a:pPr algn="ctr" rtl="1"/>
            <a:r>
              <a:rPr sz="3000" b="1">
                <a:solidFill>
                  <a:srgbClr val="FFFFFF"/>
                </a:solidFill>
                <a:latin typeface="Calibri"/>
              </a:rPr>
              <a:t>סיכום הכרטיסיות</a:t>
            </a:r>
          </a:p>
        </p:txBody>
      </p:sp>
      <p:sp>
        <p:nvSpPr>
          <p:cNvPr id="5" name="TextBox 4"/>
          <p:cNvSpPr txBox="1"/>
          <p:nvPr/>
        </p:nvSpPr>
        <p:spPr>
          <a:xfrm>
            <a:off x="1097280" y="1463040"/>
            <a:ext cx="9994392" cy="4389120"/>
          </a:xfrm>
          <a:prstGeom prst="rect">
            <a:avLst/>
          </a:prstGeom>
          <a:noFill/>
        </p:spPr>
        <p:txBody>
          <a:bodyPr wrap="square" lIns="0" rIns="0" tIns="0" bIns="0">
            <a:spAutoFit/>
          </a:bodyPr>
          <a:lstStyle/>
          <a:p>
            <a:pPr algn="r" rtl="1"/>
            <a:r>
              <a:rPr sz="1600">
                <a:solidFill>
                  <a:srgbClr val="E5E7EB"/>
                </a:solidFill>
                <a:latin typeface="Calibri"/>
              </a:rPr>
              <a:t>משולש וירכוב פעיל בכל החזיתות: סטזיס, היפר-קרישיות, פגיעה אנדותליאלית</a:t>
            </a:r>
          </a:p>
          <a:p>
            <a:pPr algn="r" rtl="1"/>
            <a:r>
              <a:rPr sz="1600">
                <a:solidFill>
                  <a:srgbClr val="E5E7EB"/>
                </a:solidFill>
                <a:latin typeface="Calibri"/>
              </a:rPr>
              <a:t>D-dimer לא עוזר פוסט-ניתוחית - עוברים ישר ל-US ורידי או CTPA</a:t>
            </a:r>
          </a:p>
          <a:p>
            <a:pPr algn="r" rtl="1"/>
            <a:r>
              <a:rPr sz="1600">
                <a:solidFill>
                  <a:srgbClr val="E5E7EB"/>
                </a:solidFill>
                <a:latin typeface="Calibri"/>
              </a:rPr>
              <a:t>שלוש תחנות תזמון: מכאנית מיידית → כימו-מניעתית 24 שעות → טיפולית-מלאה 72 שעות</a:t>
            </a:r>
          </a:p>
          <a:p>
            <a:pPr algn="r" rtl="1"/>
            <a:r>
              <a:rPr sz="1600">
                <a:solidFill>
                  <a:srgbClr val="E5E7EB"/>
                </a:solidFill>
                <a:latin typeface="Calibri"/>
              </a:rPr>
              <a:t>SCI: LMWH+דחיסה+ניוד תוך 72 שעות = DVT ב-2% לעומת 26% בהתחלה מאוחרת</a:t>
            </a:r>
          </a:p>
          <a:p>
            <a:pPr algn="r" rtl="1"/>
            <a:r>
              <a:rPr sz="1600">
                <a:solidFill>
                  <a:srgbClr val="E5E7EB"/>
                </a:solidFill>
                <a:latin typeface="Calibri"/>
              </a:rPr>
              <a:t>high-grade glioma: VTE 3.1%-21% - סיכון תוכי, לא רק חוסר תזוזה</a:t>
            </a:r>
          </a:p>
          <a:p>
            <a:pPr algn="r" rtl="1"/>
            <a:r>
              <a:rPr sz="1600">
                <a:solidFill>
                  <a:srgbClr val="E5E7EB"/>
                </a:solidFill>
                <a:latin typeface="Calibri"/>
              </a:rPr>
              <a:t>IVCF: גישור זמני בלבד, לא ל-DVT דיסטלי/כרוני/גפה עליונה, להסיר תוך 6 חודשים</a:t>
            </a:r>
          </a:p>
          <a:p>
            <a:pPr algn="r" rtl="1"/>
            <a:r>
              <a:rPr sz="1600">
                <a:solidFill>
                  <a:srgbClr val="E5E7EB"/>
                </a:solidFill>
                <a:latin typeface="Calibri"/>
              </a:rPr>
              <a:t>DOACs: בטוחים ונוחים יותר, אך היפוך יקר (3,300$-60,000$) ונתונים חסרים אחרי שבץ</a:t>
            </a:r>
          </a:p>
          <a:p>
            <a:pPr algn="r" rtl="1"/>
            <a:r>
              <a:rPr sz="1600">
                <a:solidFill>
                  <a:srgbClr val="E5E7EB"/>
                </a:solidFill>
                <a:latin typeface="Calibri"/>
              </a:rPr>
              <a:t>PESI/sPESI מסווגים סיכון תמותה ב-PE; מדדי דימום (HAS-BLED ועוד) חלשים יחסית</a:t>
            </a:r>
          </a:p>
          <a:p>
            <a:pPr algn="r" rtl="1"/>
            <a:r>
              <a:rPr sz="1600">
                <a:solidFill>
                  <a:srgbClr val="E5E7EB"/>
                </a:solidFill>
                <a:latin typeface="Calibri"/>
              </a:rPr>
              <a:t>משך טיפול: לפחות 3 חודשים ל-VTE מוספק; 6-12 חודשים ל-unprovoked/PE סימפטומטי</a:t>
            </a:r>
          </a:p>
          <a:p>
            <a:pPr algn="r" rtl="1"/>
            <a:r>
              <a:rPr sz="1600">
                <a:solidFill>
                  <a:srgbClr val="E5E7EB"/>
                </a:solidFill>
                <a:latin typeface="Calibri"/>
              </a:rPr>
              <a:t>DVT עד 50% עדיין נראה ב-US אחרי שנה - CT/MRI עם ניגודיות מבדילים חדש מישן</a:t>
            </a:r>
          </a:p>
        </p:txBody>
      </p:sp>
      <p:sp>
        <p:nvSpPr>
          <p:cNvPr id="6" name="TextBox 5"/>
          <p:cNvSpPr txBox="1"/>
          <p:nvPr/>
        </p:nvSpPr>
        <p:spPr>
          <a:xfrm>
            <a:off x="914400" y="6309360"/>
            <a:ext cx="10360152" cy="365760"/>
          </a:xfrm>
          <a:prstGeom prst="rect">
            <a:avLst/>
          </a:prstGeom>
          <a:noFill/>
        </p:spPr>
        <p:txBody>
          <a:bodyPr wrap="square" lIns="0" rIns="0" tIns="0" bIns="0" anchor="t"/>
          <a:lstStyle/>
          <a:p>
            <a:pPr algn="ct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