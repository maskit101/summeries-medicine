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מהדורה 8</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8: הערכה טרום-ניתוחית באמצעות גירוי מגנטי טרנסקרניאלי ממוקד ניווט</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Preoperative Assessment by Navigated Transcranial Magnetic Stimulation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חוק הפיזיקה שעליו מבוססת פעולת ה-TMS, ולמה בזכותו הבדיקה אינה כואבת?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חוק אוהם - זרם ישיר עובר מהסליל לקורטקס דרך אלקטרודות מגע</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חוק דופלר - שינוי תדר הגל המגנטי מותאם לעומק הרקמה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חוק ההשראה (law of induction) - שדה מגנטי משתנה-בזמן משרה זרם חשמלי במוליך; מכיוון שעור/שיער/עצם בעלי מוליכות נמוכה, השדה חודר כמעט ללא הנחתה ובלי להשפיע על הרקמה שביניים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חוק בויל - שינויי לחץ גז בתוך הסליל יוצרים את הגירוי</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חוק ההשראה (law of induction) - שדה מגנטי משתנה-בזמן משרה זרם חשמלי במוליך; מכיוון שעור/שיער/עצם בעלי מוליכות נמוכה, השדה חודר כמעט ללא הנחתה ובלי להשפיע על הרקמה שביניים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E3A8A">
              <a:alpha val="12000"/>
            </a:srgbClr>
          </a:solidFill>
          <a:ln w="15875">
            <a:solidFill>
              <a:srgbClr val="1E3A8A"/>
            </a:solidFill>
            <a:prstDash val="solid"/>
          </a:ln>
        </p:spPr>
      </p:sp>
      <p:sp>
        <p:nvSpPr>
          <p:cNvPr id="7" name="Shape 5"/>
          <p:cNvSpPr/>
          <p:nvPr/>
        </p:nvSpPr>
        <p:spPr>
          <a:xfrm>
            <a:off x="11292840" y="2176272"/>
            <a:ext cx="256032" cy="256032"/>
          </a:xfrm>
          <a:prstGeom prst="ellipse">
            <a:avLst/>
          </a:prstGeom>
          <a:solidFill>
            <a:srgbClr val="1E3A8A"/>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זרם משתנה-מהר בסליל יוצר שדה מגנטי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563EB">
              <a:alpha val="12000"/>
            </a:srgbClr>
          </a:solidFill>
          <a:ln w="15875">
            <a:solidFill>
              <a:srgbClr val="2563EB"/>
            </a:solidFill>
            <a:prstDash val="solid"/>
          </a:ln>
        </p:spPr>
      </p:sp>
      <p:sp>
        <p:nvSpPr>
          <p:cNvPr id="11" name="Shape 9"/>
          <p:cNvSpPr/>
          <p:nvPr/>
        </p:nvSpPr>
        <p:spPr>
          <a:xfrm>
            <a:off x="11292840" y="3044952"/>
            <a:ext cx="256032" cy="256032"/>
          </a:xfrm>
          <a:prstGeom prst="ellipse">
            <a:avLst/>
          </a:prstGeom>
          <a:solidFill>
            <a:srgbClr val="2563E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עור/שיער/עצם: מוליכות נמוכה = כמעט ולא נבלם, לא כואב</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047857">
              <a:alpha val="12000"/>
            </a:srgbClr>
          </a:solidFill>
          <a:ln w="15875">
            <a:solidFill>
              <a:srgbClr val="047857"/>
            </a:solidFill>
            <a:prstDash val="solid"/>
          </a:ln>
        </p:spPr>
      </p:sp>
      <p:sp>
        <p:nvSpPr>
          <p:cNvPr id="15" name="Shape 13"/>
          <p:cNvSpPr/>
          <p:nvPr/>
        </p:nvSpPr>
        <p:spPr>
          <a:xfrm>
            <a:off x="11292840" y="3913632"/>
            <a:ext cx="256032" cy="256032"/>
          </a:xfrm>
          <a:prstGeom prst="ellipse">
            <a:avLst/>
          </a:prstGeom>
          <a:solidFill>
            <a:srgbClr val="04785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בקורטקס (מוליך טוב) - זרם משני מדפלר נוירונים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TMS מבוסס על חוק ההשראה - שדה מגנטי משתנה-בזמן יוצר זרם חשמלי במדיום מוליך. הרקמות שביניים (עור, שיער, עצם) בעלות התנגדות חשמלית גבוהה (מוליכות נמוכה), ולכן השדה הראשוני מגיע לקורטקס כמעט בלתי מוחלש, וגם כמעט בלי להשפיע על הרקמה שביניים - זו הסיבה לחוסר הכאב. תשובות 0, 1, 3 מתארות מנגנונים פיזיקליים לא רלוונטיים.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Law of Induction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שדה מגנטי משתנה-בזמן משרה זרם חשמלי בכל מוליך חשמלי הנמצא בטווח השפעתו.</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מגנט שעובר מעל פיסת מתכת בלי לגעת בה - כוח בלתי נראה 'קופץ' דרך האוויר. באותו אופן, השדה המגנטי 'קופץ' דרך העור והעצם (שכמעט ולא מפריעים לו) ורק בקורטקס עצמו (שכן מוליך היטב) הוא יוצר את הזרם שמעורר את הנוירונים.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מוליכות נמוכה של הרקמות שביניים היא תנאי הכרחי לשיטה, ולא מכשול?</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נדרש סליל 'פרפר' (figure-eight / double-ring coil) לצורך מיפוי מוטורי מדויק, ומה הרזולוציה המרחבית שהוא מאפשר?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יוצר שדה מגנטי חרוטי שרק קצהו הצר מגרה את הקורטקס בעצמה על-סיפית - מה שמאפשר מיפוי ברזולוציה של מילימטרים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מייצר שני שדות מגנטיים בכיוונים מנוגדים שמבטלים זה את זה מעל הגידול</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מגביר את עוצמת הזרם פי 100 בהשוואה לסליל עגול רגיל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מאפשר מדידת טמפרטורת הקורטקס בזמן אמת</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כי הוא יוצר שדה מגנטי חרוטי שרק קצהו הצר מגרה את הקורטקס בעצמה על-סיפית - מה שמאפשר מיפוי ברזולוציה של מילימטרים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A16207">
              <a:alpha val="12000"/>
            </a:srgbClr>
          </a:solidFill>
          <a:ln w="15875">
            <a:solidFill>
              <a:srgbClr val="A16207"/>
            </a:solidFill>
            <a:prstDash val="solid"/>
          </a:ln>
        </p:spPr>
      </p:sp>
      <p:sp>
        <p:nvSpPr>
          <p:cNvPr id="7" name="Shape 5"/>
          <p:cNvSpPr/>
          <p:nvPr/>
        </p:nvSpPr>
        <p:spPr>
          <a:xfrm>
            <a:off x="11292840" y="2176272"/>
            <a:ext cx="256032" cy="256032"/>
          </a:xfrm>
          <a:prstGeom prst="ellipse">
            <a:avLst/>
          </a:prstGeom>
          <a:solidFill>
            <a:srgbClr val="A1620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סלילים עגולים חופפים = שדה חרוטי ממוקד</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91C1C">
              <a:alpha val="12000"/>
            </a:srgbClr>
          </a:solidFill>
          <a:ln w="15875">
            <a:solidFill>
              <a:srgbClr val="B91C1C"/>
            </a:solidFill>
            <a:prstDash val="solid"/>
          </a:ln>
        </p:spPr>
      </p:sp>
      <p:sp>
        <p:nvSpPr>
          <p:cNvPr id="11" name="Shape 9"/>
          <p:cNvSpPr/>
          <p:nvPr/>
        </p:nvSpPr>
        <p:spPr>
          <a:xfrm>
            <a:off x="11292840" y="3044952"/>
            <a:ext cx="256032" cy="256032"/>
          </a:xfrm>
          <a:prstGeom prst="ellipse">
            <a:avLst/>
          </a:prstGeom>
          <a:solidFill>
            <a:srgbClr val="B91C1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רק קצה חרוטי מגרה בעצימות על-סיפית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E3A8A">
              <a:alpha val="12000"/>
            </a:srgbClr>
          </a:solidFill>
          <a:ln w="15875">
            <a:solidFill>
              <a:srgbClr val="1E3A8A"/>
            </a:solidFill>
            <a:prstDash val="solid"/>
          </a:ln>
        </p:spPr>
      </p:sp>
      <p:sp>
        <p:nvSpPr>
          <p:cNvPr id="15" name="Shape 13"/>
          <p:cNvSpPr/>
          <p:nvPr/>
        </p:nvSpPr>
        <p:spPr>
          <a:xfrm>
            <a:off x="11292840" y="3913632"/>
            <a:ext cx="256032" cy="256032"/>
          </a:xfrm>
          <a:prstGeom prst="ellipse">
            <a:avLst/>
          </a:prstGeom>
          <a:solidFill>
            <a:srgbClr val="1E3A8A"/>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רזולוציה: טווח מילימטרים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סליל הפרפר יוצר, בצומת שני הסלילים העגולים, שדה מגנטי חרוטי ממוקד. רק קצהו הצר של החרוט מגיע לעצמה על-סיפית שמסוגלת לעורר תגובה - ולכן ניתן להשיג מיפוי ברזולוציה מרחבית של מילימטרים בודדים, בניגוד לגירוי מפושט. תשובות 1-3 אינן נכונות עובדתית לגבי אופן פעולת הסליל.</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Figure-eight (double-ring) coil</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סליל המורכב משני סלילים עגולים חופפים, היוצר בצומת ביניהם שדה מגנטי חרוטי ממוקד.</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שתי פנסי-יד שמכוונים לאותה נקודה - רק במקום שבו שני האלומות נפגשות יש עוצמת אור מספיקה כדי 'להאיר' (לגרות) בדיוק. זה מה שסליל הפרפר עושה לשדה המגנטי.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עוצמת גירוי נמוכה דווקא מגבירה את הפוקליות של סליל הפרפר?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ה-Resting Motor Threshold (RMT), ולמה יש לקבוע אותו מחדש לכל מטופל ולכל בדיקה?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מדד קבוע וזהה לכל בני האדם, ללא צורך במדידה חוזרת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טמפרטורת הקורטקס הנדרשת לגירוי מוצלח</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משך הזמן שלוקח לגידול להגיב לגירוי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עצימות הגירוי המינימלית שמעוררת תגובה מוטורית; היא משתנה הן בין מטופלים שונים והן אצל אותו מטופל (בהתאם לרמת עוררות, מיקום אלקטרודות ועוד), ולכן חייבים לקבוע אותה מחדש לפני כל מדידה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עצימות הגירוי המינימלית שמעוררת תגובה מוטורית; היא משתנה הן בין מטופלים שונים והן אצל אותו מטופל (בהתאם לרמת עוררות, מיקום אלקטרודות ועוד), ולכן חייבים לקבוע אותה מחדש לפני כל מדידה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RMT = סף הגירוי המינימלי לתגובה מוטורית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A16207">
              <a:alpha val="12000"/>
            </a:srgbClr>
          </a:solidFill>
          <a:ln w="15875">
            <a:solidFill>
              <a:srgbClr val="A16207"/>
            </a:solidFill>
            <a:prstDash val="solid"/>
          </a:ln>
        </p:spPr>
      </p:sp>
      <p:sp>
        <p:nvSpPr>
          <p:cNvPr id="11" name="Shape 9"/>
          <p:cNvSpPr/>
          <p:nvPr/>
        </p:nvSpPr>
        <p:spPr>
          <a:xfrm>
            <a:off x="11292840" y="3044952"/>
            <a:ext cx="256032" cy="256032"/>
          </a:xfrm>
          <a:prstGeom prst="ellipse">
            <a:avLst/>
          </a:prstGeom>
          <a:solidFill>
            <a:srgbClr val="A1620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משתנה בין-אישית ותוך-אישית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E3A8A">
              <a:alpha val="12000"/>
            </a:srgbClr>
          </a:solidFill>
          <a:ln w="15875">
            <a:solidFill>
              <a:srgbClr val="1E3A8A"/>
            </a:solidFill>
            <a:prstDash val="solid"/>
          </a:ln>
        </p:spPr>
      </p:sp>
      <p:sp>
        <p:nvSpPr>
          <p:cNvPr id="15" name="Shape 13"/>
          <p:cNvSpPr/>
          <p:nvPr/>
        </p:nvSpPr>
        <p:spPr>
          <a:xfrm>
            <a:off x="11292840" y="3913632"/>
            <a:ext cx="256032" cy="256032"/>
          </a:xfrm>
          <a:prstGeom prst="ellipse">
            <a:avLst/>
          </a:prstGeom>
          <a:solidFill>
            <a:srgbClr val="1E3A8A"/>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מיפוי בפועל: 105%-110% מה-RMT</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RMT הוא הסף המינימלי הנדרש לעורר תגובה מוטורית, וגורמים פנימיים (רמת עוררות) וחיצוניים (מיקום אלקטרודות) משנים אותו הן בין מטופלים והן אצל אותו מטופל בזמנים שונים. משום כך יש לקבוע אותו בכל בדיקה מחדש, ולאחר מכן למפות ב-105%-110% ממנו. תשובות 0-2 אינן מתארות את ה-RMT נכון.</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Resting Motor Threshold (RMT)</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עצימות הגירוי המגנטי המינימלית הנדרשת לעורר תגובה מוטורית (MEP) במצב מנוחה.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שאתה מכוון עוצמת קול ברמקול: אצל אדם אחד מספיק לחיצה קלה כדי שיישמע, אצל אחר צריך לחזק. RMT הוא בדיוק ה'עוצמת בסיס' האישית שצריך לכייל בכל פעם מחדש.</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מיפוי מבוצע ב-105%-110% מה-RMT ולא בדיוק ב-100%?</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'הנגע הווירטואלי' (virtual brain lesion) הנוצר במיפוי שפה באמצעות rTMS, ומה מנגנון היווצרותו?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פגיעה קבועה ובלתי הפיכה ברקמת המוח שנוצרת מחימום הרקמה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שיבוש זמני וחולף של תפקוד קורטיקלי: רצף פעימות (4-10 הרץ) גורם לדפולריזציה של הנוירונים, ולאחריה מגיעה פאזה ארוכה יותר של עיכוב GABA-ארגי - כך שהאזור 'מושבת' זמנית בלי נזק אמיתי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שינוי קבוע במבנה כלי הדם המזינים את הקורטקס</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הצטברות נוזל בחלל תת-עכבישי סביב אזור הגירוי</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שיבוש זמני וחולף של תפקוד קורטיקלי: רצף פעימות (4-10 הרץ) גורם לדפולריזציה של הנוירונים, ולאחריה מגיעה פאזה ארוכה יותר של עיכוב GABA-ארגי - כך שהאזור 'מושבת' זמנית בלי נזק אמיתי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D28D9">
              <a:alpha val="12000"/>
            </a:srgbClr>
          </a:solidFill>
          <a:ln w="15875">
            <a:solidFill>
              <a:srgbClr val="6D28D9"/>
            </a:solidFill>
            <a:prstDash val="solid"/>
          </a:ln>
        </p:spPr>
      </p:sp>
      <p:sp>
        <p:nvSpPr>
          <p:cNvPr id="7" name="Shape 5"/>
          <p:cNvSpPr/>
          <p:nvPr/>
        </p:nvSpPr>
        <p:spPr>
          <a:xfrm>
            <a:off x="11292840" y="2176272"/>
            <a:ext cx="256032" cy="256032"/>
          </a:xfrm>
          <a:prstGeom prst="ellipse">
            <a:avLst/>
          </a:prstGeom>
          <a:solidFill>
            <a:srgbClr val="6D28D9"/>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rTMS ב-4-10 הרץ למשך 1-2 שניות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91C1C">
              <a:alpha val="12000"/>
            </a:srgbClr>
          </a:solidFill>
          <a:ln w="15875">
            <a:solidFill>
              <a:srgbClr val="B91C1C"/>
            </a:solidFill>
            <a:prstDash val="solid"/>
          </a:ln>
        </p:spPr>
      </p:sp>
      <p:sp>
        <p:nvSpPr>
          <p:cNvPr id="11" name="Shape 9"/>
          <p:cNvSpPr/>
          <p:nvPr/>
        </p:nvSpPr>
        <p:spPr>
          <a:xfrm>
            <a:off x="11292840" y="3044952"/>
            <a:ext cx="256032" cy="256032"/>
          </a:xfrm>
          <a:prstGeom prst="ellipse">
            <a:avLst/>
          </a:prstGeom>
          <a:solidFill>
            <a:srgbClr val="B91C1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דפולריזציה ואז עיכוב GABA-ארגי ממושך</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047857">
              <a:alpha val="12000"/>
            </a:srgbClr>
          </a:solidFill>
          <a:ln w="15875">
            <a:solidFill>
              <a:srgbClr val="047857"/>
            </a:solidFill>
            <a:prstDash val="solid"/>
          </a:ln>
        </p:spPr>
      </p:sp>
      <p:sp>
        <p:nvSpPr>
          <p:cNvPr id="15" name="Shape 13"/>
          <p:cNvSpPr/>
          <p:nvPr/>
        </p:nvSpPr>
        <p:spPr>
          <a:xfrm>
            <a:off x="11292840" y="3913632"/>
            <a:ext cx="256032" cy="256032"/>
          </a:xfrm>
          <a:prstGeom prst="ellipse">
            <a:avLst/>
          </a:prstGeom>
          <a:solidFill>
            <a:srgbClr val="04785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אזור 'מושבת' זמנית - כמו DCS אך לא פולשני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ה'נגע הווירטואלי' הוא שיבוש זמני וחולף בלבד, לא נזק פיזי. רצף פעימות rTMS (4-10 הרץ, 1-2 שניות) גורם תחילה לדפולריזציה ולאחריה לפאזת עיכוב GABA-ארגי ממושכת יותר - כך שהאזור המגורה 'מפסיק לתפקד' זמנית, בדומה לגירוי חשמלי ישיר (DCS) בניתוח בהכרה, אך בלי נזק קבוע. תשובות 0, 2, 3 מתארות נזק מבני קבוע שאינו רלוונטי לשיטה.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Virtual Brain Lesion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שיבוש תפקודי זמני וחולף של אזור קורטיקלי, המושרה על ידי rTMS, המדמה זמנית 'נגע' בלי לגרום לנזק מבני.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שאתה מכבה זמנית מתג חשמל בבית (לא שוברים את הקיר!) - החדר 'מפסיק לעבוד' לזמן קצר ואז חוזר לפעול כרגיל ברגע שמדליקים בחזרה. כך rTMS 'מכבה' זמנית אזור קורטיקלי.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נגע וירטואלי חולף שימושי דווקא בגלל שהוא הפיך?</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גליומה פריסילביאנית שמאלית עובר מיפוי שפה. ה-ER (שיעור שגיאות) בהמיספרה שמאל הוא 0.30 וב-ימין 0.10. מהו ה-HDR, ומה המשמעות הקלינית?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HDR=0.33; דומיננטיות שפתית ימנית - סיכון נמוך לאפזיה בניתוח שמאלי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HDR=3.0; דומיננטיות שפתית ימנית - אין סיכון מוגבר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HDR=3.0 (0.30/0.10); דומיננטיות שפתית שמאלית מובהקת - סיכון מוגבר לאפזיה חולפת בניתוח באזור פריסילביאני שמאלי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 אפשר לחשב HDR משני ערכי ER בלבד</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HDR=3.0 (0.30/0.10); דומיננטיות שפתית שמאלית מובהקת - סיכון מוגבר לאפזיה חולפת בניתוח באזור פריסילביאני שמאלי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E3A8A">
              <a:alpha val="12000"/>
            </a:srgbClr>
          </a:solidFill>
          <a:ln w="15875">
            <a:solidFill>
              <a:srgbClr val="1E3A8A"/>
            </a:solidFill>
            <a:prstDash val="solid"/>
          </a:ln>
        </p:spPr>
      </p:sp>
      <p:sp>
        <p:nvSpPr>
          <p:cNvPr id="7" name="Shape 5"/>
          <p:cNvSpPr/>
          <p:nvPr/>
        </p:nvSpPr>
        <p:spPr>
          <a:xfrm>
            <a:off x="11292840" y="2176272"/>
            <a:ext cx="256032" cy="256032"/>
          </a:xfrm>
          <a:prstGeom prst="ellipse">
            <a:avLst/>
          </a:prstGeom>
          <a:solidFill>
            <a:srgbClr val="1E3A8A"/>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HDR = ER שמאל חלקי ER ימין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91C1C">
              <a:alpha val="12000"/>
            </a:srgbClr>
          </a:solidFill>
          <a:ln w="15875">
            <a:solidFill>
              <a:srgbClr val="B91C1C"/>
            </a:solidFill>
            <a:prstDash val="solid"/>
          </a:ln>
        </p:spPr>
      </p:sp>
      <p:sp>
        <p:nvSpPr>
          <p:cNvPr id="11" name="Shape 9"/>
          <p:cNvSpPr/>
          <p:nvPr/>
        </p:nvSpPr>
        <p:spPr>
          <a:xfrm>
            <a:off x="11292840" y="3044952"/>
            <a:ext cx="256032" cy="256032"/>
          </a:xfrm>
          <a:prstGeom prst="ellipse">
            <a:avLst/>
          </a:prstGeom>
          <a:solidFill>
            <a:srgbClr val="B91C1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HDR&gt;1 = דומיננטיות שמאלית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A16207">
              <a:alpha val="12000"/>
            </a:srgbClr>
          </a:solidFill>
          <a:ln w="15875">
            <a:solidFill>
              <a:srgbClr val="A16207"/>
            </a:solidFill>
            <a:prstDash val="solid"/>
          </a:ln>
        </p:spPr>
      </p:sp>
      <p:sp>
        <p:nvSpPr>
          <p:cNvPr id="15" name="Shape 13"/>
          <p:cNvSpPr/>
          <p:nvPr/>
        </p:nvSpPr>
        <p:spPr>
          <a:xfrm>
            <a:off x="11292840" y="3913632"/>
            <a:ext cx="256032" cy="256032"/>
          </a:xfrm>
          <a:prstGeom prst="ellipse">
            <a:avLst/>
          </a:prstGeom>
          <a:solidFill>
            <a:srgbClr val="A1620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דומיננטיות שמאלית + ניתוח שמאלי = סיכון מוגבר</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HDR = ER שמאלי חלקי ER ימני = 0.30/0.10 = 3.0. ערך גדול מ-1 משקף דומיננטיות שפתית שמאלית מובהקת. מחקרים שהוזכרו בפרק הראו שדומיננטיות שמאלית (HDR גבוה) קשורה לסיכון מוגבר לאפזיה חולפת בניתוחי גידול בהמיספרה השמאלית - בדיוק המקרה כאן. תשובות 0, 1 מחשבות את היחס הפוך או מפרשות אותו הפוך; תשובה 3 שגויה - זה בדיוק החישוב הנדרש.</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Hemispheric Dominance Ratio (HDR)</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ER שמאלי חלקי ER ימני; HDR&gt;1 = דומיננטיות שפתית שמאלית, HDR&lt;1 = דומיננטיות ימנית.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מאזניים: כמות השגיאות בכל צד מייצגת כמה 'משקל שפה אמיתי' יש שם. כשהמאזניים נוטים חזק שמאלה (יותר שגיאות = יותר רקמת שפה אמיתית), אתה יודע שהניתוח השמאלי 'עומד לגעת' באזור קריטי יותר.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ER גבוה יותר (יותר שגיאות) דווקא מעיד על 'יותר' שפה באזור, ולא פחות?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nTMS-based DTI fiber tracking נחשב עדיף על טרקטוגרפיה מבוססת-אנטומיה בלבד (anatomy-based ROI seeding)?</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מהיר יותר לביצוע בכ-50%</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אינו דורש כלל הדמיית MRI</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זול משמעותית יותר מבדיקת DTI רגילה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נקודות הזרע (seed points) מבוססות על תפקוד קורטיקלי מוכח (תגובה מוטורית/שפתית אמיתית) ולא רק על מיקום אנטומי משוער - כך משוחזרים רק מסלולים שאכן קריטיים תפקודית, ובאופן פחות תלוי-בודק</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נקודות הזרע (seed points) מבוססות על תפקוד קורטיקלי מוכח (תגובה מוטורית/שפתית אמיתית) ולא רק על מיקום אנטומי משוער - כך משוחזרים רק מסלולים שאכן קריטיים תפקודית, ובאופן פחות תלוי-בודק</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B7280">
              <a:alpha val="12000"/>
            </a:srgbClr>
          </a:solidFill>
          <a:ln w="15875">
            <a:solidFill>
              <a:srgbClr val="6B7280"/>
            </a:solidFill>
            <a:prstDash val="solid"/>
          </a:ln>
        </p:spPr>
      </p:sp>
      <p:sp>
        <p:nvSpPr>
          <p:cNvPr id="7" name="Shape 5"/>
          <p:cNvSpPr/>
          <p:nvPr/>
        </p:nvSpPr>
        <p:spPr>
          <a:xfrm>
            <a:off x="11292840" y="2176272"/>
            <a:ext cx="256032" cy="256032"/>
          </a:xfrm>
          <a:prstGeom prst="ellipse">
            <a:avLst/>
          </a:prstGeom>
          <a:solidFill>
            <a:srgbClr val="6B7280"/>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אנטומיה בלבד = תלוי בניסיון הבודק</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047857">
              <a:alpha val="12000"/>
            </a:srgbClr>
          </a:solidFill>
          <a:ln w="15875">
            <a:solidFill>
              <a:srgbClr val="047857"/>
            </a:solidFill>
            <a:prstDash val="solid"/>
          </a:ln>
        </p:spPr>
      </p:sp>
      <p:sp>
        <p:nvSpPr>
          <p:cNvPr id="11" name="Shape 9"/>
          <p:cNvSpPr/>
          <p:nvPr/>
        </p:nvSpPr>
        <p:spPr>
          <a:xfrm>
            <a:off x="11292840" y="3044952"/>
            <a:ext cx="256032" cy="256032"/>
          </a:xfrm>
          <a:prstGeom prst="ellipse">
            <a:avLst/>
          </a:prstGeom>
          <a:solidFill>
            <a:srgbClr val="04785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nTMS = נקודות זרע מבוססות תפקוד מוכח</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E3A8A">
              <a:alpha val="12000"/>
            </a:srgbClr>
          </a:solidFill>
          <a:ln w="15875">
            <a:solidFill>
              <a:srgbClr val="1E3A8A"/>
            </a:solidFill>
            <a:prstDash val="solid"/>
          </a:ln>
        </p:spPr>
      </p:sp>
      <p:sp>
        <p:nvSpPr>
          <p:cNvPr id="15" name="Shape 13"/>
          <p:cNvSpPr/>
          <p:nvPr/>
        </p:nvSpPr>
        <p:spPr>
          <a:xfrm>
            <a:off x="11292840" y="3913632"/>
            <a:ext cx="256032" cy="256032"/>
          </a:xfrm>
          <a:prstGeom prst="ellipse">
            <a:avLst/>
          </a:prstGeom>
          <a:solidFill>
            <a:srgbClr val="1E3A8A"/>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תוצאה: מסלולים רלוונטיים כירורגית בלבד</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הפרק מדגיש שטרקטוגרפיה מבוססת-אנטומיה תלויה מאוד בניסיון הבודק ובבחירה הסובייקטיבית של נקודות ההתחלה. לעומת זאת, שימוש בנקודות nTMS חיוביות (שם הוכח תפקוד בפועל) כזרעים מייצר מסלולים שהם 'בלתי ניתנים להחלפה ורלוונטיים כירורגית' באופן פחות תלוי-בודק ובעל דיוק וספציפיות גבוהים יותר. תשובות 0-2 אינן הסיבות שצוינו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Function-based ROI seeding</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בחירת נקודות התחלה לאלגוריתם הטרקטוגרפיה על סמך נתונים פונקציונליים (nTMS/fMRI/MEG) ולא רק אנטומיה.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שאתה מסמן מסלול הליכה בטוח ביער: אפשר לסמן אותו לפי מפה כללית (אנטומיה - עלול לפספס בורות נסתרים), או לפי מקומות שבפועל בדקת בעצמך ומצאת יציבים (nTMS - תפקוד מוכח). הדרך השנייה בטוחה יותר כי היא מבוססת על מידע אמיתי, לא משוער.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טרקטוגרפיה מבוססת-אנטומיה בלבד 'תלויה בבודק' יותר מאשר טרקטוגרפיה מבוססת-nTMS?</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מהם שלושת מדדי מודל שכבור הסיכון (risk stratification) הטרום-ניתוחי המבוסס על nTMS?</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גיל, מין, ומדד גוש הגוף (BMI) של המטופל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חדירת גידול לקורטקס המוטורי הראשי; מרחק &lt;8-11 מ"מ בין הגידול למסלול הקורטיקוספינלי (CST) המבוסס על nTMS-DTI; ופרופיל עוררות (RMT) א-סימטרי בין ההמיספרות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גודל הגידול בס"מ, מיקומו האנטומי הכללי, ומשך התסמינים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תוצאות בדיקת דם, הדמיית CT, ובדיקה נוירולוגית גסה בלבד</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חדירת גידול לקורטקס המוטורי הראשי; מרחק &lt;8-11 מ"מ בין הגידול למסלול הקורטיקוספינלי (CST) המבוסס על nTMS-DTI; ופרופיל עוררות (RMT) א-סימטרי בין ההמיספרות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1) חדירה לקורטקס המוטורי הראשי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A16207">
              <a:alpha val="12000"/>
            </a:srgbClr>
          </a:solidFill>
          <a:ln w="15875">
            <a:solidFill>
              <a:srgbClr val="A16207"/>
            </a:solidFill>
            <a:prstDash val="solid"/>
          </a:ln>
        </p:spPr>
      </p:sp>
      <p:sp>
        <p:nvSpPr>
          <p:cNvPr id="11" name="Shape 9"/>
          <p:cNvSpPr/>
          <p:nvPr/>
        </p:nvSpPr>
        <p:spPr>
          <a:xfrm>
            <a:off x="11292840" y="3044952"/>
            <a:ext cx="256032" cy="256032"/>
          </a:xfrm>
          <a:prstGeom prst="ellipse">
            <a:avLst/>
          </a:prstGeom>
          <a:solidFill>
            <a:srgbClr val="A1620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2) מרחק &lt;8-11 מ"מ מה-CST</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E3A8A">
              <a:alpha val="12000"/>
            </a:srgbClr>
          </a:solidFill>
          <a:ln w="15875">
            <a:solidFill>
              <a:srgbClr val="1E3A8A"/>
            </a:solidFill>
            <a:prstDash val="solid"/>
          </a:ln>
        </p:spPr>
      </p:sp>
      <p:sp>
        <p:nvSpPr>
          <p:cNvPr id="15" name="Shape 13"/>
          <p:cNvSpPr/>
          <p:nvPr/>
        </p:nvSpPr>
        <p:spPr>
          <a:xfrm>
            <a:off x="11292840" y="3913632"/>
            <a:ext cx="256032" cy="256032"/>
          </a:xfrm>
          <a:prstGeom prst="ellipse">
            <a:avLst/>
          </a:prstGeom>
          <a:solidFill>
            <a:srgbClr val="1E3A8A"/>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3) פרופיל RMT א-סימטרי בין הצדדים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המודל מבוסס במפורש על שלושה פריטים - ברמה הקורטיקלית (חדירת גידול לקורטקס המוטורי הראשי לפי nTMS), ברמה התת-קורטיקלית (מרחק &lt;8-11 מ"מ בין הגידול למסלול הקורטיקוספינלי לפי nTMS-DTI), וברמת העוררות הקורטיקלית (RMT א-סימטרי בין ההמיספרות). תשובות 0, 2, 3 אינן חלק מהמודל שתואר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Risk Stratification Model</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מודל תלת-שכבתי (קורטיקלי, תת-קורטיקלי, עוררותי) לחיזוי סיכון לחסר תפקודי חדש לאחר כריתת גידול אלוקוונטי.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שופט מרוצי מכוניות שבודק שלוש רמות בטיחות לפני שנותן אור ירוק: האם המסלול עצמו פנוי (קורטיקלי), האם יש מרחק ביטחון מהקהל (תת-קורטיקלי-CST), והאם מנוע הרכב יציב (עוררות/RMT). רק אם כל שלושת המדדים תקינים, הסיכון נחשב נמוך.</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נדרשים שלושה מדדים שונים ולא מדד אחד בלבד לחיזוי הסיכון?</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מיפוי פונקציונלי טרום-ניתוחי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שימוש ב-nTMS למיפוי אזור מתחת למנינגיומה גדולה נחשב בעייתי, ומהי המסקנה הקלינית הנכונה?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טווח השדה המגנטי מוגבל, ועצימות הגירוי הדרושה כדי לחדור מרחק כזה כבר מאבדת פוקליות - כך שתגובה 'שלילית' (ללא תגובה) אינה שוללת נוכחות תפקוד אמיתי, אלא רק משקפת שהגירוי לא הגיע לקורטקס</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מנינגיומות תמיד מונעות כל הולכה מגנטית לחלוטין, כך שהבדיקה בטוחה להסתמך עליה כשלילית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מנינגיומות גורמות תמיד לפרכוסים בזמן גירוי מגנטי ולכן הבדיקה אסורה קטגורית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שום בעיה בפרשנות - תוצאה שלילית מתחת למנינגיומה תמיד אומרת שהאזור בטוח לחיתוך</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מיפוי פונקציונלי טרום-ניתוחי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טווח השדה המגנטי מוגבל, ועצימות הגירוי הדרושה כדי לחדור מרחק כזה כבר מאבדת פוקליות - כך שתגובה 'שלילית' (ללא תגובה) אינה שוללת נוכחות תפקוד אמיתי, אלא רק משקפת שהגירוי לא הגיע לקורטקס</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B7280">
              <a:alpha val="12000"/>
            </a:srgbClr>
          </a:solidFill>
          <a:ln w="15875">
            <a:solidFill>
              <a:srgbClr val="6B7280"/>
            </a:solidFill>
            <a:prstDash val="solid"/>
          </a:ln>
        </p:spPr>
      </p:sp>
      <p:sp>
        <p:nvSpPr>
          <p:cNvPr id="7" name="Shape 5"/>
          <p:cNvSpPr/>
          <p:nvPr/>
        </p:nvSpPr>
        <p:spPr>
          <a:xfrm>
            <a:off x="11292840" y="2176272"/>
            <a:ext cx="256032" cy="256032"/>
          </a:xfrm>
          <a:prstGeom prst="ellipse">
            <a:avLst/>
          </a:prstGeom>
          <a:solidFill>
            <a:srgbClr val="6B7280"/>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טווח מוגבל = עצימות גבוהה יותר צריכה כדי לחדור</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A16207">
              <a:alpha val="12000"/>
            </a:srgbClr>
          </a:solidFill>
          <a:ln w="15875">
            <a:solidFill>
              <a:srgbClr val="A16207"/>
            </a:solidFill>
            <a:prstDash val="solid"/>
          </a:ln>
        </p:spPr>
      </p:sp>
      <p:sp>
        <p:nvSpPr>
          <p:cNvPr id="11" name="Shape 9"/>
          <p:cNvSpPr/>
          <p:nvPr/>
        </p:nvSpPr>
        <p:spPr>
          <a:xfrm>
            <a:off x="11292840" y="3044952"/>
            <a:ext cx="256032" cy="256032"/>
          </a:xfrm>
          <a:prstGeom prst="ellipse">
            <a:avLst/>
          </a:prstGeom>
          <a:solidFill>
            <a:srgbClr val="A1620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עצימות גבוהה = איבוד פוקליות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91C1C">
              <a:alpha val="12000"/>
            </a:srgbClr>
          </a:solidFill>
          <a:ln w="15875">
            <a:solidFill>
              <a:srgbClr val="B91C1C"/>
            </a:solidFill>
            <a:prstDash val="solid"/>
          </a:ln>
        </p:spPr>
      </p:sp>
      <p:sp>
        <p:nvSpPr>
          <p:cNvPr id="15" name="Shape 13"/>
          <p:cNvSpPr/>
          <p:nvPr/>
        </p:nvSpPr>
        <p:spPr>
          <a:xfrm>
            <a:off x="11292840" y="3913632"/>
            <a:ext cx="256032" cy="256032"/>
          </a:xfrm>
          <a:prstGeom prst="ellipse">
            <a:avLst/>
          </a:prstGeom>
          <a:solidFill>
            <a:srgbClr val="B91C1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'שלילי' לא בטוח = לא בהכרח 'אין תפקוד'</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מגבלת הטווח של השדה המגנטי היא שברקמה עמוקה מדי (כמו מתחת למנינגיומה גדולה) הגירוי כבר לא יכול להיות פוקלי מספיק כדי לתת מידע אמין. לכן היעדר תגובה במקרה כזה עלול לשקף כשל טכני (הגירוי לא הגיע) ולא היעדר תפקוד אמיתי - וטעות בפרשנות עלולה להוביל לכריתה מסוכנת של רקמה תפקודית. תשובות 1, 2, 3 אינן נכונות עובדתית.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מגבלת טווח שדה מגנטי</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nTMS אינו יכול להגיע ביעילות לגירוסים עמוקים מתחת לנגעים גדולים (כגון מנינגיומות) או לאזורים טמפורו-מדיאליים/פרונטו-בזליים.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שאתה מנסה לצלצל בפעמון שקבור מתחת לשכבה עבה של שלג - אם לא שומעים צלצול, זה לא אומר שאין פעמון, ייתכן שהוא פשוט קבור עמוק מדי מכדי שהקול יעבור. כך גם 'שקט' ב-nTMS מתחת למנינגיומה גדולה לא בהכרח אומר 'אין תפקוד'.</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בדיוק פירוש שגוי כזה ('שלילי'='בטוח') מסוכן קלינית?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law of induction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TMS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מוליכות חשמלית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figure-eight coil</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focality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resolution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RMT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MEP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motor threshold</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virtual lesion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rTMS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GABAergic inhibition</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2026-09-23T00:48:50Z</dcterms:created>
  <dcterms:modified xsi:type="dcterms:W3CDTF">2026-09-23T00:48:50Z</dcterms:modified>
</cp:coreProperties>
</file>