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Oval 3"/>
          <p:cNvSpPr/>
          <p:nvPr/>
        </p:nvSpPr>
        <p:spPr>
          <a:xfrm>
            <a:off x="5559552" y="640080"/>
            <a:ext cx="1078992" cy="1078992"/>
          </a:xfrm>
          <a:prstGeom prst="ellipse">
            <a:avLst/>
          </a:prstGeom>
          <a:noFill/>
          <a:ln w="381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5788152" y="868680"/>
            <a:ext cx="621792" cy="62179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03120"/>
            <a:ext cx="10360152" cy="914400"/>
          </a:xfrm>
          <a:prstGeom prst="rect">
            <a:avLst/>
          </a:prstGeom>
          <a:noFill/>
        </p:spPr>
        <p:txBody>
          <a:bodyPr wrap="square" anchor="ctr" lIns="0" rIns="0" tIns="0" bIns="0">
            <a:spAutoFit/>
          </a:bodyPr>
          <a:lstStyle/>
          <a:p>
            <a:pPr algn="ctr" rtl="1"/>
            <a:r>
              <a:rPr sz="4000" b="1">
                <a:solidFill>
                  <a:srgbClr val="FFFFFF"/>
                </a:solidFill>
                <a:latin typeface="Calibri"/>
              </a:rPr>
              <a:t>נוירוכירורגיה — מהדורה 8</a:t>
            </a:r>
          </a:p>
        </p:txBody>
      </p:sp>
      <p:sp>
        <p:nvSpPr>
          <p:cNvPr id="7" name="TextBox 6"/>
          <p:cNvSpPr txBox="1"/>
          <p:nvPr/>
        </p:nvSpPr>
        <p:spPr>
          <a:xfrm>
            <a:off x="914400" y="3017520"/>
            <a:ext cx="10360152" cy="640080"/>
          </a:xfrm>
          <a:prstGeom prst="rect">
            <a:avLst/>
          </a:prstGeom>
          <a:noFill/>
        </p:spPr>
        <p:txBody>
          <a:bodyPr wrap="square" anchor="ctr" lIns="0" rIns="0" tIns="0" bIns="0">
            <a:spAutoFit/>
          </a:bodyPr>
          <a:lstStyle/>
          <a:p>
            <a:pPr algn="ctr" rtl="1"/>
            <a:r>
              <a:rPr sz="2200" b="0">
                <a:solidFill>
                  <a:srgbClr val="93C5FD"/>
                </a:solidFill>
                <a:latin typeface="Calibri"/>
              </a:rPr>
              <a:t>פרק 13: הדמיה מולקולרית של המוח באמצעות PET</a:t>
            </a:r>
          </a:p>
        </p:txBody>
      </p:sp>
      <p:sp>
        <p:nvSpPr>
          <p:cNvPr id="8" name="TextBox 7"/>
          <p:cNvSpPr txBox="1"/>
          <p:nvPr/>
        </p:nvSpPr>
        <p:spPr>
          <a:xfrm>
            <a:off x="914400" y="3657600"/>
            <a:ext cx="10360152" cy="457200"/>
          </a:xfrm>
          <a:prstGeom prst="rect">
            <a:avLst/>
          </a:prstGeom>
          <a:noFill/>
        </p:spPr>
        <p:txBody>
          <a:bodyPr wrap="square" anchor="ctr" lIns="0" rIns="0" tIns="0" bIns="0">
            <a:spAutoFit/>
          </a:bodyPr>
          <a:lstStyle/>
          <a:p>
            <a:pPr algn="ctr" rtl="1"/>
            <a:r>
              <a:rPr sz="1400" b="0">
                <a:solidFill>
                  <a:srgbClr val="7DD3FC"/>
                </a:solidFill>
                <a:latin typeface="Calibri"/>
              </a:rPr>
              <a:t>Molecular Imaging of the Brain With PET  ·  Youmans Neurological Surgery, 8th Ed. · Benjamin M. Ellingson</a:t>
            </a:r>
          </a:p>
        </p:txBody>
      </p:sp>
      <p:sp>
        <p:nvSpPr>
          <p:cNvPr id="9" name="TextBox 8"/>
          <p:cNvSpPr txBox="1"/>
          <p:nvPr/>
        </p:nvSpPr>
        <p:spPr>
          <a:xfrm>
            <a:off x="914400" y="5943600"/>
            <a:ext cx="10360152" cy="548640"/>
          </a:xfrm>
          <a:prstGeom prst="rect">
            <a:avLst/>
          </a:prstGeom>
          <a:noFill/>
        </p:spPr>
        <p:txBody>
          <a:bodyPr wrap="square" anchor="ctr" lIns="0" rIns="0" tIns="0" bIns="0">
            <a:spAutoFit/>
          </a:bodyPr>
          <a:lstStyle/>
          <a:p>
            <a:pPr algn="ctr" rtl="1"/>
            <a:r>
              <a:rPr sz="1250" b="0">
                <a:solidFill>
                  <a:srgbClr val="64748B"/>
                </a:solidFill>
                <a:latin typeface="Calibri"/>
              </a:rPr>
              <a:t>8 כרטיסיות תרגול · שאלה ואז תשובה מלאה בכל כרטיסייה · לסטטיסטיקה חיה השתמשו באתר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פיזיקת PET</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1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השרשרת הפיזיקלית המדויקת שמתחילה בפוזיטרון שנפלט מהטרייסר ומסתיימת ב'קו הצירוף' שמייצר את תמונת ה-PET?</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הפוזיטרון עצמו נע ישירות לגלאי ונמדד כפוטון בודד</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הפוזיטרון עובר כ-1 מ"מ, פוגש אלקטרון, ושניהם נמחקים (annihilation) ומייצרים שני פוטוני גמא של 511 keV הנעים ב-180 מעלות זה מזה; טבעת הגלאים מזהה את שני הפוטונים בזמן חפיפה (coincidence) ומגדירה קו שעליו נמצא מקור הפליטה</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הפוזיטרון נקשר ישירות לגלוקוז ונפלט כקרן גמא יחידה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PET מודד קרינה מייננת חוץ-גופית כמו CT, ללא פליטת פוזיטרון כלל</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פיזיקת PET</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הפוזיטרון עובר כ-1 מ"מ, פוגש אלקטרון, ושניהם נמחקים (annihilation) ומייצרים שני פוטוני גמא של 511 keV הנעים ב-180 מעלות זה מזה; טבעת הגלאים מזהה את שני הפוטונים בזמן חפיפה (coincidence) ומגדירה קו שעליו נמצא מקור הפליטה</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זו שרשרת הפיזיקה המלאה של PET - דעיכת β+ בטרייסר משמרת פוזיטרון שעובר מרחק קצר ביותר (כ-1 מ"מ, 'טווח הפוזיטרון') ואז נתקל באלקטרון רגיל ברקמה. ההשמדה ממירה את שני החלקיקים לשני פוטוני גמא של 511 keV בדיוק, הנעים בכיוונים מנוגדים (180°). טבעת גלאי scintillation שמזהה שני פוטונים כאלה בזמן חפיפה (coincidence) יוצרת 'קו צירוף' - הצטברות של אלפי קווים כאלה מאפשרת לאלגוריתם שחזור (FBP/OSEM) לבנות את תמונת החלוקה המרחבית של הטרייסר.</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Annihilation coincidence detection</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הזיהוי הבו-זמני של שני פוטוני 511 keV הנעים ב-180° זה מזה - העיקרון הפיזיקלי הבסיסי שעליו מבוססת כל תמונת PET.</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שני אקדוחנים שעומדים גב-לגב ויורים בדיוק באותו רגע לכיוונים מנוגדים - אם שני חיישנים בקצוות החדר קולטים שני יריות בדיוק באותה שנייה, אפשר לשחזר בוודאות על איזה קו בחדר הם עמדו, בלי לדעת בכלל מי מהם ירה ראשון.</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פוזיטרון נע כ-1 מ"מ בלבד לפני התנגשות</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השמדה → שני פוטוני 511 keV ב-180°</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גילוי בו-זמני (coincidence) = קו צירוף</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איזוטופים וזמני מחצית</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2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מדוע מרכזי PET רבים משתמשים בטרייסרים מבוססי 18F (כמו FDG) ולא ב-11C או 15O, חרף היתרונות הביוכימיים של האחרונים?</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18F אינו רדיואקטיבי כלל ולכן בטוח יותר</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11C ו-15O נותנים רזולוציה מרחבית טובה יותר מ-18F</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זמן המחצית של 18F (כ-110 דקות) מאפשר הפצה ממרכז ייצור מרוחק לבתי חולים ללא ציקלוטרון משלהם, בעוד ש-11C (כ-20 דק') ו-15O (כ-2 דק') קצרים מכדי להספיק להפצה ומחייבים ציקלוטרון באתר</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18F זול יותר לייצור ואינו דורש ציקלוטרון בכלל</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איזוטופים וזמני מחצית</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זמן המחצית של 18F (כ-110 דקות) מאפשר הפצה ממרכז ייצור מרוחק לבתי חולים ללא ציקלוטרון משלהם, בעוד ש-11C (כ-20 דק') ו-15O (כ-2 דק') קצרים מכדי להספיק להפצה ומחייבים ציקלוטרון באתר</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זמני המחצית עולים לפי הסדר O-15 (כ-2 דק') ← N-13 (כ-10 דק') ← C-11 (כ-20 דק') ← F-18 (כ-110 דק'). איזוטופים קצרי-חיים חייבים ציקלוטרון באתר ממש כי אין זמן להעביר אותם; 18F שורד מספיק זמן כדי לייצר אותו במרכז מרכזי ולהפיץ אותו לבתי חולים סמוכים - זה הבסיס הלוגיסטי לכך ש-FDG (מבוסס 18F) הוא הטרייסר הנפוץ ביותר קלינית.</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זמן מחצית רדיואקטיבי בטרייסרי PET</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הזמן שלוקח לכמות החומר הרדיואקטיבי להתמעט למחצית; קובע אם הטרייסר ניתן להפצה (18F) או מחייב ציקלוטרון באתר (11C, 13N, 15O).</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ארבעה שליחים: אחד (15O) חייב להגיע ליעד תוך 2 דקות או שה'חבילה' מתקלקלת - אין טעם לשלוח אותו ממרחק; הרביעי (18F) יכול לנסוע כמעט שעתיים - ולכן אפשר לשלוח אותו ברכב משלוח ממרכז ייצור למספר בתי חולים.</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O-15 ≈ 2 דק׳ - חייב ציקלוטרון באתר</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C-11 ≈ 20 דק׳ - גם כן מוגבל לאתר</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F-18 ≈ 110 דק׳ - ניתן להפצה מרוחקת</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מודל FDG</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3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מה ההבדל הביוכימי הקריטי בין FDG לגלוקוז רגיל שמאפשר ל-FDG-PET לכמת קצב מטבולי?</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FDG לא נכנס לתאים כלל ונשאר בפלזמה</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כמו גלוקוז, FDG נכנס לתא ועובר זרחון ע"י הקסוקינאז ל-FDG-6-פוספט (k3) - אך בניגוד לגלוקוז-6-פוספט, FDG-6-P אינו יכול להמשיך בגליקוליזה ולכן נלכד ('טראפ') ברקמה למשך לפחות שעה; ההצטברות שלו פרופורציונית לקצב המטבוליזם של גלוקוז</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FDG עובר גליקוליזה מהירה יותר מגלוקוז רגיל</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FDG נקשר ישירות לקולטני דופמין ברקמת המטרה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מודל FDG</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ב) כמו גלוקוז, FDG נכנס לתא ועובר זרחון ע"י הקסוקינאז ל-FDG-6-פוספט (k3) - אך בניגוד לגלוקוז-6-פוספט, FDG-6-P אינו יכול להמשיך בגליקוליזה ולכן נלכד ('טראפ') ברקמה למשך לפחות שעה; ההצטברות שלו פרופורציונית לקצב המטבוליזם של גלוקוז</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(2): המודל התלת-תאי של FDG הוא פלזמה ← (K1/k2, חוצה BBB באותו נשא גלוקוז) ← תא חוץ-תאי ← (k3, הקסוקינאז) ← FDG-6-פוספט. ההבדל הקריטי מגלוקוז הוא ש-FDG-6-P אינו ממשיך בגליקוליזה (k4 זניח) ונלכד ברקמה לפחות שעה - הצטברותו משקפת ישירות את CMRGlc (קצב מטבוליזם הגלוקוז המוחי), בחישוב הדורש arterial input function מדגימות פלזמה.</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FDG trapping</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כליאת FDG-6-פוספט ברקמה בשל חוסר יכולתו להמשיך בגליקוליזה - הבסיס לכך ש-FDG-PET מודד קצב מטבולי ולא רק זרימת דם.</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מכתב (FDG) שנכנס לתיבת דואר (התא) ועובר חותמת דואר (זרחון ע"י הקסוקינאז) - אבל בניגוד למכתב רגיל (גלוקוז) שממשיך בדרכו (גליקוליזה), המכתב הזה 'נתקע' בתיבה לצמיתות כי הכתובת שלו שגויה - כל מה שנשאר בתיבה הוא סימן ישיר לכמה 'דואר' עבר דרך המקום.</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FDG נכנס לתא בדומה לגלוקוז (K1/k2)</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הקסוקינאז מזרחן ל-FDG-6-P (k3)</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FDG-6-P לא ממשיך בגליקוליזה → נלכד (k4≈0)</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FDOPA ומחלות תנועה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4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 עם רעד ואיטיות חד-צדית: כיצד עוזר דפוס הירידה ב-18F-FDOPA PET להבדיל בין פרקינסון אמיתי ל-MSA/PSP ול-CBD?</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פרקינסון - ירידה א-סימטרית בפוטמן הנגדי לצד הסימפטומטי (לעיתים לפני תחילת סימפטומים); MSA/PSP - ירידה סימטרית ודיפוזית דו-צדדית בסטריאטום; CBD - ירידה א-סימטרית הן בפוטמן והן בקאודט הנגדיים; Essential tremor - ללא שינוי דופמינרגי כלל</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כל התסמונות הפרקינסוניות מראות ירידה סימטרית זהה - אין ערך אבחנתי ל-FDOPA</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FDOPA עולה (ולא יורד) בכל התסמונות הפרקינסוניות</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רק הנטינגטון מראה שינוי ב-FDOPA; כל השאר תקינים</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FDOPA ומחלות תנועה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פרקינסון - ירידה א-סימטרית בפוטמן הנגדי לצד הסימפטומטי (לעיתים לפני תחילת סימפטומים); MSA/PSP - ירידה סימטרית ודיפוזית דו-צדדית בסטריאטום; CBD - ירידה א-סימטרית הן בפוטמן והן בקאודט הנגדיים; Essential tremor - ללא שינוי דופמינרגי כלל</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ניוון ה-substantia nigra pars compacta בפרקינסון (בעיקר החלק הוונטרולטרלי המשליך לפוטמן) יוצר ירידה א-סימטרית ב-FDOPA בפוטמן הנגדי לצד הסימפטומטי, אפילו לפני הופעת סימפטומים קליניים. ב-MSA ו-PSP הירידה סימטרית ודיפוזית ודו-צדדית בכל הסטריאטום. ב-CBD הירידה א-סימטרית אך כוללת גם את הקאודט. ב-Essential tremor אין שינוי דופמינרגי בכלל - הבדל קריטי המבדיל רעד אסנציאלי מפרקינסון. שילוב FDG+FDOPA מחדד עוד יותר את האבחנה המבדלת.</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FDOPA ומחלות תנועה</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טרייסר שמשקף סינתזת דופמין טרום-סינפטית; דפוס הירידה (א-סימטרי/סימטרי, פוטמן בלבד/גם קאודט) מבדיל בין תסמונות פרקינסוניות שונות.</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טביעת רגל שנשחפת: בפרקינסון רק חצי מהטביעה נעלמת (א-סימטרי, פוטמן) באיטיות; ב-MSA/PSP כל הטביעה נעלמת בבת אחת ובאופן אחיד (סימטרי, דיפוזי); ב-CBD נעלמת חצי טביעה אבל גם חלק גדול ממנה (פוטמן+קאודט); ב-Essential tremor הטביעה שלמה לחלוטין.</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פרקינסון: א-סימטרי, פוטמן בלבד, נגדי לסימפטום</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MSA/PSP: סימטרי, דיפוזי, דו-צדדי</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CBD: א-סימטרי בפוטמן+קאודט</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Partial Volume Effect</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5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נגע קטן ('חם', פעיל) שגודלו קטן מ-2×FWHM נמדד ב-PET. כיצד ה-Partial Volume Effect משפיע על הכימות שלו, ולמה?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הפעילות מוערכת בחסר (underestimated) - כי אות ממבנה קטן 'דולף' לרקמה הסובבת מעבר לגבולותיו האנטומיים, בשל הרזולוציה המרחבית המוגבלת (FWHM); נגע 'קר' קטן, להפך, יוערך ביתר</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הפעילות מוערכת ביתר (overestimated) בכל המקרים ללא תלות בגודל</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שום השפעה - PET אינו תלוי ברזולוציה מרחבית</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הנגע כלל לא נראה בתמונה אם הוא קטן מ-FWHM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Partial Volume Effect</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הפעילות מוערכת בחסר (underestimated) - כי אות ממבנה קטן 'דולף' לרקמה הסובבת מעבר לגבולותיו האנטומיים, בשל הרזולוציה המרחבית המוגבלת (FWHM); נגע 'קר' קטן, להפך, יוערך ביתר</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FWHM (Full Width at Half Maximum) מגדיר את הרזולוציה המרחבית האפקטיבית של הסורק. כשמבנה קטן מ-2×FWHM, אות ממנו 'מתפזר' (מעורב) עם הרקמה שמסביב - נגע חם קטן ייראה 'מדולל' ולכן מוערך בחסר, ונגע קר קטן יקבל 'זליגה' של אות מסביבתו ולכן יוערך ביתר. זו הסיבה שמדידת ROI אמינה מחייבת מבנה גדול יחסית לרזולוציה הקלינית הטיפוסית (2.5-10 מ"מ).</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Partial Volume Effect</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טעות כימות הנגרמת מרזולוציה מרחבית מוגבלת כשמבנה קטן מ-2×FWHM - גורמת להערכת-חסר בנגעים 'חמים' קטנים ולהערכת-יתר בנגעים 'קרים' קטנים.</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לצייר נקודה אדומה זעירה על דף עם מברשת עבה - התוצאה תהיה כתם מדולל וגדול יותר, שצבעו בפועל פחות עז מהאדום המקורי. בדיוק כך מתרחשת הדלילה (dilution) של אות מנגע קטן כשהוא נמדד ברזולוציה מרחבית מוגבלת מהגודל האמיתי שלו.</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נגע 'חם' קטן &lt; 2×FWHM → מוערך בחסר</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נגע 'קר' קטן &lt; 2×FWHM → מוערך ביתר</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FWHM = רוחב עקומת ה-point-spread ב-50% מהמקסימום</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FDG בדמנציה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6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מטופלת עם ליקוי זיכרון והזיות חזותיות; FDG-PET מדגים היפומטבוליזם אוקסיפיטלי עם 'cingulate island sign'. מה האבחנה הסבירה, ובמה היא נבדלת מאלצהיימר ומ-FTD?</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אלצהיימר - היפומטבוליזם זה אופייני לו בדיוק</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FTD - המאפיין פרונטלי קלאסי</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ערך אבחנתי ל-FDG בדמנציה, יש צורך בביופסיה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דמנציה עם גופיפי לוי (DLB) - היפומטבוליזם אוקסיפיטלי עם שימור יחסי של הציטולה האחורית (cingulate island sign) הוא ממצא אופייני ל-DLB; בניגוד לאלצהיימר (היפומטבוליזם טמפורו-פריאטלי + posterior cingulate/precuneus) ו-FTD (פרונטלי וטמפורלי קדמי)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FDG בדמנציה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ד) דמנציה עם גופיפי לוי (DLB) - היפומטבוליזם אוקסיפיטלי עם שימור יחסי של הציטולה האחורית (cingulate island sign) הוא ממצא אופייני ל-DLB; בניגוד לאלצהיימר (היפומטבוליזם טמפורו-פריאטלי + posterior cingulate/precuneus) ו-FTD (פרונטלי וטמפורלי קדמי)</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(4): שלושת דפוסי ה-FDG-PET העיקריים בדמנציה נבדלים אנטומית באופן ברור - אלצהיימר מראה היפומטבוליזם טמפורו-פריאטלי ו-posterior cingulate/precuneus עם שימור יחסי של קליפת החישה-מוטורית והעיניים; FTD - פרונטלי וטמפורלי קדמי; DLB - היפומטבוליזם אוקסיפיטלי עם 'cingulate island sign' (שימור יחסי של הציטולה האחורית). טרייסרים נוספים (עמילואיד-PIB, טאו, נוירואינפלמציה) מוסיפים ספציפיות מולקולרית לאבחנה.</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Cingulate island sign</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שימור יחסי של חילוף החומרים בציטולה האחורית (posterior cingulate) על רקע היפומטבוליזם אוקסיפיטלי - סימן אופייני לדמנציה עם גופיפי לוי (DLB).</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שלוש איים שונים בים שמתחילים לשקוע: באלצהיימר האי האחורי-צדי (טמפורו-פריאטלי) שוקע ראשון; ב-FTD האי הקדמי (פרונטלי) שוקע; ב-DLB האי האחורי (אוקסיפיטלי) שוקע אבל אי קטן באמצע (הציטולה האחורית) נשאר מעל המים - 'אי' בודד שרד, זה ה-cingulate island sign.</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אלצהיימר: טמפורו-פריאטלי + PCC/precuneus</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FTD: פרונטלי + טמפורלי קדמי</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DLB: אוקסיפיטלי + cingulate island sign</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PET בגידולי מוח</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7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מטופל אחרי כריתת גליומה בדרגה גבוהה מפתח נגע מתאדר חדש ב-MRI שאינו מכריע בין הישנות לנמק קרינה. איזה סוג טרייסר PET עדיף ולמה?</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15O-H2O - כי הוא מודד ישירות גלוקוז</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FDG - כי לקורטקס אין בכלל ספיגת רקע</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טרייסרי חומצות אמינו (18F-FET, 11C-MET, או 18F-FDOPA) - לקליפת המוח התקינה יש ספיגת FDG בסיסית גבוהה (רקע) שמקשה על ניגודיות, בעוד שספיגת חומצות אמינו ברקע תקין נמוכה, כך שגידול פעיל 'בולט' בניגוד ברור יותר מהשפעת טיפול (נמק קרינה/pseudoprogression)</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11C-Flumazenil - כי הוא מסמן ספציפית תאי גידול</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PET בגידולי מוח</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ג) טרייסרי חומצות אמינו (18F-FET, 11C-MET, או 18F-FDOPA) - לקליפת המוח התקינה יש ספיגת FDG בסיסית גבוהה (רקע) שמקשה על ניגודיות, בעוד שספיגת חומצות אמינו ברקע תקין נמוכה, כך שגידול פעיל 'בולט' בניגוד ברור יותר מהשפעת טיפול (נמק קרינה/pseudoprogression)</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(3): בקליפת המוח התקינה יש ספיגת FDG גבוהה כרגיל (רקע מטבולי תקין גבוה), ולכן FDG מתאים פחות להבחנה בין גידול להשפעת טיפול - הניגודיות בין הגידול לרקע חלשה. טרייסרי חומצות אמינו (FET, MET, FDOPA) חוצים את ה-BBB ומצטברים בגידול דרך נשא חומצות אמינו, אך ספיגתם ברקע הקורטיקלי התקין נמוכה - כך שגידול פעיל מציג ניגודיות גבוהה בבירור. FMISO משמש בנפרד למיפוי היפוקסיה גידולית.</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טרייסרי חומצות אמינו בגידולי מוח</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FET, MET, FDOPA - חוצים BBB ומצטברים בגידול עם רקע קורטיקלי נמוך, ולכן עדיפים על FDG להבחנה בין גידול פעיל להשפעת טיפול.</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לחפש אור פנס קטן (הגידול) בתוך חדר מואר כיום (FDG ברקע הקורטיקלי) - קשה להבחין בו. עכשיו דמייני לחפש את אותו פנס בחדר חשוך לגמרי (רקע נמוך של חומצות אמינו) - הוא בולט בבירור.</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FDG: רקע קורטיקלי גבוה → ניגודיות נמוכה</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חומצות אמינו (FET/MET/FDOPA): רקע נמוך</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ניגודיות גבוהה = גידול פעיל מול נמק קרינה</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65760"/>
            <a:ext cx="3108960" cy="384048"/>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65760"/>
            <a:ext cx="3108960" cy="384048"/>
          </a:xfrm>
          <a:prstGeom prst="rect">
            <a:avLst/>
          </a:prstGeom>
          <a:noFill/>
        </p:spPr>
        <p:txBody>
          <a:bodyPr wrap="square" anchor="ctr" lIns="0" rIns="0" tIns="0" bIns="0">
            <a:spAutoFit/>
          </a:bodyPr>
          <a:lstStyle/>
          <a:p>
            <a:pPr algn="ctr" rtl="1"/>
            <a:r>
              <a:rPr sz="1250" b="1">
                <a:solidFill>
                  <a:srgbClr val="FFFFFF"/>
                </a:solidFill>
                <a:latin typeface="Calibri"/>
              </a:rPr>
              <a:t>PET באפילפסיה</a:t>
            </a:r>
          </a:p>
        </p:txBody>
      </p:sp>
      <p:sp>
        <p:nvSpPr>
          <p:cNvPr id="6" name="TextBox 5"/>
          <p:cNvSpPr txBox="1"/>
          <p:nvPr/>
        </p:nvSpPr>
        <p:spPr>
          <a:xfrm>
            <a:off x="8531352" y="365760"/>
            <a:ext cx="3108960" cy="384048"/>
          </a:xfrm>
          <a:prstGeom prst="rect">
            <a:avLst/>
          </a:prstGeom>
          <a:noFill/>
        </p:spPr>
        <p:txBody>
          <a:bodyPr wrap="square" anchor="ctr" lIns="0" rIns="0" tIns="0" bIns="0">
            <a:spAutoFit/>
          </a:bodyPr>
          <a:lstStyle/>
          <a:p>
            <a:pPr algn="l" rtl="1"/>
            <a:r>
              <a:rPr sz="1200" b="0">
                <a:solidFill>
                  <a:srgbClr val="9CA3AF"/>
                </a:solidFill>
                <a:latin typeface="Calibri"/>
              </a:rPr>
              <a:t>כרטיסייה 8 מתוך 8</a:t>
            </a:r>
          </a:p>
        </p:txBody>
      </p:sp>
      <p:sp>
        <p:nvSpPr>
          <p:cNvPr id="7" name="TextBox 6"/>
          <p:cNvSpPr txBox="1"/>
          <p:nvPr/>
        </p:nvSpPr>
        <p:spPr>
          <a:xfrm>
            <a:off x="548640" y="1005840"/>
            <a:ext cx="11064240" cy="1463040"/>
          </a:xfrm>
          <a:prstGeom prst="rect">
            <a:avLst/>
          </a:prstGeom>
          <a:noFill/>
        </p:spPr>
        <p:txBody>
          <a:bodyPr wrap="square" anchor="t" lIns="0" rIns="0" tIns="0" bIns="0">
            <a:spAutoFit/>
          </a:bodyPr>
          <a:lstStyle/>
          <a:p>
            <a:pPr algn="r" rtl="1"/>
            <a:r>
              <a:rPr sz="2000" b="1">
                <a:solidFill>
                  <a:srgbClr val="1F2937"/>
                </a:solidFill>
                <a:latin typeface="Calibri"/>
              </a:rPr>
              <a:t>ילד עם אפילפסיה עמידה לתרופות ו-MRI תקין עובר FDG-PET שגרתי (בין פרכוסים). איזה ממצא מצופה באזור המוקד האפילפטוגני, וכיצד זה שונה אם הבדיקה הייתה נעשית בזמן הפרכוס עצמו?</a:t>
            </a:r>
          </a:p>
        </p:txBody>
      </p:sp>
      <p:sp>
        <p:nvSpPr>
          <p:cNvPr id="8" name="Rounded Rectangle 7"/>
          <p:cNvSpPr/>
          <p:nvPr/>
        </p:nvSpPr>
        <p:spPr>
          <a:xfrm>
            <a:off x="548640" y="2651760"/>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744200" y="2852928"/>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44200" y="2852928"/>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א</a:t>
            </a:r>
          </a:p>
        </p:txBody>
      </p:sp>
      <p:sp>
        <p:nvSpPr>
          <p:cNvPr id="11" name="TextBox 10"/>
          <p:cNvSpPr txBox="1"/>
          <p:nvPr/>
        </p:nvSpPr>
        <p:spPr>
          <a:xfrm>
            <a:off x="822960" y="2651760"/>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היפומטבוליזם בין-פרכוסי באזור המוקד (FDG נלכד כשעה, ומשקף את המצב המטבולי הממוצע באותה שעה); בזמן פרכוס בפועל צפוי להיפוך לכיוון היפרמטבוליזם</a:t>
            </a:r>
          </a:p>
        </p:txBody>
      </p:sp>
      <p:sp>
        <p:nvSpPr>
          <p:cNvPr id="12" name="Rounded Rectangle 11"/>
          <p:cNvSpPr/>
          <p:nvPr/>
        </p:nvSpPr>
        <p:spPr>
          <a:xfrm>
            <a:off x="548640" y="3584448"/>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44200" y="3785616"/>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744200" y="3785616"/>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ב</a:t>
            </a:r>
          </a:p>
        </p:txBody>
      </p:sp>
      <p:sp>
        <p:nvSpPr>
          <p:cNvPr id="15" name="TextBox 14"/>
          <p:cNvSpPr txBox="1"/>
          <p:nvPr/>
        </p:nvSpPr>
        <p:spPr>
          <a:xfrm>
            <a:off x="822960" y="3584448"/>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היפרמטבוליזם בין-פרכוסי; בזמן פרכוס היפומטבוליזם</a:t>
            </a:r>
          </a:p>
        </p:txBody>
      </p:sp>
      <p:sp>
        <p:nvSpPr>
          <p:cNvPr id="16" name="Rounded Rectangle 15"/>
          <p:cNvSpPr/>
          <p:nvPr/>
        </p:nvSpPr>
        <p:spPr>
          <a:xfrm>
            <a:off x="548640" y="4517136"/>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744200" y="4718304"/>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744200" y="4718304"/>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ג</a:t>
            </a:r>
          </a:p>
        </p:txBody>
      </p:sp>
      <p:sp>
        <p:nvSpPr>
          <p:cNvPr id="19" name="TextBox 18"/>
          <p:cNvSpPr txBox="1"/>
          <p:nvPr/>
        </p:nvSpPr>
        <p:spPr>
          <a:xfrm>
            <a:off x="822960" y="4517136"/>
            <a:ext cx="9784080" cy="777240"/>
          </a:xfrm>
          <a:prstGeom prst="rect">
            <a:avLst/>
          </a:prstGeom>
          <a:noFill/>
        </p:spPr>
        <p:txBody>
          <a:bodyPr wrap="square" anchor="ctr" lIns="0" rIns="0" tIns="0" bIns="0">
            <a:spAutoFit/>
          </a:bodyPr>
          <a:lstStyle/>
          <a:p>
            <a:pPr algn="r" rtl="1"/>
            <a:r>
              <a:rPr sz="1350" b="0">
                <a:solidFill>
                  <a:srgbClr val="1F2937"/>
                </a:solidFill>
                <a:latin typeface="Calibri"/>
              </a:rPr>
              <a:t>אין שום שינוי מטבולי הניתן לגילוי ב-FDG-PET באפילפסיה</a:t>
            </a:r>
          </a:p>
        </p:txBody>
      </p:sp>
      <p:sp>
        <p:nvSpPr>
          <p:cNvPr id="20" name="Rounded Rectangle 19"/>
          <p:cNvSpPr/>
          <p:nvPr/>
        </p:nvSpPr>
        <p:spPr>
          <a:xfrm>
            <a:off x="548640" y="5449824"/>
            <a:ext cx="11064240" cy="777240"/>
          </a:xfrm>
          <a:prstGeom prst="roundRect">
            <a:avLst/>
          </a:prstGeom>
          <a:solidFill>
            <a:srgbClr val="F3F4F6"/>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744200" y="5650992"/>
            <a:ext cx="365760" cy="365760"/>
          </a:xfrm>
          <a:prstGeom prst="ellipse">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744200" y="5650992"/>
            <a:ext cx="365760" cy="365760"/>
          </a:xfrm>
          <a:prstGeom prst="rect">
            <a:avLst/>
          </a:prstGeom>
          <a:noFill/>
        </p:spPr>
        <p:txBody>
          <a:bodyPr wrap="square" anchor="ctr" lIns="0" rIns="0" tIns="0" bIns="0">
            <a:spAutoFit/>
          </a:bodyPr>
          <a:lstStyle/>
          <a:p>
            <a:pPr algn="ctr" rtl="1"/>
            <a:r>
              <a:rPr sz="1400" b="1">
                <a:solidFill>
                  <a:srgbClr val="FFFFFF"/>
                </a:solidFill>
                <a:latin typeface="Calibri"/>
              </a:rPr>
              <a:t>ד</a:t>
            </a:r>
          </a:p>
        </p:txBody>
      </p:sp>
      <p:sp>
        <p:nvSpPr>
          <p:cNvPr id="23" name="TextBox 22"/>
          <p:cNvSpPr txBox="1"/>
          <p:nvPr/>
        </p:nvSpPr>
        <p:spPr>
          <a:xfrm>
            <a:off x="822960" y="5449824"/>
            <a:ext cx="9784080" cy="777240"/>
          </a:xfrm>
          <a:prstGeom prst="rect">
            <a:avLst/>
          </a:prstGeom>
          <a:noFill/>
        </p:spPr>
        <p:txBody>
          <a:bodyPr wrap="square" anchor="ctr" lIns="0" rIns="0" tIns="0" bIns="0">
            <a:spAutoFit/>
          </a:bodyPr>
          <a:lstStyle/>
          <a:p>
            <a:pPr algn="r" rtl="1"/>
            <a:r>
              <a:rPr sz="1350" b="0">
                <a:solidFill>
                  <a:srgbClr val="1F2937"/>
                </a:solidFill>
                <a:latin typeface="Calibri"/>
              </a:rPr>
              <a:t>FDG-PET רלוונטי רק לאבחון גידולים, לא לאפילפסיה</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ounded Rectangle 3"/>
          <p:cNvSpPr/>
          <p:nvPr/>
        </p:nvSpPr>
        <p:spPr>
          <a:xfrm>
            <a:off x="457200" y="320040"/>
            <a:ext cx="3108960" cy="365760"/>
          </a:xfrm>
          <a:prstGeom prst="roundRect">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320040"/>
            <a:ext cx="3108960" cy="365760"/>
          </a:xfrm>
          <a:prstGeom prst="rect">
            <a:avLst/>
          </a:prstGeom>
          <a:noFill/>
        </p:spPr>
        <p:txBody>
          <a:bodyPr wrap="square" anchor="ctr" lIns="0" rIns="0" tIns="0" bIns="0">
            <a:spAutoFit/>
          </a:bodyPr>
          <a:lstStyle/>
          <a:p>
            <a:pPr algn="ctr" rtl="1"/>
            <a:r>
              <a:rPr sz="1200" b="1">
                <a:solidFill>
                  <a:srgbClr val="FFFFFF"/>
                </a:solidFill>
                <a:latin typeface="Calibri"/>
              </a:rPr>
              <a:t>PET באפילפסיה</a:t>
            </a:r>
          </a:p>
        </p:txBody>
      </p:sp>
      <p:sp>
        <p:nvSpPr>
          <p:cNvPr id="6" name="TextBox 5"/>
          <p:cNvSpPr txBox="1"/>
          <p:nvPr/>
        </p:nvSpPr>
        <p:spPr>
          <a:xfrm>
            <a:off x="548640" y="777240"/>
            <a:ext cx="11064240" cy="640080"/>
          </a:xfrm>
          <a:prstGeom prst="rect">
            <a:avLst/>
          </a:prstGeom>
          <a:noFill/>
        </p:spPr>
        <p:txBody>
          <a:bodyPr wrap="square" anchor="t" lIns="0" rIns="0" tIns="0" bIns="0">
            <a:spAutoFit/>
          </a:bodyPr>
          <a:lstStyle/>
          <a:p>
            <a:pPr algn="r" rtl="1"/>
            <a:r>
              <a:rPr sz="1400" b="1">
                <a:solidFill>
                  <a:srgbClr val="15803D"/>
                </a:solidFill>
                <a:latin typeface="Calibri"/>
              </a:rPr>
              <a:t>התשובה הנכונה: א) היפומטבוליזם בין-פרכוסי באזור המוקד (FDG נלכד כשעה, ומשקף את המצב המטבולי הממוצע באותה שעה); בזמן פרכוס בפועל צפוי להיפוך לכיוון היפרמטבוליזם</a:t>
            </a:r>
          </a:p>
        </p:txBody>
      </p:sp>
      <p:sp>
        <p:nvSpPr>
          <p:cNvPr id="7" name="Rounded Rectangle 6"/>
          <p:cNvSpPr/>
          <p:nvPr/>
        </p:nvSpPr>
        <p:spPr>
          <a:xfrm>
            <a:off x="548640" y="1554480"/>
            <a:ext cx="7406640" cy="1417320"/>
          </a:xfrm>
          <a:prstGeom prst="roundRect">
            <a:avLst/>
          </a:prstGeom>
          <a:solidFill>
            <a:srgbClr val="F8FAFC"/>
          </a:solidFill>
          <a:ln w="12700">
            <a:solidFill>
              <a:srgbClr val="E5E7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627632"/>
            <a:ext cx="7040880" cy="274320"/>
          </a:xfrm>
          <a:prstGeom prst="rect">
            <a:avLst/>
          </a:prstGeom>
          <a:noFill/>
        </p:spPr>
        <p:txBody>
          <a:bodyPr wrap="square" anchor="ctr" lIns="0" rIns="0" tIns="0" bIns="0">
            <a:spAutoFit/>
          </a:bodyPr>
          <a:lstStyle/>
          <a:p>
            <a:pPr algn="r" rtl="1"/>
            <a:r>
              <a:rPr sz="1200" b="1">
                <a:solidFill>
                  <a:srgbClr val="6B7280"/>
                </a:solidFill>
                <a:latin typeface="Calibri"/>
              </a:rPr>
              <a:t>הסבר:</a:t>
            </a:r>
          </a:p>
        </p:txBody>
      </p:sp>
      <p:sp>
        <p:nvSpPr>
          <p:cNvPr id="9" name="TextBox 8"/>
          <p:cNvSpPr txBox="1"/>
          <p:nvPr/>
        </p:nvSpPr>
        <p:spPr>
          <a:xfrm>
            <a:off x="731520" y="1901952"/>
            <a:ext cx="7040880" cy="1005840"/>
          </a:xfrm>
          <a:prstGeom prst="rect">
            <a:avLst/>
          </a:prstGeom>
          <a:noFill/>
        </p:spPr>
        <p:txBody>
          <a:bodyPr wrap="square" anchor="t" lIns="0" rIns="0" tIns="0" bIns="0">
            <a:spAutoFit/>
          </a:bodyPr>
          <a:lstStyle/>
          <a:p>
            <a:pPr algn="r" rtl="1"/>
            <a:r>
              <a:rPr sz="1000" b="0">
                <a:solidFill>
                  <a:srgbClr val="1F2937"/>
                </a:solidFill>
                <a:latin typeface="Calibri"/>
              </a:rPr>
              <a:t>התשובה הנכונה (1): FDG-PET שגרתי באפילפסיה נעשה בין פרכוסים (interictal) ומדגים היפומטבוליזם במוקד האפילפטוגני - 'מוקד עייף'. מכיוון ש-FDG נלכד ברקמה למשך כשעה, בדיקה שנעשית בזמן פרכוס בפועל (ictal) 'תתפוס' את ההיפרמטבוליזם החריף שמתרחש בפעילות הפרכוסית עצמה. 11C-flumazenil, המסמן קולטני GABA-A, מהווה כלי לוקליזציה משלים.</a:t>
            </a:r>
          </a:p>
        </p:txBody>
      </p:sp>
      <p:sp>
        <p:nvSpPr>
          <p:cNvPr id="10" name="Rounded Rectangle 9"/>
          <p:cNvSpPr/>
          <p:nvPr/>
        </p:nvSpPr>
        <p:spPr>
          <a:xfrm>
            <a:off x="548640" y="3108960"/>
            <a:ext cx="7406640" cy="914400"/>
          </a:xfrm>
          <a:prstGeom prst="roundRect">
            <a:avLst/>
          </a:prstGeom>
          <a:solidFill>
            <a:srgbClr val="EFF6FF"/>
          </a:solidFill>
          <a:ln w="1270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182112"/>
            <a:ext cx="7040880" cy="274320"/>
          </a:xfrm>
          <a:prstGeom prst="rect">
            <a:avLst/>
          </a:prstGeom>
          <a:noFill/>
        </p:spPr>
        <p:txBody>
          <a:bodyPr wrap="square" anchor="ctr" lIns="0" rIns="0" tIns="0" bIns="0">
            <a:spAutoFit/>
          </a:bodyPr>
          <a:lstStyle/>
          <a:p>
            <a:pPr algn="r" rtl="1"/>
            <a:r>
              <a:rPr sz="1150" b="1">
                <a:solidFill>
                  <a:srgbClr val="1E3A8A"/>
                </a:solidFill>
                <a:latin typeface="Calibri"/>
              </a:rPr>
              <a:t>מונח: היפומטבוליזם בין-פרכוסי</a:t>
            </a:r>
          </a:p>
        </p:txBody>
      </p:sp>
      <p:sp>
        <p:nvSpPr>
          <p:cNvPr id="12" name="TextBox 11"/>
          <p:cNvSpPr txBox="1"/>
          <p:nvPr/>
        </p:nvSpPr>
        <p:spPr>
          <a:xfrm>
            <a:off x="731520" y="3474720"/>
            <a:ext cx="7040880" cy="502920"/>
          </a:xfrm>
          <a:prstGeom prst="rect">
            <a:avLst/>
          </a:prstGeom>
          <a:noFill/>
        </p:spPr>
        <p:txBody>
          <a:bodyPr wrap="square" anchor="t" lIns="0" rIns="0" tIns="0" bIns="0">
            <a:spAutoFit/>
          </a:bodyPr>
          <a:lstStyle/>
          <a:p>
            <a:pPr algn="r" rtl="1"/>
            <a:r>
              <a:rPr sz="950" b="0">
                <a:solidFill>
                  <a:srgbClr val="1E3A8A"/>
                </a:solidFill>
                <a:latin typeface="Calibri"/>
              </a:rPr>
              <a:t>ירידה מטבולית במוקד האפילפטוגני הנצפית ב-FDG-PET כאשר הבדיקה נעשית מחוץ לזמן הפרכוס - בניגוד להיפרמטבוליזם המתרחש בזמן הפרכוס עצמו.</a:t>
            </a:r>
          </a:p>
        </p:txBody>
      </p:sp>
      <p:sp>
        <p:nvSpPr>
          <p:cNvPr id="13" name="Rounded Rectangle 12"/>
          <p:cNvSpPr/>
          <p:nvPr/>
        </p:nvSpPr>
        <p:spPr>
          <a:xfrm>
            <a:off x="548640" y="4160520"/>
            <a:ext cx="7406640" cy="1417320"/>
          </a:xfrm>
          <a:prstGeom prst="roundRect">
            <a:avLst/>
          </a:prstGeom>
          <a:solidFill>
            <a:srgbClr val="F5F3FF"/>
          </a:solidFill>
          <a:ln w="12700">
            <a:solidFill>
              <a:srgbClr val="DDD6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4233672"/>
            <a:ext cx="7040880" cy="274320"/>
          </a:xfrm>
          <a:prstGeom prst="rect">
            <a:avLst/>
          </a:prstGeom>
          <a:noFill/>
        </p:spPr>
        <p:txBody>
          <a:bodyPr wrap="square" anchor="ctr" lIns="0" rIns="0" tIns="0" bIns="0">
            <a:spAutoFit/>
          </a:bodyPr>
          <a:lstStyle/>
          <a:p>
            <a:pPr algn="r" rtl="1"/>
            <a:r>
              <a:rPr sz="1150" b="1">
                <a:solidFill>
                  <a:srgbClr val="5B21B6"/>
                </a:solidFill>
                <a:latin typeface="Calibri"/>
              </a:rPr>
              <a:t>סיפור לזכירה</a:t>
            </a:r>
          </a:p>
        </p:txBody>
      </p:sp>
      <p:sp>
        <p:nvSpPr>
          <p:cNvPr id="15" name="TextBox 14"/>
          <p:cNvSpPr txBox="1"/>
          <p:nvPr/>
        </p:nvSpPr>
        <p:spPr>
          <a:xfrm>
            <a:off x="731520" y="4526280"/>
            <a:ext cx="7040880" cy="502920"/>
          </a:xfrm>
          <a:prstGeom prst="rect">
            <a:avLst/>
          </a:prstGeom>
          <a:noFill/>
        </p:spPr>
        <p:txBody>
          <a:bodyPr wrap="square" anchor="t" lIns="0" rIns="0" tIns="0" bIns="0">
            <a:spAutoFit/>
          </a:bodyPr>
          <a:lstStyle/>
          <a:p>
            <a:pPr algn="r" rtl="1"/>
            <a:r>
              <a:rPr sz="950" b="0">
                <a:solidFill>
                  <a:srgbClr val="4C1D95"/>
                </a:solidFill>
                <a:latin typeface="Calibri"/>
              </a:rPr>
              <a:t>דמייני אזור במפעל שעובד במשרה חלקית ועצלה כל השנה (היפומטבוליזם בין-פרכוסים) - אבל פעם בכמה זמן מתפוצצת שם סופת עבודה אינטנסיבית ולא-נשלטת (היפרמטבוליזם בזמן פרכוס) שגוזלת פתאום הרבה אנרגיה.</a:t>
            </a:r>
          </a:p>
        </p:txBody>
      </p:sp>
      <p:sp>
        <p:nvSpPr>
          <p:cNvPr id="16" name="TextBox 15"/>
          <p:cNvSpPr txBox="1"/>
          <p:nvPr/>
        </p:nvSpPr>
        <p:spPr>
          <a:xfrm>
            <a:off x="731520" y="5047488"/>
            <a:ext cx="7040880" cy="502920"/>
          </a:xfrm>
          <a:prstGeom prst="rect">
            <a:avLst/>
          </a:prstGeom>
          <a:noFill/>
        </p:spPr>
        <p:txBody>
          <a:bodyPr wrap="square" anchor="t" lIns="0" rIns="0" tIns="0" bIns="0">
            <a:spAutoFit/>
          </a:bodyPr>
          <a:lstStyle/>
          <a:p>
            <a:pPr algn="r" rtl="1"/>
            <a:r>
              <a:rPr sz="900" b="0">
                <a:solidFill>
                  <a:srgbClr val="5B21B6"/>
                </a:solidFill>
                <a:latin typeface="Calibri"/>
              </a:rPr>
              <a:t>שאלי את עצמך: איך היית מיישמת את העיקרון הזה במקרה קליני אמיתי?</a:t>
            </a:r>
          </a:p>
        </p:txBody>
      </p:sp>
      <p:sp>
        <p:nvSpPr>
          <p:cNvPr id="17" name="TextBox 16"/>
          <p:cNvSpPr txBox="1"/>
          <p:nvPr/>
        </p:nvSpPr>
        <p:spPr>
          <a:xfrm>
            <a:off x="8138160" y="1554480"/>
            <a:ext cx="3474720" cy="320040"/>
          </a:xfrm>
          <a:prstGeom prst="rect">
            <a:avLst/>
          </a:prstGeom>
          <a:noFill/>
        </p:spPr>
        <p:txBody>
          <a:bodyPr wrap="square" anchor="ctr" lIns="0" rIns="0" tIns="0" bIns="0">
            <a:spAutoFit/>
          </a:bodyPr>
          <a:lstStyle/>
          <a:p>
            <a:pPr algn="r" rtl="1"/>
            <a:r>
              <a:rPr sz="1250" b="1">
                <a:solidFill>
                  <a:srgbClr val="6B7280"/>
                </a:solidFill>
                <a:latin typeface="Calibri"/>
              </a:rPr>
              <a:t>מה קורה בפועל:</a:t>
            </a:r>
          </a:p>
        </p:txBody>
      </p:sp>
      <p:sp>
        <p:nvSpPr>
          <p:cNvPr id="18" name="Rounded Rectangle 17"/>
          <p:cNvSpPr/>
          <p:nvPr/>
        </p:nvSpPr>
        <p:spPr>
          <a:xfrm>
            <a:off x="8138160" y="1920240"/>
            <a:ext cx="3474720" cy="777240"/>
          </a:xfrm>
          <a:prstGeom prst="roundRect">
            <a:avLst/>
          </a:prstGeom>
          <a:solidFill>
            <a:srgbClr val="B91C1C"/>
          </a:solidFill>
          <a:ln w="15875">
            <a:solidFill>
              <a:srgbClr val="B91C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292840" y="2176272"/>
            <a:ext cx="256032" cy="256032"/>
          </a:xfrm>
          <a:prstGeom prst="ellipse">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75320" y="197510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בין פרכוסים: היפומטבוליזם במוקד</a:t>
            </a:r>
          </a:p>
        </p:txBody>
      </p:sp>
      <p:sp>
        <p:nvSpPr>
          <p:cNvPr id="21" name="Rounded Rectangle 20"/>
          <p:cNvSpPr/>
          <p:nvPr/>
        </p:nvSpPr>
        <p:spPr>
          <a:xfrm>
            <a:off x="8138160" y="2788920"/>
            <a:ext cx="3474720" cy="777240"/>
          </a:xfrm>
          <a:prstGeom prst="roundRect">
            <a:avLst/>
          </a:prstGeom>
          <a:solidFill>
            <a:srgbClr val="B45309"/>
          </a:solidFill>
          <a:ln w="15875">
            <a:solidFill>
              <a:srgbClr val="B4530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1292840" y="3044952"/>
            <a:ext cx="256032" cy="256032"/>
          </a:xfrm>
          <a:prstGeom prst="ellipse">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75320" y="2843784"/>
            <a:ext cx="2880360" cy="667512"/>
          </a:xfrm>
          <a:prstGeom prst="rect">
            <a:avLst/>
          </a:prstGeom>
          <a:noFill/>
        </p:spPr>
        <p:txBody>
          <a:bodyPr wrap="square" anchor="ctr" lIns="0" rIns="0" tIns="0" bIns="0">
            <a:spAutoFit/>
          </a:bodyPr>
          <a:lstStyle/>
          <a:p>
            <a:pPr algn="r" rtl="1"/>
            <a:r>
              <a:rPr sz="950" b="0">
                <a:solidFill>
                  <a:srgbClr val="FFFFFF"/>
                </a:solidFill>
                <a:latin typeface="Calibri"/>
              </a:rPr>
              <a:t>בזמן פרכוס: היפרמטבוליזם</a:t>
            </a:r>
          </a:p>
        </p:txBody>
      </p:sp>
      <p:sp>
        <p:nvSpPr>
          <p:cNvPr id="24" name="Rounded Rectangle 23"/>
          <p:cNvSpPr/>
          <p:nvPr/>
        </p:nvSpPr>
        <p:spPr>
          <a:xfrm>
            <a:off x="8138160" y="3657600"/>
            <a:ext cx="3474720" cy="777240"/>
          </a:xfrm>
          <a:prstGeom prst="roundRect">
            <a:avLst/>
          </a:prstGeom>
          <a:solidFill>
            <a:srgbClr val="1C7293"/>
          </a:solidFill>
          <a:ln w="15875">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92840" y="3913632"/>
            <a:ext cx="256032" cy="256032"/>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75320" y="3712464"/>
            <a:ext cx="2880360" cy="667512"/>
          </a:xfrm>
          <a:prstGeom prst="rect">
            <a:avLst/>
          </a:prstGeom>
          <a:noFill/>
        </p:spPr>
        <p:txBody>
          <a:bodyPr wrap="square" anchor="ctr" lIns="0" rIns="0" tIns="0" bIns="0">
            <a:spAutoFit/>
          </a:bodyPr>
          <a:lstStyle/>
          <a:p>
            <a:pPr algn="r" rtl="1"/>
            <a:r>
              <a:rPr sz="950" b="0">
                <a:solidFill>
                  <a:srgbClr val="FFFFFF"/>
                </a:solidFill>
                <a:latin typeface="Calibri"/>
              </a:rPr>
              <a:t>11C-flumazenil (GABA-A) מסייע ללוקליזציה</a:t>
            </a:r>
          </a:p>
        </p:txBody>
      </p:sp>
      <p:sp>
        <p:nvSpPr>
          <p:cNvPr id="27" name="TextBox 26"/>
          <p:cNvSpPr txBox="1"/>
          <p:nvPr/>
        </p:nvSpPr>
        <p:spPr>
          <a:xfrm>
            <a:off x="548640" y="6446520"/>
            <a:ext cx="11064240" cy="320040"/>
          </a:xfrm>
          <a:prstGeom prst="rect">
            <a:avLst/>
          </a:prstGeom>
          <a:noFill/>
        </p:spPr>
        <p:txBody>
          <a:bodyPr wrap="square" anchor="ctr" lIns="0" rIns="0" tIns="0" bIns="0">
            <a:spAutoFit/>
          </a:bodyPr>
          <a:lstStyle/>
          <a:p>
            <a:pPr algn="ctr" rtl="1"/>
            <a:r>
              <a:rPr sz="900" b="0">
                <a:solidFill>
                  <a:srgbClr val="9CA3AF"/>
                </a:solidFill>
                <a:latin typeface="Calibri"/>
              </a:rPr>
              <a:t>מצגת סטטית — ללא ניקוד חי. לתרגול עם סטטיסטיקה בזמן אמת, השתמשו באתר הכרטיסיות המקוון.</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B2A"/>
        </a:solidFill>
        <a:effectLst/>
      </p:bgPr>
    </p:bg>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TextBox 3"/>
          <p:cNvSpPr txBox="1"/>
          <p:nvPr/>
        </p:nvSpPr>
        <p:spPr>
          <a:xfrm>
            <a:off x="914400" y="548640"/>
            <a:ext cx="10360152" cy="640080"/>
          </a:xfrm>
          <a:prstGeom prst="rect">
            <a:avLst/>
          </a:prstGeom>
          <a:noFill/>
        </p:spPr>
        <p:txBody>
          <a:bodyPr wrap="square" anchor="ctr" lIns="0" rIns="0" tIns="0" bIns="0">
            <a:spAutoFit/>
          </a:bodyPr>
          <a:lstStyle/>
          <a:p>
            <a:pPr algn="ctr" rtl="1"/>
            <a:r>
              <a:rPr sz="3000" b="1">
                <a:solidFill>
                  <a:srgbClr val="FFFFFF"/>
                </a:solidFill>
                <a:latin typeface="Calibri"/>
              </a:rPr>
              <a:t>סיכום הכרטיסיות</a:t>
            </a:r>
          </a:p>
        </p:txBody>
      </p:sp>
      <p:sp>
        <p:nvSpPr>
          <p:cNvPr id="5" name="TextBox 4"/>
          <p:cNvSpPr txBox="1"/>
          <p:nvPr/>
        </p:nvSpPr>
        <p:spPr>
          <a:xfrm>
            <a:off x="1097280" y="1463040"/>
            <a:ext cx="9994392" cy="4389120"/>
          </a:xfrm>
          <a:prstGeom prst="rect">
            <a:avLst/>
          </a:prstGeom>
          <a:noFill/>
        </p:spPr>
        <p:txBody>
          <a:bodyPr wrap="square">
            <a:spAutoFit/>
          </a:bodyPr>
          <a:lstStyle/>
          <a:p>
            <a:pPr algn="r" rtl="1"/>
            <a:r>
              <a:rPr sz="1600">
                <a:solidFill>
                  <a:srgbClr val="E5E7EB"/>
                </a:solidFill>
                <a:latin typeface="Calibri"/>
              </a:rPr>
              <a:t>שרשרת הפיזיקה: ציקלוטרון → טרייסר → β+ → השמדה → 511 keV ב-180°</a:t>
            </a:r>
          </a:p>
          <a:p>
            <a:pPr algn="r" rtl="1"/>
            <a:r>
              <a:rPr sz="1600">
                <a:solidFill>
                  <a:srgbClr val="E5E7EB"/>
                </a:solidFill>
                <a:latin typeface="Calibri"/>
              </a:rPr>
              <a:t>זמני מחצית: O-15 2 דק׳, N-13 10, C-11 20, F-18 110</a:t>
            </a:r>
          </a:p>
          <a:p>
            <a:pPr algn="r" rtl="1"/>
            <a:r>
              <a:rPr sz="1600">
                <a:solidFill>
                  <a:srgbClr val="E5E7EB"/>
                </a:solidFill>
                <a:latin typeface="Calibri"/>
              </a:rPr>
              <a:t>FDG נלכד כ-FDG-6-P אחרי הקסוקינאז - קצב מטבולי</a:t>
            </a:r>
          </a:p>
          <a:p>
            <a:pPr algn="r" rtl="1"/>
            <a:r>
              <a:rPr sz="1600">
                <a:solidFill>
                  <a:srgbClr val="E5E7EB"/>
                </a:solidFill>
                <a:latin typeface="Calibri"/>
              </a:rPr>
              <a:t>FDOPA: PD א-סימטרי בפוטמן; MSA/PSP סימטרי; CBD פוטמן+קאודט</a:t>
            </a:r>
          </a:p>
          <a:p>
            <a:pPr algn="r" rtl="1"/>
            <a:r>
              <a:rPr sz="1600">
                <a:solidFill>
                  <a:srgbClr val="E5E7EB"/>
                </a:solidFill>
                <a:latin typeface="Calibri"/>
              </a:rPr>
              <a:t>Partial volume: חם קטן מוערך בחסר, קר קטן מוערך ביתר</a:t>
            </a:r>
          </a:p>
          <a:p>
            <a:pPr algn="r" rtl="1"/>
            <a:r>
              <a:rPr sz="1600">
                <a:solidFill>
                  <a:srgbClr val="E5E7EB"/>
                </a:solidFill>
                <a:latin typeface="Calibri"/>
              </a:rPr>
              <a:t>דמנציה: AD טמפורו-פריאטלי; FTD פרונטלי; DLB אוקסיפיטלי+cingulate island</a:t>
            </a:r>
          </a:p>
          <a:p>
            <a:pPr algn="r" rtl="1"/>
            <a:r>
              <a:rPr sz="1600">
                <a:solidFill>
                  <a:srgbClr val="E5E7EB"/>
                </a:solidFill>
                <a:latin typeface="Calibri"/>
              </a:rPr>
              <a:t>גידולים: חומצות אמינו (FET/MET/FDOPA) עדיפות על FDG לנמק קרינה מול הישנות</a:t>
            </a:r>
          </a:p>
          <a:p>
            <a:pPr algn="r" rtl="1"/>
            <a:r>
              <a:rPr sz="1600">
                <a:solidFill>
                  <a:srgbClr val="E5E7EB"/>
                </a:solidFill>
                <a:latin typeface="Calibri"/>
              </a:rPr>
              <a:t>אפילפסיה: היפו-בין-פרכוסי, היפר-בזמן-פרכוס</a:t>
            </a:r>
          </a:p>
          <a:p>
            <a:pPr algn="r" rtl="1"/>
            <a:r>
              <a:rPr sz="1600">
                <a:solidFill>
                  <a:srgbClr val="E5E7EB"/>
                </a:solidFill>
                <a:latin typeface="Calibri"/>
              </a:rPr>
              <a:t>קולטנים: flumazenil-GABA-A, raclopride-D2, DASB-SERT</a:t>
            </a:r>
          </a:p>
          <a:p>
            <a:pPr algn="r" rtl="1"/>
            <a:r>
              <a:rPr sz="1600">
                <a:solidFill>
                  <a:srgbClr val="E5E7EB"/>
                </a:solidFill>
                <a:latin typeface="Calibri"/>
              </a:rPr>
              <a:t>15O-H2O למדידת CBF ורקמה בסיכון בשבץ/חבלה</a:t>
            </a:r>
          </a:p>
        </p:txBody>
      </p:sp>
      <p:sp>
        <p:nvSpPr>
          <p:cNvPr id="6" name="TextBox 5"/>
          <p:cNvSpPr txBox="1"/>
          <p:nvPr/>
        </p:nvSpPr>
        <p:spPr>
          <a:xfrm>
            <a:off x="914400" y="6309360"/>
            <a:ext cx="10360152" cy="365760"/>
          </a:xfrm>
          <a:prstGeom prst="rect">
            <a:avLst/>
          </a:prstGeom>
          <a:noFill/>
        </p:spPr>
        <p:txBody>
          <a:bodyPr wrap="square" anchor="ctr" lIns="0" rIns="0" tIns="0" bIns="0">
            <a:spAutoFit/>
          </a:bodyPr>
          <a:lstStyle/>
          <a:p>
            <a:pPr algn="ctr" rtl="1"/>
            <a:r>
              <a:rPr sz="1200" b="0">
                <a:solidFill>
                  <a:srgbClr val="64748B"/>
                </a:solidFill>
                <a:latin typeface="Calibri"/>
              </a:rPr>
              <a:t>maskit101.github.io/summeries-medicine/neurosurgery8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