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1B2A"/>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Oval 3"/>
          <p:cNvSpPr/>
          <p:nvPr/>
        </p:nvSpPr>
        <p:spPr>
          <a:xfrm>
            <a:off x="5559552" y="640080"/>
            <a:ext cx="1078992" cy="1078992"/>
          </a:xfrm>
          <a:prstGeom prst="ellipse">
            <a:avLst/>
          </a:prstGeom>
          <a:noFill/>
          <a:ln w="381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788152" y="868680"/>
            <a:ext cx="621792" cy="62179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103120"/>
            <a:ext cx="10360152" cy="914400"/>
          </a:xfrm>
          <a:prstGeom prst="rect">
            <a:avLst/>
          </a:prstGeom>
          <a:noFill/>
        </p:spPr>
        <p:txBody>
          <a:bodyPr wrap="square" anchor="ctr" lIns="0" rIns="0" tIns="0" bIns="0">
            <a:spAutoFit/>
          </a:bodyPr>
          <a:lstStyle/>
          <a:p>
            <a:pPr algn="ctr" rtl="1"/>
            <a:r>
              <a:rPr sz="4000" b="1">
                <a:solidFill>
                  <a:srgbClr val="FFFFFF"/>
                </a:solidFill>
                <a:latin typeface="Calibri"/>
              </a:rPr>
              <a:t>נוירוכירורגיה — מהדורה 8</a:t>
            </a:r>
          </a:p>
        </p:txBody>
      </p:sp>
      <p:sp>
        <p:nvSpPr>
          <p:cNvPr id="7" name="TextBox 6"/>
          <p:cNvSpPr txBox="1"/>
          <p:nvPr/>
        </p:nvSpPr>
        <p:spPr>
          <a:xfrm>
            <a:off x="914400" y="3017520"/>
            <a:ext cx="10360152" cy="640080"/>
          </a:xfrm>
          <a:prstGeom prst="rect">
            <a:avLst/>
          </a:prstGeom>
          <a:noFill/>
        </p:spPr>
        <p:txBody>
          <a:bodyPr wrap="square" anchor="ctr" lIns="0" rIns="0" tIns="0" bIns="0">
            <a:spAutoFit/>
          </a:bodyPr>
          <a:lstStyle/>
          <a:p>
            <a:pPr algn="ctr" rtl="1"/>
            <a:r>
              <a:rPr sz="2200" b="0">
                <a:solidFill>
                  <a:srgbClr val="93C5FD"/>
                </a:solidFill>
                <a:latin typeface="Calibri"/>
              </a:rPr>
              <a:t>פרק 15: נוירו-אופטלמולוגיה</a:t>
            </a:r>
          </a:p>
        </p:txBody>
      </p:sp>
      <p:sp>
        <p:nvSpPr>
          <p:cNvPr id="8" name="TextBox 7"/>
          <p:cNvSpPr txBox="1"/>
          <p:nvPr/>
        </p:nvSpPr>
        <p:spPr>
          <a:xfrm>
            <a:off x="914400" y="3657600"/>
            <a:ext cx="10360152" cy="457200"/>
          </a:xfrm>
          <a:prstGeom prst="rect">
            <a:avLst/>
          </a:prstGeom>
          <a:noFill/>
        </p:spPr>
        <p:txBody>
          <a:bodyPr wrap="square" anchor="ctr" lIns="0" rIns="0" tIns="0" bIns="0">
            <a:spAutoFit/>
          </a:bodyPr>
          <a:lstStyle/>
          <a:p>
            <a:pPr algn="ctr" rtl="1"/>
            <a:r>
              <a:rPr sz="1400" b="0">
                <a:solidFill>
                  <a:srgbClr val="7DD3FC"/>
                </a:solidFill>
                <a:latin typeface="Calibri"/>
              </a:rPr>
              <a:t>Neuro-ophthalmology  ·  Youmans Neurological Surgery, 8th Ed. · Matthew J. Thurtell, Janet C. Rucker</a:t>
            </a:r>
          </a:p>
        </p:txBody>
      </p:sp>
      <p:sp>
        <p:nvSpPr>
          <p:cNvPr id="9" name="TextBox 8"/>
          <p:cNvSpPr txBox="1"/>
          <p:nvPr/>
        </p:nvSpPr>
        <p:spPr>
          <a:xfrm>
            <a:off x="914400" y="5943600"/>
            <a:ext cx="10360152" cy="548640"/>
          </a:xfrm>
          <a:prstGeom prst="rect">
            <a:avLst/>
          </a:prstGeom>
          <a:noFill/>
        </p:spPr>
        <p:txBody>
          <a:bodyPr wrap="square" anchor="ctr" lIns="0" rIns="0" tIns="0" bIns="0">
            <a:spAutoFit/>
          </a:bodyPr>
          <a:lstStyle/>
          <a:p>
            <a:pPr algn="ctr" rtl="1"/>
            <a:r>
              <a:rPr sz="1250" b="0">
                <a:solidFill>
                  <a:srgbClr val="64748B"/>
                </a:solidFill>
                <a:latin typeface="Calibri"/>
              </a:rPr>
              <a:t>8 כרטיסיות תרגול · שאלה ואז תשובה מלאה בכל כרטיסייה · לסטטיסטיקה חיה השתמשו באתר</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65760"/>
            <a:ext cx="310896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65760"/>
            <a:ext cx="3108960" cy="384048"/>
          </a:xfrm>
          <a:prstGeom prst="rect">
            <a:avLst/>
          </a:prstGeom>
          <a:noFill/>
        </p:spPr>
        <p:txBody>
          <a:bodyPr wrap="square" anchor="ctr" lIns="0" rIns="0" tIns="0" bIns="0">
            <a:spAutoFit/>
          </a:bodyPr>
          <a:lstStyle/>
          <a:p>
            <a:pPr algn="ctr" rtl="1"/>
            <a:r>
              <a:rPr sz="1250" b="1">
                <a:solidFill>
                  <a:srgbClr val="FFFFFF"/>
                </a:solidFill>
                <a:latin typeface="Calibri"/>
              </a:rPr>
              <a:t>מיקום נגע ושדה ראייה</a:t>
            </a:r>
          </a:p>
        </p:txBody>
      </p:sp>
      <p:sp>
        <p:nvSpPr>
          <p:cNvPr id="6" name="TextBox 5"/>
          <p:cNvSpPr txBox="1"/>
          <p:nvPr/>
        </p:nvSpPr>
        <p:spPr>
          <a:xfrm>
            <a:off x="8531352" y="365760"/>
            <a:ext cx="3108960" cy="384048"/>
          </a:xfrm>
          <a:prstGeom prst="rect">
            <a:avLst/>
          </a:prstGeom>
          <a:noFill/>
        </p:spPr>
        <p:txBody>
          <a:bodyPr wrap="square" anchor="ctr" lIns="0" rIns="0" tIns="0" bIns="0">
            <a:spAutoFit/>
          </a:bodyPr>
          <a:lstStyle/>
          <a:p>
            <a:pPr algn="l" rtl="1"/>
            <a:r>
              <a:rPr sz="1200" b="0">
                <a:solidFill>
                  <a:srgbClr val="9CA3AF"/>
                </a:solidFill>
                <a:latin typeface="Calibri"/>
              </a:rPr>
              <a:t>כרטיסייה 1 מתוך 8</a:t>
            </a:r>
          </a:p>
        </p:txBody>
      </p:sp>
      <p:sp>
        <p:nvSpPr>
          <p:cNvPr id="7" name="TextBox 6"/>
          <p:cNvSpPr txBox="1"/>
          <p:nvPr/>
        </p:nvSpPr>
        <p:spPr>
          <a:xfrm>
            <a:off x="548640" y="1005840"/>
            <a:ext cx="11064240" cy="1463040"/>
          </a:xfrm>
          <a:prstGeom prst="rect">
            <a:avLst/>
          </a:prstGeom>
          <a:noFill/>
        </p:spPr>
        <p:txBody>
          <a:bodyPr wrap="square" anchor="t" lIns="0" rIns="0" tIns="0" bIns="0">
            <a:spAutoFit/>
          </a:bodyPr>
          <a:lstStyle/>
          <a:p>
            <a:pPr algn="r" rtl="1"/>
            <a:r>
              <a:rPr sz="2000" b="1">
                <a:solidFill>
                  <a:srgbClr val="1F2937"/>
                </a:solidFill>
                <a:latin typeface="Calibri"/>
              </a:rPr>
              <a:t>מה העיקרון הכללי שמקשר בין מיקום הנגע במסלול הראייתי האפרנטי לצורת הפגם בשדה הראייה?</a:t>
            </a:r>
          </a:p>
        </p:txBody>
      </p:sp>
      <p:sp>
        <p:nvSpPr>
          <p:cNvPr id="8" name="Rounded Rectangle 7"/>
          <p:cNvSpPr/>
          <p:nvPr/>
        </p:nvSpPr>
        <p:spPr>
          <a:xfrm>
            <a:off x="548640" y="2651760"/>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744200" y="2852928"/>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44200" y="2852928"/>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א</a:t>
            </a:r>
          </a:p>
        </p:txBody>
      </p:sp>
      <p:sp>
        <p:nvSpPr>
          <p:cNvPr id="11" name="TextBox 10"/>
          <p:cNvSpPr txBox="1"/>
          <p:nvPr/>
        </p:nvSpPr>
        <p:spPr>
          <a:xfrm>
            <a:off x="822960" y="2651760"/>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מיקום הנגע אינו משפיע כלל על צורת הפגם - כל נגע נותן את אותו דפוס</a:t>
            </a:r>
          </a:p>
        </p:txBody>
      </p:sp>
      <p:sp>
        <p:nvSpPr>
          <p:cNvPr id="12" name="Rounded Rectangle 11"/>
          <p:cNvSpPr/>
          <p:nvPr/>
        </p:nvSpPr>
        <p:spPr>
          <a:xfrm>
            <a:off x="548640" y="3584448"/>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44200" y="3785616"/>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44200" y="3785616"/>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ב</a:t>
            </a:r>
          </a:p>
        </p:txBody>
      </p:sp>
      <p:sp>
        <p:nvSpPr>
          <p:cNvPr id="15" name="TextBox 14"/>
          <p:cNvSpPr txBox="1"/>
          <p:nvPr/>
        </p:nvSpPr>
        <p:spPr>
          <a:xfrm>
            <a:off x="822960" y="3584448"/>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רק נגעים ברשתית משפיעים על שדה הראייה; כל השאר לא רלוונטיים</a:t>
            </a:r>
          </a:p>
        </p:txBody>
      </p:sp>
      <p:sp>
        <p:nvSpPr>
          <p:cNvPr id="16" name="Rounded Rectangle 15"/>
          <p:cNvSpPr/>
          <p:nvPr/>
        </p:nvSpPr>
        <p:spPr>
          <a:xfrm>
            <a:off x="548640" y="4517136"/>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744200" y="4718304"/>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44200" y="4718304"/>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ג</a:t>
            </a:r>
          </a:p>
        </p:txBody>
      </p:sp>
      <p:sp>
        <p:nvSpPr>
          <p:cNvPr id="19" name="TextBox 18"/>
          <p:cNvSpPr txBox="1"/>
          <p:nvPr/>
        </p:nvSpPr>
        <p:spPr>
          <a:xfrm>
            <a:off x="822960" y="4517136"/>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ברשתית/עצב ראייה - חסר מונוקולרי (עין אחת); בכיאזמה - המיאנופיה בי-טמפורלית (הסיבים האפיים החוצים נפגעים); מאחורי הכיאזמה - המיאנופיה הומונימית בשתי העיניים, עם קונגרואנטיות עולה ככל שהנגע קרוב יותר לקורטקס העורפי</a:t>
            </a:r>
          </a:p>
        </p:txBody>
      </p:sp>
      <p:sp>
        <p:nvSpPr>
          <p:cNvPr id="20" name="Rounded Rectangle 19"/>
          <p:cNvSpPr/>
          <p:nvPr/>
        </p:nvSpPr>
        <p:spPr>
          <a:xfrm>
            <a:off x="548640" y="5449824"/>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744200" y="5650992"/>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44200" y="5650992"/>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ד</a:t>
            </a:r>
          </a:p>
        </p:txBody>
      </p:sp>
      <p:sp>
        <p:nvSpPr>
          <p:cNvPr id="23" name="TextBox 22"/>
          <p:cNvSpPr txBox="1"/>
          <p:nvPr/>
        </p:nvSpPr>
        <p:spPr>
          <a:xfrm>
            <a:off x="822960" y="5449824"/>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כל הנגעים האחוריים לכיאזמה גורמים לחסר מונוקולרי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20040"/>
            <a:ext cx="3108960" cy="3657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
            <a:ext cx="3108960" cy="365760"/>
          </a:xfrm>
          <a:prstGeom prst="rect">
            <a:avLst/>
          </a:prstGeom>
          <a:noFill/>
        </p:spPr>
        <p:txBody>
          <a:bodyPr wrap="square" anchor="ctr" lIns="0" rIns="0" tIns="0" bIns="0">
            <a:spAutoFit/>
          </a:bodyPr>
          <a:lstStyle/>
          <a:p>
            <a:pPr algn="ctr" rtl="1"/>
            <a:r>
              <a:rPr sz="1200" b="1">
                <a:solidFill>
                  <a:srgbClr val="FFFFFF"/>
                </a:solidFill>
                <a:latin typeface="Calibri"/>
              </a:rPr>
              <a:t>מיקום נגע ושדה ראייה</a:t>
            </a:r>
          </a:p>
        </p:txBody>
      </p:sp>
      <p:sp>
        <p:nvSpPr>
          <p:cNvPr id="6" name="TextBox 5"/>
          <p:cNvSpPr txBox="1"/>
          <p:nvPr/>
        </p:nvSpPr>
        <p:spPr>
          <a:xfrm>
            <a:off x="548640" y="777240"/>
            <a:ext cx="11064240" cy="640080"/>
          </a:xfrm>
          <a:prstGeom prst="rect">
            <a:avLst/>
          </a:prstGeom>
          <a:noFill/>
        </p:spPr>
        <p:txBody>
          <a:bodyPr wrap="square" anchor="t" lIns="0" rIns="0" tIns="0" bIns="0">
            <a:spAutoFit/>
          </a:bodyPr>
          <a:lstStyle/>
          <a:p>
            <a:pPr algn="r" rtl="1"/>
            <a:r>
              <a:rPr sz="1400" b="1">
                <a:solidFill>
                  <a:srgbClr val="15803D"/>
                </a:solidFill>
                <a:latin typeface="Calibri"/>
              </a:rPr>
              <a:t>התשובה הנכונה: ג) ברשתית/עצב ראייה - חסר מונוקולרי (עין אחת); בכיאזמה - המיאנופיה בי-טמפורלית (הסיבים האפיים החוצים נפגעים); מאחורי הכיאזמה - המיאנופיה הומונימית בשתי העיניים, עם קונגרואנטיות עולה ככל שהנגע קרוב יותר לקורטקס העורפי</a:t>
            </a:r>
          </a:p>
        </p:txBody>
      </p:sp>
      <p:sp>
        <p:nvSpPr>
          <p:cNvPr id="7" name="Rounded Rectangle 6"/>
          <p:cNvSpPr/>
          <p:nvPr/>
        </p:nvSpPr>
        <p:spPr>
          <a:xfrm>
            <a:off x="548640" y="1554480"/>
            <a:ext cx="7406640" cy="1417320"/>
          </a:xfrm>
          <a:prstGeom prst="roundRect">
            <a:avLst/>
          </a:prstGeom>
          <a:solidFill>
            <a:srgbClr val="F8FAFC"/>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27632"/>
            <a:ext cx="7040880" cy="274320"/>
          </a:xfrm>
          <a:prstGeom prst="rect">
            <a:avLst/>
          </a:prstGeom>
          <a:noFill/>
        </p:spPr>
        <p:txBody>
          <a:bodyPr wrap="square" anchor="ctr" lIns="0" rIns="0" tIns="0" bIns="0">
            <a:spAutoFit/>
          </a:bodyPr>
          <a:lstStyle/>
          <a:p>
            <a:pPr algn="r" rtl="1"/>
            <a:r>
              <a:rPr sz="1200" b="1">
                <a:solidFill>
                  <a:srgbClr val="6B7280"/>
                </a:solidFill>
                <a:latin typeface="Calibri"/>
              </a:rPr>
              <a:t>הסבר:</a:t>
            </a:r>
          </a:p>
        </p:txBody>
      </p:sp>
      <p:sp>
        <p:nvSpPr>
          <p:cNvPr id="9" name="TextBox 8"/>
          <p:cNvSpPr txBox="1"/>
          <p:nvPr/>
        </p:nvSpPr>
        <p:spPr>
          <a:xfrm>
            <a:off x="731520" y="1901952"/>
            <a:ext cx="7040880" cy="1005840"/>
          </a:xfrm>
          <a:prstGeom prst="rect">
            <a:avLst/>
          </a:prstGeom>
          <a:noFill/>
        </p:spPr>
        <p:txBody>
          <a:bodyPr wrap="square" anchor="t" lIns="0" rIns="0" tIns="0" bIns="0">
            <a:spAutoFit/>
          </a:bodyPr>
          <a:lstStyle/>
          <a:p>
            <a:pPr algn="r" rtl="1"/>
            <a:r>
              <a:rPr sz="1000" b="0">
                <a:solidFill>
                  <a:srgbClr val="1F2937"/>
                </a:solidFill>
                <a:latin typeface="Calibri"/>
              </a:rPr>
              <a:t>התשובה הנכונה (3): כל סיב עצבי במסלול הראייתי אחראי על נקודה מסוימת בשדה הראייה. ברשתית ובעצב הראייה כל עין רואה לבדה את כל שדה הראייה שלה, כך שפגיעה שם נותנת חסר מונוקולרי עם RAPD. בכיאזמה חוצים צד הסיבים מהרשתית האפית (כ-53%) שרואה את השדה הטמפורלי - נגע מרכזי כאן פוגע בשני השדות הטמפורליים = המיאנופיה בי-טמפורלית. מאחורי הכיאזמה כל סיב משרת רק את מחצית השדה הנגדית בשתי העיניים - נגע כאן נותן המיאנופיה הומונימית, שהופכת קונגרואנטית יותר ככל שהנגע קרוב יותר לקורטקס העורפי (הסיבים כבר התכנסו).</a:t>
            </a:r>
          </a:p>
        </p:txBody>
      </p:sp>
      <p:sp>
        <p:nvSpPr>
          <p:cNvPr id="10" name="Rounded Rectangle 9"/>
          <p:cNvSpPr/>
          <p:nvPr/>
        </p:nvSpPr>
        <p:spPr>
          <a:xfrm>
            <a:off x="548640" y="3108960"/>
            <a:ext cx="7406640" cy="914400"/>
          </a:xfrm>
          <a:prstGeom prst="roundRect">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182112"/>
            <a:ext cx="7040880" cy="274320"/>
          </a:xfrm>
          <a:prstGeom prst="rect">
            <a:avLst/>
          </a:prstGeom>
          <a:noFill/>
        </p:spPr>
        <p:txBody>
          <a:bodyPr wrap="square" anchor="ctr" lIns="0" rIns="0" tIns="0" bIns="0">
            <a:spAutoFit/>
          </a:bodyPr>
          <a:lstStyle/>
          <a:p>
            <a:pPr algn="r" rtl="1"/>
            <a:r>
              <a:rPr sz="1150" b="1">
                <a:solidFill>
                  <a:srgbClr val="1E3A8A"/>
                </a:solidFill>
                <a:latin typeface="Calibri"/>
              </a:rPr>
              <a:t>מונח: קונגרואנטיות (Congruity)</a:t>
            </a:r>
          </a:p>
        </p:txBody>
      </p:sp>
      <p:sp>
        <p:nvSpPr>
          <p:cNvPr id="12" name="TextBox 11"/>
          <p:cNvSpPr txBox="1"/>
          <p:nvPr/>
        </p:nvSpPr>
        <p:spPr>
          <a:xfrm>
            <a:off x="731520" y="3474720"/>
            <a:ext cx="7040880" cy="502920"/>
          </a:xfrm>
          <a:prstGeom prst="rect">
            <a:avLst/>
          </a:prstGeom>
          <a:noFill/>
        </p:spPr>
        <p:txBody>
          <a:bodyPr wrap="square" anchor="t" lIns="0" rIns="0" tIns="0" bIns="0">
            <a:spAutoFit/>
          </a:bodyPr>
          <a:lstStyle/>
          <a:p>
            <a:pPr algn="r" rtl="1"/>
            <a:r>
              <a:rPr sz="950" b="0">
                <a:solidFill>
                  <a:srgbClr val="1E3A8A"/>
                </a:solidFill>
                <a:latin typeface="Calibri"/>
              </a:rPr>
              <a:t>מידת הדמיון בין צורת הפגם בשדה הראייה בשתי העיניים בנגע רטרוכיאזמלי - עולה ככל שהנגע קרוב יותר לקורטקס העורפי.</a:t>
            </a:r>
          </a:p>
        </p:txBody>
      </p:sp>
      <p:sp>
        <p:nvSpPr>
          <p:cNvPr id="13" name="Rounded Rectangle 12"/>
          <p:cNvSpPr/>
          <p:nvPr/>
        </p:nvSpPr>
        <p:spPr>
          <a:xfrm>
            <a:off x="548640" y="4160520"/>
            <a:ext cx="7406640" cy="1417320"/>
          </a:xfrm>
          <a:prstGeom prst="roundRect">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233672"/>
            <a:ext cx="7040880" cy="274320"/>
          </a:xfrm>
          <a:prstGeom prst="rect">
            <a:avLst/>
          </a:prstGeom>
          <a:noFill/>
        </p:spPr>
        <p:txBody>
          <a:bodyPr wrap="square" anchor="ctr" lIns="0" rIns="0" tIns="0" bIns="0">
            <a:spAutoFit/>
          </a:bodyPr>
          <a:lstStyle/>
          <a:p>
            <a:pPr algn="r" rtl="1"/>
            <a:r>
              <a:rPr sz="1150" b="1">
                <a:solidFill>
                  <a:srgbClr val="5B21B6"/>
                </a:solidFill>
                <a:latin typeface="Calibri"/>
              </a:rPr>
              <a:t>סיפור לזכירה</a:t>
            </a:r>
          </a:p>
        </p:txBody>
      </p:sp>
      <p:sp>
        <p:nvSpPr>
          <p:cNvPr id="15" name="TextBox 14"/>
          <p:cNvSpPr txBox="1"/>
          <p:nvPr/>
        </p:nvSpPr>
        <p:spPr>
          <a:xfrm>
            <a:off x="731520" y="4526280"/>
            <a:ext cx="7040880" cy="502920"/>
          </a:xfrm>
          <a:prstGeom prst="rect">
            <a:avLst/>
          </a:prstGeom>
          <a:noFill/>
        </p:spPr>
        <p:txBody>
          <a:bodyPr wrap="square" anchor="t" lIns="0" rIns="0" tIns="0" bIns="0">
            <a:spAutoFit/>
          </a:bodyPr>
          <a:lstStyle/>
          <a:p>
            <a:pPr algn="r" rtl="1"/>
            <a:r>
              <a:rPr sz="950" b="0">
                <a:solidFill>
                  <a:srgbClr val="4C1D95"/>
                </a:solidFill>
                <a:latin typeface="Calibri"/>
              </a:rPr>
              <a:t>דמייני שני נהרות (שתי העיניים) שמתחילים נפרדים (ברשתית) ואז נפגשים בצומת (הכיאזמה) ולבסוף זורמים כצינור משולב אחד (הקורטקס) - פגיעה בנהר בודד לפני הצומת פוגעת רק באחד; פגיעה בצומת עצמו פוגעת בחלק מסוים משני הנהרות; פגיעה בצינור המשולב פוגעת בשניהם באופן זהה.</a:t>
            </a:r>
          </a:p>
        </p:txBody>
      </p:sp>
      <p:sp>
        <p:nvSpPr>
          <p:cNvPr id="16" name="TextBox 15"/>
          <p:cNvSpPr txBox="1"/>
          <p:nvPr/>
        </p:nvSpPr>
        <p:spPr>
          <a:xfrm>
            <a:off x="731520" y="5047488"/>
            <a:ext cx="7040880" cy="502920"/>
          </a:xfrm>
          <a:prstGeom prst="rect">
            <a:avLst/>
          </a:prstGeom>
          <a:noFill/>
        </p:spPr>
        <p:txBody>
          <a:bodyPr wrap="square" anchor="t" lIns="0" rIns="0" tIns="0" bIns="0">
            <a:spAutoFit/>
          </a:bodyPr>
          <a:lstStyle/>
          <a:p>
            <a:pPr algn="r" rtl="1"/>
            <a:r>
              <a:rPr sz="900" b="0">
                <a:solidFill>
                  <a:srgbClr val="5B21B6"/>
                </a:solidFill>
                <a:latin typeface="Calibri"/>
              </a:rPr>
              <a:t>שאלי את עצמך: איך היית מיישמת את העיקרון הזה במקרה קליני אמיתי?</a:t>
            </a:r>
          </a:p>
        </p:txBody>
      </p:sp>
      <p:sp>
        <p:nvSpPr>
          <p:cNvPr id="17" name="TextBox 16"/>
          <p:cNvSpPr txBox="1"/>
          <p:nvPr/>
        </p:nvSpPr>
        <p:spPr>
          <a:xfrm>
            <a:off x="8138160" y="1554480"/>
            <a:ext cx="3474720" cy="320040"/>
          </a:xfrm>
          <a:prstGeom prst="rect">
            <a:avLst/>
          </a:prstGeom>
          <a:noFill/>
        </p:spPr>
        <p:txBody>
          <a:bodyPr wrap="square" anchor="ctr" lIns="0" rIns="0" tIns="0" bIns="0">
            <a:spAutoFit/>
          </a:bodyPr>
          <a:lstStyle/>
          <a:p>
            <a:pPr algn="r" rtl="1"/>
            <a:r>
              <a:rPr sz="1250" b="1">
                <a:solidFill>
                  <a:srgbClr val="6B7280"/>
                </a:solidFill>
                <a:latin typeface="Calibri"/>
              </a:rPr>
              <a:t>מה קורה בפועל:</a:t>
            </a:r>
          </a:p>
        </p:txBody>
      </p:sp>
      <p:sp>
        <p:nvSpPr>
          <p:cNvPr id="18" name="Rounded Rectangle 17"/>
          <p:cNvSpPr/>
          <p:nvPr/>
        </p:nvSpPr>
        <p:spPr>
          <a:xfrm>
            <a:off x="8138160" y="1920240"/>
            <a:ext cx="3474720" cy="777240"/>
          </a:xfrm>
          <a:prstGeom prst="roundRect">
            <a:avLst/>
          </a:prstGeom>
          <a:solidFill>
            <a:srgbClr val="B91C1C"/>
          </a:solidFill>
          <a:ln w="1587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292840" y="2176272"/>
            <a:ext cx="256032" cy="256032"/>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97510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עין/עצב ראייה: חסר מונוקולרי + RAPD</a:t>
            </a:r>
          </a:p>
        </p:txBody>
      </p:sp>
      <p:sp>
        <p:nvSpPr>
          <p:cNvPr id="21" name="Rounded Rectangle 20"/>
          <p:cNvSpPr/>
          <p:nvPr/>
        </p:nvSpPr>
        <p:spPr>
          <a:xfrm>
            <a:off x="8138160" y="2788920"/>
            <a:ext cx="3474720" cy="777240"/>
          </a:xfrm>
          <a:prstGeom prst="roundRect">
            <a:avLst/>
          </a:prstGeom>
          <a:solidFill>
            <a:srgbClr val="B45309"/>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292840" y="3044952"/>
            <a:ext cx="256032" cy="25603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284378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כיאזמה: המיאנופיה בי-טמפורלית (סיבים חוצים)</a:t>
            </a:r>
          </a:p>
        </p:txBody>
      </p:sp>
      <p:sp>
        <p:nvSpPr>
          <p:cNvPr id="24" name="Rounded Rectangle 23"/>
          <p:cNvSpPr/>
          <p:nvPr/>
        </p:nvSpPr>
        <p:spPr>
          <a:xfrm>
            <a:off x="8138160" y="3657600"/>
            <a:ext cx="3474720" cy="777240"/>
          </a:xfrm>
          <a:prstGeom prst="roundRect">
            <a:avLst/>
          </a:prstGeom>
          <a:solidFill>
            <a:srgbClr val="1C7293"/>
          </a:solidFill>
          <a:ln w="15875">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292840" y="3913632"/>
            <a:ext cx="256032" cy="25603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20" y="371246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רטרוכיאזמלי: הומונימית, קונגרואנטיות↑ לכיוון קורטקס</a:t>
            </a:r>
          </a:p>
        </p:txBody>
      </p:sp>
      <p:sp>
        <p:nvSpPr>
          <p:cNvPr id="27" name="TextBox 26"/>
          <p:cNvSpPr txBox="1"/>
          <p:nvPr/>
        </p:nvSpPr>
        <p:spPr>
          <a:xfrm>
            <a:off x="548640" y="6446520"/>
            <a:ext cx="11064240" cy="320040"/>
          </a:xfrm>
          <a:prstGeom prst="rect">
            <a:avLst/>
          </a:prstGeom>
          <a:noFill/>
        </p:spPr>
        <p:txBody>
          <a:bodyPr wrap="square" anchor="ctr" lIns="0" rIns="0" tIns="0" bIns="0">
            <a:spAutoFit/>
          </a:bodyPr>
          <a:lstStyle/>
          <a:p>
            <a:pPr algn="ctr" rtl="1"/>
            <a:r>
              <a:rPr sz="900" b="0">
                <a:solidFill>
                  <a:srgbClr val="9CA3AF"/>
                </a:solidFill>
                <a:latin typeface="Calibri"/>
              </a:rPr>
              <a:t>מצגת סטטית — ללא ניקוד חי. לתרגול עם סטטיסטיקה בזמן אמת, השתמשו באתר הכרטיסיות המקוון.</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65760"/>
            <a:ext cx="310896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65760"/>
            <a:ext cx="3108960" cy="384048"/>
          </a:xfrm>
          <a:prstGeom prst="rect">
            <a:avLst/>
          </a:prstGeom>
          <a:noFill/>
        </p:spPr>
        <p:txBody>
          <a:bodyPr wrap="square" anchor="ctr" lIns="0" rIns="0" tIns="0" bIns="0">
            <a:spAutoFit/>
          </a:bodyPr>
          <a:lstStyle/>
          <a:p>
            <a:pPr algn="ctr" rtl="1"/>
            <a:r>
              <a:rPr sz="1250" b="1">
                <a:solidFill>
                  <a:srgbClr val="FFFFFF"/>
                </a:solidFill>
                <a:latin typeface="Calibri"/>
              </a:rPr>
              <a:t>לולאת מאייר</a:t>
            </a:r>
          </a:p>
        </p:txBody>
      </p:sp>
      <p:sp>
        <p:nvSpPr>
          <p:cNvPr id="6" name="TextBox 5"/>
          <p:cNvSpPr txBox="1"/>
          <p:nvPr/>
        </p:nvSpPr>
        <p:spPr>
          <a:xfrm>
            <a:off x="8531352" y="365760"/>
            <a:ext cx="3108960" cy="384048"/>
          </a:xfrm>
          <a:prstGeom prst="rect">
            <a:avLst/>
          </a:prstGeom>
          <a:noFill/>
        </p:spPr>
        <p:txBody>
          <a:bodyPr wrap="square" anchor="ctr" lIns="0" rIns="0" tIns="0" bIns="0">
            <a:spAutoFit/>
          </a:bodyPr>
          <a:lstStyle/>
          <a:p>
            <a:pPr algn="l" rtl="1"/>
            <a:r>
              <a:rPr sz="1200" b="0">
                <a:solidFill>
                  <a:srgbClr val="9CA3AF"/>
                </a:solidFill>
                <a:latin typeface="Calibri"/>
              </a:rPr>
              <a:t>כרטיסייה 2 מתוך 8</a:t>
            </a:r>
          </a:p>
        </p:txBody>
      </p:sp>
      <p:sp>
        <p:nvSpPr>
          <p:cNvPr id="7" name="TextBox 6"/>
          <p:cNvSpPr txBox="1"/>
          <p:nvPr/>
        </p:nvSpPr>
        <p:spPr>
          <a:xfrm>
            <a:off x="548640" y="1005840"/>
            <a:ext cx="11064240" cy="1463040"/>
          </a:xfrm>
          <a:prstGeom prst="rect">
            <a:avLst/>
          </a:prstGeom>
          <a:noFill/>
        </p:spPr>
        <p:txBody>
          <a:bodyPr wrap="square" anchor="t" lIns="0" rIns="0" tIns="0" bIns="0">
            <a:spAutoFit/>
          </a:bodyPr>
          <a:lstStyle/>
          <a:p>
            <a:pPr algn="r" rtl="1"/>
            <a:r>
              <a:rPr sz="2000" b="1">
                <a:solidFill>
                  <a:srgbClr val="1F2937"/>
                </a:solidFill>
                <a:latin typeface="Calibri"/>
              </a:rPr>
              <a:t>מטופל עבר כריתת אונה טמפורלית לאפילפסיה. איזה פגם בשדה הראייה צפוי, ומה המנגנון האנטומי?</a:t>
            </a:r>
          </a:p>
        </p:txBody>
      </p:sp>
      <p:sp>
        <p:nvSpPr>
          <p:cNvPr id="8" name="Rounded Rectangle 7"/>
          <p:cNvSpPr/>
          <p:nvPr/>
        </p:nvSpPr>
        <p:spPr>
          <a:xfrm>
            <a:off x="548640" y="2651760"/>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744200" y="2852928"/>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44200" y="2852928"/>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א</a:t>
            </a:r>
          </a:p>
        </p:txBody>
      </p:sp>
      <p:sp>
        <p:nvSpPr>
          <p:cNvPr id="11" name="TextBox 10"/>
          <p:cNvSpPr txBox="1"/>
          <p:nvPr/>
        </p:nvSpPr>
        <p:spPr>
          <a:xfrm>
            <a:off x="822960" y="2651760"/>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המיאנופיה הומונימית תחתונה - כי לולאת מאייר נמצאת באונה הפריאטלית</a:t>
            </a:r>
          </a:p>
        </p:txBody>
      </p:sp>
      <p:sp>
        <p:nvSpPr>
          <p:cNvPr id="12" name="Rounded Rectangle 11"/>
          <p:cNvSpPr/>
          <p:nvPr/>
        </p:nvSpPr>
        <p:spPr>
          <a:xfrm>
            <a:off x="548640" y="3584448"/>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44200" y="3785616"/>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44200" y="3785616"/>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ב</a:t>
            </a:r>
          </a:p>
        </p:txBody>
      </p:sp>
      <p:sp>
        <p:nvSpPr>
          <p:cNvPr id="15" name="TextBox 14"/>
          <p:cNvSpPr txBox="1"/>
          <p:nvPr/>
        </p:nvSpPr>
        <p:spPr>
          <a:xfrm>
            <a:off x="822960" y="3584448"/>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קוואדרנטנופיה הומונימית עליונה נגדית - סיבים מהרשתית התחתונה (המשרתים את השדה העליון) מסתובבים 180° לתוך האונה הטמפורלית (לולאת מאייר) לפני שהם פונים לקורטקס העורפי התחתון</a:t>
            </a:r>
          </a:p>
        </p:txBody>
      </p:sp>
      <p:sp>
        <p:nvSpPr>
          <p:cNvPr id="16" name="Rounded Rectangle 15"/>
          <p:cNvSpPr/>
          <p:nvPr/>
        </p:nvSpPr>
        <p:spPr>
          <a:xfrm>
            <a:off x="548640" y="4517136"/>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744200" y="4718304"/>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44200" y="4718304"/>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ג</a:t>
            </a:r>
          </a:p>
        </p:txBody>
      </p:sp>
      <p:sp>
        <p:nvSpPr>
          <p:cNvPr id="19" name="TextBox 18"/>
          <p:cNvSpPr txBox="1"/>
          <p:nvPr/>
        </p:nvSpPr>
        <p:spPr>
          <a:xfrm>
            <a:off x="822960" y="4517136"/>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חסר מונוקולרי בעין אחת בלבד</a:t>
            </a:r>
          </a:p>
        </p:txBody>
      </p:sp>
      <p:sp>
        <p:nvSpPr>
          <p:cNvPr id="20" name="Rounded Rectangle 19"/>
          <p:cNvSpPr/>
          <p:nvPr/>
        </p:nvSpPr>
        <p:spPr>
          <a:xfrm>
            <a:off x="548640" y="5449824"/>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744200" y="5650992"/>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44200" y="5650992"/>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ד</a:t>
            </a:r>
          </a:p>
        </p:txBody>
      </p:sp>
      <p:sp>
        <p:nvSpPr>
          <p:cNvPr id="23" name="TextBox 22"/>
          <p:cNvSpPr txBox="1"/>
          <p:nvPr/>
        </p:nvSpPr>
        <p:spPr>
          <a:xfrm>
            <a:off x="822960" y="5449824"/>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אין כל פגם בשדה הראייה מכריתה טמפורלית</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20040"/>
            <a:ext cx="3108960" cy="3657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
            <a:ext cx="3108960" cy="365760"/>
          </a:xfrm>
          <a:prstGeom prst="rect">
            <a:avLst/>
          </a:prstGeom>
          <a:noFill/>
        </p:spPr>
        <p:txBody>
          <a:bodyPr wrap="square" anchor="ctr" lIns="0" rIns="0" tIns="0" bIns="0">
            <a:spAutoFit/>
          </a:bodyPr>
          <a:lstStyle/>
          <a:p>
            <a:pPr algn="ctr" rtl="1"/>
            <a:r>
              <a:rPr sz="1200" b="1">
                <a:solidFill>
                  <a:srgbClr val="FFFFFF"/>
                </a:solidFill>
                <a:latin typeface="Calibri"/>
              </a:rPr>
              <a:t>לולאת מאייר</a:t>
            </a:r>
          </a:p>
        </p:txBody>
      </p:sp>
      <p:sp>
        <p:nvSpPr>
          <p:cNvPr id="6" name="TextBox 5"/>
          <p:cNvSpPr txBox="1"/>
          <p:nvPr/>
        </p:nvSpPr>
        <p:spPr>
          <a:xfrm>
            <a:off x="548640" y="777240"/>
            <a:ext cx="11064240" cy="640080"/>
          </a:xfrm>
          <a:prstGeom prst="rect">
            <a:avLst/>
          </a:prstGeom>
          <a:noFill/>
        </p:spPr>
        <p:txBody>
          <a:bodyPr wrap="square" anchor="t" lIns="0" rIns="0" tIns="0" bIns="0">
            <a:spAutoFit/>
          </a:bodyPr>
          <a:lstStyle/>
          <a:p>
            <a:pPr algn="r" rtl="1"/>
            <a:r>
              <a:rPr sz="1400" b="1">
                <a:solidFill>
                  <a:srgbClr val="15803D"/>
                </a:solidFill>
                <a:latin typeface="Calibri"/>
              </a:rPr>
              <a:t>התשובה הנכונה: ב) קוואדרנטנופיה הומונימית עליונה נגדית - סיבים מהרשתית התחתונה (המשרתים את השדה העליון) מסתובבים 180° לתוך האונה הטמפורלית (לולאת מאייר) לפני שהם פונים לקורטקס העורפי התחתון</a:t>
            </a:r>
          </a:p>
        </p:txBody>
      </p:sp>
      <p:sp>
        <p:nvSpPr>
          <p:cNvPr id="7" name="Rounded Rectangle 6"/>
          <p:cNvSpPr/>
          <p:nvPr/>
        </p:nvSpPr>
        <p:spPr>
          <a:xfrm>
            <a:off x="548640" y="1554480"/>
            <a:ext cx="7406640" cy="1417320"/>
          </a:xfrm>
          <a:prstGeom prst="roundRect">
            <a:avLst/>
          </a:prstGeom>
          <a:solidFill>
            <a:srgbClr val="F8FAFC"/>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27632"/>
            <a:ext cx="7040880" cy="274320"/>
          </a:xfrm>
          <a:prstGeom prst="rect">
            <a:avLst/>
          </a:prstGeom>
          <a:noFill/>
        </p:spPr>
        <p:txBody>
          <a:bodyPr wrap="square" anchor="ctr" lIns="0" rIns="0" tIns="0" bIns="0">
            <a:spAutoFit/>
          </a:bodyPr>
          <a:lstStyle/>
          <a:p>
            <a:pPr algn="r" rtl="1"/>
            <a:r>
              <a:rPr sz="1200" b="1">
                <a:solidFill>
                  <a:srgbClr val="6B7280"/>
                </a:solidFill>
                <a:latin typeface="Calibri"/>
              </a:rPr>
              <a:t>הסבר:</a:t>
            </a:r>
          </a:p>
        </p:txBody>
      </p:sp>
      <p:sp>
        <p:nvSpPr>
          <p:cNvPr id="9" name="TextBox 8"/>
          <p:cNvSpPr txBox="1"/>
          <p:nvPr/>
        </p:nvSpPr>
        <p:spPr>
          <a:xfrm>
            <a:off x="731520" y="1901952"/>
            <a:ext cx="7040880" cy="1005840"/>
          </a:xfrm>
          <a:prstGeom prst="rect">
            <a:avLst/>
          </a:prstGeom>
          <a:noFill/>
        </p:spPr>
        <p:txBody>
          <a:bodyPr wrap="square" anchor="t" lIns="0" rIns="0" tIns="0" bIns="0">
            <a:spAutoFit/>
          </a:bodyPr>
          <a:lstStyle/>
          <a:p>
            <a:pPr algn="r" rtl="1"/>
            <a:r>
              <a:rPr sz="1000" b="0">
                <a:solidFill>
                  <a:srgbClr val="1F2937"/>
                </a:solidFill>
                <a:latin typeface="Calibri"/>
              </a:rPr>
              <a:t>התשובה הנכונה (2): הסיבים מהרשתית התחתונה (ששרתים את השדה העליון) מסתובבים קדימה 180° לתוך האונה הטמפורלית (לולאת מאייר, Meyer loop) לפני שהם פונים לקורטקס העורפי התחתון. לכן נגע באונה הטמפורלית פוגע בשדה העליון הנגדי - קוואדרנטנופיה הומונימית עליונה. בניגוד לכך, נגע באונה הפריאטלית (שם עוברים הסיבים לשדה התחתון) פוגע בשדה התחתון הנגדי - קוואדרנטנופיה תחתונה.</a:t>
            </a:r>
          </a:p>
        </p:txBody>
      </p:sp>
      <p:sp>
        <p:nvSpPr>
          <p:cNvPr id="10" name="Rounded Rectangle 9"/>
          <p:cNvSpPr/>
          <p:nvPr/>
        </p:nvSpPr>
        <p:spPr>
          <a:xfrm>
            <a:off x="548640" y="3108960"/>
            <a:ext cx="7406640" cy="914400"/>
          </a:xfrm>
          <a:prstGeom prst="roundRect">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182112"/>
            <a:ext cx="7040880" cy="274320"/>
          </a:xfrm>
          <a:prstGeom prst="rect">
            <a:avLst/>
          </a:prstGeom>
          <a:noFill/>
        </p:spPr>
        <p:txBody>
          <a:bodyPr wrap="square" anchor="ctr" lIns="0" rIns="0" tIns="0" bIns="0">
            <a:spAutoFit/>
          </a:bodyPr>
          <a:lstStyle/>
          <a:p>
            <a:pPr algn="r" rtl="1"/>
            <a:r>
              <a:rPr sz="1150" b="1">
                <a:solidFill>
                  <a:srgbClr val="1E3A8A"/>
                </a:solidFill>
                <a:latin typeface="Calibri"/>
              </a:rPr>
              <a:t>מונח: לולאת מאייר (Meyer loop)</a:t>
            </a:r>
          </a:p>
        </p:txBody>
      </p:sp>
      <p:sp>
        <p:nvSpPr>
          <p:cNvPr id="12" name="TextBox 11"/>
          <p:cNvSpPr txBox="1"/>
          <p:nvPr/>
        </p:nvSpPr>
        <p:spPr>
          <a:xfrm>
            <a:off x="731520" y="3474720"/>
            <a:ext cx="7040880" cy="502920"/>
          </a:xfrm>
          <a:prstGeom prst="rect">
            <a:avLst/>
          </a:prstGeom>
          <a:noFill/>
        </p:spPr>
        <p:txBody>
          <a:bodyPr wrap="square" anchor="t" lIns="0" rIns="0" tIns="0" bIns="0">
            <a:spAutoFit/>
          </a:bodyPr>
          <a:lstStyle/>
          <a:p>
            <a:pPr algn="r" rtl="1"/>
            <a:r>
              <a:rPr sz="950" b="0">
                <a:solidFill>
                  <a:srgbClr val="1E3A8A"/>
                </a:solidFill>
                <a:latin typeface="Calibri"/>
              </a:rPr>
              <a:t>מקטע מהקרינות האופטיות שמסתובב קדימה לתוך האונה הטמפורלית לפני שהוא פונה לקורטקס העורפי - נושא סיבים מהרשתית התחתונה (שדה עליון).</a:t>
            </a:r>
          </a:p>
        </p:txBody>
      </p:sp>
      <p:sp>
        <p:nvSpPr>
          <p:cNvPr id="13" name="Rounded Rectangle 12"/>
          <p:cNvSpPr/>
          <p:nvPr/>
        </p:nvSpPr>
        <p:spPr>
          <a:xfrm>
            <a:off x="548640" y="4160520"/>
            <a:ext cx="7406640" cy="1417320"/>
          </a:xfrm>
          <a:prstGeom prst="roundRect">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233672"/>
            <a:ext cx="7040880" cy="274320"/>
          </a:xfrm>
          <a:prstGeom prst="rect">
            <a:avLst/>
          </a:prstGeom>
          <a:noFill/>
        </p:spPr>
        <p:txBody>
          <a:bodyPr wrap="square" anchor="ctr" lIns="0" rIns="0" tIns="0" bIns="0">
            <a:spAutoFit/>
          </a:bodyPr>
          <a:lstStyle/>
          <a:p>
            <a:pPr algn="r" rtl="1"/>
            <a:r>
              <a:rPr sz="1150" b="1">
                <a:solidFill>
                  <a:srgbClr val="5B21B6"/>
                </a:solidFill>
                <a:latin typeface="Calibri"/>
              </a:rPr>
              <a:t>סיפור לזכירה</a:t>
            </a:r>
          </a:p>
        </p:txBody>
      </p:sp>
      <p:sp>
        <p:nvSpPr>
          <p:cNvPr id="15" name="TextBox 14"/>
          <p:cNvSpPr txBox="1"/>
          <p:nvPr/>
        </p:nvSpPr>
        <p:spPr>
          <a:xfrm>
            <a:off x="731520" y="4526280"/>
            <a:ext cx="7040880" cy="502920"/>
          </a:xfrm>
          <a:prstGeom prst="rect">
            <a:avLst/>
          </a:prstGeom>
          <a:noFill/>
        </p:spPr>
        <p:txBody>
          <a:bodyPr wrap="square" anchor="t" lIns="0" rIns="0" tIns="0" bIns="0">
            <a:spAutoFit/>
          </a:bodyPr>
          <a:lstStyle/>
          <a:p>
            <a:pPr algn="r" rtl="1"/>
            <a:r>
              <a:rPr sz="950" b="0">
                <a:solidFill>
                  <a:srgbClr val="4C1D95"/>
                </a:solidFill>
                <a:latin typeface="Calibri"/>
              </a:rPr>
              <a:t>דמייני כביש מהיר שרוב נהגיו נוסעים ישר לעבר היעד (הקורטקס העורפי), אבל חלק מהם עושים עיקוף מוזר של 180 מעלות דרך שכונה צדדית (האונה הטמפורלית) לפני שהם חוזרים לכביש הראשי - אם סוגרים את השכונה הזו (כריתה), רק הנהגים שעברו בה (סיבי השדה העליון) נתקעים.</a:t>
            </a:r>
          </a:p>
        </p:txBody>
      </p:sp>
      <p:sp>
        <p:nvSpPr>
          <p:cNvPr id="16" name="TextBox 15"/>
          <p:cNvSpPr txBox="1"/>
          <p:nvPr/>
        </p:nvSpPr>
        <p:spPr>
          <a:xfrm>
            <a:off x="731520" y="5047488"/>
            <a:ext cx="7040880" cy="502920"/>
          </a:xfrm>
          <a:prstGeom prst="rect">
            <a:avLst/>
          </a:prstGeom>
          <a:noFill/>
        </p:spPr>
        <p:txBody>
          <a:bodyPr wrap="square" anchor="t" lIns="0" rIns="0" tIns="0" bIns="0">
            <a:spAutoFit/>
          </a:bodyPr>
          <a:lstStyle/>
          <a:p>
            <a:pPr algn="r" rtl="1"/>
            <a:r>
              <a:rPr sz="900" b="0">
                <a:solidFill>
                  <a:srgbClr val="5B21B6"/>
                </a:solidFill>
                <a:latin typeface="Calibri"/>
              </a:rPr>
              <a:t>שאלי את עצמך: איך היית מיישמת את העיקרון הזה במקרה קליני אמיתי?</a:t>
            </a:r>
          </a:p>
        </p:txBody>
      </p:sp>
      <p:sp>
        <p:nvSpPr>
          <p:cNvPr id="17" name="TextBox 16"/>
          <p:cNvSpPr txBox="1"/>
          <p:nvPr/>
        </p:nvSpPr>
        <p:spPr>
          <a:xfrm>
            <a:off x="8138160" y="1554480"/>
            <a:ext cx="3474720" cy="320040"/>
          </a:xfrm>
          <a:prstGeom prst="rect">
            <a:avLst/>
          </a:prstGeom>
          <a:noFill/>
        </p:spPr>
        <p:txBody>
          <a:bodyPr wrap="square" anchor="ctr" lIns="0" rIns="0" tIns="0" bIns="0">
            <a:spAutoFit/>
          </a:bodyPr>
          <a:lstStyle/>
          <a:p>
            <a:pPr algn="r" rtl="1"/>
            <a:r>
              <a:rPr sz="1250" b="1">
                <a:solidFill>
                  <a:srgbClr val="6B7280"/>
                </a:solidFill>
                <a:latin typeface="Calibri"/>
              </a:rPr>
              <a:t>מה קורה בפועל:</a:t>
            </a:r>
          </a:p>
        </p:txBody>
      </p:sp>
      <p:sp>
        <p:nvSpPr>
          <p:cNvPr id="18" name="Rounded Rectangle 17"/>
          <p:cNvSpPr/>
          <p:nvPr/>
        </p:nvSpPr>
        <p:spPr>
          <a:xfrm>
            <a:off x="8138160" y="1920240"/>
            <a:ext cx="3474720" cy="777240"/>
          </a:xfrm>
          <a:prstGeom prst="roundRect">
            <a:avLst/>
          </a:prstGeom>
          <a:solidFill>
            <a:srgbClr val="B91C1C"/>
          </a:solidFill>
          <a:ln w="1587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292840" y="2176272"/>
            <a:ext cx="256032" cy="256032"/>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97510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סיבי רשתית תחתונה = שדה עליון</a:t>
            </a:r>
          </a:p>
        </p:txBody>
      </p:sp>
      <p:sp>
        <p:nvSpPr>
          <p:cNvPr id="21" name="Rounded Rectangle 20"/>
          <p:cNvSpPr/>
          <p:nvPr/>
        </p:nvSpPr>
        <p:spPr>
          <a:xfrm>
            <a:off x="8138160" y="2788920"/>
            <a:ext cx="3474720" cy="777240"/>
          </a:xfrm>
          <a:prstGeom prst="roundRect">
            <a:avLst/>
          </a:prstGeom>
          <a:solidFill>
            <a:srgbClr val="B45309"/>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292840" y="3044952"/>
            <a:ext cx="256032" cy="25603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284378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מסתובבים 180° בלולאת מאייר באונה הטמפורלית</a:t>
            </a:r>
          </a:p>
        </p:txBody>
      </p:sp>
      <p:sp>
        <p:nvSpPr>
          <p:cNvPr id="24" name="Rounded Rectangle 23"/>
          <p:cNvSpPr/>
          <p:nvPr/>
        </p:nvSpPr>
        <p:spPr>
          <a:xfrm>
            <a:off x="8138160" y="3657600"/>
            <a:ext cx="3474720" cy="777240"/>
          </a:xfrm>
          <a:prstGeom prst="roundRect">
            <a:avLst/>
          </a:prstGeom>
          <a:solidFill>
            <a:srgbClr val="1C7293"/>
          </a:solidFill>
          <a:ln w="15875">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292840" y="3913632"/>
            <a:ext cx="256032" cy="25603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20" y="371246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נגע טמפורלי → קוואדרנטנופיה עליונה נגדית</a:t>
            </a:r>
          </a:p>
        </p:txBody>
      </p:sp>
      <p:sp>
        <p:nvSpPr>
          <p:cNvPr id="27" name="TextBox 26"/>
          <p:cNvSpPr txBox="1"/>
          <p:nvPr/>
        </p:nvSpPr>
        <p:spPr>
          <a:xfrm>
            <a:off x="548640" y="6446520"/>
            <a:ext cx="11064240" cy="320040"/>
          </a:xfrm>
          <a:prstGeom prst="rect">
            <a:avLst/>
          </a:prstGeom>
          <a:noFill/>
        </p:spPr>
        <p:txBody>
          <a:bodyPr wrap="square" anchor="ctr" lIns="0" rIns="0" tIns="0" bIns="0">
            <a:spAutoFit/>
          </a:bodyPr>
          <a:lstStyle/>
          <a:p>
            <a:pPr algn="ctr" rtl="1"/>
            <a:r>
              <a:rPr sz="900" b="0">
                <a:solidFill>
                  <a:srgbClr val="9CA3AF"/>
                </a:solidFill>
                <a:latin typeface="Calibri"/>
              </a:rPr>
              <a:t>מצגת סטטית — ללא ניקוד חי. לתרגול עם סטטיסטיקה בזמן אמת, השתמשו באתר הכרטיסיות המקוון.</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65760"/>
            <a:ext cx="310896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65760"/>
            <a:ext cx="3108960" cy="384048"/>
          </a:xfrm>
          <a:prstGeom prst="rect">
            <a:avLst/>
          </a:prstGeom>
          <a:noFill/>
        </p:spPr>
        <p:txBody>
          <a:bodyPr wrap="square" anchor="ctr" lIns="0" rIns="0" tIns="0" bIns="0">
            <a:spAutoFit/>
          </a:bodyPr>
          <a:lstStyle/>
          <a:p>
            <a:pPr algn="ctr" rtl="1"/>
            <a:r>
              <a:rPr sz="1250" b="1">
                <a:solidFill>
                  <a:srgbClr val="FFFFFF"/>
                </a:solidFill>
                <a:latin typeface="Calibri"/>
              </a:rPr>
              <a:t>RAPD</a:t>
            </a:r>
          </a:p>
        </p:txBody>
      </p:sp>
      <p:sp>
        <p:nvSpPr>
          <p:cNvPr id="6" name="TextBox 5"/>
          <p:cNvSpPr txBox="1"/>
          <p:nvPr/>
        </p:nvSpPr>
        <p:spPr>
          <a:xfrm>
            <a:off x="8531352" y="365760"/>
            <a:ext cx="3108960" cy="384048"/>
          </a:xfrm>
          <a:prstGeom prst="rect">
            <a:avLst/>
          </a:prstGeom>
          <a:noFill/>
        </p:spPr>
        <p:txBody>
          <a:bodyPr wrap="square" anchor="ctr" lIns="0" rIns="0" tIns="0" bIns="0">
            <a:spAutoFit/>
          </a:bodyPr>
          <a:lstStyle/>
          <a:p>
            <a:pPr algn="l" rtl="1"/>
            <a:r>
              <a:rPr sz="1200" b="0">
                <a:solidFill>
                  <a:srgbClr val="9CA3AF"/>
                </a:solidFill>
                <a:latin typeface="Calibri"/>
              </a:rPr>
              <a:t>כרטיסייה 3 מתוך 8</a:t>
            </a:r>
          </a:p>
        </p:txBody>
      </p:sp>
      <p:sp>
        <p:nvSpPr>
          <p:cNvPr id="7" name="TextBox 6"/>
          <p:cNvSpPr txBox="1"/>
          <p:nvPr/>
        </p:nvSpPr>
        <p:spPr>
          <a:xfrm>
            <a:off x="548640" y="1005840"/>
            <a:ext cx="11064240" cy="1463040"/>
          </a:xfrm>
          <a:prstGeom prst="rect">
            <a:avLst/>
          </a:prstGeom>
          <a:noFill/>
        </p:spPr>
        <p:txBody>
          <a:bodyPr wrap="square" anchor="t" lIns="0" rIns="0" tIns="0" bIns="0">
            <a:spAutoFit/>
          </a:bodyPr>
          <a:lstStyle/>
          <a:p>
            <a:pPr algn="r" rtl="1"/>
            <a:r>
              <a:rPr sz="2000" b="1">
                <a:solidFill>
                  <a:srgbClr val="1F2937"/>
                </a:solidFill>
                <a:latin typeface="Calibri"/>
              </a:rPr>
              <a:t>מהו RAPD (Relative Afferent Pupillary Defect), ומדוע הוא לעולם לא גורם לאניסוקוריה (אי-שוויון בגודל האישונים)?</a:t>
            </a:r>
          </a:p>
        </p:txBody>
      </p:sp>
      <p:sp>
        <p:nvSpPr>
          <p:cNvPr id="8" name="Rounded Rectangle 7"/>
          <p:cNvSpPr/>
          <p:nvPr/>
        </p:nvSpPr>
        <p:spPr>
          <a:xfrm>
            <a:off x="548640" y="2651760"/>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744200" y="2852928"/>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44200" y="2852928"/>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א</a:t>
            </a:r>
          </a:p>
        </p:txBody>
      </p:sp>
      <p:sp>
        <p:nvSpPr>
          <p:cNvPr id="11" name="TextBox 10"/>
          <p:cNvSpPr txBox="1"/>
          <p:nvPr/>
        </p:nvSpPr>
        <p:spPr>
          <a:xfrm>
            <a:off x="822960" y="2651760"/>
            <a:ext cx="9784080" cy="777240"/>
          </a:xfrm>
          <a:prstGeom prst="rect">
            <a:avLst/>
          </a:prstGeom>
          <a:noFill/>
        </p:spPr>
        <p:txBody>
          <a:bodyPr wrap="square" anchor="ctr" lIns="0" rIns="0" tIns="0" bIns="0">
            <a:spAutoFit/>
          </a:bodyPr>
          <a:lstStyle/>
          <a:p>
            <a:pPr algn="r" rtl="1"/>
            <a:r>
              <a:rPr sz="1350" b="0">
                <a:solidFill>
                  <a:srgbClr val="1F2937"/>
                </a:solidFill>
                <a:latin typeface="Calibri"/>
              </a:rPr>
              <a:t>RAPD הוא ממצא בבדיקת האור המתנדנד (עין אחת רואה פחות אור, אישונה מתרחב כשהאור מגיע אליה) שמשקף פגיעה במסלול האפרנטי (עצב ראייה); הוא לא גורם לאניסוקוריה כי התגובה האפרנטית המוחלשת משפיעה באופן שווה על שני האישונים (הקשר הקונסנסואלי נשאר שלם) - ההבדל מתבטא רק בהשוואה בין עין לעין בבדיקה דינמית, לא בגודל הסטטי</a:t>
            </a:r>
          </a:p>
        </p:txBody>
      </p:sp>
      <p:sp>
        <p:nvSpPr>
          <p:cNvPr id="12" name="Rounded Rectangle 11"/>
          <p:cNvSpPr/>
          <p:nvPr/>
        </p:nvSpPr>
        <p:spPr>
          <a:xfrm>
            <a:off x="548640" y="3584448"/>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44200" y="3785616"/>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44200" y="3785616"/>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ב</a:t>
            </a:r>
          </a:p>
        </p:txBody>
      </p:sp>
      <p:sp>
        <p:nvSpPr>
          <p:cNvPr id="15" name="TextBox 14"/>
          <p:cNvSpPr txBox="1"/>
          <p:nvPr/>
        </p:nvSpPr>
        <p:spPr>
          <a:xfrm>
            <a:off x="822960" y="3584448"/>
            <a:ext cx="9784080" cy="777240"/>
          </a:xfrm>
          <a:prstGeom prst="rect">
            <a:avLst/>
          </a:prstGeom>
          <a:noFill/>
        </p:spPr>
        <p:txBody>
          <a:bodyPr wrap="square" anchor="ctr" lIns="0" rIns="0" tIns="0" bIns="0">
            <a:spAutoFit/>
          </a:bodyPr>
          <a:lstStyle/>
          <a:p>
            <a:pPr algn="r" rtl="1"/>
            <a:r>
              <a:rPr sz="1350" b="0">
                <a:solidFill>
                  <a:srgbClr val="1F2937"/>
                </a:solidFill>
                <a:latin typeface="Calibri"/>
              </a:rPr>
              <a:t>RAPD גורם תמיד לאניסוקוריה בולטת</a:t>
            </a:r>
          </a:p>
        </p:txBody>
      </p:sp>
      <p:sp>
        <p:nvSpPr>
          <p:cNvPr id="16" name="Rounded Rectangle 15"/>
          <p:cNvSpPr/>
          <p:nvPr/>
        </p:nvSpPr>
        <p:spPr>
          <a:xfrm>
            <a:off x="548640" y="4517136"/>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744200" y="4718304"/>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44200" y="4718304"/>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ג</a:t>
            </a:r>
          </a:p>
        </p:txBody>
      </p:sp>
      <p:sp>
        <p:nvSpPr>
          <p:cNvPr id="19" name="TextBox 18"/>
          <p:cNvSpPr txBox="1"/>
          <p:nvPr/>
        </p:nvSpPr>
        <p:spPr>
          <a:xfrm>
            <a:off x="822960" y="4517136"/>
            <a:ext cx="9784080" cy="777240"/>
          </a:xfrm>
          <a:prstGeom prst="rect">
            <a:avLst/>
          </a:prstGeom>
          <a:noFill/>
        </p:spPr>
        <p:txBody>
          <a:bodyPr wrap="square" anchor="ctr" lIns="0" rIns="0" tIns="0" bIns="0">
            <a:spAutoFit/>
          </a:bodyPr>
          <a:lstStyle/>
          <a:p>
            <a:pPr algn="r" rtl="1"/>
            <a:r>
              <a:rPr sz="1350" b="0">
                <a:solidFill>
                  <a:srgbClr val="1F2937"/>
                </a:solidFill>
                <a:latin typeface="Calibri"/>
              </a:rPr>
              <a:t>RAPD הוא פגם בעצבים האפרנטיים (III, IV, VI) ולא בעצב הראייה</a:t>
            </a:r>
          </a:p>
        </p:txBody>
      </p:sp>
      <p:sp>
        <p:nvSpPr>
          <p:cNvPr id="20" name="Rounded Rectangle 19"/>
          <p:cNvSpPr/>
          <p:nvPr/>
        </p:nvSpPr>
        <p:spPr>
          <a:xfrm>
            <a:off x="548640" y="5449824"/>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744200" y="5650992"/>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44200" y="5650992"/>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ד</a:t>
            </a:r>
          </a:p>
        </p:txBody>
      </p:sp>
      <p:sp>
        <p:nvSpPr>
          <p:cNvPr id="23" name="TextBox 22"/>
          <p:cNvSpPr txBox="1"/>
          <p:nvPr/>
        </p:nvSpPr>
        <p:spPr>
          <a:xfrm>
            <a:off x="822960" y="5449824"/>
            <a:ext cx="9784080" cy="777240"/>
          </a:xfrm>
          <a:prstGeom prst="rect">
            <a:avLst/>
          </a:prstGeom>
          <a:noFill/>
        </p:spPr>
        <p:txBody>
          <a:bodyPr wrap="square" anchor="ctr" lIns="0" rIns="0" tIns="0" bIns="0">
            <a:spAutoFit/>
          </a:bodyPr>
          <a:lstStyle/>
          <a:p>
            <a:pPr algn="r" rtl="1"/>
            <a:r>
              <a:rPr sz="1350" b="0">
                <a:solidFill>
                  <a:srgbClr val="1F2937"/>
                </a:solidFill>
                <a:latin typeface="Calibri"/>
              </a:rPr>
              <a:t>RAPD נצפה אך ורק בנגעים בכיאזמה</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20040"/>
            <a:ext cx="3108960" cy="3657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
            <a:ext cx="3108960" cy="365760"/>
          </a:xfrm>
          <a:prstGeom prst="rect">
            <a:avLst/>
          </a:prstGeom>
          <a:noFill/>
        </p:spPr>
        <p:txBody>
          <a:bodyPr wrap="square" anchor="ctr" lIns="0" rIns="0" tIns="0" bIns="0">
            <a:spAutoFit/>
          </a:bodyPr>
          <a:lstStyle/>
          <a:p>
            <a:pPr algn="ctr" rtl="1"/>
            <a:r>
              <a:rPr sz="1200" b="1">
                <a:solidFill>
                  <a:srgbClr val="FFFFFF"/>
                </a:solidFill>
                <a:latin typeface="Calibri"/>
              </a:rPr>
              <a:t>RAPD</a:t>
            </a:r>
          </a:p>
        </p:txBody>
      </p:sp>
      <p:sp>
        <p:nvSpPr>
          <p:cNvPr id="6" name="TextBox 5"/>
          <p:cNvSpPr txBox="1"/>
          <p:nvPr/>
        </p:nvSpPr>
        <p:spPr>
          <a:xfrm>
            <a:off x="548640" y="777240"/>
            <a:ext cx="11064240" cy="640080"/>
          </a:xfrm>
          <a:prstGeom prst="rect">
            <a:avLst/>
          </a:prstGeom>
          <a:noFill/>
        </p:spPr>
        <p:txBody>
          <a:bodyPr wrap="square" anchor="t" lIns="0" rIns="0" tIns="0" bIns="0">
            <a:spAutoFit/>
          </a:bodyPr>
          <a:lstStyle/>
          <a:p>
            <a:pPr algn="r" rtl="1"/>
            <a:r>
              <a:rPr sz="1400" b="1">
                <a:solidFill>
                  <a:srgbClr val="15803D"/>
                </a:solidFill>
                <a:latin typeface="Calibri"/>
              </a:rPr>
              <a:t>התשובה הנכונה: א) RAPD הוא ממצא בבדיקת האור המתנדנד (עין אחת רואה פחות אור, אישונה מתרחב כשהאור מגיע אליה) שמשקף פגיעה במסלול האפרנטי (עצב ראייה); הוא לא גורם לאניסוקוריה כי התגובה האפרנטית המוחלשת משפיעה באופן שווה על שני האישונים (הקשר הקונסנסואלי נשאר שלם) - ההבדל מתבטא רק בהשוואה בין עין לעין בבדיקה דינמית, לא בגודל הסטטי</a:t>
            </a:r>
          </a:p>
        </p:txBody>
      </p:sp>
      <p:sp>
        <p:nvSpPr>
          <p:cNvPr id="7" name="Rounded Rectangle 6"/>
          <p:cNvSpPr/>
          <p:nvPr/>
        </p:nvSpPr>
        <p:spPr>
          <a:xfrm>
            <a:off x="548640" y="1554480"/>
            <a:ext cx="7406640" cy="1417320"/>
          </a:xfrm>
          <a:prstGeom prst="roundRect">
            <a:avLst/>
          </a:prstGeom>
          <a:solidFill>
            <a:srgbClr val="F8FAFC"/>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27632"/>
            <a:ext cx="7040880" cy="274320"/>
          </a:xfrm>
          <a:prstGeom prst="rect">
            <a:avLst/>
          </a:prstGeom>
          <a:noFill/>
        </p:spPr>
        <p:txBody>
          <a:bodyPr wrap="square" anchor="ctr" lIns="0" rIns="0" tIns="0" bIns="0">
            <a:spAutoFit/>
          </a:bodyPr>
          <a:lstStyle/>
          <a:p>
            <a:pPr algn="r" rtl="1"/>
            <a:r>
              <a:rPr sz="1200" b="1">
                <a:solidFill>
                  <a:srgbClr val="6B7280"/>
                </a:solidFill>
                <a:latin typeface="Calibri"/>
              </a:rPr>
              <a:t>הסבר:</a:t>
            </a:r>
          </a:p>
        </p:txBody>
      </p:sp>
      <p:sp>
        <p:nvSpPr>
          <p:cNvPr id="9" name="TextBox 8"/>
          <p:cNvSpPr txBox="1"/>
          <p:nvPr/>
        </p:nvSpPr>
        <p:spPr>
          <a:xfrm>
            <a:off x="731520" y="1901952"/>
            <a:ext cx="7040880" cy="1005840"/>
          </a:xfrm>
          <a:prstGeom prst="rect">
            <a:avLst/>
          </a:prstGeom>
          <a:noFill/>
        </p:spPr>
        <p:txBody>
          <a:bodyPr wrap="square" anchor="t" lIns="0" rIns="0" tIns="0" bIns="0">
            <a:spAutoFit/>
          </a:bodyPr>
          <a:lstStyle/>
          <a:p>
            <a:pPr algn="r" rtl="1"/>
            <a:r>
              <a:rPr sz="1000" b="0">
                <a:solidFill>
                  <a:srgbClr val="1F2937"/>
                </a:solidFill>
                <a:latin typeface="Calibri"/>
              </a:rPr>
              <a:t>התשובה הנכונה (1): ה-RAPD הוא הכלי האובייקטיבי המרכזי בבדיקה האפרנטית - מזיזים אור מעין לעין ('בדיקת האור המתנדנד'), ואם עין אחת רואה פחות אור (עצב ראייה פגוע), האישון שלה מתרחב כשהאור מגיע אליה, כי יחסית לעין הבריאה, המוח 'חושב' שהחדר החשיך. מכיוון שהקשר הקונסנסואלי (הפעלת שני האישונים בבת אחת) נשאר שלם משני הצדדים, שני האישונים גדולים/קטנים באותה מידה בכל רגע נתון - RAPD לעולם לא גורם לאי-שוויון בגודל האישונים בפועל (אניסוקוריה), והוא תמיד משקף פגיעה בעצב הראייה או במסלול האפרנטי, לא בכיאזמה (שם הפגיעה סימטרית).</a:t>
            </a:r>
          </a:p>
        </p:txBody>
      </p:sp>
      <p:sp>
        <p:nvSpPr>
          <p:cNvPr id="10" name="Rounded Rectangle 9"/>
          <p:cNvSpPr/>
          <p:nvPr/>
        </p:nvSpPr>
        <p:spPr>
          <a:xfrm>
            <a:off x="548640" y="3108960"/>
            <a:ext cx="7406640" cy="914400"/>
          </a:xfrm>
          <a:prstGeom prst="roundRect">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182112"/>
            <a:ext cx="7040880" cy="274320"/>
          </a:xfrm>
          <a:prstGeom prst="rect">
            <a:avLst/>
          </a:prstGeom>
          <a:noFill/>
        </p:spPr>
        <p:txBody>
          <a:bodyPr wrap="square" anchor="ctr" lIns="0" rIns="0" tIns="0" bIns="0">
            <a:spAutoFit/>
          </a:bodyPr>
          <a:lstStyle/>
          <a:p>
            <a:pPr algn="r" rtl="1"/>
            <a:r>
              <a:rPr sz="1150" b="1">
                <a:solidFill>
                  <a:srgbClr val="1E3A8A"/>
                </a:solidFill>
                <a:latin typeface="Calibri"/>
              </a:rPr>
              <a:t>מונח: RAPD</a:t>
            </a:r>
          </a:p>
        </p:txBody>
      </p:sp>
      <p:sp>
        <p:nvSpPr>
          <p:cNvPr id="12" name="TextBox 11"/>
          <p:cNvSpPr txBox="1"/>
          <p:nvPr/>
        </p:nvSpPr>
        <p:spPr>
          <a:xfrm>
            <a:off x="731520" y="3474720"/>
            <a:ext cx="7040880" cy="502920"/>
          </a:xfrm>
          <a:prstGeom prst="rect">
            <a:avLst/>
          </a:prstGeom>
          <a:noFill/>
        </p:spPr>
        <p:txBody>
          <a:bodyPr wrap="square" anchor="t" lIns="0" rIns="0" tIns="0" bIns="0">
            <a:spAutoFit/>
          </a:bodyPr>
          <a:lstStyle/>
          <a:p>
            <a:pPr algn="r" rtl="1"/>
            <a:r>
              <a:rPr sz="950" b="0">
                <a:solidFill>
                  <a:srgbClr val="1E3A8A"/>
                </a:solidFill>
                <a:latin typeface="Calibri"/>
              </a:rPr>
              <a:t>Relative Afferent Pupillary Defect - פגם אפרנטי יחסי באישון, המתגלה בבדיקת האור המתנדנד ומשקף פגיעה חד-צדית/א-סימטרית במסלול האפרנטי (עצב ראייה).</a:t>
            </a:r>
          </a:p>
        </p:txBody>
      </p:sp>
      <p:sp>
        <p:nvSpPr>
          <p:cNvPr id="13" name="Rounded Rectangle 12"/>
          <p:cNvSpPr/>
          <p:nvPr/>
        </p:nvSpPr>
        <p:spPr>
          <a:xfrm>
            <a:off x="548640" y="4160520"/>
            <a:ext cx="7406640" cy="1417320"/>
          </a:xfrm>
          <a:prstGeom prst="roundRect">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233672"/>
            <a:ext cx="7040880" cy="274320"/>
          </a:xfrm>
          <a:prstGeom prst="rect">
            <a:avLst/>
          </a:prstGeom>
          <a:noFill/>
        </p:spPr>
        <p:txBody>
          <a:bodyPr wrap="square" anchor="ctr" lIns="0" rIns="0" tIns="0" bIns="0">
            <a:spAutoFit/>
          </a:bodyPr>
          <a:lstStyle/>
          <a:p>
            <a:pPr algn="r" rtl="1"/>
            <a:r>
              <a:rPr sz="1150" b="1">
                <a:solidFill>
                  <a:srgbClr val="5B21B6"/>
                </a:solidFill>
                <a:latin typeface="Calibri"/>
              </a:rPr>
              <a:t>סיפור לזכירה</a:t>
            </a:r>
          </a:p>
        </p:txBody>
      </p:sp>
      <p:sp>
        <p:nvSpPr>
          <p:cNvPr id="15" name="TextBox 14"/>
          <p:cNvSpPr txBox="1"/>
          <p:nvPr/>
        </p:nvSpPr>
        <p:spPr>
          <a:xfrm>
            <a:off x="731520" y="4526280"/>
            <a:ext cx="7040880" cy="502920"/>
          </a:xfrm>
          <a:prstGeom prst="rect">
            <a:avLst/>
          </a:prstGeom>
          <a:noFill/>
        </p:spPr>
        <p:txBody>
          <a:bodyPr wrap="square" anchor="t" lIns="0" rIns="0" tIns="0" bIns="0">
            <a:spAutoFit/>
          </a:bodyPr>
          <a:lstStyle/>
          <a:p>
            <a:pPr algn="r" rtl="1"/>
            <a:r>
              <a:rPr sz="950" b="0">
                <a:solidFill>
                  <a:srgbClr val="4C1D95"/>
                </a:solidFill>
                <a:latin typeface="Calibri"/>
              </a:rPr>
              <a:t>דמייני שני פעמונים מחוברים לאותו חוט - כשמושכים את החוט, שניהם מצלצלים באותה עוצמה בכל פעם, גם אם אחד מהם 'שומע' פחות טוב מתי למשוך. בדיוק כך שני האישונים מגיבים תמיד בסנכרון מלא (קונסנסואלי) - ההבדל ב-RAPD נראה רק כשמשווים כמה כל עין 'לבדה' גורמת לתגובה, לא בגודל בפועל.</a:t>
            </a:r>
          </a:p>
        </p:txBody>
      </p:sp>
      <p:sp>
        <p:nvSpPr>
          <p:cNvPr id="16" name="TextBox 15"/>
          <p:cNvSpPr txBox="1"/>
          <p:nvPr/>
        </p:nvSpPr>
        <p:spPr>
          <a:xfrm>
            <a:off x="731520" y="5047488"/>
            <a:ext cx="7040880" cy="502920"/>
          </a:xfrm>
          <a:prstGeom prst="rect">
            <a:avLst/>
          </a:prstGeom>
          <a:noFill/>
        </p:spPr>
        <p:txBody>
          <a:bodyPr wrap="square" anchor="t" lIns="0" rIns="0" tIns="0" bIns="0">
            <a:spAutoFit/>
          </a:bodyPr>
          <a:lstStyle/>
          <a:p>
            <a:pPr algn="r" rtl="1"/>
            <a:r>
              <a:rPr sz="900" b="0">
                <a:solidFill>
                  <a:srgbClr val="5B21B6"/>
                </a:solidFill>
                <a:latin typeface="Calibri"/>
              </a:rPr>
              <a:t>שאלי את עצמך: איך היית מיישמת את העיקרון הזה במקרה קליני אמיתי?</a:t>
            </a:r>
          </a:p>
        </p:txBody>
      </p:sp>
      <p:sp>
        <p:nvSpPr>
          <p:cNvPr id="17" name="TextBox 16"/>
          <p:cNvSpPr txBox="1"/>
          <p:nvPr/>
        </p:nvSpPr>
        <p:spPr>
          <a:xfrm>
            <a:off x="8138160" y="1554480"/>
            <a:ext cx="3474720" cy="320040"/>
          </a:xfrm>
          <a:prstGeom prst="rect">
            <a:avLst/>
          </a:prstGeom>
          <a:noFill/>
        </p:spPr>
        <p:txBody>
          <a:bodyPr wrap="square" anchor="ctr" lIns="0" rIns="0" tIns="0" bIns="0">
            <a:spAutoFit/>
          </a:bodyPr>
          <a:lstStyle/>
          <a:p>
            <a:pPr algn="r" rtl="1"/>
            <a:r>
              <a:rPr sz="1250" b="1">
                <a:solidFill>
                  <a:srgbClr val="6B7280"/>
                </a:solidFill>
                <a:latin typeface="Calibri"/>
              </a:rPr>
              <a:t>מה קורה בפועל:</a:t>
            </a:r>
          </a:p>
        </p:txBody>
      </p:sp>
      <p:sp>
        <p:nvSpPr>
          <p:cNvPr id="18" name="Rounded Rectangle 17"/>
          <p:cNvSpPr/>
          <p:nvPr/>
        </p:nvSpPr>
        <p:spPr>
          <a:xfrm>
            <a:off x="8138160" y="1920240"/>
            <a:ext cx="3474720" cy="777240"/>
          </a:xfrm>
          <a:prstGeom prst="roundRect">
            <a:avLst/>
          </a:prstGeom>
          <a:solidFill>
            <a:srgbClr val="B91C1C"/>
          </a:solidFill>
          <a:ln w="1587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292840" y="2176272"/>
            <a:ext cx="256032" cy="256032"/>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975104"/>
            <a:ext cx="2880360" cy="667512"/>
          </a:xfrm>
          <a:prstGeom prst="rect">
            <a:avLst/>
          </a:prstGeom>
          <a:noFill/>
        </p:spPr>
        <p:txBody>
          <a:bodyPr wrap="square" anchor="ctr" lIns="0" rIns="0" tIns="0" bIns="0">
            <a:spAutoFit/>
          </a:bodyPr>
          <a:lstStyle/>
          <a:p>
            <a:pPr algn="r" rtl="1"/>
            <a:r>
              <a:rPr sz="950" b="0">
                <a:solidFill>
                  <a:srgbClr val="FFFFFF"/>
                </a:solidFill>
                <a:latin typeface="Calibri"/>
              </a:rPr>
              <a:t>RAPD: בדיקת אור מתנדנד בין עין לעין</a:t>
            </a:r>
          </a:p>
        </p:txBody>
      </p:sp>
      <p:sp>
        <p:nvSpPr>
          <p:cNvPr id="21" name="Rounded Rectangle 20"/>
          <p:cNvSpPr/>
          <p:nvPr/>
        </p:nvSpPr>
        <p:spPr>
          <a:xfrm>
            <a:off x="8138160" y="2788920"/>
            <a:ext cx="3474720" cy="777240"/>
          </a:xfrm>
          <a:prstGeom prst="roundRect">
            <a:avLst/>
          </a:prstGeom>
          <a:solidFill>
            <a:srgbClr val="B45309"/>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292840" y="3044952"/>
            <a:ext cx="256032" cy="25603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284378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תמיד משקף פגיעה אפרנטית חד-צדית/א-סימטרית</a:t>
            </a:r>
          </a:p>
        </p:txBody>
      </p:sp>
      <p:sp>
        <p:nvSpPr>
          <p:cNvPr id="24" name="Rounded Rectangle 23"/>
          <p:cNvSpPr/>
          <p:nvPr/>
        </p:nvSpPr>
        <p:spPr>
          <a:xfrm>
            <a:off x="8138160" y="3657600"/>
            <a:ext cx="3474720" cy="777240"/>
          </a:xfrm>
          <a:prstGeom prst="roundRect">
            <a:avLst/>
          </a:prstGeom>
          <a:solidFill>
            <a:srgbClr val="1C7293"/>
          </a:solidFill>
          <a:ln w="15875">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292840" y="3913632"/>
            <a:ext cx="256032" cy="25603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20" y="371246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לא גורם לאניסוקוריה - הקשר הקונסנסואלי שלם</a:t>
            </a:r>
          </a:p>
        </p:txBody>
      </p:sp>
      <p:sp>
        <p:nvSpPr>
          <p:cNvPr id="27" name="TextBox 26"/>
          <p:cNvSpPr txBox="1"/>
          <p:nvPr/>
        </p:nvSpPr>
        <p:spPr>
          <a:xfrm>
            <a:off x="548640" y="6446520"/>
            <a:ext cx="11064240" cy="320040"/>
          </a:xfrm>
          <a:prstGeom prst="rect">
            <a:avLst/>
          </a:prstGeom>
          <a:noFill/>
        </p:spPr>
        <p:txBody>
          <a:bodyPr wrap="square" anchor="ctr" lIns="0" rIns="0" tIns="0" bIns="0">
            <a:spAutoFit/>
          </a:bodyPr>
          <a:lstStyle/>
          <a:p>
            <a:pPr algn="ctr" rtl="1"/>
            <a:r>
              <a:rPr sz="900" b="0">
                <a:solidFill>
                  <a:srgbClr val="9CA3AF"/>
                </a:solidFill>
                <a:latin typeface="Calibri"/>
              </a:rPr>
              <a:t>מצגת סטטית — ללא ניקוד חי. לתרגול עם סטטיסטיקה בזמן אמת, השתמשו באתר הכרטיסיות המקוון.</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65760"/>
            <a:ext cx="310896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65760"/>
            <a:ext cx="3108960" cy="384048"/>
          </a:xfrm>
          <a:prstGeom prst="rect">
            <a:avLst/>
          </a:prstGeom>
          <a:noFill/>
        </p:spPr>
        <p:txBody>
          <a:bodyPr wrap="square" anchor="ctr" lIns="0" rIns="0" tIns="0" bIns="0">
            <a:spAutoFit/>
          </a:bodyPr>
          <a:lstStyle/>
          <a:p>
            <a:pPr algn="ctr" rtl="1"/>
            <a:r>
              <a:rPr sz="1250" b="1">
                <a:solidFill>
                  <a:srgbClr val="FFFFFF"/>
                </a:solidFill>
                <a:latin typeface="Calibri"/>
              </a:rPr>
              <a:t>פפילאדמה</a:t>
            </a:r>
          </a:p>
        </p:txBody>
      </p:sp>
      <p:sp>
        <p:nvSpPr>
          <p:cNvPr id="6" name="TextBox 5"/>
          <p:cNvSpPr txBox="1"/>
          <p:nvPr/>
        </p:nvSpPr>
        <p:spPr>
          <a:xfrm>
            <a:off x="8531352" y="365760"/>
            <a:ext cx="3108960" cy="384048"/>
          </a:xfrm>
          <a:prstGeom prst="rect">
            <a:avLst/>
          </a:prstGeom>
          <a:noFill/>
        </p:spPr>
        <p:txBody>
          <a:bodyPr wrap="square" anchor="ctr" lIns="0" rIns="0" tIns="0" bIns="0">
            <a:spAutoFit/>
          </a:bodyPr>
          <a:lstStyle/>
          <a:p>
            <a:pPr algn="l" rtl="1"/>
            <a:r>
              <a:rPr sz="1200" b="0">
                <a:solidFill>
                  <a:srgbClr val="9CA3AF"/>
                </a:solidFill>
                <a:latin typeface="Calibri"/>
              </a:rPr>
              <a:t>כרטיסייה 4 מתוך 8</a:t>
            </a:r>
          </a:p>
        </p:txBody>
      </p:sp>
      <p:sp>
        <p:nvSpPr>
          <p:cNvPr id="7" name="TextBox 6"/>
          <p:cNvSpPr txBox="1"/>
          <p:nvPr/>
        </p:nvSpPr>
        <p:spPr>
          <a:xfrm>
            <a:off x="548640" y="1005840"/>
            <a:ext cx="11064240" cy="1463040"/>
          </a:xfrm>
          <a:prstGeom prst="rect">
            <a:avLst/>
          </a:prstGeom>
          <a:noFill/>
        </p:spPr>
        <p:txBody>
          <a:bodyPr wrap="square" anchor="t" lIns="0" rIns="0" tIns="0" bIns="0">
            <a:spAutoFit/>
          </a:bodyPr>
          <a:lstStyle/>
          <a:p>
            <a:pPr algn="r" rtl="1"/>
            <a:r>
              <a:rPr sz="2000" b="1">
                <a:solidFill>
                  <a:srgbClr val="1F2937"/>
                </a:solidFill>
                <a:latin typeface="Calibri"/>
              </a:rPr>
              <a:t>מהי שרשרת המנגנון שמובילה מלחץ תוך-גולגולתי מוגבר לפפילאדמה, ומדוע חדות הראייה נשארת תקינה הרבה לפני שהשדה ההיקפי נפגע?</a:t>
            </a:r>
          </a:p>
        </p:txBody>
      </p:sp>
      <p:sp>
        <p:nvSpPr>
          <p:cNvPr id="8" name="Rounded Rectangle 7"/>
          <p:cNvSpPr/>
          <p:nvPr/>
        </p:nvSpPr>
        <p:spPr>
          <a:xfrm>
            <a:off x="548640" y="2651760"/>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744200" y="2852928"/>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44200" y="2852928"/>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א</a:t>
            </a:r>
          </a:p>
        </p:txBody>
      </p:sp>
      <p:sp>
        <p:nvSpPr>
          <p:cNvPr id="11" name="TextBox 10"/>
          <p:cNvSpPr txBox="1"/>
          <p:nvPr/>
        </p:nvSpPr>
        <p:spPr>
          <a:xfrm>
            <a:off x="822960" y="2651760"/>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לחץ תוך-גולגולתי פוגע ישירות בעצבים חוץ-גלגליים - חדות הראייה נפגעת תחילה</a:t>
            </a:r>
          </a:p>
        </p:txBody>
      </p:sp>
      <p:sp>
        <p:nvSpPr>
          <p:cNvPr id="12" name="Rounded Rectangle 11"/>
          <p:cNvSpPr/>
          <p:nvPr/>
        </p:nvSpPr>
        <p:spPr>
          <a:xfrm>
            <a:off x="548640" y="3584448"/>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44200" y="3785616"/>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44200" y="3785616"/>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ב</a:t>
            </a:r>
          </a:p>
        </p:txBody>
      </p:sp>
      <p:sp>
        <p:nvSpPr>
          <p:cNvPr id="15" name="TextBox 14"/>
          <p:cNvSpPr txBox="1"/>
          <p:nvPr/>
        </p:nvSpPr>
        <p:spPr>
          <a:xfrm>
            <a:off x="822960" y="3584448"/>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פפילאדמה נגרמת מחסימת עורק הרשתית - לכן חדות הראייה נפגעת ראשונה</a:t>
            </a:r>
          </a:p>
        </p:txBody>
      </p:sp>
      <p:sp>
        <p:nvSpPr>
          <p:cNvPr id="16" name="Rounded Rectangle 15"/>
          <p:cNvSpPr/>
          <p:nvPr/>
        </p:nvSpPr>
        <p:spPr>
          <a:xfrm>
            <a:off x="548640" y="4517136"/>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744200" y="4718304"/>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44200" y="4718304"/>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ג</a:t>
            </a:r>
          </a:p>
        </p:txBody>
      </p:sp>
      <p:sp>
        <p:nvSpPr>
          <p:cNvPr id="19" name="TextBox 18"/>
          <p:cNvSpPr txBox="1"/>
          <p:nvPr/>
        </p:nvSpPr>
        <p:spPr>
          <a:xfrm>
            <a:off x="822960" y="4517136"/>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אין קשר בין לחץ תוך-גולגולתי לדיסקית עצב הראייה</a:t>
            </a:r>
          </a:p>
        </p:txBody>
      </p:sp>
      <p:sp>
        <p:nvSpPr>
          <p:cNvPr id="20" name="Rounded Rectangle 19"/>
          <p:cNvSpPr/>
          <p:nvPr/>
        </p:nvSpPr>
        <p:spPr>
          <a:xfrm>
            <a:off x="548640" y="5449824"/>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744200" y="5650992"/>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44200" y="5650992"/>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ד</a:t>
            </a:r>
          </a:p>
        </p:txBody>
      </p:sp>
      <p:sp>
        <p:nvSpPr>
          <p:cNvPr id="23" name="TextBox 22"/>
          <p:cNvSpPr txBox="1"/>
          <p:nvPr/>
        </p:nvSpPr>
        <p:spPr>
          <a:xfrm>
            <a:off x="822960" y="5449824"/>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עליית לחץ תוך-גולגולתי מעלה את הלחץ בחלל התת-עכבישי שעוטף את עצב הראייה, מה שעוצר את הזרימה האקסופלזמית התקינה בעצב וגורם לאקסונים 'נפוחים' בדיסקית (בצקת דיסקית דו-צדדית); הנזק הראשוני הוא לסיבים ההיקפיים (שדה ראייה), ולא לסיבים המרכזיים (חדות ראייה) שנפגעים רק בשלב מתקדם</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20040"/>
            <a:ext cx="3108960" cy="3657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
            <a:ext cx="3108960" cy="365760"/>
          </a:xfrm>
          <a:prstGeom prst="rect">
            <a:avLst/>
          </a:prstGeom>
          <a:noFill/>
        </p:spPr>
        <p:txBody>
          <a:bodyPr wrap="square" anchor="ctr" lIns="0" rIns="0" tIns="0" bIns="0">
            <a:spAutoFit/>
          </a:bodyPr>
          <a:lstStyle/>
          <a:p>
            <a:pPr algn="ctr" rtl="1"/>
            <a:r>
              <a:rPr sz="1200" b="1">
                <a:solidFill>
                  <a:srgbClr val="FFFFFF"/>
                </a:solidFill>
                <a:latin typeface="Calibri"/>
              </a:rPr>
              <a:t>פפילאדמה</a:t>
            </a:r>
          </a:p>
        </p:txBody>
      </p:sp>
      <p:sp>
        <p:nvSpPr>
          <p:cNvPr id="6" name="TextBox 5"/>
          <p:cNvSpPr txBox="1"/>
          <p:nvPr/>
        </p:nvSpPr>
        <p:spPr>
          <a:xfrm>
            <a:off x="548640" y="777240"/>
            <a:ext cx="11064240" cy="640080"/>
          </a:xfrm>
          <a:prstGeom prst="rect">
            <a:avLst/>
          </a:prstGeom>
          <a:noFill/>
        </p:spPr>
        <p:txBody>
          <a:bodyPr wrap="square" anchor="t" lIns="0" rIns="0" tIns="0" bIns="0">
            <a:spAutoFit/>
          </a:bodyPr>
          <a:lstStyle/>
          <a:p>
            <a:pPr algn="r" rtl="1"/>
            <a:r>
              <a:rPr sz="1400" b="1">
                <a:solidFill>
                  <a:srgbClr val="15803D"/>
                </a:solidFill>
                <a:latin typeface="Calibri"/>
              </a:rPr>
              <a:t>התשובה הנכונה: ד) עליית לחץ תוך-גולגולתי מעלה את הלחץ בחלל התת-עכבישי שעוטף את עצב הראייה, מה שעוצר את הזרימה האקסופלזמית התקינה בעצב וגורם לאקסונים 'נפוחים' בדיסקית (בצקת דיסקית דו-צדדית); הנזק הראשוני הוא לסיבים ההיקפיים (שדה ראייה), ולא לסיבים המרכזיים (חדות ראייה) שנפגעים רק בשלב מתקדם</a:t>
            </a:r>
          </a:p>
        </p:txBody>
      </p:sp>
      <p:sp>
        <p:nvSpPr>
          <p:cNvPr id="7" name="Rounded Rectangle 6"/>
          <p:cNvSpPr/>
          <p:nvPr/>
        </p:nvSpPr>
        <p:spPr>
          <a:xfrm>
            <a:off x="548640" y="1554480"/>
            <a:ext cx="7406640" cy="1417320"/>
          </a:xfrm>
          <a:prstGeom prst="roundRect">
            <a:avLst/>
          </a:prstGeom>
          <a:solidFill>
            <a:srgbClr val="F8FAFC"/>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27632"/>
            <a:ext cx="7040880" cy="274320"/>
          </a:xfrm>
          <a:prstGeom prst="rect">
            <a:avLst/>
          </a:prstGeom>
          <a:noFill/>
        </p:spPr>
        <p:txBody>
          <a:bodyPr wrap="square" anchor="ctr" lIns="0" rIns="0" tIns="0" bIns="0">
            <a:spAutoFit/>
          </a:bodyPr>
          <a:lstStyle/>
          <a:p>
            <a:pPr algn="r" rtl="1"/>
            <a:r>
              <a:rPr sz="1200" b="1">
                <a:solidFill>
                  <a:srgbClr val="6B7280"/>
                </a:solidFill>
                <a:latin typeface="Calibri"/>
              </a:rPr>
              <a:t>הסבר:</a:t>
            </a:r>
          </a:p>
        </p:txBody>
      </p:sp>
      <p:sp>
        <p:nvSpPr>
          <p:cNvPr id="9" name="TextBox 8"/>
          <p:cNvSpPr txBox="1"/>
          <p:nvPr/>
        </p:nvSpPr>
        <p:spPr>
          <a:xfrm>
            <a:off x="731520" y="1901952"/>
            <a:ext cx="7040880" cy="1005840"/>
          </a:xfrm>
          <a:prstGeom prst="rect">
            <a:avLst/>
          </a:prstGeom>
          <a:noFill/>
        </p:spPr>
        <p:txBody>
          <a:bodyPr wrap="square" anchor="t" lIns="0" rIns="0" tIns="0" bIns="0">
            <a:spAutoFit/>
          </a:bodyPr>
          <a:lstStyle/>
          <a:p>
            <a:pPr algn="r" rtl="1"/>
            <a:r>
              <a:rPr sz="1000" b="0">
                <a:solidFill>
                  <a:srgbClr val="1F2937"/>
                </a:solidFill>
                <a:latin typeface="Calibri"/>
              </a:rPr>
              <a:t>התשובה הנכונה (4): לחץ תוך-גולגולתי מוגבר מעלה את הלחץ בחלל התת-עכבישי שעוטף את עצב הראייה; הפרש הלחצים עוצר את הזרימה האקסופלזמית התקינה בעצב, מה שגורם לאקסונים 'נפוחים' בדיסקית - בצקת דיסקית דו-צדדית, עם היפרמיה, שטפי דם, קפלי רשתית וטשטוש שוליים. חדות הראייה (המושפעת מהסיבים המרכזיים) נשארת תקינה עד שלב מתקדם, אבל השדה ההיקפי נשחק בהדרגה - לעיתים אסימפטומטית - ולכן אסור להמתין לאובדן חדות ראייה כדי לפעול.</a:t>
            </a:r>
          </a:p>
        </p:txBody>
      </p:sp>
      <p:sp>
        <p:nvSpPr>
          <p:cNvPr id="10" name="Rounded Rectangle 9"/>
          <p:cNvSpPr/>
          <p:nvPr/>
        </p:nvSpPr>
        <p:spPr>
          <a:xfrm>
            <a:off x="548640" y="3108960"/>
            <a:ext cx="7406640" cy="914400"/>
          </a:xfrm>
          <a:prstGeom prst="roundRect">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182112"/>
            <a:ext cx="7040880" cy="274320"/>
          </a:xfrm>
          <a:prstGeom prst="rect">
            <a:avLst/>
          </a:prstGeom>
          <a:noFill/>
        </p:spPr>
        <p:txBody>
          <a:bodyPr wrap="square" anchor="ctr" lIns="0" rIns="0" tIns="0" bIns="0">
            <a:spAutoFit/>
          </a:bodyPr>
          <a:lstStyle/>
          <a:p>
            <a:pPr algn="r" rtl="1"/>
            <a:r>
              <a:rPr sz="1150" b="1">
                <a:solidFill>
                  <a:srgbClr val="1E3A8A"/>
                </a:solidFill>
                <a:latin typeface="Calibri"/>
              </a:rPr>
              <a:t>מונח: פפילאדמה</a:t>
            </a:r>
          </a:p>
        </p:txBody>
      </p:sp>
      <p:sp>
        <p:nvSpPr>
          <p:cNvPr id="12" name="TextBox 11"/>
          <p:cNvSpPr txBox="1"/>
          <p:nvPr/>
        </p:nvSpPr>
        <p:spPr>
          <a:xfrm>
            <a:off x="731520" y="3474720"/>
            <a:ext cx="7040880" cy="502920"/>
          </a:xfrm>
          <a:prstGeom prst="rect">
            <a:avLst/>
          </a:prstGeom>
          <a:noFill/>
        </p:spPr>
        <p:txBody>
          <a:bodyPr wrap="square" anchor="t" lIns="0" rIns="0" tIns="0" bIns="0">
            <a:spAutoFit/>
          </a:bodyPr>
          <a:lstStyle/>
          <a:p>
            <a:pPr algn="r" rtl="1"/>
            <a:r>
              <a:rPr sz="950" b="0">
                <a:solidFill>
                  <a:srgbClr val="1E3A8A"/>
                </a:solidFill>
                <a:latin typeface="Calibri"/>
              </a:rPr>
              <a:t>בצקת דיסקית דו-צדדית הנגרמת ספציפית מלחץ תוך-גולגולתי מוגבר (לא כל בצקת דיסקית) - תוצאה של עצירת זרימה אקסופלזמית בעצב הראייה.</a:t>
            </a:r>
          </a:p>
        </p:txBody>
      </p:sp>
      <p:sp>
        <p:nvSpPr>
          <p:cNvPr id="13" name="Rounded Rectangle 12"/>
          <p:cNvSpPr/>
          <p:nvPr/>
        </p:nvSpPr>
        <p:spPr>
          <a:xfrm>
            <a:off x="548640" y="4160520"/>
            <a:ext cx="7406640" cy="1417320"/>
          </a:xfrm>
          <a:prstGeom prst="roundRect">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233672"/>
            <a:ext cx="7040880" cy="274320"/>
          </a:xfrm>
          <a:prstGeom prst="rect">
            <a:avLst/>
          </a:prstGeom>
          <a:noFill/>
        </p:spPr>
        <p:txBody>
          <a:bodyPr wrap="square" anchor="ctr" lIns="0" rIns="0" tIns="0" bIns="0">
            <a:spAutoFit/>
          </a:bodyPr>
          <a:lstStyle/>
          <a:p>
            <a:pPr algn="r" rtl="1"/>
            <a:r>
              <a:rPr sz="1150" b="1">
                <a:solidFill>
                  <a:srgbClr val="5B21B6"/>
                </a:solidFill>
                <a:latin typeface="Calibri"/>
              </a:rPr>
              <a:t>סיפור לזכירה</a:t>
            </a:r>
          </a:p>
        </p:txBody>
      </p:sp>
      <p:sp>
        <p:nvSpPr>
          <p:cNvPr id="15" name="TextBox 14"/>
          <p:cNvSpPr txBox="1"/>
          <p:nvPr/>
        </p:nvSpPr>
        <p:spPr>
          <a:xfrm>
            <a:off x="731520" y="4526280"/>
            <a:ext cx="7040880" cy="502920"/>
          </a:xfrm>
          <a:prstGeom prst="rect">
            <a:avLst/>
          </a:prstGeom>
          <a:noFill/>
        </p:spPr>
        <p:txBody>
          <a:bodyPr wrap="square" anchor="t" lIns="0" rIns="0" tIns="0" bIns="0">
            <a:spAutoFit/>
          </a:bodyPr>
          <a:lstStyle/>
          <a:p>
            <a:pPr algn="r" rtl="1"/>
            <a:r>
              <a:rPr sz="950" b="0">
                <a:solidFill>
                  <a:srgbClr val="4C1D95"/>
                </a:solidFill>
                <a:latin typeface="Calibri"/>
              </a:rPr>
              <a:t>דמייני צינור ניקוז (עצב הראייה) שעובר דרך תעלה (החלל התת-עכבישי) שהמים בה (CSF) עולים - ככל שהמים עולים, הם לוחצים על הצינור מבחוץ ומונעים מהתכן שבתוכו (האקסופלזמה) לזרום קדימה - מה שיוצר 'נפיחות' באקסונים שם הם נתקעים, הרבה לפני שהצינור עצמו (חדות הראייה) נפגע באמת.</a:t>
            </a:r>
          </a:p>
        </p:txBody>
      </p:sp>
      <p:sp>
        <p:nvSpPr>
          <p:cNvPr id="16" name="TextBox 15"/>
          <p:cNvSpPr txBox="1"/>
          <p:nvPr/>
        </p:nvSpPr>
        <p:spPr>
          <a:xfrm>
            <a:off x="731520" y="5047488"/>
            <a:ext cx="7040880" cy="502920"/>
          </a:xfrm>
          <a:prstGeom prst="rect">
            <a:avLst/>
          </a:prstGeom>
          <a:noFill/>
        </p:spPr>
        <p:txBody>
          <a:bodyPr wrap="square" anchor="t" lIns="0" rIns="0" tIns="0" bIns="0">
            <a:spAutoFit/>
          </a:bodyPr>
          <a:lstStyle/>
          <a:p>
            <a:pPr algn="r" rtl="1"/>
            <a:r>
              <a:rPr sz="900" b="0">
                <a:solidFill>
                  <a:srgbClr val="5B21B6"/>
                </a:solidFill>
                <a:latin typeface="Calibri"/>
              </a:rPr>
              <a:t>שאלי את עצמך: איך היית מיישמת את העיקרון הזה במקרה קליני אמיתי?</a:t>
            </a:r>
          </a:p>
        </p:txBody>
      </p:sp>
      <p:sp>
        <p:nvSpPr>
          <p:cNvPr id="17" name="TextBox 16"/>
          <p:cNvSpPr txBox="1"/>
          <p:nvPr/>
        </p:nvSpPr>
        <p:spPr>
          <a:xfrm>
            <a:off x="8138160" y="1554480"/>
            <a:ext cx="3474720" cy="320040"/>
          </a:xfrm>
          <a:prstGeom prst="rect">
            <a:avLst/>
          </a:prstGeom>
          <a:noFill/>
        </p:spPr>
        <p:txBody>
          <a:bodyPr wrap="square" anchor="ctr" lIns="0" rIns="0" tIns="0" bIns="0">
            <a:spAutoFit/>
          </a:bodyPr>
          <a:lstStyle/>
          <a:p>
            <a:pPr algn="r" rtl="1"/>
            <a:r>
              <a:rPr sz="1250" b="1">
                <a:solidFill>
                  <a:srgbClr val="6B7280"/>
                </a:solidFill>
                <a:latin typeface="Calibri"/>
              </a:rPr>
              <a:t>מה קורה בפועל:</a:t>
            </a:r>
          </a:p>
        </p:txBody>
      </p:sp>
      <p:sp>
        <p:nvSpPr>
          <p:cNvPr id="18" name="Rounded Rectangle 17"/>
          <p:cNvSpPr/>
          <p:nvPr/>
        </p:nvSpPr>
        <p:spPr>
          <a:xfrm>
            <a:off x="8138160" y="1920240"/>
            <a:ext cx="3474720" cy="777240"/>
          </a:xfrm>
          <a:prstGeom prst="roundRect">
            <a:avLst/>
          </a:prstGeom>
          <a:solidFill>
            <a:srgbClr val="B91C1C"/>
          </a:solidFill>
          <a:ln w="1587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292840" y="2176272"/>
            <a:ext cx="256032" cy="256032"/>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975104"/>
            <a:ext cx="2880360" cy="667512"/>
          </a:xfrm>
          <a:prstGeom prst="rect">
            <a:avLst/>
          </a:prstGeom>
          <a:noFill/>
        </p:spPr>
        <p:txBody>
          <a:bodyPr wrap="square" anchor="ctr" lIns="0" rIns="0" tIns="0" bIns="0">
            <a:spAutoFit/>
          </a:bodyPr>
          <a:lstStyle/>
          <a:p>
            <a:pPr algn="r" rtl="1"/>
            <a:r>
              <a:rPr sz="950" b="0">
                <a:solidFill>
                  <a:srgbClr val="FFFFFF"/>
                </a:solidFill>
                <a:latin typeface="Calibri"/>
              </a:rPr>
              <a:t>↑ICP → ↑לחץ תת-עכבישי מקיף עצב ראייה</a:t>
            </a:r>
          </a:p>
        </p:txBody>
      </p:sp>
      <p:sp>
        <p:nvSpPr>
          <p:cNvPr id="21" name="Rounded Rectangle 20"/>
          <p:cNvSpPr/>
          <p:nvPr/>
        </p:nvSpPr>
        <p:spPr>
          <a:xfrm>
            <a:off x="8138160" y="2788920"/>
            <a:ext cx="3474720" cy="777240"/>
          </a:xfrm>
          <a:prstGeom prst="roundRect">
            <a:avLst/>
          </a:prstGeom>
          <a:solidFill>
            <a:srgbClr val="B45309"/>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292840" y="3044952"/>
            <a:ext cx="256032" cy="25603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284378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עוצר זרימה אקסופלזמית → אקסונים נפוחים</a:t>
            </a:r>
          </a:p>
        </p:txBody>
      </p:sp>
      <p:sp>
        <p:nvSpPr>
          <p:cNvPr id="24" name="Rounded Rectangle 23"/>
          <p:cNvSpPr/>
          <p:nvPr/>
        </p:nvSpPr>
        <p:spPr>
          <a:xfrm>
            <a:off x="8138160" y="3657600"/>
            <a:ext cx="3474720" cy="777240"/>
          </a:xfrm>
          <a:prstGeom prst="roundRect">
            <a:avLst/>
          </a:prstGeom>
          <a:solidFill>
            <a:srgbClr val="1C7293"/>
          </a:solidFill>
          <a:ln w="15875">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292840" y="3913632"/>
            <a:ext cx="256032" cy="25603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20" y="371246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שדה היקפי נפגע לפני חדות ראייה</a:t>
            </a:r>
          </a:p>
        </p:txBody>
      </p:sp>
      <p:sp>
        <p:nvSpPr>
          <p:cNvPr id="27" name="TextBox 26"/>
          <p:cNvSpPr txBox="1"/>
          <p:nvPr/>
        </p:nvSpPr>
        <p:spPr>
          <a:xfrm>
            <a:off x="548640" y="6446520"/>
            <a:ext cx="11064240" cy="320040"/>
          </a:xfrm>
          <a:prstGeom prst="rect">
            <a:avLst/>
          </a:prstGeom>
          <a:noFill/>
        </p:spPr>
        <p:txBody>
          <a:bodyPr wrap="square" anchor="ctr" lIns="0" rIns="0" tIns="0" bIns="0">
            <a:spAutoFit/>
          </a:bodyPr>
          <a:lstStyle/>
          <a:p>
            <a:pPr algn="ctr" rtl="1"/>
            <a:r>
              <a:rPr sz="900" b="0">
                <a:solidFill>
                  <a:srgbClr val="9CA3AF"/>
                </a:solidFill>
                <a:latin typeface="Calibri"/>
              </a:rPr>
              <a:t>מצגת סטטית — ללא ניקוד חי. לתרגול עם סטטיסטיקה בזמן אמת, השתמשו באתר הכרטיסיות המקוון.</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65760"/>
            <a:ext cx="310896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65760"/>
            <a:ext cx="3108960" cy="384048"/>
          </a:xfrm>
          <a:prstGeom prst="rect">
            <a:avLst/>
          </a:prstGeom>
          <a:noFill/>
        </p:spPr>
        <p:txBody>
          <a:bodyPr wrap="square" anchor="ctr" lIns="0" rIns="0" tIns="0" bIns="0">
            <a:spAutoFit/>
          </a:bodyPr>
          <a:lstStyle/>
          <a:p>
            <a:pPr algn="ctr" rtl="1"/>
            <a:r>
              <a:rPr sz="1250" b="1">
                <a:solidFill>
                  <a:srgbClr val="FFFFFF"/>
                </a:solidFill>
                <a:latin typeface="Calibri"/>
              </a:rPr>
              <a:t>שיתוק עצב שלישי</a:t>
            </a:r>
          </a:p>
        </p:txBody>
      </p:sp>
      <p:sp>
        <p:nvSpPr>
          <p:cNvPr id="6" name="TextBox 5"/>
          <p:cNvSpPr txBox="1"/>
          <p:nvPr/>
        </p:nvSpPr>
        <p:spPr>
          <a:xfrm>
            <a:off x="8531352" y="365760"/>
            <a:ext cx="3108960" cy="384048"/>
          </a:xfrm>
          <a:prstGeom prst="rect">
            <a:avLst/>
          </a:prstGeom>
          <a:noFill/>
        </p:spPr>
        <p:txBody>
          <a:bodyPr wrap="square" anchor="ctr" lIns="0" rIns="0" tIns="0" bIns="0">
            <a:spAutoFit/>
          </a:bodyPr>
          <a:lstStyle/>
          <a:p>
            <a:pPr algn="l" rtl="1"/>
            <a:r>
              <a:rPr sz="1200" b="0">
                <a:solidFill>
                  <a:srgbClr val="9CA3AF"/>
                </a:solidFill>
                <a:latin typeface="Calibri"/>
              </a:rPr>
              <a:t>כרטיסייה 5 מתוך 8</a:t>
            </a:r>
          </a:p>
        </p:txBody>
      </p:sp>
      <p:sp>
        <p:nvSpPr>
          <p:cNvPr id="7" name="TextBox 6"/>
          <p:cNvSpPr txBox="1"/>
          <p:nvPr/>
        </p:nvSpPr>
        <p:spPr>
          <a:xfrm>
            <a:off x="548640" y="1005840"/>
            <a:ext cx="11064240" cy="1463040"/>
          </a:xfrm>
          <a:prstGeom prst="rect">
            <a:avLst/>
          </a:prstGeom>
          <a:noFill/>
        </p:spPr>
        <p:txBody>
          <a:bodyPr wrap="square" anchor="t" lIns="0" rIns="0" tIns="0" bIns="0">
            <a:spAutoFit/>
          </a:bodyPr>
          <a:lstStyle/>
          <a:p>
            <a:pPr algn="r" rtl="1"/>
            <a:r>
              <a:rPr sz="2000" b="1">
                <a:solidFill>
                  <a:srgbClr val="1F2937"/>
                </a:solidFill>
                <a:latin typeface="Calibri"/>
              </a:rPr>
              <a:t>מטופל מגיע עם שיתוק עצב שלישי חלקי (אדוקציה פגועה) אך האישון מגיב לאור באופן תקין לחלוטין. מה הצעד הנכון, ומהו ההיגיון האנטומי?</a:t>
            </a:r>
          </a:p>
        </p:txBody>
      </p:sp>
      <p:sp>
        <p:nvSpPr>
          <p:cNvPr id="8" name="Rounded Rectangle 7"/>
          <p:cNvSpPr/>
          <p:nvPr/>
        </p:nvSpPr>
        <p:spPr>
          <a:xfrm>
            <a:off x="548640" y="2651760"/>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744200" y="2852928"/>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44200" y="2852928"/>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א</a:t>
            </a:r>
          </a:p>
        </p:txBody>
      </p:sp>
      <p:sp>
        <p:nvSpPr>
          <p:cNvPr id="11" name="TextBox 10"/>
          <p:cNvSpPr txBox="1"/>
          <p:nvPr/>
        </p:nvSpPr>
        <p:spPr>
          <a:xfrm>
            <a:off x="822960" y="2651760"/>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להרגיע את המטופל - שיתוק חלקי עם אישון תקין הוא כנראה מיקרווסקולרי ולא מצריך בירור</a:t>
            </a:r>
          </a:p>
        </p:txBody>
      </p:sp>
      <p:sp>
        <p:nvSpPr>
          <p:cNvPr id="12" name="Rounded Rectangle 11"/>
          <p:cNvSpPr/>
          <p:nvPr/>
        </p:nvSpPr>
        <p:spPr>
          <a:xfrm>
            <a:off x="548640" y="3584448"/>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44200" y="3785616"/>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44200" y="3785616"/>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ב</a:t>
            </a:r>
          </a:p>
        </p:txBody>
      </p:sp>
      <p:sp>
        <p:nvSpPr>
          <p:cNvPr id="15" name="TextBox 14"/>
          <p:cNvSpPr txBox="1"/>
          <p:nvPr/>
        </p:nvSpPr>
        <p:spPr>
          <a:xfrm>
            <a:off x="822960" y="3584448"/>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להתחיל סטרואידים ולחכות לשיפור ללא בירור נוסף</a:t>
            </a:r>
          </a:p>
        </p:txBody>
      </p:sp>
      <p:sp>
        <p:nvSpPr>
          <p:cNvPr id="16" name="Rounded Rectangle 15"/>
          <p:cNvSpPr/>
          <p:nvPr/>
        </p:nvSpPr>
        <p:spPr>
          <a:xfrm>
            <a:off x="548640" y="4517136"/>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744200" y="4718304"/>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44200" y="4718304"/>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ג</a:t>
            </a:r>
          </a:p>
        </p:txBody>
      </p:sp>
      <p:sp>
        <p:nvSpPr>
          <p:cNvPr id="19" name="TextBox 18"/>
          <p:cNvSpPr txBox="1"/>
          <p:nvPr/>
        </p:nvSpPr>
        <p:spPr>
          <a:xfrm>
            <a:off x="822960" y="4517136"/>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לבצע הדמיית כלי דם (CTA/MRA) בדחיפות לשלול מפרצת PCOM - כי כל שיתוק עצב שלישי חלקי, גם עם אישון תקין לחלוטין, נחשב אנוריזמה עד שמוכח אחרת; הסיבים האישוניים יושבים בטבעת החיצונית השטחית של העצב, ולכן לחץ חיצוני (כמו מפרצת) עשוי לפגוע בהם מוקדם, אך גם 'לחסוך' אותם בתחילת הדרך</a:t>
            </a:r>
          </a:p>
        </p:txBody>
      </p:sp>
      <p:sp>
        <p:nvSpPr>
          <p:cNvPr id="20" name="Rounded Rectangle 19"/>
          <p:cNvSpPr/>
          <p:nvPr/>
        </p:nvSpPr>
        <p:spPr>
          <a:xfrm>
            <a:off x="548640" y="5449824"/>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744200" y="5650992"/>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44200" y="5650992"/>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ד</a:t>
            </a:r>
          </a:p>
        </p:txBody>
      </p:sp>
      <p:sp>
        <p:nvSpPr>
          <p:cNvPr id="23" name="TextBox 22"/>
          <p:cNvSpPr txBox="1"/>
          <p:nvPr/>
        </p:nvSpPr>
        <p:spPr>
          <a:xfrm>
            <a:off x="822960" y="5449824"/>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להמתין 3 חודשים כמו בשיתוק עצב שישי מיקרווסקולרי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20040"/>
            <a:ext cx="3108960" cy="3657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
            <a:ext cx="3108960" cy="365760"/>
          </a:xfrm>
          <a:prstGeom prst="rect">
            <a:avLst/>
          </a:prstGeom>
          <a:noFill/>
        </p:spPr>
        <p:txBody>
          <a:bodyPr wrap="square" anchor="ctr" lIns="0" rIns="0" tIns="0" bIns="0">
            <a:spAutoFit/>
          </a:bodyPr>
          <a:lstStyle/>
          <a:p>
            <a:pPr algn="ctr" rtl="1"/>
            <a:r>
              <a:rPr sz="1200" b="1">
                <a:solidFill>
                  <a:srgbClr val="FFFFFF"/>
                </a:solidFill>
                <a:latin typeface="Calibri"/>
              </a:rPr>
              <a:t>שיתוק עצב שלישי</a:t>
            </a:r>
          </a:p>
        </p:txBody>
      </p:sp>
      <p:sp>
        <p:nvSpPr>
          <p:cNvPr id="6" name="TextBox 5"/>
          <p:cNvSpPr txBox="1"/>
          <p:nvPr/>
        </p:nvSpPr>
        <p:spPr>
          <a:xfrm>
            <a:off x="548640" y="777240"/>
            <a:ext cx="11064240" cy="640080"/>
          </a:xfrm>
          <a:prstGeom prst="rect">
            <a:avLst/>
          </a:prstGeom>
          <a:noFill/>
        </p:spPr>
        <p:txBody>
          <a:bodyPr wrap="square" anchor="t" lIns="0" rIns="0" tIns="0" bIns="0">
            <a:spAutoFit/>
          </a:bodyPr>
          <a:lstStyle/>
          <a:p>
            <a:pPr algn="r" rtl="1"/>
            <a:r>
              <a:rPr sz="1400" b="1">
                <a:solidFill>
                  <a:srgbClr val="15803D"/>
                </a:solidFill>
                <a:latin typeface="Calibri"/>
              </a:rPr>
              <a:t>התשובה הנכונה: ג) לבצע הדמיית כלי דם (CTA/MRA) בדחיפות לשלול מפרצת PCOM - כי כל שיתוק עצב שלישי חלקי, גם עם אישון תקין לחלוטין, נחשב אנוריזמה עד שמוכח אחרת; הסיבים האישוניים יושבים בטבעת החיצונית השטחית של העצב, ולכן לחץ חיצוני (כמו מפרצת) עשוי לפגוע בהם מוקדם, אך גם 'לחסוך' אותם בתחילת הדרך</a:t>
            </a:r>
          </a:p>
        </p:txBody>
      </p:sp>
      <p:sp>
        <p:nvSpPr>
          <p:cNvPr id="7" name="Rounded Rectangle 6"/>
          <p:cNvSpPr/>
          <p:nvPr/>
        </p:nvSpPr>
        <p:spPr>
          <a:xfrm>
            <a:off x="548640" y="1554480"/>
            <a:ext cx="7406640" cy="1417320"/>
          </a:xfrm>
          <a:prstGeom prst="roundRect">
            <a:avLst/>
          </a:prstGeom>
          <a:solidFill>
            <a:srgbClr val="F8FAFC"/>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27632"/>
            <a:ext cx="7040880" cy="274320"/>
          </a:xfrm>
          <a:prstGeom prst="rect">
            <a:avLst/>
          </a:prstGeom>
          <a:noFill/>
        </p:spPr>
        <p:txBody>
          <a:bodyPr wrap="square" anchor="ctr" lIns="0" rIns="0" tIns="0" bIns="0">
            <a:spAutoFit/>
          </a:bodyPr>
          <a:lstStyle/>
          <a:p>
            <a:pPr algn="r" rtl="1"/>
            <a:r>
              <a:rPr sz="1200" b="1">
                <a:solidFill>
                  <a:srgbClr val="6B7280"/>
                </a:solidFill>
                <a:latin typeface="Calibri"/>
              </a:rPr>
              <a:t>הסבר:</a:t>
            </a:r>
          </a:p>
        </p:txBody>
      </p:sp>
      <p:sp>
        <p:nvSpPr>
          <p:cNvPr id="9" name="TextBox 8"/>
          <p:cNvSpPr txBox="1"/>
          <p:nvPr/>
        </p:nvSpPr>
        <p:spPr>
          <a:xfrm>
            <a:off x="731520" y="1901952"/>
            <a:ext cx="7040880" cy="1005840"/>
          </a:xfrm>
          <a:prstGeom prst="rect">
            <a:avLst/>
          </a:prstGeom>
          <a:noFill/>
        </p:spPr>
        <p:txBody>
          <a:bodyPr wrap="square" anchor="t" lIns="0" rIns="0" tIns="0" bIns="0">
            <a:spAutoFit/>
          </a:bodyPr>
          <a:lstStyle/>
          <a:p>
            <a:pPr algn="r" rtl="1"/>
            <a:r>
              <a:rPr sz="1000" b="0">
                <a:solidFill>
                  <a:srgbClr val="1F2937"/>
                </a:solidFill>
                <a:latin typeface="Calibri"/>
              </a:rPr>
              <a:t>התשובה הנכונה (3): הכלל הקריטי הוא שכל שיתוק עצב שלישי מלא עם מעורבות אישון, וכל שיתוק עצב שלישי חלקי (אפילו עם אישון תקין!) נחשב כתוצאה ממפרצת בעורק המתקשר האחורי (PCOM) עד שמוכח אחרת. הסיבים האישוניים הפאראסימפתטיים עוברים בשוליים החיצוניים (הטבעת) של העצב ונפגעים ראשונים מלחץ חיצוני - אך מכיוון שהחוק הזה לא מוחלט ב-100% (אישון יכול להינצל בתחילת הלחץ), אסור להסתפק באישון תקין בשיתוק חלקי. שיתוק מיקרווסקולרי (איסכמיה סוכרתית/לחץ דם) פוגע בליבה הפנימית של העצב וכמעט תמיד שלם וחוסך את האישון - שם ניתן להרגיע ולהמתין.</a:t>
            </a:r>
          </a:p>
        </p:txBody>
      </p:sp>
      <p:sp>
        <p:nvSpPr>
          <p:cNvPr id="10" name="Rounded Rectangle 9"/>
          <p:cNvSpPr/>
          <p:nvPr/>
        </p:nvSpPr>
        <p:spPr>
          <a:xfrm>
            <a:off x="548640" y="3108960"/>
            <a:ext cx="7406640" cy="914400"/>
          </a:xfrm>
          <a:prstGeom prst="roundRect">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182112"/>
            <a:ext cx="7040880" cy="274320"/>
          </a:xfrm>
          <a:prstGeom prst="rect">
            <a:avLst/>
          </a:prstGeom>
          <a:noFill/>
        </p:spPr>
        <p:txBody>
          <a:bodyPr wrap="square" anchor="ctr" lIns="0" rIns="0" tIns="0" bIns="0">
            <a:spAutoFit/>
          </a:bodyPr>
          <a:lstStyle/>
          <a:p>
            <a:pPr algn="r" rtl="1"/>
            <a:r>
              <a:rPr sz="1150" b="1">
                <a:solidFill>
                  <a:srgbClr val="1E3A8A"/>
                </a:solidFill>
                <a:latin typeface="Calibri"/>
              </a:rPr>
              <a:t>מונח: חוק הטבעת (Rule of the pupil)</a:t>
            </a:r>
          </a:p>
        </p:txBody>
      </p:sp>
      <p:sp>
        <p:nvSpPr>
          <p:cNvPr id="12" name="TextBox 11"/>
          <p:cNvSpPr txBox="1"/>
          <p:nvPr/>
        </p:nvSpPr>
        <p:spPr>
          <a:xfrm>
            <a:off x="731520" y="3474720"/>
            <a:ext cx="7040880" cy="502920"/>
          </a:xfrm>
          <a:prstGeom prst="rect">
            <a:avLst/>
          </a:prstGeom>
          <a:noFill/>
        </p:spPr>
        <p:txBody>
          <a:bodyPr wrap="square" anchor="t" lIns="0" rIns="0" tIns="0" bIns="0">
            <a:spAutoFit/>
          </a:bodyPr>
          <a:lstStyle/>
          <a:p>
            <a:pPr algn="r" rtl="1"/>
            <a:r>
              <a:rPr sz="950" b="0">
                <a:solidFill>
                  <a:srgbClr val="1E3A8A"/>
                </a:solidFill>
                <a:latin typeface="Calibri"/>
              </a:rPr>
              <a:t>הסיבים האישוניים הפאראסימפתטיים יושבים בטבעת החיצונית השטחית של עצב III ונפגעים ראשונים מלחץ חיצוני (אנוריזמה); הסיבים המוטוריים בליבה נפגעים מאיסכמיה פנימית.</a:t>
            </a:r>
          </a:p>
        </p:txBody>
      </p:sp>
      <p:sp>
        <p:nvSpPr>
          <p:cNvPr id="13" name="Rounded Rectangle 12"/>
          <p:cNvSpPr/>
          <p:nvPr/>
        </p:nvSpPr>
        <p:spPr>
          <a:xfrm>
            <a:off x="548640" y="4160520"/>
            <a:ext cx="7406640" cy="1417320"/>
          </a:xfrm>
          <a:prstGeom prst="roundRect">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233672"/>
            <a:ext cx="7040880" cy="274320"/>
          </a:xfrm>
          <a:prstGeom prst="rect">
            <a:avLst/>
          </a:prstGeom>
          <a:noFill/>
        </p:spPr>
        <p:txBody>
          <a:bodyPr wrap="square" anchor="ctr" lIns="0" rIns="0" tIns="0" bIns="0">
            <a:spAutoFit/>
          </a:bodyPr>
          <a:lstStyle/>
          <a:p>
            <a:pPr algn="r" rtl="1"/>
            <a:r>
              <a:rPr sz="1150" b="1">
                <a:solidFill>
                  <a:srgbClr val="5B21B6"/>
                </a:solidFill>
                <a:latin typeface="Calibri"/>
              </a:rPr>
              <a:t>סיפור לזכירה</a:t>
            </a:r>
          </a:p>
        </p:txBody>
      </p:sp>
      <p:sp>
        <p:nvSpPr>
          <p:cNvPr id="15" name="TextBox 14"/>
          <p:cNvSpPr txBox="1"/>
          <p:nvPr/>
        </p:nvSpPr>
        <p:spPr>
          <a:xfrm>
            <a:off x="731520" y="4526280"/>
            <a:ext cx="7040880" cy="502920"/>
          </a:xfrm>
          <a:prstGeom prst="rect">
            <a:avLst/>
          </a:prstGeom>
          <a:noFill/>
        </p:spPr>
        <p:txBody>
          <a:bodyPr wrap="square" anchor="t" lIns="0" rIns="0" tIns="0" bIns="0">
            <a:spAutoFit/>
          </a:bodyPr>
          <a:lstStyle/>
          <a:p>
            <a:pPr algn="r" rtl="1"/>
            <a:r>
              <a:rPr sz="950" b="0">
                <a:solidFill>
                  <a:srgbClr val="4C1D95"/>
                </a:solidFill>
                <a:latin typeface="Calibri"/>
              </a:rPr>
              <a:t>דמייני כבל חוטים עגול: הסיבים לאישון יושבים בטבעת החיצונית, בשטחיות; הסיבים לשרירי העין יושבים בליבה הפנימית. לחץ חיצוני (אנוריזמת PCOM) 'לוחץ את הטבעת החיצונית' - האישון נפגע ראשון, ולפעמים לבדו. איסכמיה פוגעת בכלי הדם הקטנים שמזינים את הליבה - והטבעת החיצונית, עם האישון, נשארת בריאה.</a:t>
            </a:r>
          </a:p>
        </p:txBody>
      </p:sp>
      <p:sp>
        <p:nvSpPr>
          <p:cNvPr id="16" name="TextBox 15"/>
          <p:cNvSpPr txBox="1"/>
          <p:nvPr/>
        </p:nvSpPr>
        <p:spPr>
          <a:xfrm>
            <a:off x="731520" y="5047488"/>
            <a:ext cx="7040880" cy="502920"/>
          </a:xfrm>
          <a:prstGeom prst="rect">
            <a:avLst/>
          </a:prstGeom>
          <a:noFill/>
        </p:spPr>
        <p:txBody>
          <a:bodyPr wrap="square" anchor="t" lIns="0" rIns="0" tIns="0" bIns="0">
            <a:spAutoFit/>
          </a:bodyPr>
          <a:lstStyle/>
          <a:p>
            <a:pPr algn="r" rtl="1"/>
            <a:r>
              <a:rPr sz="900" b="0">
                <a:solidFill>
                  <a:srgbClr val="5B21B6"/>
                </a:solidFill>
                <a:latin typeface="Calibri"/>
              </a:rPr>
              <a:t>שאלי את עצמך: איך היית מיישמת את העיקרון הזה במקרה קליני אמיתי?</a:t>
            </a:r>
          </a:p>
        </p:txBody>
      </p:sp>
      <p:sp>
        <p:nvSpPr>
          <p:cNvPr id="17" name="TextBox 16"/>
          <p:cNvSpPr txBox="1"/>
          <p:nvPr/>
        </p:nvSpPr>
        <p:spPr>
          <a:xfrm>
            <a:off x="8138160" y="1554480"/>
            <a:ext cx="3474720" cy="320040"/>
          </a:xfrm>
          <a:prstGeom prst="rect">
            <a:avLst/>
          </a:prstGeom>
          <a:noFill/>
        </p:spPr>
        <p:txBody>
          <a:bodyPr wrap="square" anchor="ctr" lIns="0" rIns="0" tIns="0" bIns="0">
            <a:spAutoFit/>
          </a:bodyPr>
          <a:lstStyle/>
          <a:p>
            <a:pPr algn="r" rtl="1"/>
            <a:r>
              <a:rPr sz="1250" b="1">
                <a:solidFill>
                  <a:srgbClr val="6B7280"/>
                </a:solidFill>
                <a:latin typeface="Calibri"/>
              </a:rPr>
              <a:t>מה קורה בפועל:</a:t>
            </a:r>
          </a:p>
        </p:txBody>
      </p:sp>
      <p:sp>
        <p:nvSpPr>
          <p:cNvPr id="18" name="Rounded Rectangle 17"/>
          <p:cNvSpPr/>
          <p:nvPr/>
        </p:nvSpPr>
        <p:spPr>
          <a:xfrm>
            <a:off x="8138160" y="1920240"/>
            <a:ext cx="3474720" cy="777240"/>
          </a:xfrm>
          <a:prstGeom prst="roundRect">
            <a:avLst/>
          </a:prstGeom>
          <a:solidFill>
            <a:srgbClr val="B91C1C"/>
          </a:solidFill>
          <a:ln w="1587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292840" y="2176272"/>
            <a:ext cx="256032" cy="256032"/>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97510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שיתוק שלם+אישון חסוך = מיקרווסקולרי סביר</a:t>
            </a:r>
          </a:p>
        </p:txBody>
      </p:sp>
      <p:sp>
        <p:nvSpPr>
          <p:cNvPr id="21" name="Rounded Rectangle 20"/>
          <p:cNvSpPr/>
          <p:nvPr/>
        </p:nvSpPr>
        <p:spPr>
          <a:xfrm>
            <a:off x="8138160" y="2788920"/>
            <a:ext cx="3474720" cy="777240"/>
          </a:xfrm>
          <a:prstGeom prst="roundRect">
            <a:avLst/>
          </a:prstGeom>
          <a:solidFill>
            <a:srgbClr val="B45309"/>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292840" y="3044952"/>
            <a:ext cx="256032" cy="25603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284378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שיתוק חלקי (כל מצב אישון) = מפרצת עד שמוכח אחרת</a:t>
            </a:r>
          </a:p>
        </p:txBody>
      </p:sp>
      <p:sp>
        <p:nvSpPr>
          <p:cNvPr id="24" name="Rounded Rectangle 23"/>
          <p:cNvSpPr/>
          <p:nvPr/>
        </p:nvSpPr>
        <p:spPr>
          <a:xfrm>
            <a:off x="8138160" y="3657600"/>
            <a:ext cx="3474720" cy="777240"/>
          </a:xfrm>
          <a:prstGeom prst="roundRect">
            <a:avLst/>
          </a:prstGeom>
          <a:solidFill>
            <a:srgbClr val="1C7293"/>
          </a:solidFill>
          <a:ln w="15875">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292840" y="3913632"/>
            <a:ext cx="256032" cy="25603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20" y="371246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סיבי אישון שטחיים בטבעת - פגיעים ללחץ חיצוני</a:t>
            </a:r>
          </a:p>
        </p:txBody>
      </p:sp>
      <p:sp>
        <p:nvSpPr>
          <p:cNvPr id="27" name="TextBox 26"/>
          <p:cNvSpPr txBox="1"/>
          <p:nvPr/>
        </p:nvSpPr>
        <p:spPr>
          <a:xfrm>
            <a:off x="548640" y="6446520"/>
            <a:ext cx="11064240" cy="320040"/>
          </a:xfrm>
          <a:prstGeom prst="rect">
            <a:avLst/>
          </a:prstGeom>
          <a:noFill/>
        </p:spPr>
        <p:txBody>
          <a:bodyPr wrap="square" anchor="ctr" lIns="0" rIns="0" tIns="0" bIns="0">
            <a:spAutoFit/>
          </a:bodyPr>
          <a:lstStyle/>
          <a:p>
            <a:pPr algn="ctr" rtl="1"/>
            <a:r>
              <a:rPr sz="900" b="0">
                <a:solidFill>
                  <a:srgbClr val="9CA3AF"/>
                </a:solidFill>
                <a:latin typeface="Calibri"/>
              </a:rPr>
              <a:t>מצגת סטטית — ללא ניקוד חי. לתרגול עם סטטיסטיקה בזמן אמת, השתמשו באתר הכרטיסיות המקוון.</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65760"/>
            <a:ext cx="310896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65760"/>
            <a:ext cx="3108960" cy="384048"/>
          </a:xfrm>
          <a:prstGeom prst="rect">
            <a:avLst/>
          </a:prstGeom>
          <a:noFill/>
        </p:spPr>
        <p:txBody>
          <a:bodyPr wrap="square" anchor="ctr" lIns="0" rIns="0" tIns="0" bIns="0">
            <a:spAutoFit/>
          </a:bodyPr>
          <a:lstStyle/>
          <a:p>
            <a:pPr algn="ctr" rtl="1"/>
            <a:r>
              <a:rPr sz="1250" b="1">
                <a:solidFill>
                  <a:srgbClr val="FFFFFF"/>
                </a:solidFill>
                <a:latin typeface="Calibri"/>
              </a:rPr>
              <a:t>שיתוק עצבים IV ו-VI</a:t>
            </a:r>
          </a:p>
        </p:txBody>
      </p:sp>
      <p:sp>
        <p:nvSpPr>
          <p:cNvPr id="6" name="TextBox 5"/>
          <p:cNvSpPr txBox="1"/>
          <p:nvPr/>
        </p:nvSpPr>
        <p:spPr>
          <a:xfrm>
            <a:off x="8531352" y="365760"/>
            <a:ext cx="3108960" cy="384048"/>
          </a:xfrm>
          <a:prstGeom prst="rect">
            <a:avLst/>
          </a:prstGeom>
          <a:noFill/>
        </p:spPr>
        <p:txBody>
          <a:bodyPr wrap="square" anchor="ctr" lIns="0" rIns="0" tIns="0" bIns="0">
            <a:spAutoFit/>
          </a:bodyPr>
          <a:lstStyle/>
          <a:p>
            <a:pPr algn="l" rtl="1"/>
            <a:r>
              <a:rPr sz="1200" b="0">
                <a:solidFill>
                  <a:srgbClr val="9CA3AF"/>
                </a:solidFill>
                <a:latin typeface="Calibri"/>
              </a:rPr>
              <a:t>כרטיסייה 6 מתוך 8</a:t>
            </a:r>
          </a:p>
        </p:txBody>
      </p:sp>
      <p:sp>
        <p:nvSpPr>
          <p:cNvPr id="7" name="TextBox 6"/>
          <p:cNvSpPr txBox="1"/>
          <p:nvPr/>
        </p:nvSpPr>
        <p:spPr>
          <a:xfrm>
            <a:off x="548640" y="1005840"/>
            <a:ext cx="11064240" cy="1463040"/>
          </a:xfrm>
          <a:prstGeom prst="rect">
            <a:avLst/>
          </a:prstGeom>
          <a:noFill/>
        </p:spPr>
        <p:txBody>
          <a:bodyPr wrap="square" anchor="t" lIns="0" rIns="0" tIns="0" bIns="0">
            <a:spAutoFit/>
          </a:bodyPr>
          <a:lstStyle/>
          <a:p>
            <a:pPr algn="r" rtl="1"/>
            <a:r>
              <a:rPr sz="2000" b="1">
                <a:solidFill>
                  <a:srgbClr val="1F2937"/>
                </a:solidFill>
                <a:latin typeface="Calibri"/>
              </a:rPr>
              <a:t>מטופל בן 55 עם סוכרת מפתח אזוטרופיה (עין פנימה) מבודדת שמחמירה בהבטה שמאלה. מטופל אחר בן 30 עם שיתוק עצב שישי מבודד ללא גורמי סיכון וסקולריים. מה ההבדל בגישה הקלינית?</a:t>
            </a:r>
          </a:p>
        </p:txBody>
      </p:sp>
      <p:sp>
        <p:nvSpPr>
          <p:cNvPr id="8" name="Rounded Rectangle 7"/>
          <p:cNvSpPr/>
          <p:nvPr/>
        </p:nvSpPr>
        <p:spPr>
          <a:xfrm>
            <a:off x="548640" y="2651760"/>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744200" y="2852928"/>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44200" y="2852928"/>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א</a:t>
            </a:r>
          </a:p>
        </p:txBody>
      </p:sp>
      <p:sp>
        <p:nvSpPr>
          <p:cNvPr id="11" name="TextBox 10"/>
          <p:cNvSpPr txBox="1"/>
          <p:nvPr/>
        </p:nvSpPr>
        <p:spPr>
          <a:xfrm>
            <a:off x="822960" y="2651760"/>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שני המקרים מטופלים באופן זהה - ללא צורך בהדמיה כלל</a:t>
            </a:r>
          </a:p>
        </p:txBody>
      </p:sp>
      <p:sp>
        <p:nvSpPr>
          <p:cNvPr id="12" name="Rounded Rectangle 11"/>
          <p:cNvSpPr/>
          <p:nvPr/>
        </p:nvSpPr>
        <p:spPr>
          <a:xfrm>
            <a:off x="548640" y="3584448"/>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44200" y="3785616"/>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44200" y="3785616"/>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ב</a:t>
            </a:r>
          </a:p>
        </p:txBody>
      </p:sp>
      <p:sp>
        <p:nvSpPr>
          <p:cNvPr id="15" name="TextBox 14"/>
          <p:cNvSpPr txBox="1"/>
          <p:nvPr/>
        </p:nvSpPr>
        <p:spPr>
          <a:xfrm>
            <a:off x="822960" y="3584448"/>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בגיל מעל 45 עם גורמי סיכון וסקולריים (כמו המטופל הראשון) - שיתוק עצב שישי מבודד סביר שהוא מיקרווסקולרי עם החלמה צפויה בתוך 3 חודשים; אך גיל מתחת ל-45 עם שיתוק מבודד (כמו המטופל השני) מחייב חשד לגידול (כמו גליומה בגזע המוח) ודורש הדמיה</a:t>
            </a:r>
          </a:p>
        </p:txBody>
      </p:sp>
      <p:sp>
        <p:nvSpPr>
          <p:cNvPr id="16" name="Rounded Rectangle 15"/>
          <p:cNvSpPr/>
          <p:nvPr/>
        </p:nvSpPr>
        <p:spPr>
          <a:xfrm>
            <a:off x="548640" y="4517136"/>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744200" y="4718304"/>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44200" y="4718304"/>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ג</a:t>
            </a:r>
          </a:p>
        </p:txBody>
      </p:sp>
      <p:sp>
        <p:nvSpPr>
          <p:cNvPr id="19" name="TextBox 18"/>
          <p:cNvSpPr txBox="1"/>
          <p:nvPr/>
        </p:nvSpPr>
        <p:spPr>
          <a:xfrm>
            <a:off x="822960" y="4517136"/>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שניהם דורשים ניתוח מיידי</a:t>
            </a:r>
          </a:p>
        </p:txBody>
      </p:sp>
      <p:sp>
        <p:nvSpPr>
          <p:cNvPr id="20" name="Rounded Rectangle 19"/>
          <p:cNvSpPr/>
          <p:nvPr/>
        </p:nvSpPr>
        <p:spPr>
          <a:xfrm>
            <a:off x="548640" y="5449824"/>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744200" y="5650992"/>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44200" y="5650992"/>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ד</a:t>
            </a:r>
          </a:p>
        </p:txBody>
      </p:sp>
      <p:sp>
        <p:nvSpPr>
          <p:cNvPr id="23" name="TextBox 22"/>
          <p:cNvSpPr txBox="1"/>
          <p:nvPr/>
        </p:nvSpPr>
        <p:spPr>
          <a:xfrm>
            <a:off x="822960" y="5449824"/>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גיל אינו גורם רלוונטי כלל בהערכת שיתוק עצב שישי</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20040"/>
            <a:ext cx="3108960" cy="3657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
            <a:ext cx="3108960" cy="365760"/>
          </a:xfrm>
          <a:prstGeom prst="rect">
            <a:avLst/>
          </a:prstGeom>
          <a:noFill/>
        </p:spPr>
        <p:txBody>
          <a:bodyPr wrap="square" anchor="ctr" lIns="0" rIns="0" tIns="0" bIns="0">
            <a:spAutoFit/>
          </a:bodyPr>
          <a:lstStyle/>
          <a:p>
            <a:pPr algn="ctr" rtl="1"/>
            <a:r>
              <a:rPr sz="1200" b="1">
                <a:solidFill>
                  <a:srgbClr val="FFFFFF"/>
                </a:solidFill>
                <a:latin typeface="Calibri"/>
              </a:rPr>
              <a:t>שיתוק עצבים IV ו-VI</a:t>
            </a:r>
          </a:p>
        </p:txBody>
      </p:sp>
      <p:sp>
        <p:nvSpPr>
          <p:cNvPr id="6" name="TextBox 5"/>
          <p:cNvSpPr txBox="1"/>
          <p:nvPr/>
        </p:nvSpPr>
        <p:spPr>
          <a:xfrm>
            <a:off x="548640" y="777240"/>
            <a:ext cx="11064240" cy="640080"/>
          </a:xfrm>
          <a:prstGeom prst="rect">
            <a:avLst/>
          </a:prstGeom>
          <a:noFill/>
        </p:spPr>
        <p:txBody>
          <a:bodyPr wrap="square" anchor="t" lIns="0" rIns="0" tIns="0" bIns="0">
            <a:spAutoFit/>
          </a:bodyPr>
          <a:lstStyle/>
          <a:p>
            <a:pPr algn="r" rtl="1"/>
            <a:r>
              <a:rPr sz="1400" b="1">
                <a:solidFill>
                  <a:srgbClr val="15803D"/>
                </a:solidFill>
                <a:latin typeface="Calibri"/>
              </a:rPr>
              <a:t>התשובה הנכונה: ב) בגיל מעל 45 עם גורמי סיכון וסקולריים (כמו המטופל הראשון) - שיתוק עצב שישי מבודד סביר שהוא מיקרווסקולרי עם החלמה צפויה בתוך 3 חודשים; אך גיל מתחת ל-45 עם שיתוק מבודד (כמו המטופל השני) מחייב חשד לגידול (כמו גליומה בגזע המוח) ודורש הדמיה</a:t>
            </a:r>
          </a:p>
        </p:txBody>
      </p:sp>
      <p:sp>
        <p:nvSpPr>
          <p:cNvPr id="7" name="Rounded Rectangle 6"/>
          <p:cNvSpPr/>
          <p:nvPr/>
        </p:nvSpPr>
        <p:spPr>
          <a:xfrm>
            <a:off x="548640" y="1554480"/>
            <a:ext cx="7406640" cy="1417320"/>
          </a:xfrm>
          <a:prstGeom prst="roundRect">
            <a:avLst/>
          </a:prstGeom>
          <a:solidFill>
            <a:srgbClr val="F8FAFC"/>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27632"/>
            <a:ext cx="7040880" cy="274320"/>
          </a:xfrm>
          <a:prstGeom prst="rect">
            <a:avLst/>
          </a:prstGeom>
          <a:noFill/>
        </p:spPr>
        <p:txBody>
          <a:bodyPr wrap="square" anchor="ctr" lIns="0" rIns="0" tIns="0" bIns="0">
            <a:spAutoFit/>
          </a:bodyPr>
          <a:lstStyle/>
          <a:p>
            <a:pPr algn="r" rtl="1"/>
            <a:r>
              <a:rPr sz="1200" b="1">
                <a:solidFill>
                  <a:srgbClr val="6B7280"/>
                </a:solidFill>
                <a:latin typeface="Calibri"/>
              </a:rPr>
              <a:t>הסבר:</a:t>
            </a:r>
          </a:p>
        </p:txBody>
      </p:sp>
      <p:sp>
        <p:nvSpPr>
          <p:cNvPr id="9" name="TextBox 8"/>
          <p:cNvSpPr txBox="1"/>
          <p:nvPr/>
        </p:nvSpPr>
        <p:spPr>
          <a:xfrm>
            <a:off x="731520" y="1901952"/>
            <a:ext cx="7040880" cy="1005840"/>
          </a:xfrm>
          <a:prstGeom prst="rect">
            <a:avLst/>
          </a:prstGeom>
          <a:noFill/>
        </p:spPr>
        <p:txBody>
          <a:bodyPr wrap="square" anchor="t" lIns="0" rIns="0" tIns="0" bIns="0">
            <a:spAutoFit/>
          </a:bodyPr>
          <a:lstStyle/>
          <a:p>
            <a:pPr algn="r" rtl="1"/>
            <a:r>
              <a:rPr sz="1000" b="0">
                <a:solidFill>
                  <a:srgbClr val="1F2937"/>
                </a:solidFill>
                <a:latin typeface="Calibri"/>
              </a:rPr>
              <a:t>התשובה הנכונה (2): עצב שישי (abducens) גורם לאזוטרופיה (עין פנימה) שמחמירה בהבטה לכיוון הפגוע. בגיל מעל 45 עם גורמי סיכון וסקולריים, שיתוק מבודד סביר שהוא מיקרווסקולרי עם החלמה תוך 3 חודשים - ניתן לעקוב. גיל מתחת ל-45 עם שיתוק מבודד מחייב חשד לגידול (כמו גליומה גזע מוח) ודורש בירור הדמייתי. (לשם השלמה: עצב רביעי - דיפלופיה אנכית עם תמונה משופעת, מוחמרת באדוקציה והטיית ראש לצד הפגוע, עם הטיית ראש מגננתית נגדית.)</a:t>
            </a:r>
          </a:p>
        </p:txBody>
      </p:sp>
      <p:sp>
        <p:nvSpPr>
          <p:cNvPr id="10" name="Rounded Rectangle 9"/>
          <p:cNvSpPr/>
          <p:nvPr/>
        </p:nvSpPr>
        <p:spPr>
          <a:xfrm>
            <a:off x="548640" y="3108960"/>
            <a:ext cx="7406640" cy="914400"/>
          </a:xfrm>
          <a:prstGeom prst="roundRect">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182112"/>
            <a:ext cx="7040880" cy="274320"/>
          </a:xfrm>
          <a:prstGeom prst="rect">
            <a:avLst/>
          </a:prstGeom>
          <a:noFill/>
        </p:spPr>
        <p:txBody>
          <a:bodyPr wrap="square" anchor="ctr" lIns="0" rIns="0" tIns="0" bIns="0">
            <a:spAutoFit/>
          </a:bodyPr>
          <a:lstStyle/>
          <a:p>
            <a:pPr algn="r" rtl="1"/>
            <a:r>
              <a:rPr sz="1150" b="1">
                <a:solidFill>
                  <a:srgbClr val="1E3A8A"/>
                </a:solidFill>
                <a:latin typeface="Calibri"/>
              </a:rPr>
              <a:t>מונח: שיתוק עצב שישי (Abducens)</a:t>
            </a:r>
          </a:p>
        </p:txBody>
      </p:sp>
      <p:sp>
        <p:nvSpPr>
          <p:cNvPr id="12" name="TextBox 11"/>
          <p:cNvSpPr txBox="1"/>
          <p:nvPr/>
        </p:nvSpPr>
        <p:spPr>
          <a:xfrm>
            <a:off x="731520" y="3474720"/>
            <a:ext cx="7040880" cy="502920"/>
          </a:xfrm>
          <a:prstGeom prst="rect">
            <a:avLst/>
          </a:prstGeom>
          <a:noFill/>
        </p:spPr>
        <p:txBody>
          <a:bodyPr wrap="square" anchor="t" lIns="0" rIns="0" tIns="0" bIns="0">
            <a:spAutoFit/>
          </a:bodyPr>
          <a:lstStyle/>
          <a:p>
            <a:pPr algn="r" rtl="1"/>
            <a:r>
              <a:rPr sz="950" b="0">
                <a:solidFill>
                  <a:srgbClr val="1E3A8A"/>
                </a:solidFill>
                <a:latin typeface="Calibri"/>
              </a:rPr>
              <a:t>חולשת השריר הישר החיצוני הגורמת לאזוטרופיה שמחמירה בהבטה לכיוון העין הפגועה; הגורם תלוי בגיל וגורמי סיכון וסקולריים.</a:t>
            </a:r>
          </a:p>
        </p:txBody>
      </p:sp>
      <p:sp>
        <p:nvSpPr>
          <p:cNvPr id="13" name="Rounded Rectangle 12"/>
          <p:cNvSpPr/>
          <p:nvPr/>
        </p:nvSpPr>
        <p:spPr>
          <a:xfrm>
            <a:off x="548640" y="4160520"/>
            <a:ext cx="7406640" cy="1417320"/>
          </a:xfrm>
          <a:prstGeom prst="roundRect">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233672"/>
            <a:ext cx="7040880" cy="274320"/>
          </a:xfrm>
          <a:prstGeom prst="rect">
            <a:avLst/>
          </a:prstGeom>
          <a:noFill/>
        </p:spPr>
        <p:txBody>
          <a:bodyPr wrap="square" anchor="ctr" lIns="0" rIns="0" tIns="0" bIns="0">
            <a:spAutoFit/>
          </a:bodyPr>
          <a:lstStyle/>
          <a:p>
            <a:pPr algn="r" rtl="1"/>
            <a:r>
              <a:rPr sz="1150" b="1">
                <a:solidFill>
                  <a:srgbClr val="5B21B6"/>
                </a:solidFill>
                <a:latin typeface="Calibri"/>
              </a:rPr>
              <a:t>סיפור לזכירה</a:t>
            </a:r>
          </a:p>
        </p:txBody>
      </p:sp>
      <p:sp>
        <p:nvSpPr>
          <p:cNvPr id="15" name="TextBox 14"/>
          <p:cNvSpPr txBox="1"/>
          <p:nvPr/>
        </p:nvSpPr>
        <p:spPr>
          <a:xfrm>
            <a:off x="731520" y="4526280"/>
            <a:ext cx="7040880" cy="502920"/>
          </a:xfrm>
          <a:prstGeom prst="rect">
            <a:avLst/>
          </a:prstGeom>
          <a:noFill/>
        </p:spPr>
        <p:txBody>
          <a:bodyPr wrap="square" anchor="t" lIns="0" rIns="0" tIns="0" bIns="0">
            <a:spAutoFit/>
          </a:bodyPr>
          <a:lstStyle/>
          <a:p>
            <a:pPr algn="r" rtl="1"/>
            <a:r>
              <a:rPr sz="950" b="0">
                <a:solidFill>
                  <a:srgbClr val="4C1D95"/>
                </a:solidFill>
                <a:latin typeface="Calibri"/>
              </a:rPr>
              <a:t>דמייני שני סוגי תקלות באותו מכונאי רכב: רכב ישן עם היסטוריית תקלות (גיל מעל 45, גורמי סיכון) - סביר שזו בלאי שגרתי שיחלוף מעצמו; רכב חדש ללא כל היסטוריה (גיל מתחת ל-45) - תקלה בו מחייבת בדיקה יסודית, כי משהו לא-שגרתי קורה.</a:t>
            </a:r>
          </a:p>
        </p:txBody>
      </p:sp>
      <p:sp>
        <p:nvSpPr>
          <p:cNvPr id="16" name="TextBox 15"/>
          <p:cNvSpPr txBox="1"/>
          <p:nvPr/>
        </p:nvSpPr>
        <p:spPr>
          <a:xfrm>
            <a:off x="731520" y="5047488"/>
            <a:ext cx="7040880" cy="502920"/>
          </a:xfrm>
          <a:prstGeom prst="rect">
            <a:avLst/>
          </a:prstGeom>
          <a:noFill/>
        </p:spPr>
        <p:txBody>
          <a:bodyPr wrap="square" anchor="t" lIns="0" rIns="0" tIns="0" bIns="0">
            <a:spAutoFit/>
          </a:bodyPr>
          <a:lstStyle/>
          <a:p>
            <a:pPr algn="r" rtl="1"/>
            <a:r>
              <a:rPr sz="900" b="0">
                <a:solidFill>
                  <a:srgbClr val="5B21B6"/>
                </a:solidFill>
                <a:latin typeface="Calibri"/>
              </a:rPr>
              <a:t>שאלי את עצמך: איך היית מיישמת את העיקרון הזה במקרה קליני אמיתי?</a:t>
            </a:r>
          </a:p>
        </p:txBody>
      </p:sp>
      <p:sp>
        <p:nvSpPr>
          <p:cNvPr id="17" name="TextBox 16"/>
          <p:cNvSpPr txBox="1"/>
          <p:nvPr/>
        </p:nvSpPr>
        <p:spPr>
          <a:xfrm>
            <a:off x="8138160" y="1554480"/>
            <a:ext cx="3474720" cy="320040"/>
          </a:xfrm>
          <a:prstGeom prst="rect">
            <a:avLst/>
          </a:prstGeom>
          <a:noFill/>
        </p:spPr>
        <p:txBody>
          <a:bodyPr wrap="square" anchor="ctr" lIns="0" rIns="0" tIns="0" bIns="0">
            <a:spAutoFit/>
          </a:bodyPr>
          <a:lstStyle/>
          <a:p>
            <a:pPr algn="r" rtl="1"/>
            <a:r>
              <a:rPr sz="1250" b="1">
                <a:solidFill>
                  <a:srgbClr val="6B7280"/>
                </a:solidFill>
                <a:latin typeface="Calibri"/>
              </a:rPr>
              <a:t>מה קורה בפועל:</a:t>
            </a:r>
          </a:p>
        </p:txBody>
      </p:sp>
      <p:sp>
        <p:nvSpPr>
          <p:cNvPr id="18" name="Rounded Rectangle 17"/>
          <p:cNvSpPr/>
          <p:nvPr/>
        </p:nvSpPr>
        <p:spPr>
          <a:xfrm>
            <a:off x="8138160" y="1920240"/>
            <a:ext cx="3474720" cy="777240"/>
          </a:xfrm>
          <a:prstGeom prst="roundRect">
            <a:avLst/>
          </a:prstGeom>
          <a:solidFill>
            <a:srgbClr val="B91C1C"/>
          </a:solidFill>
          <a:ln w="1587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292840" y="2176272"/>
            <a:ext cx="256032" cy="256032"/>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97510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גיל &gt;45 + גורמי סיכון = מיקרווסקולרי, מעקב</a:t>
            </a:r>
          </a:p>
        </p:txBody>
      </p:sp>
      <p:sp>
        <p:nvSpPr>
          <p:cNvPr id="21" name="Rounded Rectangle 20"/>
          <p:cNvSpPr/>
          <p:nvPr/>
        </p:nvSpPr>
        <p:spPr>
          <a:xfrm>
            <a:off x="8138160" y="2788920"/>
            <a:ext cx="3474720" cy="777240"/>
          </a:xfrm>
          <a:prstGeom prst="roundRect">
            <a:avLst/>
          </a:prstGeom>
          <a:solidFill>
            <a:srgbClr val="B45309"/>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292840" y="3044952"/>
            <a:ext cx="256032" cy="25603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284378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גיל &lt;45 מבודד = חשד לגידול, הדמיה</a:t>
            </a:r>
          </a:p>
        </p:txBody>
      </p:sp>
      <p:sp>
        <p:nvSpPr>
          <p:cNvPr id="24" name="Rounded Rectangle 23"/>
          <p:cNvSpPr/>
          <p:nvPr/>
        </p:nvSpPr>
        <p:spPr>
          <a:xfrm>
            <a:off x="8138160" y="3657600"/>
            <a:ext cx="3474720" cy="777240"/>
          </a:xfrm>
          <a:prstGeom prst="roundRect">
            <a:avLst/>
          </a:prstGeom>
          <a:solidFill>
            <a:srgbClr val="1C7293"/>
          </a:solidFill>
          <a:ln w="15875">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292840" y="3913632"/>
            <a:ext cx="256032" cy="25603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20" y="371246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עצב VI: אזוטרופיה מחמירה בהבטה לכיוון הפגוע</a:t>
            </a:r>
          </a:p>
        </p:txBody>
      </p:sp>
      <p:sp>
        <p:nvSpPr>
          <p:cNvPr id="27" name="TextBox 26"/>
          <p:cNvSpPr txBox="1"/>
          <p:nvPr/>
        </p:nvSpPr>
        <p:spPr>
          <a:xfrm>
            <a:off x="548640" y="6446520"/>
            <a:ext cx="11064240" cy="320040"/>
          </a:xfrm>
          <a:prstGeom prst="rect">
            <a:avLst/>
          </a:prstGeom>
          <a:noFill/>
        </p:spPr>
        <p:txBody>
          <a:bodyPr wrap="square" anchor="ctr" lIns="0" rIns="0" tIns="0" bIns="0">
            <a:spAutoFit/>
          </a:bodyPr>
          <a:lstStyle/>
          <a:p>
            <a:pPr algn="ctr" rtl="1"/>
            <a:r>
              <a:rPr sz="900" b="0">
                <a:solidFill>
                  <a:srgbClr val="9CA3AF"/>
                </a:solidFill>
                <a:latin typeface="Calibri"/>
              </a:rPr>
              <a:t>מצגת סטטית — ללא ניקוד חי. לתרגול עם סטטיסטיקה בזמן אמת, השתמשו באתר הכרטיסיות המקוון.</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65760"/>
            <a:ext cx="310896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65760"/>
            <a:ext cx="3108960" cy="384048"/>
          </a:xfrm>
          <a:prstGeom prst="rect">
            <a:avLst/>
          </a:prstGeom>
          <a:noFill/>
        </p:spPr>
        <p:txBody>
          <a:bodyPr wrap="square" anchor="ctr" lIns="0" rIns="0" tIns="0" bIns="0">
            <a:spAutoFit/>
          </a:bodyPr>
          <a:lstStyle/>
          <a:p>
            <a:pPr algn="ctr" rtl="1"/>
            <a:r>
              <a:rPr sz="1250" b="1">
                <a:solidFill>
                  <a:srgbClr val="FFFFFF"/>
                </a:solidFill>
                <a:latin typeface="Calibri"/>
              </a:rPr>
              <a:t>אניסוקוריה</a:t>
            </a:r>
          </a:p>
        </p:txBody>
      </p:sp>
      <p:sp>
        <p:nvSpPr>
          <p:cNvPr id="6" name="TextBox 5"/>
          <p:cNvSpPr txBox="1"/>
          <p:nvPr/>
        </p:nvSpPr>
        <p:spPr>
          <a:xfrm>
            <a:off x="8531352" y="365760"/>
            <a:ext cx="3108960" cy="384048"/>
          </a:xfrm>
          <a:prstGeom prst="rect">
            <a:avLst/>
          </a:prstGeom>
          <a:noFill/>
        </p:spPr>
        <p:txBody>
          <a:bodyPr wrap="square" anchor="ctr" lIns="0" rIns="0" tIns="0" bIns="0">
            <a:spAutoFit/>
          </a:bodyPr>
          <a:lstStyle/>
          <a:p>
            <a:pPr algn="l" rtl="1"/>
            <a:r>
              <a:rPr sz="1200" b="0">
                <a:solidFill>
                  <a:srgbClr val="9CA3AF"/>
                </a:solidFill>
                <a:latin typeface="Calibri"/>
              </a:rPr>
              <a:t>כרטיסייה 7 מתוך 8</a:t>
            </a:r>
          </a:p>
        </p:txBody>
      </p:sp>
      <p:sp>
        <p:nvSpPr>
          <p:cNvPr id="7" name="TextBox 6"/>
          <p:cNvSpPr txBox="1"/>
          <p:nvPr/>
        </p:nvSpPr>
        <p:spPr>
          <a:xfrm>
            <a:off x="548640" y="1005840"/>
            <a:ext cx="11064240" cy="1463040"/>
          </a:xfrm>
          <a:prstGeom prst="rect">
            <a:avLst/>
          </a:prstGeom>
          <a:noFill/>
        </p:spPr>
        <p:txBody>
          <a:bodyPr wrap="square" anchor="t" lIns="0" rIns="0" tIns="0" bIns="0">
            <a:spAutoFit/>
          </a:bodyPr>
          <a:lstStyle/>
          <a:p>
            <a:pPr algn="r" rtl="1"/>
            <a:r>
              <a:rPr sz="2000" b="1">
                <a:solidFill>
                  <a:srgbClr val="1F2937"/>
                </a:solidFill>
                <a:latin typeface="Calibri"/>
              </a:rPr>
              <a:t>כיצד ניתן להבדיל קלינית בין אניסוקוריה הנובעת מתסמונת הורנר לבין אניסוקוריה הנובעת משיתוק עצב שלישי, Adie או מידריאזיס תרופתי - רק על סמך תנאי התאורה?</a:t>
            </a:r>
          </a:p>
        </p:txBody>
      </p:sp>
      <p:sp>
        <p:nvSpPr>
          <p:cNvPr id="8" name="Rounded Rectangle 7"/>
          <p:cNvSpPr/>
          <p:nvPr/>
        </p:nvSpPr>
        <p:spPr>
          <a:xfrm>
            <a:off x="548640" y="2651760"/>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744200" y="2852928"/>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44200" y="2852928"/>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א</a:t>
            </a:r>
          </a:p>
        </p:txBody>
      </p:sp>
      <p:sp>
        <p:nvSpPr>
          <p:cNvPr id="11" name="TextBox 10"/>
          <p:cNvSpPr txBox="1"/>
          <p:nvPr/>
        </p:nvSpPr>
        <p:spPr>
          <a:xfrm>
            <a:off x="822960" y="2651760"/>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באניסוקוריה מהורנר, האישון הקטן החולה בולט בעיקר בחושך (כי הוא לא מתרחב כראוי); באניסוקוריה משיתוק שלישי/Adie/תרופתי, האישון הגדול החולה בולט בעיקר באור חזק (כי הוא לא מתכווץ כראוי)</a:t>
            </a:r>
          </a:p>
        </p:txBody>
      </p:sp>
      <p:sp>
        <p:nvSpPr>
          <p:cNvPr id="12" name="Rounded Rectangle 11"/>
          <p:cNvSpPr/>
          <p:nvPr/>
        </p:nvSpPr>
        <p:spPr>
          <a:xfrm>
            <a:off x="548640" y="3584448"/>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44200" y="3785616"/>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44200" y="3785616"/>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ב</a:t>
            </a:r>
          </a:p>
        </p:txBody>
      </p:sp>
      <p:sp>
        <p:nvSpPr>
          <p:cNvPr id="15" name="TextBox 14"/>
          <p:cNvSpPr txBox="1"/>
          <p:nvPr/>
        </p:nvSpPr>
        <p:spPr>
          <a:xfrm>
            <a:off x="822960" y="3584448"/>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שני הסוגים בולטים באותה מידה בכל תנאי תאורה</a:t>
            </a:r>
          </a:p>
        </p:txBody>
      </p:sp>
      <p:sp>
        <p:nvSpPr>
          <p:cNvPr id="16" name="Rounded Rectangle 15"/>
          <p:cNvSpPr/>
          <p:nvPr/>
        </p:nvSpPr>
        <p:spPr>
          <a:xfrm>
            <a:off x="548640" y="4517136"/>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744200" y="4718304"/>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44200" y="4718304"/>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ג</a:t>
            </a:r>
          </a:p>
        </p:txBody>
      </p:sp>
      <p:sp>
        <p:nvSpPr>
          <p:cNvPr id="19" name="TextBox 18"/>
          <p:cNvSpPr txBox="1"/>
          <p:nvPr/>
        </p:nvSpPr>
        <p:spPr>
          <a:xfrm>
            <a:off x="822960" y="4517136"/>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הורנר בולט רק באור חזק; שיתוק שלישי בולט רק בחושך</a:t>
            </a:r>
          </a:p>
        </p:txBody>
      </p:sp>
      <p:sp>
        <p:nvSpPr>
          <p:cNvPr id="20" name="Rounded Rectangle 19"/>
          <p:cNvSpPr/>
          <p:nvPr/>
        </p:nvSpPr>
        <p:spPr>
          <a:xfrm>
            <a:off x="548640" y="5449824"/>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744200" y="5650992"/>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44200" y="5650992"/>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ד</a:t>
            </a:r>
          </a:p>
        </p:txBody>
      </p:sp>
      <p:sp>
        <p:nvSpPr>
          <p:cNvPr id="23" name="TextBox 22"/>
          <p:cNvSpPr txBox="1"/>
          <p:nvPr/>
        </p:nvSpPr>
        <p:spPr>
          <a:xfrm>
            <a:off x="822960" y="5449824"/>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תנאי התאורה אינם רלוונטיים לאבחנה המבדלת של אניסוקוריה</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20040"/>
            <a:ext cx="3108960" cy="3657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
            <a:ext cx="3108960" cy="365760"/>
          </a:xfrm>
          <a:prstGeom prst="rect">
            <a:avLst/>
          </a:prstGeom>
          <a:noFill/>
        </p:spPr>
        <p:txBody>
          <a:bodyPr wrap="square" anchor="ctr" lIns="0" rIns="0" tIns="0" bIns="0">
            <a:spAutoFit/>
          </a:bodyPr>
          <a:lstStyle/>
          <a:p>
            <a:pPr algn="ctr" rtl="1"/>
            <a:r>
              <a:rPr sz="1200" b="1">
                <a:solidFill>
                  <a:srgbClr val="FFFFFF"/>
                </a:solidFill>
                <a:latin typeface="Calibri"/>
              </a:rPr>
              <a:t>אניסוקוריה</a:t>
            </a:r>
          </a:p>
        </p:txBody>
      </p:sp>
      <p:sp>
        <p:nvSpPr>
          <p:cNvPr id="6" name="TextBox 5"/>
          <p:cNvSpPr txBox="1"/>
          <p:nvPr/>
        </p:nvSpPr>
        <p:spPr>
          <a:xfrm>
            <a:off x="548640" y="777240"/>
            <a:ext cx="11064240" cy="640080"/>
          </a:xfrm>
          <a:prstGeom prst="rect">
            <a:avLst/>
          </a:prstGeom>
          <a:noFill/>
        </p:spPr>
        <p:txBody>
          <a:bodyPr wrap="square" anchor="t" lIns="0" rIns="0" tIns="0" bIns="0">
            <a:spAutoFit/>
          </a:bodyPr>
          <a:lstStyle/>
          <a:p>
            <a:pPr algn="r" rtl="1"/>
            <a:r>
              <a:rPr sz="1400" b="1">
                <a:solidFill>
                  <a:srgbClr val="15803D"/>
                </a:solidFill>
                <a:latin typeface="Calibri"/>
              </a:rPr>
              <a:t>התשובה הנכונה: א) באניסוקוריה מהורנר, האישון הקטן החולה בולט בעיקר בחושך (כי הוא לא מתרחב כראוי); באניסוקוריה משיתוק שלישי/Adie/תרופתי, האישון הגדול החולה בולט בעיקר באור חזק (כי הוא לא מתכווץ כראוי)</a:t>
            </a:r>
          </a:p>
        </p:txBody>
      </p:sp>
      <p:sp>
        <p:nvSpPr>
          <p:cNvPr id="7" name="Rounded Rectangle 6"/>
          <p:cNvSpPr/>
          <p:nvPr/>
        </p:nvSpPr>
        <p:spPr>
          <a:xfrm>
            <a:off x="548640" y="1554480"/>
            <a:ext cx="7406640" cy="1417320"/>
          </a:xfrm>
          <a:prstGeom prst="roundRect">
            <a:avLst/>
          </a:prstGeom>
          <a:solidFill>
            <a:srgbClr val="F8FAFC"/>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27632"/>
            <a:ext cx="7040880" cy="274320"/>
          </a:xfrm>
          <a:prstGeom prst="rect">
            <a:avLst/>
          </a:prstGeom>
          <a:noFill/>
        </p:spPr>
        <p:txBody>
          <a:bodyPr wrap="square" anchor="ctr" lIns="0" rIns="0" tIns="0" bIns="0">
            <a:spAutoFit/>
          </a:bodyPr>
          <a:lstStyle/>
          <a:p>
            <a:pPr algn="r" rtl="1"/>
            <a:r>
              <a:rPr sz="1200" b="1">
                <a:solidFill>
                  <a:srgbClr val="6B7280"/>
                </a:solidFill>
                <a:latin typeface="Calibri"/>
              </a:rPr>
              <a:t>הסבר:</a:t>
            </a:r>
          </a:p>
        </p:txBody>
      </p:sp>
      <p:sp>
        <p:nvSpPr>
          <p:cNvPr id="9" name="TextBox 8"/>
          <p:cNvSpPr txBox="1"/>
          <p:nvPr/>
        </p:nvSpPr>
        <p:spPr>
          <a:xfrm>
            <a:off x="731520" y="1901952"/>
            <a:ext cx="7040880" cy="1005840"/>
          </a:xfrm>
          <a:prstGeom prst="rect">
            <a:avLst/>
          </a:prstGeom>
          <a:noFill/>
        </p:spPr>
        <p:txBody>
          <a:bodyPr wrap="square" anchor="t" lIns="0" rIns="0" tIns="0" bIns="0">
            <a:spAutoFit/>
          </a:bodyPr>
          <a:lstStyle/>
          <a:p>
            <a:pPr algn="r" rtl="1"/>
            <a:r>
              <a:rPr sz="1000" b="0">
                <a:solidFill>
                  <a:srgbClr val="1F2937"/>
                </a:solidFill>
                <a:latin typeface="Calibri"/>
              </a:rPr>
              <a:t>התשובה הנכונה (1): בתסמונת הורנר, האובדן הסימפתטי מונע מהאישון החולה להתרחב בחושך כראוי (כי ההתרחבות תלויה בסימפתטיקה התקינה) - כך שההבדל בין האישונים בולט ביותר בחושך. בשיתוק עצב שלישי, Adie, או מידריאזיס תרופתי, האישון החולה גדול ולא יכול להתכווץ (תלוי בפאראסימפתטיקה הפגועה), כך שההבדל בולט ביותר באור חזק, כשהאישון הבריא מתכווץ באופן תקין והחולה נשאר מורחב.</a:t>
            </a:r>
          </a:p>
        </p:txBody>
      </p:sp>
      <p:sp>
        <p:nvSpPr>
          <p:cNvPr id="10" name="Rounded Rectangle 9"/>
          <p:cNvSpPr/>
          <p:nvPr/>
        </p:nvSpPr>
        <p:spPr>
          <a:xfrm>
            <a:off x="548640" y="3108960"/>
            <a:ext cx="7406640" cy="914400"/>
          </a:xfrm>
          <a:prstGeom prst="roundRect">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182112"/>
            <a:ext cx="7040880" cy="274320"/>
          </a:xfrm>
          <a:prstGeom prst="rect">
            <a:avLst/>
          </a:prstGeom>
          <a:noFill/>
        </p:spPr>
        <p:txBody>
          <a:bodyPr wrap="square" anchor="ctr" lIns="0" rIns="0" tIns="0" bIns="0">
            <a:spAutoFit/>
          </a:bodyPr>
          <a:lstStyle/>
          <a:p>
            <a:pPr algn="r" rtl="1"/>
            <a:r>
              <a:rPr sz="1150" b="1">
                <a:solidFill>
                  <a:srgbClr val="1E3A8A"/>
                </a:solidFill>
                <a:latin typeface="Calibri"/>
              </a:rPr>
              <a:t>מונח: אניסוקוריה</a:t>
            </a:r>
          </a:p>
        </p:txBody>
      </p:sp>
      <p:sp>
        <p:nvSpPr>
          <p:cNvPr id="12" name="TextBox 11"/>
          <p:cNvSpPr txBox="1"/>
          <p:nvPr/>
        </p:nvSpPr>
        <p:spPr>
          <a:xfrm>
            <a:off x="731520" y="3474720"/>
            <a:ext cx="7040880" cy="502920"/>
          </a:xfrm>
          <a:prstGeom prst="rect">
            <a:avLst/>
          </a:prstGeom>
          <a:noFill/>
        </p:spPr>
        <p:txBody>
          <a:bodyPr wrap="square" anchor="t" lIns="0" rIns="0" tIns="0" bIns="0">
            <a:spAutoFit/>
          </a:bodyPr>
          <a:lstStyle/>
          <a:p>
            <a:pPr algn="r" rtl="1"/>
            <a:r>
              <a:rPr sz="950" b="0">
                <a:solidFill>
                  <a:srgbClr val="1E3A8A"/>
                </a:solidFill>
                <a:latin typeface="Calibri"/>
              </a:rPr>
              <a:t>אי-שוויון בגודל האישונים; כלי התאורה (חושך מול אור) מבדיל במהירות בין גורם סימפתטי (הורנר - בולט בחושך) לגורם פאראסימפתטי (עצב III/Adie/תרופתי - בולט באור).</a:t>
            </a:r>
          </a:p>
        </p:txBody>
      </p:sp>
      <p:sp>
        <p:nvSpPr>
          <p:cNvPr id="13" name="Rounded Rectangle 12"/>
          <p:cNvSpPr/>
          <p:nvPr/>
        </p:nvSpPr>
        <p:spPr>
          <a:xfrm>
            <a:off x="548640" y="4160520"/>
            <a:ext cx="7406640" cy="1417320"/>
          </a:xfrm>
          <a:prstGeom prst="roundRect">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233672"/>
            <a:ext cx="7040880" cy="274320"/>
          </a:xfrm>
          <a:prstGeom prst="rect">
            <a:avLst/>
          </a:prstGeom>
          <a:noFill/>
        </p:spPr>
        <p:txBody>
          <a:bodyPr wrap="square" anchor="ctr" lIns="0" rIns="0" tIns="0" bIns="0">
            <a:spAutoFit/>
          </a:bodyPr>
          <a:lstStyle/>
          <a:p>
            <a:pPr algn="r" rtl="1"/>
            <a:r>
              <a:rPr sz="1150" b="1">
                <a:solidFill>
                  <a:srgbClr val="5B21B6"/>
                </a:solidFill>
                <a:latin typeface="Calibri"/>
              </a:rPr>
              <a:t>סיפור לזכירה</a:t>
            </a:r>
          </a:p>
        </p:txBody>
      </p:sp>
      <p:sp>
        <p:nvSpPr>
          <p:cNvPr id="15" name="TextBox 14"/>
          <p:cNvSpPr txBox="1"/>
          <p:nvPr/>
        </p:nvSpPr>
        <p:spPr>
          <a:xfrm>
            <a:off x="731520" y="4526280"/>
            <a:ext cx="7040880" cy="502920"/>
          </a:xfrm>
          <a:prstGeom prst="rect">
            <a:avLst/>
          </a:prstGeom>
          <a:noFill/>
        </p:spPr>
        <p:txBody>
          <a:bodyPr wrap="square" anchor="t" lIns="0" rIns="0" tIns="0" bIns="0">
            <a:spAutoFit/>
          </a:bodyPr>
          <a:lstStyle/>
          <a:p>
            <a:pPr algn="r" rtl="1"/>
            <a:r>
              <a:rPr sz="950" b="0">
                <a:solidFill>
                  <a:srgbClr val="4C1D95"/>
                </a:solidFill>
                <a:latin typeface="Calibri"/>
              </a:rPr>
              <a:t>דמייני שתי דלתות: דלת אחת (הורנר) נתקעת תמיד חצי-פתוחה ולא נפתחת יותר בחושך; הדלת השנייה (שיתוק שלישי) נתקעת תמיד פתוחה לרווחה ולא נסגרת יותר באור - פתח את התאורה הנכונה ותראה איזו דלת 'תקועה'.</a:t>
            </a:r>
          </a:p>
        </p:txBody>
      </p:sp>
      <p:sp>
        <p:nvSpPr>
          <p:cNvPr id="16" name="TextBox 15"/>
          <p:cNvSpPr txBox="1"/>
          <p:nvPr/>
        </p:nvSpPr>
        <p:spPr>
          <a:xfrm>
            <a:off x="731520" y="5047488"/>
            <a:ext cx="7040880" cy="502920"/>
          </a:xfrm>
          <a:prstGeom prst="rect">
            <a:avLst/>
          </a:prstGeom>
          <a:noFill/>
        </p:spPr>
        <p:txBody>
          <a:bodyPr wrap="square" anchor="t" lIns="0" rIns="0" tIns="0" bIns="0">
            <a:spAutoFit/>
          </a:bodyPr>
          <a:lstStyle/>
          <a:p>
            <a:pPr algn="r" rtl="1"/>
            <a:r>
              <a:rPr sz="900" b="0">
                <a:solidFill>
                  <a:srgbClr val="5B21B6"/>
                </a:solidFill>
                <a:latin typeface="Calibri"/>
              </a:rPr>
              <a:t>שאלי את עצמך: איך היית מיישמת את העיקרון הזה במקרה קליני אמיתי?</a:t>
            </a:r>
          </a:p>
        </p:txBody>
      </p:sp>
      <p:sp>
        <p:nvSpPr>
          <p:cNvPr id="17" name="TextBox 16"/>
          <p:cNvSpPr txBox="1"/>
          <p:nvPr/>
        </p:nvSpPr>
        <p:spPr>
          <a:xfrm>
            <a:off x="8138160" y="1554480"/>
            <a:ext cx="3474720" cy="320040"/>
          </a:xfrm>
          <a:prstGeom prst="rect">
            <a:avLst/>
          </a:prstGeom>
          <a:noFill/>
        </p:spPr>
        <p:txBody>
          <a:bodyPr wrap="square" anchor="ctr" lIns="0" rIns="0" tIns="0" bIns="0">
            <a:spAutoFit/>
          </a:bodyPr>
          <a:lstStyle/>
          <a:p>
            <a:pPr algn="r" rtl="1"/>
            <a:r>
              <a:rPr sz="1250" b="1">
                <a:solidFill>
                  <a:srgbClr val="6B7280"/>
                </a:solidFill>
                <a:latin typeface="Calibri"/>
              </a:rPr>
              <a:t>מה קורה בפועל:</a:t>
            </a:r>
          </a:p>
        </p:txBody>
      </p:sp>
      <p:sp>
        <p:nvSpPr>
          <p:cNvPr id="18" name="Rounded Rectangle 17"/>
          <p:cNvSpPr/>
          <p:nvPr/>
        </p:nvSpPr>
        <p:spPr>
          <a:xfrm>
            <a:off x="8138160" y="1920240"/>
            <a:ext cx="3474720" cy="777240"/>
          </a:xfrm>
          <a:prstGeom prst="roundRect">
            <a:avLst/>
          </a:prstGeom>
          <a:solidFill>
            <a:srgbClr val="B91C1C"/>
          </a:solidFill>
          <a:ln w="1587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292840" y="2176272"/>
            <a:ext cx="256032" cy="256032"/>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97510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הורנר: אישון קטן חולה, בולט בחושך</a:t>
            </a:r>
          </a:p>
        </p:txBody>
      </p:sp>
      <p:sp>
        <p:nvSpPr>
          <p:cNvPr id="21" name="Rounded Rectangle 20"/>
          <p:cNvSpPr/>
          <p:nvPr/>
        </p:nvSpPr>
        <p:spPr>
          <a:xfrm>
            <a:off x="8138160" y="2788920"/>
            <a:ext cx="3474720" cy="777240"/>
          </a:xfrm>
          <a:prstGeom prst="roundRect">
            <a:avLst/>
          </a:prstGeom>
          <a:solidFill>
            <a:srgbClr val="B45309"/>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292840" y="3044952"/>
            <a:ext cx="256032" cy="25603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284378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שלישי/Adie/תרופתי: אישון גדול חולה, בולט באור</a:t>
            </a:r>
          </a:p>
        </p:txBody>
      </p:sp>
      <p:sp>
        <p:nvSpPr>
          <p:cNvPr id="24" name="Rounded Rectangle 23"/>
          <p:cNvSpPr/>
          <p:nvPr/>
        </p:nvSpPr>
        <p:spPr>
          <a:xfrm>
            <a:off x="8138160" y="3657600"/>
            <a:ext cx="3474720" cy="777240"/>
          </a:xfrm>
          <a:prstGeom prst="roundRect">
            <a:avLst/>
          </a:prstGeom>
          <a:solidFill>
            <a:srgbClr val="1C7293"/>
          </a:solidFill>
          <a:ln w="15875">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292840" y="3913632"/>
            <a:ext cx="256032" cy="25603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20" y="371246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הבדל התאורה = כלי אבחנה מבדלת פשוט וזמין</a:t>
            </a:r>
          </a:p>
        </p:txBody>
      </p:sp>
      <p:sp>
        <p:nvSpPr>
          <p:cNvPr id="27" name="TextBox 26"/>
          <p:cNvSpPr txBox="1"/>
          <p:nvPr/>
        </p:nvSpPr>
        <p:spPr>
          <a:xfrm>
            <a:off x="548640" y="6446520"/>
            <a:ext cx="11064240" cy="320040"/>
          </a:xfrm>
          <a:prstGeom prst="rect">
            <a:avLst/>
          </a:prstGeom>
          <a:noFill/>
        </p:spPr>
        <p:txBody>
          <a:bodyPr wrap="square" anchor="ctr" lIns="0" rIns="0" tIns="0" bIns="0">
            <a:spAutoFit/>
          </a:bodyPr>
          <a:lstStyle/>
          <a:p>
            <a:pPr algn="ctr" rtl="1"/>
            <a:r>
              <a:rPr sz="900" b="0">
                <a:solidFill>
                  <a:srgbClr val="9CA3AF"/>
                </a:solidFill>
                <a:latin typeface="Calibri"/>
              </a:rPr>
              <a:t>מצגת סטטית — ללא ניקוד חי. לתרגול עם סטטיסטיקה בזמן אמת, השתמשו באתר הכרטיסיות המקוון.</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65760"/>
            <a:ext cx="310896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65760"/>
            <a:ext cx="3108960" cy="384048"/>
          </a:xfrm>
          <a:prstGeom prst="rect">
            <a:avLst/>
          </a:prstGeom>
          <a:noFill/>
        </p:spPr>
        <p:txBody>
          <a:bodyPr wrap="square" anchor="ctr" lIns="0" rIns="0" tIns="0" bIns="0">
            <a:spAutoFit/>
          </a:bodyPr>
          <a:lstStyle/>
          <a:p>
            <a:pPr algn="ctr" rtl="1"/>
            <a:r>
              <a:rPr sz="1250" b="1">
                <a:solidFill>
                  <a:srgbClr val="FFFFFF"/>
                </a:solidFill>
                <a:latin typeface="Calibri"/>
              </a:rPr>
              <a:t>IIH: אבחון וטיפול</a:t>
            </a:r>
          </a:p>
        </p:txBody>
      </p:sp>
      <p:sp>
        <p:nvSpPr>
          <p:cNvPr id="6" name="TextBox 5"/>
          <p:cNvSpPr txBox="1"/>
          <p:nvPr/>
        </p:nvSpPr>
        <p:spPr>
          <a:xfrm>
            <a:off x="8531352" y="365760"/>
            <a:ext cx="3108960" cy="384048"/>
          </a:xfrm>
          <a:prstGeom prst="rect">
            <a:avLst/>
          </a:prstGeom>
          <a:noFill/>
        </p:spPr>
        <p:txBody>
          <a:bodyPr wrap="square" anchor="ctr" lIns="0" rIns="0" tIns="0" bIns="0">
            <a:spAutoFit/>
          </a:bodyPr>
          <a:lstStyle/>
          <a:p>
            <a:pPr algn="l" rtl="1"/>
            <a:r>
              <a:rPr sz="1200" b="0">
                <a:solidFill>
                  <a:srgbClr val="9CA3AF"/>
                </a:solidFill>
                <a:latin typeface="Calibri"/>
              </a:rPr>
              <a:t>כרטיסייה 8 מתוך 8</a:t>
            </a:r>
          </a:p>
        </p:txBody>
      </p:sp>
      <p:sp>
        <p:nvSpPr>
          <p:cNvPr id="7" name="TextBox 6"/>
          <p:cNvSpPr txBox="1"/>
          <p:nvPr/>
        </p:nvSpPr>
        <p:spPr>
          <a:xfrm>
            <a:off x="548640" y="1005840"/>
            <a:ext cx="11064240" cy="1463040"/>
          </a:xfrm>
          <a:prstGeom prst="rect">
            <a:avLst/>
          </a:prstGeom>
          <a:noFill/>
        </p:spPr>
        <p:txBody>
          <a:bodyPr wrap="square" anchor="t" lIns="0" rIns="0" tIns="0" bIns="0">
            <a:spAutoFit/>
          </a:bodyPr>
          <a:lstStyle/>
          <a:p>
            <a:pPr algn="r" rtl="1"/>
            <a:r>
              <a:rPr sz="2000" b="1">
                <a:solidFill>
                  <a:srgbClr val="1F2937"/>
                </a:solidFill>
                <a:latin typeface="Calibri"/>
              </a:rPr>
              <a:t>אישה צעירה עם עודף משקל מגיעה עם פפילאדמה דו-צדדית סימטרית, MRI תקין, MRV שלילי לפקקת ורידית, וניקור מותני עם לחץ פתיחה מוגבר והרכב נוזל תקין. מה סדר הבירור והטיפול הנכון?</a:t>
            </a:r>
          </a:p>
        </p:txBody>
      </p:sp>
      <p:sp>
        <p:nvSpPr>
          <p:cNvPr id="8" name="Rounded Rectangle 7"/>
          <p:cNvSpPr/>
          <p:nvPr/>
        </p:nvSpPr>
        <p:spPr>
          <a:xfrm>
            <a:off x="548640" y="2651760"/>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744200" y="2852928"/>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44200" y="2852928"/>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א</a:t>
            </a:r>
          </a:p>
        </p:txBody>
      </p:sp>
      <p:sp>
        <p:nvSpPr>
          <p:cNvPr id="11" name="TextBox 10"/>
          <p:cNvSpPr txBox="1"/>
          <p:nvPr/>
        </p:nvSpPr>
        <p:spPr>
          <a:xfrm>
            <a:off x="822960" y="2651760"/>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שאנט VP מיידי ללא ניסיון תרופתי</a:t>
            </a:r>
          </a:p>
        </p:txBody>
      </p:sp>
      <p:sp>
        <p:nvSpPr>
          <p:cNvPr id="12" name="Rounded Rectangle 11"/>
          <p:cNvSpPr/>
          <p:nvPr/>
        </p:nvSpPr>
        <p:spPr>
          <a:xfrm>
            <a:off x="548640" y="3584448"/>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44200" y="3785616"/>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44200" y="3785616"/>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ב</a:t>
            </a:r>
          </a:p>
        </p:txBody>
      </p:sp>
      <p:sp>
        <p:nvSpPr>
          <p:cNvPr id="15" name="TextBox 14"/>
          <p:cNvSpPr txBox="1"/>
          <p:nvPr/>
        </p:nvSpPr>
        <p:spPr>
          <a:xfrm>
            <a:off x="822960" y="3584448"/>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פתיחת מעטפת עצב הראייה מיידית ללא טיפול תרופתי קודם</a:t>
            </a:r>
          </a:p>
        </p:txBody>
      </p:sp>
      <p:sp>
        <p:nvSpPr>
          <p:cNvPr id="16" name="Rounded Rectangle 15"/>
          <p:cNvSpPr/>
          <p:nvPr/>
        </p:nvSpPr>
        <p:spPr>
          <a:xfrm>
            <a:off x="548640" y="4517136"/>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744200" y="4718304"/>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44200" y="4718304"/>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ג</a:t>
            </a:r>
          </a:p>
        </p:txBody>
      </p:sp>
      <p:sp>
        <p:nvSpPr>
          <p:cNvPr id="19" name="TextBox 18"/>
          <p:cNvSpPr txBox="1"/>
          <p:nvPr/>
        </p:nvSpPr>
        <p:spPr>
          <a:xfrm>
            <a:off x="822960" y="4517136"/>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סטרואידים במינון גבוה כקו ראשון</a:t>
            </a:r>
          </a:p>
        </p:txBody>
      </p:sp>
      <p:sp>
        <p:nvSpPr>
          <p:cNvPr id="20" name="Rounded Rectangle 19"/>
          <p:cNvSpPr/>
          <p:nvPr/>
        </p:nvSpPr>
        <p:spPr>
          <a:xfrm>
            <a:off x="548640" y="5449824"/>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744200" y="5650992"/>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44200" y="5650992"/>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ד</a:t>
            </a:r>
          </a:p>
        </p:txBody>
      </p:sp>
      <p:sp>
        <p:nvSpPr>
          <p:cNvPr id="23" name="TextBox 22"/>
          <p:cNvSpPr txBox="1"/>
          <p:nvPr/>
        </p:nvSpPr>
        <p:spPr>
          <a:xfrm>
            <a:off x="822960" y="5449824"/>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אישור IIH דורש שלילת סיבה משנית (הדמיה ורידית MRV/CTV לשלול פקקת, ולאחר הדמיית מוח תקינה - ניקור מותני עם לחץ פתיחה מוגבר והרכב CSF תקין); קו ראשון לטיפול הוא אצטזולאמיד (עד 4 גרם/יום) ± ירידה במשקל; ניתוח (פתיחת מעטפת עצב הראייה / שאנט VP / סטנטינג ורידי) נשמר למקרים שלא מגיבים לטיפול תרופתי מקסימלי או עם אובדן ראייה חמור בהצגה</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20040"/>
            <a:ext cx="3108960" cy="3657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
            <a:ext cx="3108960" cy="365760"/>
          </a:xfrm>
          <a:prstGeom prst="rect">
            <a:avLst/>
          </a:prstGeom>
          <a:noFill/>
        </p:spPr>
        <p:txBody>
          <a:bodyPr wrap="square" anchor="ctr" lIns="0" rIns="0" tIns="0" bIns="0">
            <a:spAutoFit/>
          </a:bodyPr>
          <a:lstStyle/>
          <a:p>
            <a:pPr algn="ctr" rtl="1"/>
            <a:r>
              <a:rPr sz="1200" b="1">
                <a:solidFill>
                  <a:srgbClr val="FFFFFF"/>
                </a:solidFill>
                <a:latin typeface="Calibri"/>
              </a:rPr>
              <a:t>IIH: אבחון וטיפול</a:t>
            </a:r>
          </a:p>
        </p:txBody>
      </p:sp>
      <p:sp>
        <p:nvSpPr>
          <p:cNvPr id="6" name="TextBox 5"/>
          <p:cNvSpPr txBox="1"/>
          <p:nvPr/>
        </p:nvSpPr>
        <p:spPr>
          <a:xfrm>
            <a:off x="548640" y="777240"/>
            <a:ext cx="11064240" cy="640080"/>
          </a:xfrm>
          <a:prstGeom prst="rect">
            <a:avLst/>
          </a:prstGeom>
          <a:noFill/>
        </p:spPr>
        <p:txBody>
          <a:bodyPr wrap="square" anchor="t" lIns="0" rIns="0" tIns="0" bIns="0">
            <a:spAutoFit/>
          </a:bodyPr>
          <a:lstStyle/>
          <a:p>
            <a:pPr algn="r" rtl="1"/>
            <a:r>
              <a:rPr sz="1400" b="1">
                <a:solidFill>
                  <a:srgbClr val="15803D"/>
                </a:solidFill>
                <a:latin typeface="Calibri"/>
              </a:rPr>
              <a:t>התשובה הנכונה: ד) אישור IIH דורש שלילת סיבה משנית (הדמיה ורידית MRV/CTV לשלול פקקת, ולאחר הדמיית מוח תקינה - ניקור מותני עם לחץ פתיחה מוגבר והרכב CSF תקין); קו ראשון לטיפול הוא אצטזולאמיד (עד 4 גרם/יום) ± ירידה במשקל; ניתוח (פתיחת מעטפת עצב הראייה / שאנט VP / סטנטינג ורידי) נשמר למקרים שלא מגיבים לטיפול תרופתי מקסימלי או עם אובדן ראייה חמור בהצגה</a:t>
            </a:r>
          </a:p>
        </p:txBody>
      </p:sp>
      <p:sp>
        <p:nvSpPr>
          <p:cNvPr id="7" name="Rounded Rectangle 6"/>
          <p:cNvSpPr/>
          <p:nvPr/>
        </p:nvSpPr>
        <p:spPr>
          <a:xfrm>
            <a:off x="548640" y="1554480"/>
            <a:ext cx="7406640" cy="1417320"/>
          </a:xfrm>
          <a:prstGeom prst="roundRect">
            <a:avLst/>
          </a:prstGeom>
          <a:solidFill>
            <a:srgbClr val="F8FAFC"/>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27632"/>
            <a:ext cx="7040880" cy="274320"/>
          </a:xfrm>
          <a:prstGeom prst="rect">
            <a:avLst/>
          </a:prstGeom>
          <a:noFill/>
        </p:spPr>
        <p:txBody>
          <a:bodyPr wrap="square" anchor="ctr" lIns="0" rIns="0" tIns="0" bIns="0">
            <a:spAutoFit/>
          </a:bodyPr>
          <a:lstStyle/>
          <a:p>
            <a:pPr algn="r" rtl="1"/>
            <a:r>
              <a:rPr sz="1200" b="1">
                <a:solidFill>
                  <a:srgbClr val="6B7280"/>
                </a:solidFill>
                <a:latin typeface="Calibri"/>
              </a:rPr>
              <a:t>הסבר:</a:t>
            </a:r>
          </a:p>
        </p:txBody>
      </p:sp>
      <p:sp>
        <p:nvSpPr>
          <p:cNvPr id="9" name="TextBox 8"/>
          <p:cNvSpPr txBox="1"/>
          <p:nvPr/>
        </p:nvSpPr>
        <p:spPr>
          <a:xfrm>
            <a:off x="731520" y="1901952"/>
            <a:ext cx="7040880" cy="1005840"/>
          </a:xfrm>
          <a:prstGeom prst="rect">
            <a:avLst/>
          </a:prstGeom>
          <a:noFill/>
        </p:spPr>
        <p:txBody>
          <a:bodyPr wrap="square" anchor="t" lIns="0" rIns="0" tIns="0" bIns="0">
            <a:spAutoFit/>
          </a:bodyPr>
          <a:lstStyle/>
          <a:p>
            <a:pPr algn="r" rtl="1"/>
            <a:r>
              <a:rPr sz="1000" b="0">
                <a:solidFill>
                  <a:srgbClr val="1F2937"/>
                </a:solidFill>
                <a:latin typeface="Calibri"/>
              </a:rPr>
              <a:t>התשובה הנכונה (4): האבחנה של IIH (יתר לחץ תוך-גולגולתי אידיופתי) מחייבת שלילת גורם משני - הדמיה ורידית (MRV/CTV) לשלול פקקת ורידית, ולאחר הדמיית מוח תקינה - ניקור מותני למדידת לחץ פתיחה; לחץ מוגבר עם הרכב נוזל תקין מאבחן IIH. הטיפול התרופתי הראשון הוא אצטזולאמיד (מעכב קרבוניק-אנהידראז, מינון עד 4 גרם/יום לפי מחקר IIHTT) או טופירמאט כחלופה, בשילוב ירידה במשקל. התערבות כירורגית (פתיחת מעטפת עצב הראייה, שאנט VP, או סטנטינג ורידי במקרים נבחרים) נשמרת למקרים שבהם טיפול תרופתי מקסימלי לא מצליח לשלוט באובדן השדה הראייתי, או כשיש אובדן ראייה חמור בהצגה הראשונית.</a:t>
            </a:r>
          </a:p>
        </p:txBody>
      </p:sp>
      <p:sp>
        <p:nvSpPr>
          <p:cNvPr id="10" name="Rounded Rectangle 9"/>
          <p:cNvSpPr/>
          <p:nvPr/>
        </p:nvSpPr>
        <p:spPr>
          <a:xfrm>
            <a:off x="548640" y="3108960"/>
            <a:ext cx="7406640" cy="914400"/>
          </a:xfrm>
          <a:prstGeom prst="roundRect">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182112"/>
            <a:ext cx="7040880" cy="274320"/>
          </a:xfrm>
          <a:prstGeom prst="rect">
            <a:avLst/>
          </a:prstGeom>
          <a:noFill/>
        </p:spPr>
        <p:txBody>
          <a:bodyPr wrap="square" anchor="ctr" lIns="0" rIns="0" tIns="0" bIns="0">
            <a:spAutoFit/>
          </a:bodyPr>
          <a:lstStyle/>
          <a:p>
            <a:pPr algn="r" rtl="1"/>
            <a:r>
              <a:rPr sz="1150" b="1">
                <a:solidFill>
                  <a:srgbClr val="1E3A8A"/>
                </a:solidFill>
                <a:latin typeface="Calibri"/>
              </a:rPr>
              <a:t>מונח: IIH (Idiopathic Intracranial Hypertension)</a:t>
            </a:r>
          </a:p>
        </p:txBody>
      </p:sp>
      <p:sp>
        <p:nvSpPr>
          <p:cNvPr id="12" name="TextBox 11"/>
          <p:cNvSpPr txBox="1"/>
          <p:nvPr/>
        </p:nvSpPr>
        <p:spPr>
          <a:xfrm>
            <a:off x="731520" y="3474720"/>
            <a:ext cx="7040880" cy="502920"/>
          </a:xfrm>
          <a:prstGeom prst="rect">
            <a:avLst/>
          </a:prstGeom>
          <a:noFill/>
        </p:spPr>
        <p:txBody>
          <a:bodyPr wrap="square" anchor="t" lIns="0" rIns="0" tIns="0" bIns="0">
            <a:spAutoFit/>
          </a:bodyPr>
          <a:lstStyle/>
          <a:p>
            <a:pPr algn="r" rtl="1"/>
            <a:r>
              <a:rPr sz="950" b="0">
                <a:solidFill>
                  <a:srgbClr val="1E3A8A"/>
                </a:solidFill>
                <a:latin typeface="Calibri"/>
              </a:rPr>
              <a:t>עליית לחץ תוך-גולגולתי אידיופתית - אבחנה הדורשת שלילת פקקת ורידית והדמיית מוח תקינה, עם לחץ פתיחה מוגבר ברכב נוזל CSF תקין.</a:t>
            </a:r>
          </a:p>
        </p:txBody>
      </p:sp>
      <p:sp>
        <p:nvSpPr>
          <p:cNvPr id="13" name="Rounded Rectangle 12"/>
          <p:cNvSpPr/>
          <p:nvPr/>
        </p:nvSpPr>
        <p:spPr>
          <a:xfrm>
            <a:off x="548640" y="4160520"/>
            <a:ext cx="7406640" cy="1417320"/>
          </a:xfrm>
          <a:prstGeom prst="roundRect">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233672"/>
            <a:ext cx="7040880" cy="274320"/>
          </a:xfrm>
          <a:prstGeom prst="rect">
            <a:avLst/>
          </a:prstGeom>
          <a:noFill/>
        </p:spPr>
        <p:txBody>
          <a:bodyPr wrap="square" anchor="ctr" lIns="0" rIns="0" tIns="0" bIns="0">
            <a:spAutoFit/>
          </a:bodyPr>
          <a:lstStyle/>
          <a:p>
            <a:pPr algn="r" rtl="1"/>
            <a:r>
              <a:rPr sz="1150" b="1">
                <a:solidFill>
                  <a:srgbClr val="5B21B6"/>
                </a:solidFill>
                <a:latin typeface="Calibri"/>
              </a:rPr>
              <a:t>סיפור לזכירה</a:t>
            </a:r>
          </a:p>
        </p:txBody>
      </p:sp>
      <p:sp>
        <p:nvSpPr>
          <p:cNvPr id="15" name="TextBox 14"/>
          <p:cNvSpPr txBox="1"/>
          <p:nvPr/>
        </p:nvSpPr>
        <p:spPr>
          <a:xfrm>
            <a:off x="731520" y="4526280"/>
            <a:ext cx="7040880" cy="502920"/>
          </a:xfrm>
          <a:prstGeom prst="rect">
            <a:avLst/>
          </a:prstGeom>
          <a:noFill/>
        </p:spPr>
        <p:txBody>
          <a:bodyPr wrap="square" anchor="t" lIns="0" rIns="0" tIns="0" bIns="0">
            <a:spAutoFit/>
          </a:bodyPr>
          <a:lstStyle/>
          <a:p>
            <a:pPr algn="r" rtl="1"/>
            <a:r>
              <a:rPr sz="950" b="0">
                <a:solidFill>
                  <a:srgbClr val="4C1D95"/>
                </a:solidFill>
                <a:latin typeface="Calibri"/>
              </a:rPr>
              <a:t>דמייני מערכת צנרת בבית שהלחץ בה גבוה מהרגיל: לפני שמתקנים משהו, חייבים לבדוק שאין חסימה בצינור הראשי (MRV לשלול פקקת) - ואם הצינור פתוח, מורידים את הלחץ בתרופה (אצטזולאמיד) לפני שפותחים ברז נוסף (ניתוח) שרק נשמר למקרה שהתרופה לא מספיקה.</a:t>
            </a:r>
          </a:p>
        </p:txBody>
      </p:sp>
      <p:sp>
        <p:nvSpPr>
          <p:cNvPr id="16" name="TextBox 15"/>
          <p:cNvSpPr txBox="1"/>
          <p:nvPr/>
        </p:nvSpPr>
        <p:spPr>
          <a:xfrm>
            <a:off x="731520" y="5047488"/>
            <a:ext cx="7040880" cy="502920"/>
          </a:xfrm>
          <a:prstGeom prst="rect">
            <a:avLst/>
          </a:prstGeom>
          <a:noFill/>
        </p:spPr>
        <p:txBody>
          <a:bodyPr wrap="square" anchor="t" lIns="0" rIns="0" tIns="0" bIns="0">
            <a:spAutoFit/>
          </a:bodyPr>
          <a:lstStyle/>
          <a:p>
            <a:pPr algn="r" rtl="1"/>
            <a:r>
              <a:rPr sz="900" b="0">
                <a:solidFill>
                  <a:srgbClr val="5B21B6"/>
                </a:solidFill>
                <a:latin typeface="Calibri"/>
              </a:rPr>
              <a:t>שאלי את עצמך: איך היית מיישמת את העיקרון הזה במקרה קליני אמיתי?</a:t>
            </a:r>
          </a:p>
        </p:txBody>
      </p:sp>
      <p:sp>
        <p:nvSpPr>
          <p:cNvPr id="17" name="TextBox 16"/>
          <p:cNvSpPr txBox="1"/>
          <p:nvPr/>
        </p:nvSpPr>
        <p:spPr>
          <a:xfrm>
            <a:off x="8138160" y="1554480"/>
            <a:ext cx="3474720" cy="320040"/>
          </a:xfrm>
          <a:prstGeom prst="rect">
            <a:avLst/>
          </a:prstGeom>
          <a:noFill/>
        </p:spPr>
        <p:txBody>
          <a:bodyPr wrap="square" anchor="ctr" lIns="0" rIns="0" tIns="0" bIns="0">
            <a:spAutoFit/>
          </a:bodyPr>
          <a:lstStyle/>
          <a:p>
            <a:pPr algn="r" rtl="1"/>
            <a:r>
              <a:rPr sz="1250" b="1">
                <a:solidFill>
                  <a:srgbClr val="6B7280"/>
                </a:solidFill>
                <a:latin typeface="Calibri"/>
              </a:rPr>
              <a:t>מה קורה בפועל:</a:t>
            </a:r>
          </a:p>
        </p:txBody>
      </p:sp>
      <p:sp>
        <p:nvSpPr>
          <p:cNvPr id="18" name="Rounded Rectangle 17"/>
          <p:cNvSpPr/>
          <p:nvPr/>
        </p:nvSpPr>
        <p:spPr>
          <a:xfrm>
            <a:off x="8138160" y="1920240"/>
            <a:ext cx="3474720" cy="777240"/>
          </a:xfrm>
          <a:prstGeom prst="roundRect">
            <a:avLst/>
          </a:prstGeom>
          <a:solidFill>
            <a:srgbClr val="B91C1C"/>
          </a:solidFill>
          <a:ln w="1587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292840" y="2176272"/>
            <a:ext cx="256032" cy="256032"/>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97510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בירור: MRI → MRV/CTV → ניקור מותני</a:t>
            </a:r>
          </a:p>
        </p:txBody>
      </p:sp>
      <p:sp>
        <p:nvSpPr>
          <p:cNvPr id="21" name="Rounded Rectangle 20"/>
          <p:cNvSpPr/>
          <p:nvPr/>
        </p:nvSpPr>
        <p:spPr>
          <a:xfrm>
            <a:off x="8138160" y="2788920"/>
            <a:ext cx="3474720" cy="777240"/>
          </a:xfrm>
          <a:prstGeom prst="roundRect">
            <a:avLst/>
          </a:prstGeom>
          <a:solidFill>
            <a:srgbClr val="B45309"/>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292840" y="3044952"/>
            <a:ext cx="256032" cy="25603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284378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קו ראשון: אצטזולאמיד/טופירמאט + ירידה במשקל</a:t>
            </a:r>
          </a:p>
        </p:txBody>
      </p:sp>
      <p:sp>
        <p:nvSpPr>
          <p:cNvPr id="24" name="Rounded Rectangle 23"/>
          <p:cNvSpPr/>
          <p:nvPr/>
        </p:nvSpPr>
        <p:spPr>
          <a:xfrm>
            <a:off x="8138160" y="3657600"/>
            <a:ext cx="3474720" cy="777240"/>
          </a:xfrm>
          <a:prstGeom prst="roundRect">
            <a:avLst/>
          </a:prstGeom>
          <a:solidFill>
            <a:srgbClr val="1C7293"/>
          </a:solidFill>
          <a:ln w="15875">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292840" y="3913632"/>
            <a:ext cx="256032" cy="25603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20" y="371246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ניתוח רק אם טיפול תרופתי מקסימלי נכשל</a:t>
            </a:r>
          </a:p>
        </p:txBody>
      </p:sp>
      <p:sp>
        <p:nvSpPr>
          <p:cNvPr id="27" name="TextBox 26"/>
          <p:cNvSpPr txBox="1"/>
          <p:nvPr/>
        </p:nvSpPr>
        <p:spPr>
          <a:xfrm>
            <a:off x="548640" y="6446520"/>
            <a:ext cx="11064240" cy="320040"/>
          </a:xfrm>
          <a:prstGeom prst="rect">
            <a:avLst/>
          </a:prstGeom>
          <a:noFill/>
        </p:spPr>
        <p:txBody>
          <a:bodyPr wrap="square" anchor="ctr" lIns="0" rIns="0" tIns="0" bIns="0">
            <a:spAutoFit/>
          </a:bodyPr>
          <a:lstStyle/>
          <a:p>
            <a:pPr algn="ctr" rtl="1"/>
            <a:r>
              <a:rPr sz="900" b="0">
                <a:solidFill>
                  <a:srgbClr val="9CA3AF"/>
                </a:solidFill>
                <a:latin typeface="Calibri"/>
              </a:rPr>
              <a:t>מצגת סטטית — ללא ניקוד חי. לתרגול עם סטטיסטיקה בזמן אמת, השתמשו באתר הכרטיסיות המקוון.</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C1B2A"/>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914400" y="548640"/>
            <a:ext cx="10360152" cy="640080"/>
          </a:xfrm>
          <a:prstGeom prst="rect">
            <a:avLst/>
          </a:prstGeom>
          <a:noFill/>
        </p:spPr>
        <p:txBody>
          <a:bodyPr wrap="square" anchor="ctr" lIns="0" rIns="0" tIns="0" bIns="0">
            <a:spAutoFit/>
          </a:bodyPr>
          <a:lstStyle/>
          <a:p>
            <a:pPr algn="ctr" rtl="1"/>
            <a:r>
              <a:rPr sz="3000" b="1">
                <a:solidFill>
                  <a:srgbClr val="FFFFFF"/>
                </a:solidFill>
                <a:latin typeface="Calibri"/>
              </a:rPr>
              <a:t>סיכום הכרטיסיות</a:t>
            </a:r>
          </a:p>
        </p:txBody>
      </p:sp>
      <p:sp>
        <p:nvSpPr>
          <p:cNvPr id="5" name="TextBox 4"/>
          <p:cNvSpPr txBox="1"/>
          <p:nvPr/>
        </p:nvSpPr>
        <p:spPr>
          <a:xfrm>
            <a:off x="1097280" y="1463040"/>
            <a:ext cx="9994392" cy="4389120"/>
          </a:xfrm>
          <a:prstGeom prst="rect">
            <a:avLst/>
          </a:prstGeom>
          <a:noFill/>
        </p:spPr>
        <p:txBody>
          <a:bodyPr wrap="square">
            <a:spAutoFit/>
          </a:bodyPr>
          <a:lstStyle/>
          <a:p>
            <a:pPr algn="r" rtl="1"/>
            <a:r>
              <a:rPr sz="1600">
                <a:solidFill>
                  <a:srgbClr val="E5E7EB"/>
                </a:solidFill>
                <a:latin typeface="Calibri"/>
              </a:rPr>
              <a:t>עקרון: מיקום הנגע קובע צורת הפגם - עצב ראייה/כיאזמה/רטרוכיאזמלי</a:t>
            </a:r>
          </a:p>
          <a:p>
            <a:pPr algn="r" rtl="1"/>
            <a:r>
              <a:rPr sz="1600">
                <a:solidFill>
                  <a:srgbClr val="E5E7EB"/>
                </a:solidFill>
                <a:latin typeface="Calibri"/>
              </a:rPr>
              <a:t>לולאת מאייר: אונה טמפורלית = קוואדרנטנופיה עליונה נגדית</a:t>
            </a:r>
          </a:p>
          <a:p>
            <a:pPr algn="r" rtl="1"/>
            <a:r>
              <a:rPr sz="1600">
                <a:solidFill>
                  <a:srgbClr val="E5E7EB"/>
                </a:solidFill>
                <a:latin typeface="Calibri"/>
              </a:rPr>
              <a:t>RAPD: תמיד חד-צדי/א-סימטרי; לעולם לא גורם לאניסוקוריה</a:t>
            </a:r>
          </a:p>
          <a:p>
            <a:pPr algn="r" rtl="1"/>
            <a:r>
              <a:rPr sz="1600">
                <a:solidFill>
                  <a:srgbClr val="E5E7EB"/>
                </a:solidFill>
                <a:latin typeface="Calibri"/>
              </a:rPr>
              <a:t>פפילאדמה: בצקת דיסקית דו-צדדית מ-ICP מוגבר; שדה היקפי בסיכון לפני חדות ראייה</a:t>
            </a:r>
          </a:p>
          <a:p>
            <a:pPr algn="r" rtl="1"/>
            <a:r>
              <a:rPr sz="1600">
                <a:solidFill>
                  <a:srgbClr val="E5E7EB"/>
                </a:solidFill>
                <a:latin typeface="Calibri"/>
              </a:rPr>
              <a:t>עצב III: שלם+אישון מעורב, או כל שיתוק חלקי = מפרצת PCOM עד שמוכח אחרת</a:t>
            </a:r>
          </a:p>
          <a:p>
            <a:pPr algn="r" rtl="1"/>
            <a:r>
              <a:rPr sz="1600">
                <a:solidFill>
                  <a:srgbClr val="E5E7EB"/>
                </a:solidFill>
                <a:latin typeface="Calibri"/>
              </a:rPr>
              <a:t>אניסוקוריה: אישון קטן בולט בחושך (הורנר); אישון גדול בולט באור (III/Adie/תרופתי)</a:t>
            </a:r>
          </a:p>
          <a:p>
            <a:pPr algn="r" rtl="1"/>
            <a:r>
              <a:rPr sz="1600">
                <a:solidFill>
                  <a:srgbClr val="E5E7EB"/>
                </a:solidFill>
                <a:latin typeface="Calibri"/>
              </a:rPr>
              <a:t>IIH: בירור MRI→MRV/CTV→ניקור מותני; טיפול אצטזולאמיד→ניתוח אם נכשל</a:t>
            </a:r>
          </a:p>
          <a:p>
            <a:pPr algn="r" rtl="1"/>
            <a:r>
              <a:rPr sz="1600">
                <a:solidFill>
                  <a:srgbClr val="E5E7EB"/>
                </a:solidFill>
                <a:latin typeface="Calibri"/>
              </a:rPr>
              <a:t>GCA: חשד קליני = סטרואידים מיידית לפני ביופסיה</a:t>
            </a:r>
          </a:p>
          <a:p>
            <a:pPr algn="r" rtl="1"/>
            <a:r>
              <a:rPr sz="1600">
                <a:solidFill>
                  <a:srgbClr val="E5E7EB"/>
                </a:solidFill>
                <a:latin typeface="Calibri"/>
              </a:rPr>
              <a:t>כיאזמה: אדנומות לא-מפרישות גדולות הן הגורם השכיח ביותר</a:t>
            </a:r>
          </a:p>
        </p:txBody>
      </p:sp>
      <p:sp>
        <p:nvSpPr>
          <p:cNvPr id="6" name="TextBox 5"/>
          <p:cNvSpPr txBox="1"/>
          <p:nvPr/>
        </p:nvSpPr>
        <p:spPr>
          <a:xfrm>
            <a:off x="914400" y="6309360"/>
            <a:ext cx="10360152" cy="365760"/>
          </a:xfrm>
          <a:prstGeom prst="rect">
            <a:avLst/>
          </a:prstGeom>
          <a:noFill/>
        </p:spPr>
        <p:txBody>
          <a:bodyPr wrap="square" anchor="ctr" lIns="0" rIns="0" tIns="0" bIns="0">
            <a:spAutoFit/>
          </a:bodyPr>
          <a:lstStyle/>
          <a:p>
            <a:pPr algn="ctr" rtl="1"/>
            <a:r>
              <a:rPr sz="1200" b="0">
                <a:solidFill>
                  <a:srgbClr val="64748B"/>
                </a:solidFill>
                <a:latin typeface="Calibri"/>
              </a:rPr>
              <a:t>maskit101.github.io/summeries-medicine/neurosurgery8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