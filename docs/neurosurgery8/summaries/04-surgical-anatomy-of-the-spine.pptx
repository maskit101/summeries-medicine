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1B2A"/>
        </a:solidFill>
      </p:bgPr>
    </p:bg>
    <p:spTree>
      <p:nvGrpSpPr>
        <p:cNvPr id="1" name=""/>
        <p:cNvGrpSpPr/>
        <p:nvPr/>
      </p:nvGrpSpPr>
      <p:grpSpPr>
        <a:xfrm>
          <a:off x="0" y="0"/>
          <a:ext cx="0" cy="0"/>
          <a:chOff x="0" y="0"/>
          <a:chExt cx="0" cy="0"/>
        </a:xfrm>
      </p:grpSpPr>
      <p:sp>
        <p:nvSpPr>
          <p:cNvPr id="2" name="Shape 0"/>
          <p:cNvSpPr/>
          <p:nvPr/>
        </p:nvSpPr>
        <p:spPr>
          <a:xfrm>
            <a:off x="5559552" y="640080"/>
            <a:ext cx="1078992" cy="1078992"/>
          </a:xfrm>
          <a:prstGeom prst="ellipse">
            <a:avLst/>
          </a:prstGeom>
          <a:ln w="38100">
            <a:solidFill>
              <a:srgbClr val="1C7293"/>
            </a:solidFill>
            <a:prstDash val="solid"/>
          </a:ln>
        </p:spPr>
      </p:sp>
      <p:sp>
        <p:nvSpPr>
          <p:cNvPr id="3" name="Shape 1"/>
          <p:cNvSpPr/>
          <p:nvPr/>
        </p:nvSpPr>
        <p:spPr>
          <a:xfrm>
            <a:off x="5788152" y="868680"/>
            <a:ext cx="621792" cy="621792"/>
          </a:xfrm>
          <a:prstGeom prst="ellipse">
            <a:avLst/>
          </a:prstGeom>
          <a:solidFill>
            <a:srgbClr val="1C7293"/>
          </a:solidFill>
          <a:ln/>
        </p:spPr>
      </p:sp>
      <p:sp>
        <p:nvSpPr>
          <p:cNvPr id="4" name="Text 2"/>
          <p:cNvSpPr/>
          <p:nvPr/>
        </p:nvSpPr>
        <p:spPr>
          <a:xfrm>
            <a:off x="914400" y="2103120"/>
            <a:ext cx="10360152" cy="914400"/>
          </a:xfrm>
          <a:prstGeom prst="rect">
            <a:avLst/>
          </a:prstGeom>
          <a:noFill/>
          <a:ln/>
        </p:spPr>
        <p:txBody>
          <a:bodyPr wrap="square" rtlCol="0" anchor="ctr"/>
          <a:lstStyle/>
          <a:p>
            <a:pPr rtl="1" algn="ctr" indent="0" marL="0">
              <a:buNone/>
            </a:pPr>
            <a:r>
              <a:rPr lang="en-US" sz="4000" b="1" dirty="0">
                <a:solidFill>
                  <a:srgbClr val="FFFFFF"/>
                </a:solidFill>
                <a:latin typeface="Calibri" pitchFamily="34" charset="0"/>
                <a:ea typeface="Calibri" pitchFamily="34" charset="-122"/>
                <a:cs typeface="Calibri" pitchFamily="34" charset="-120"/>
              </a:rPr>
              <a:t>נוירוכירורגיה — מהדורה 8</a:t>
            </a:r>
            <a:endParaRPr lang="en-US" sz="4000" dirty="0"/>
          </a:p>
        </p:txBody>
      </p:sp>
      <p:sp>
        <p:nvSpPr>
          <p:cNvPr id="5" name="Text 3"/>
          <p:cNvSpPr/>
          <p:nvPr/>
        </p:nvSpPr>
        <p:spPr>
          <a:xfrm>
            <a:off x="914400" y="3017520"/>
            <a:ext cx="10360152" cy="640080"/>
          </a:xfrm>
          <a:prstGeom prst="rect">
            <a:avLst/>
          </a:prstGeom>
          <a:noFill/>
          <a:ln/>
        </p:spPr>
        <p:txBody>
          <a:bodyPr wrap="square" rtlCol="0" anchor="ctr"/>
          <a:lstStyle/>
          <a:p>
            <a:pPr rtl="1" algn="ctr" indent="0" marL="0">
              <a:buNone/>
            </a:pPr>
            <a:r>
              <a:rPr lang="en-US" sz="2400" dirty="0">
                <a:solidFill>
                  <a:srgbClr val="93C5FD"/>
                </a:solidFill>
                <a:latin typeface="Calibri" pitchFamily="34" charset="0"/>
                <a:ea typeface="Calibri" pitchFamily="34" charset="-122"/>
                <a:cs typeface="Calibri" pitchFamily="34" charset="-120"/>
              </a:rPr>
              <a:t>פרק 4: אנטומיה כירורגית של עמוד השדרה</a:t>
            </a:r>
            <a:endParaRPr lang="en-US" sz="2400" dirty="0"/>
          </a:p>
        </p:txBody>
      </p:sp>
      <p:sp>
        <p:nvSpPr>
          <p:cNvPr id="6" name="Text 4"/>
          <p:cNvSpPr/>
          <p:nvPr/>
        </p:nvSpPr>
        <p:spPr>
          <a:xfrm>
            <a:off x="914400" y="3657600"/>
            <a:ext cx="10360152" cy="457200"/>
          </a:xfrm>
          <a:prstGeom prst="rect">
            <a:avLst/>
          </a:prstGeom>
          <a:noFill/>
          <a:ln/>
        </p:spPr>
        <p:txBody>
          <a:bodyPr wrap="square" rtlCol="0" anchor="ctr"/>
          <a:lstStyle/>
          <a:p>
            <a:pPr algn="ctr" indent="0" marL="0">
              <a:buNone/>
            </a:pPr>
            <a:r>
              <a:rPr lang="en-US" sz="1500" i="1" dirty="0">
                <a:solidFill>
                  <a:srgbClr val="7DD3FC"/>
                </a:solidFill>
                <a:latin typeface="Calibri" pitchFamily="34" charset="0"/>
                <a:ea typeface="Calibri" pitchFamily="34" charset="-122"/>
                <a:cs typeface="Calibri" pitchFamily="34" charset="-120"/>
              </a:rPr>
              <a:t>Surgical Anatomy of the Spine  ·  Youmans Neurological Surgery</a:t>
            </a:r>
            <a:endParaRPr lang="en-US" sz="1500" dirty="0"/>
          </a:p>
        </p:txBody>
      </p:sp>
      <p:sp>
        <p:nvSpPr>
          <p:cNvPr id="7" name="Text 5"/>
          <p:cNvSpPr/>
          <p:nvPr/>
        </p:nvSpPr>
        <p:spPr>
          <a:xfrm>
            <a:off x="914400" y="5943600"/>
            <a:ext cx="10360152" cy="548640"/>
          </a:xfrm>
          <a:prstGeom prst="rect">
            <a:avLst/>
          </a:prstGeom>
          <a:noFill/>
          <a:ln/>
        </p:spPr>
        <p:txBody>
          <a:bodyPr wrap="square" rtlCol="0" anchor="ctr"/>
          <a:lstStyle/>
          <a:p>
            <a:pPr rtl="1" algn="ctr" indent="0" marL="0">
              <a:buNone/>
            </a:pPr>
            <a:r>
              <a:rPr lang="en-US" sz="1250" dirty="0">
                <a:solidFill>
                  <a:srgbClr val="64748B"/>
                </a:solidFill>
                <a:latin typeface="Calibri" pitchFamily="34" charset="0"/>
                <a:ea typeface="Calibri" pitchFamily="34" charset="-122"/>
                <a:cs typeface="Calibri" pitchFamily="34" charset="-120"/>
              </a:rPr>
              <a:t>8 כרטיסיות תרגול · שאלה ואז תשובה מלאה בכל כרטיסייה · לסטטיסטיקה חיה השתמשי באפליקציית ה-HTML</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1C7293"/>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אזורי עמוד השדרה</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1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כמה חוליות מרכיבות את עמוד השדרה האנושי הבוגר הטיפוסי, וכיצד הן מתחלקות לאזורים?</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33: 7 צווארי, 12 חזי, 5 מותני, 5 עצה מאוחות, 4 זנב מאוחות</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26: 7 צווארי, 12 חזי, 7 מותני</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24: 7 צווארי, 12 חזי, 5 מותני בלבד ללא עצה וזנב</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35: 8 צווארי, 12 חזי, 5 מותני, 5 עצה, 5 זנב</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1C7293"/>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אזורי עמוד השדרה</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א) 33: 7 צווארי, 12 חזי, 5 מותני, 5 עצה מאוחות, 4 זנב מאוחות</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7 צוואריות (C1-C7)</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2C5F2D">
              <a:alpha val="12000"/>
            </a:srgbClr>
          </a:solidFill>
          <a:ln w="15875">
            <a:solidFill>
              <a:srgbClr val="2C5F2D"/>
            </a:solidFill>
            <a:prstDash val="solid"/>
          </a:ln>
        </p:spPr>
      </p:sp>
      <p:sp>
        <p:nvSpPr>
          <p:cNvPr id="11" name="Shape 9"/>
          <p:cNvSpPr/>
          <p:nvPr/>
        </p:nvSpPr>
        <p:spPr>
          <a:xfrm>
            <a:off x="11292840" y="3044952"/>
            <a:ext cx="256032" cy="256032"/>
          </a:xfrm>
          <a:prstGeom prst="ellipse">
            <a:avLst/>
          </a:prstGeom>
          <a:solidFill>
            <a:srgbClr val="2C5F2D"/>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12 חזיות (T1-T12)</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A16207">
              <a:alpha val="12000"/>
            </a:srgbClr>
          </a:solidFill>
          <a:ln w="15875">
            <a:solidFill>
              <a:srgbClr val="A16207"/>
            </a:solidFill>
            <a:prstDash val="solid"/>
          </a:ln>
        </p:spPr>
      </p:sp>
      <p:sp>
        <p:nvSpPr>
          <p:cNvPr id="15" name="Shape 13"/>
          <p:cNvSpPr/>
          <p:nvPr/>
        </p:nvSpPr>
        <p:spPr>
          <a:xfrm>
            <a:off x="11292840" y="3913632"/>
            <a:ext cx="256032" cy="256032"/>
          </a:xfrm>
          <a:prstGeom prst="ellipse">
            <a:avLst/>
          </a:prstGeom>
          <a:solidFill>
            <a:srgbClr val="A16207"/>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5 מותניות (L1-L5)</a:t>
            </a:r>
            <a:endParaRPr lang="en-US" sz="950" dirty="0"/>
          </a:p>
        </p:txBody>
      </p:sp>
      <p:sp>
        <p:nvSpPr>
          <p:cNvPr id="17" name="Shape 15"/>
          <p:cNvSpPr/>
          <p:nvPr/>
        </p:nvSpPr>
        <p:spPr>
          <a:xfrm>
            <a:off x="9738360" y="4434840"/>
            <a:ext cx="0" cy="91440"/>
          </a:xfrm>
          <a:prstGeom prst="line">
            <a:avLst/>
          </a:prstGeom>
          <a:noFill/>
          <a:ln w="19050">
            <a:solidFill>
              <a:srgbClr val="9CA3AF"/>
            </a:solidFill>
            <a:prstDash val="solid"/>
            <a:tailEnd type="triangle"/>
          </a:ln>
        </p:spPr>
      </p:sp>
      <p:sp>
        <p:nvSpPr>
          <p:cNvPr id="18" name="Shape 16"/>
          <p:cNvSpPr/>
          <p:nvPr/>
        </p:nvSpPr>
        <p:spPr>
          <a:xfrm>
            <a:off x="8138160" y="4526280"/>
            <a:ext cx="3474720" cy="777240"/>
          </a:xfrm>
          <a:prstGeom prst="roundRect">
            <a:avLst>
              <a:gd name="adj" fmla="val 8235"/>
            </a:avLst>
          </a:prstGeom>
          <a:solidFill>
            <a:srgbClr val="B45309">
              <a:alpha val="12000"/>
            </a:srgbClr>
          </a:solidFill>
          <a:ln w="15875">
            <a:solidFill>
              <a:srgbClr val="B45309"/>
            </a:solidFill>
            <a:prstDash val="solid"/>
          </a:ln>
        </p:spPr>
      </p:sp>
      <p:sp>
        <p:nvSpPr>
          <p:cNvPr id="19" name="Shape 17"/>
          <p:cNvSpPr/>
          <p:nvPr/>
        </p:nvSpPr>
        <p:spPr>
          <a:xfrm>
            <a:off x="11292840" y="4782312"/>
            <a:ext cx="256032" cy="256032"/>
          </a:xfrm>
          <a:prstGeom prst="ellipse">
            <a:avLst/>
          </a:prstGeom>
          <a:solidFill>
            <a:srgbClr val="B45309"/>
          </a:solidFill>
          <a:ln/>
        </p:spPr>
      </p:sp>
      <p:sp>
        <p:nvSpPr>
          <p:cNvPr id="20" name="Text 18"/>
          <p:cNvSpPr/>
          <p:nvPr/>
        </p:nvSpPr>
        <p:spPr>
          <a:xfrm>
            <a:off x="8275320" y="458114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5 עצה + 4 זנב מאוחות</a:t>
            </a:r>
            <a:endParaRPr lang="en-US" sz="950" dirty="0"/>
          </a:p>
        </p:txBody>
      </p:sp>
      <p:sp>
        <p:nvSpPr>
          <p:cNvPr id="21" name="Shape 19"/>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22" name="Text 20"/>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23" name="Text 21"/>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(1): הפרק מגדיר במפורש 7 חוליות צוואריות, 12 חזיות, 5 מותניות, 5 עצה מאוחות ו-4 זנב מאוחות - סה"כ 33 חוליות הנושאות את חוט השדרה ו-31 זוגות שורשי עצבים.</a:t>
            </a:r>
            <a:endParaRPr lang="en-US" sz="1000" dirty="0"/>
          </a:p>
        </p:txBody>
      </p:sp>
      <p:sp>
        <p:nvSpPr>
          <p:cNvPr id="24" name="Shape 22"/>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5" name="Text 23"/>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אזורי עמוד השדרה</a:t>
            </a:r>
            <a:endParaRPr lang="en-US" sz="1150" dirty="0"/>
          </a:p>
        </p:txBody>
      </p:sp>
      <p:sp>
        <p:nvSpPr>
          <p:cNvPr id="26" name="Text 24"/>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33 חוליות המחולקות ל-5 אזורים: צווארי, חזי, מותני, עצה וזנב.</a:t>
            </a:r>
            <a:endParaRPr lang="en-US" sz="950" dirty="0"/>
          </a:p>
        </p:txBody>
      </p:sp>
      <p:sp>
        <p:nvSpPr>
          <p:cNvPr id="27" name="Shape 25"/>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8" name="Text 26"/>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9" name="Text 27"/>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בניין בן 4 אגפים עם קומת מרתף מאוחדת - צוואר, חזה ומותן הם שלושה אגפים נפרדים וניידים, ועצה-זנב הם המרתף המאוחד והקשיח.</a:t>
            </a:r>
            <a:endParaRPr lang="en-US" sz="950" dirty="0"/>
          </a:p>
        </p:txBody>
      </p:sp>
      <p:sp>
        <p:nvSpPr>
          <p:cNvPr id="30" name="Text 28"/>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החלוקה לאזורים חשובה כירורגית?</a:t>
            </a:r>
            <a:endParaRPr lang="en-US" sz="900" dirty="0"/>
          </a:p>
        </p:txBody>
      </p:sp>
      <p:sp>
        <p:nvSpPr>
          <p:cNvPr id="31" name="Text 29"/>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B85042"/>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עורק Adamkiewicz</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2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מהיכן מקורו האופייני של עורק Adamkiewicz, ומהי חשיבותו הקלינית?</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מהעורק הוורטברלי בגובה C2; מזין את חוט השדרה הצווארי</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מהעורק הקרוטידי הפנימי; מזין את המוח הקדמי</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בדרך כלל מהעורק הבין-צלעי האחורי השמאלי בין T9-L2; הוא הספק הדומיננטי לחוט השדרה המותני-עצי</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מעורק הכליה השמאלי; מזין את הכליות בלבד</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B85042"/>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עורק Adamkiewicz</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ג) בדרך כלל מהעורק הבין-צלעי האחורי השמאלי בין T9-L2; הוא הספק הדומיננטי לחוט השדרה המותני-עצי</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B91C1C">
              <a:alpha val="12000"/>
            </a:srgbClr>
          </a:solidFill>
          <a:ln w="15875">
            <a:solidFill>
              <a:srgbClr val="B91C1C"/>
            </a:solidFill>
            <a:prstDash val="solid"/>
          </a:ln>
        </p:spPr>
      </p:sp>
      <p:sp>
        <p:nvSpPr>
          <p:cNvPr id="7" name="Shape 5"/>
          <p:cNvSpPr/>
          <p:nvPr/>
        </p:nvSpPr>
        <p:spPr>
          <a:xfrm>
            <a:off x="11292840" y="2176272"/>
            <a:ext cx="256032" cy="256032"/>
          </a:xfrm>
          <a:prstGeom prst="ellipse">
            <a:avLst/>
          </a:prstGeom>
          <a:solidFill>
            <a:srgbClr val="B91C1C"/>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מקור אופייני: T9-L2, לרוב משמאל</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1C7293">
              <a:alpha val="12000"/>
            </a:srgbClr>
          </a:solidFill>
          <a:ln w="15875">
            <a:solidFill>
              <a:srgbClr val="1C7293"/>
            </a:solidFill>
            <a:prstDash val="solid"/>
          </a:ln>
        </p:spPr>
      </p:sp>
      <p:sp>
        <p:nvSpPr>
          <p:cNvPr id="11" name="Shape 9"/>
          <p:cNvSpPr/>
          <p:nvPr/>
        </p:nvSpPr>
        <p:spPr>
          <a:xfrm>
            <a:off x="11292840" y="3044952"/>
            <a:ext cx="256032" cy="256032"/>
          </a:xfrm>
          <a:prstGeom prst="ellipse">
            <a:avLst/>
          </a:prstGeom>
          <a:solidFill>
            <a:srgbClr val="1C7293"/>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מחזק את העורק השדרתי הקדמי (ASA)</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2C5F2D">
              <a:alpha val="12000"/>
            </a:srgbClr>
          </a:solidFill>
          <a:ln w="15875">
            <a:solidFill>
              <a:srgbClr val="2C5F2D"/>
            </a:solidFill>
            <a:prstDash val="solid"/>
          </a:ln>
        </p:spPr>
      </p:sp>
      <p:sp>
        <p:nvSpPr>
          <p:cNvPr id="15" name="Shape 13"/>
          <p:cNvSpPr/>
          <p:nvPr/>
        </p:nvSpPr>
        <p:spPr>
          <a:xfrm>
            <a:off x="11292840" y="3913632"/>
            <a:ext cx="256032" cy="256032"/>
          </a:xfrm>
          <a:prstGeom prst="ellipse">
            <a:avLst/>
          </a:prstGeom>
          <a:solidFill>
            <a:srgbClr val="2C5F2D"/>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ספק דומיננטי לחוט השדרה המותני-עצי</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(3): עורק Adamkiewicz הוא העורק המדולרי הסגמנטלי הקדמי הגדול ביותר, בדרך כלל מוצאו מהעורק הבין-צלעי האחורי השמאלי בין T9-L2. פגיעה בו עלולה לגרום לשיתוק מאוטם חוט השדרה כי הוא הספק הדומיננטי למקטעים המותניים-עצביים.</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עורק Adamkiewicz</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העורק המדולרי הסגמנטלי הגדול ביותר המחזק את ה-ASA, מקור אופייני T9-L2 משמאל.</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צינור מים ראשי שמזין שכונה שלמה בקומה תחתונה של בניין - אם סוגרים אותו בטעות, כל הדירות התחתונות (חוט השדרה המותני-עצי) נשארות בלי מים.</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פגיעה בעורק זה כה מסוכנת דווקא בניתוחי אבי עורקים?</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21295C"/>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אספקת דם לחוט השדרה</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3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מדוע האזור החזי בין T4-T9 מכונה "האזור הווסקולרי הקריטי" של חוט השדרה?</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שם עובר תמיד עורק Adamkiewicz</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העורק השדרתי הקדמי (ASA) שם דל ולעיתים מקבל תרומה יחידה מעורק קטן סביב T7, וזהו גם האזור הצר ביותר של התעלה השדרתית</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שם יוצאים מירב שורשי העצבים של הגפיים העליונות</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אין שם כלל אספקת דם עורקית</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21295C"/>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אספקת דם לחוט השדרה</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ב) כי העורק השדרתי הקדמי (ASA) שם דל ולעיתים מקבל תרומה יחידה מעורק קטן סביב T7, וזהו גם האזור הצר ביותר של התעלה השדרתית</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B45309">
              <a:alpha val="12000"/>
            </a:srgbClr>
          </a:solidFill>
          <a:ln w="15875">
            <a:solidFill>
              <a:srgbClr val="B45309"/>
            </a:solidFill>
            <a:prstDash val="solid"/>
          </a:ln>
        </p:spPr>
      </p:sp>
      <p:sp>
        <p:nvSpPr>
          <p:cNvPr id="7" name="Shape 5"/>
          <p:cNvSpPr/>
          <p:nvPr/>
        </p:nvSpPr>
        <p:spPr>
          <a:xfrm>
            <a:off x="11292840" y="2176272"/>
            <a:ext cx="256032" cy="256032"/>
          </a:xfrm>
          <a:prstGeom prst="ellipse">
            <a:avLst/>
          </a:prstGeom>
          <a:solidFill>
            <a:srgbClr val="B45309"/>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ASA דל ולעיתים לא רציף באזור זה</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1C7293">
              <a:alpha val="12000"/>
            </a:srgbClr>
          </a:solidFill>
          <a:ln w="15875">
            <a:solidFill>
              <a:srgbClr val="1C7293"/>
            </a:solidFill>
            <a:prstDash val="solid"/>
          </a:ln>
        </p:spPr>
      </p:sp>
      <p:sp>
        <p:nvSpPr>
          <p:cNvPr id="11" name="Shape 9"/>
          <p:cNvSpPr/>
          <p:nvPr/>
        </p:nvSpPr>
        <p:spPr>
          <a:xfrm>
            <a:off x="11292840" y="3044952"/>
            <a:ext cx="256032" cy="256032"/>
          </a:xfrm>
          <a:prstGeom prst="ellipse">
            <a:avLst/>
          </a:prstGeom>
          <a:solidFill>
            <a:srgbClr val="1C7293"/>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תרומה בודדת סביב T7 (לרוב משמאל)</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B91C1C">
              <a:alpha val="12000"/>
            </a:srgbClr>
          </a:solidFill>
          <a:ln w="15875">
            <a:solidFill>
              <a:srgbClr val="B91C1C"/>
            </a:solidFill>
            <a:prstDash val="solid"/>
          </a:ln>
        </p:spPr>
      </p:sp>
      <p:sp>
        <p:nvSpPr>
          <p:cNvPr id="15" name="Shape 13"/>
          <p:cNvSpPr/>
          <p:nvPr/>
        </p:nvSpPr>
        <p:spPr>
          <a:xfrm>
            <a:off x="11292840" y="3913632"/>
            <a:ext cx="256032" cy="256032"/>
          </a:xfrm>
          <a:prstGeom prst="ellipse">
            <a:avLst/>
          </a:prstGeom>
          <a:solidFill>
            <a:srgbClr val="B91C1C"/>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חופף לתעלה השדרתית הצרה ביותר</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(2): ה-ASA באזור T4-T9 מקבל לעיתים תרומה בודדת ודלה מעורק קטן סביב T7, וקוטרו שם הוא המזערי ביותר; זהו גם האזור הצר ביותר של התעלה השדרתית - שילוב ההופך אותו לפגיע במיוחד לאיסכמיה.</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האזור הווסקולרי הקריטי</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T4-T9 - אזור בעל אספקת דם דלה יחסית לחוט השדרה, פגיע לאיסכמיה.</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קו צנרת ראשי שמצטמצם לצינור דק מאוד באמצע הדרך - גם זרימה קטנה שם עלולה להיפסק בקלות.</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מה המשמעות הקלינית לניתוחי חזה וגב תיכון?</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6D2E46"/>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העורק הוורטברלי</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4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העורק הוורטברלי מחולק לארבעה מקטעים. איזה מקטע עובר דרך הפורמן הטרנסברסלי מ-C6 ועד C1, בסמיכות של כ-1 מ"מ לתהליכי האנצינטוס?</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V1 - הפרה-פורמינלי, מהמוצא בעורק התת-בריחי ועד C6</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V4 - התוך-דורלי, מהחדירה לדורה ועד ההתאחדות לעורק הבזילרי</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V3 - האטלנטי, סביב הקשת האחורית של האטלס</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V2 - הפורמינלי, מהפורמן של C6 ועד C1</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6D2E46"/>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העורק הוורטברלי</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ד) V2 - הפורמינלי, מהפורמן של C6 ועד C1</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V1: פרה-פורמינלי (תת-בריחי עד C6)</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2C5F2D">
              <a:alpha val="12000"/>
            </a:srgbClr>
          </a:solidFill>
          <a:ln w="15875">
            <a:solidFill>
              <a:srgbClr val="2C5F2D"/>
            </a:solidFill>
            <a:prstDash val="solid"/>
          </a:ln>
        </p:spPr>
      </p:sp>
      <p:sp>
        <p:nvSpPr>
          <p:cNvPr id="11" name="Shape 9"/>
          <p:cNvSpPr/>
          <p:nvPr/>
        </p:nvSpPr>
        <p:spPr>
          <a:xfrm>
            <a:off x="11292840" y="3044952"/>
            <a:ext cx="256032" cy="256032"/>
          </a:xfrm>
          <a:prstGeom prst="ellipse">
            <a:avLst/>
          </a:prstGeom>
          <a:solidFill>
            <a:srgbClr val="2C5F2D"/>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V2: פורמינלי (C6 עד C1) - קרוב לאנצינטוס</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A16207">
              <a:alpha val="12000"/>
            </a:srgbClr>
          </a:solidFill>
          <a:ln w="15875">
            <a:solidFill>
              <a:srgbClr val="A16207"/>
            </a:solidFill>
            <a:prstDash val="solid"/>
          </a:ln>
        </p:spPr>
      </p:sp>
      <p:sp>
        <p:nvSpPr>
          <p:cNvPr id="15" name="Shape 13"/>
          <p:cNvSpPr/>
          <p:nvPr/>
        </p:nvSpPr>
        <p:spPr>
          <a:xfrm>
            <a:off x="11292840" y="3913632"/>
            <a:ext cx="256032" cy="256032"/>
          </a:xfrm>
          <a:prstGeom prst="ellipse">
            <a:avLst/>
          </a:prstGeom>
          <a:solidFill>
            <a:srgbClr val="A16207"/>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V3: אטלנטי (סביב קשת האטלס)</a:t>
            </a:r>
            <a:endParaRPr lang="en-US" sz="950" dirty="0"/>
          </a:p>
        </p:txBody>
      </p:sp>
      <p:sp>
        <p:nvSpPr>
          <p:cNvPr id="17" name="Shape 15"/>
          <p:cNvSpPr/>
          <p:nvPr/>
        </p:nvSpPr>
        <p:spPr>
          <a:xfrm>
            <a:off x="9738360" y="4434840"/>
            <a:ext cx="0" cy="91440"/>
          </a:xfrm>
          <a:prstGeom prst="line">
            <a:avLst/>
          </a:prstGeom>
          <a:noFill/>
          <a:ln w="19050">
            <a:solidFill>
              <a:srgbClr val="9CA3AF"/>
            </a:solidFill>
            <a:prstDash val="solid"/>
            <a:tailEnd type="triangle"/>
          </a:ln>
        </p:spPr>
      </p:sp>
      <p:sp>
        <p:nvSpPr>
          <p:cNvPr id="18" name="Shape 16"/>
          <p:cNvSpPr/>
          <p:nvPr/>
        </p:nvSpPr>
        <p:spPr>
          <a:xfrm>
            <a:off x="8138160" y="4526280"/>
            <a:ext cx="3474720" cy="777240"/>
          </a:xfrm>
          <a:prstGeom prst="roundRect">
            <a:avLst>
              <a:gd name="adj" fmla="val 8235"/>
            </a:avLst>
          </a:prstGeom>
          <a:solidFill>
            <a:srgbClr val="B91C1C">
              <a:alpha val="12000"/>
            </a:srgbClr>
          </a:solidFill>
          <a:ln w="15875">
            <a:solidFill>
              <a:srgbClr val="B91C1C"/>
            </a:solidFill>
            <a:prstDash val="solid"/>
          </a:ln>
        </p:spPr>
      </p:sp>
      <p:sp>
        <p:nvSpPr>
          <p:cNvPr id="19" name="Shape 17"/>
          <p:cNvSpPr/>
          <p:nvPr/>
        </p:nvSpPr>
        <p:spPr>
          <a:xfrm>
            <a:off x="11292840" y="4782312"/>
            <a:ext cx="256032" cy="256032"/>
          </a:xfrm>
          <a:prstGeom prst="ellipse">
            <a:avLst/>
          </a:prstGeom>
          <a:solidFill>
            <a:srgbClr val="B91C1C"/>
          </a:solidFill>
          <a:ln/>
        </p:spPr>
      </p:sp>
      <p:sp>
        <p:nvSpPr>
          <p:cNvPr id="20" name="Text 18"/>
          <p:cNvSpPr/>
          <p:nvPr/>
        </p:nvSpPr>
        <p:spPr>
          <a:xfrm>
            <a:off x="8275320" y="458114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V4: תוך-דורלי (עד העורק הבזילרי)</a:t>
            </a:r>
            <a:endParaRPr lang="en-US" sz="950" dirty="0"/>
          </a:p>
        </p:txBody>
      </p:sp>
      <p:sp>
        <p:nvSpPr>
          <p:cNvPr id="21" name="Shape 19"/>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22" name="Text 20"/>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23" name="Text 21"/>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(4): V2 (המקטע הפורמינלי) עובר בפורמן הטרנסברסלי מ-C6 ועד C1, כ-1 מ"מ פוסטרו-לטרלית לתהליכי האנצינטוס - קרבה שעלולה לחשוף אותו ללחיצה מאוסטאופיטים ולסיכון בדיסקציה לטרלית מוגזמת בגישה קדמית.</a:t>
            </a:r>
            <a:endParaRPr lang="en-US" sz="1000" dirty="0"/>
          </a:p>
        </p:txBody>
      </p:sp>
      <p:sp>
        <p:nvSpPr>
          <p:cNvPr id="24" name="Shape 22"/>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5" name="Text 23"/>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מקטעי העורק הוורטברלי</a:t>
            </a:r>
            <a:endParaRPr lang="en-US" sz="1150" dirty="0"/>
          </a:p>
        </p:txBody>
      </p:sp>
      <p:sp>
        <p:nvSpPr>
          <p:cNvPr id="26" name="Text 24"/>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V1 פרה-פורמינלי, V2 פורמינלי, V3 אטלנטי, V4 תוך-דורלי.</a:t>
            </a:r>
            <a:endParaRPr lang="en-US" sz="950" dirty="0"/>
          </a:p>
        </p:txBody>
      </p:sp>
      <p:sp>
        <p:nvSpPr>
          <p:cNvPr id="27" name="Shape 25"/>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8" name="Text 26"/>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9" name="Text 27"/>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מעלית שעולה דרך ארבע קומות שונות בבניין - קומה 1 (V1) מחוץ לבניין, קומה 2 (V2) בתוך פיר צר וסמוך לקירות, קומה 3 (V3) עם פנייה חדה, וקומה 4 (V4) בתוך המסדרון הפנימי (הדורה).</a:t>
            </a:r>
            <a:endParaRPr lang="en-US" sz="950" dirty="0"/>
          </a:p>
        </p:txBody>
      </p:sp>
      <p:sp>
        <p:nvSpPr>
          <p:cNvPr id="30" name="Text 28"/>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החלוקה למקטעים חשובה בגישה קדמית לצוואר?</a:t>
            </a:r>
            <a:endParaRPr lang="en-US" sz="900" dirty="0"/>
          </a:p>
        </p:txBody>
      </p:sp>
      <p:sp>
        <p:nvSpPr>
          <p:cNvPr id="31" name="Text 29"/>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2C5F2D"/>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פני שטח ומישוש</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5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מהו ה-"vertebra prominens", ומדוע הוא ציון דרך קליני חשוב?</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קשית הצנירי של C7, הבליטה הבולטת ביותר בקו האמצע האחורי בכ-75% מהאוכלוסייה - משמש לספירת רמות צוואריות</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התהליך הרוחבי של C1, הנמוש מתחת לתהליך המסטואיד</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התהליך הצנירי של T12, הגבול בין החזה למותן</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התהליך הצנירי של L4, המסמן את מישור עליון הכסלים</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2C5F2D"/>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פני שטח ומישוש</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א) קשית הצנירי של C7, הבליטה הבולטת ביותר בקו האמצע האחורי בכ-75% מהאוכלוסייה - משמש לספירת רמות צוואריות</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קשית הצנירי של C7</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2C5F2D">
              <a:alpha val="12000"/>
            </a:srgbClr>
          </a:solidFill>
          <a:ln w="15875">
            <a:solidFill>
              <a:srgbClr val="2C5F2D"/>
            </a:solidFill>
            <a:prstDash val="solid"/>
          </a:ln>
        </p:spPr>
      </p:sp>
      <p:sp>
        <p:nvSpPr>
          <p:cNvPr id="11" name="Shape 9"/>
          <p:cNvSpPr/>
          <p:nvPr/>
        </p:nvSpPr>
        <p:spPr>
          <a:xfrm>
            <a:off x="11292840" y="3044952"/>
            <a:ext cx="256032" cy="256032"/>
          </a:xfrm>
          <a:prstGeom prst="ellipse">
            <a:avLst/>
          </a:prstGeom>
          <a:solidFill>
            <a:srgbClr val="2C5F2D"/>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הבליטה הבולטת ביותר ב-75% מהאוכלוסייה</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A16207">
              <a:alpha val="12000"/>
            </a:srgbClr>
          </a:solidFill>
          <a:ln w="15875">
            <a:solidFill>
              <a:srgbClr val="A16207"/>
            </a:solidFill>
            <a:prstDash val="solid"/>
          </a:ln>
        </p:spPr>
      </p:sp>
      <p:sp>
        <p:nvSpPr>
          <p:cNvPr id="15" name="Shape 13"/>
          <p:cNvSpPr/>
          <p:nvPr/>
        </p:nvSpPr>
        <p:spPr>
          <a:xfrm>
            <a:off x="11292840" y="3913632"/>
            <a:ext cx="256032" cy="256032"/>
          </a:xfrm>
          <a:prstGeom prst="ellipse">
            <a:avLst/>
          </a:prstGeom>
          <a:solidFill>
            <a:srgbClr val="A16207"/>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בשאר - C6 (10%) או T1 (15%)</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(1): קשית C7 ("vertebra prominens") היא הבליטה העצמית הבולטת ביותר בקו האמצע האחורי מתחת ל-inion ב-75% מהאוכלוסייה, ומשמשת ציון התחלה נפוץ לספירת רמות בבדיקה גופנית וללא הדמיה.</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Vertebra prominens</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קשית הצנירי של C7 - הבליטה הבולטת ביותר בקו האמצע האחורי הצווארי-חזי ברוב האוכלוסייה.</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שביל הרים עם אבן ציון גדולה במיוחד באמצע - היא הראשונה שרואים ולכן כל שאר המרחקים נמדדים ממנה.</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חשוב לזכור שב-25% מהאוכלוסייה זה לא C7?</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990011"/>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מבנה החוליה</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6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מדוע הפדיקל נחשב הן לנקודת העיגון הבטוחה ביותר לברגי פדיקל והן לנקודת התורפה הכירורגית הקריטית ביותר?</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הוא מכיל רק עצם ספוגית רכה, קלה לקדיחה</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הוא נמצא במרחק המרבי מחוט השדרה</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הוא המבנה הצר והקורטיקלי ביותר המחבר את גוף החוליה לקשת - דופן עבה נותנת אחיזה טובה לברגים, אך שבר או שחיקה בו מערער את הקשר בין הגוף לקשת וחושף מבנים עצביים</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אין לו כל קשר אנטומי לגוף החוליה</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990011"/>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מבנה החוליה</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ג) כי הוא המבנה הצר והקורטיקלי ביותר המחבר את גוף החוליה לקשת - דופן עבה נותנת אחיזה טובה לברגים, אך שבר או שחיקה בו מערער את הקשר בין הגוף לקשת וחושף מבנים עצביים</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מבנה קורטיקלי צר ועבה</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2C5F2D">
              <a:alpha val="12000"/>
            </a:srgbClr>
          </a:solidFill>
          <a:ln w="15875">
            <a:solidFill>
              <a:srgbClr val="2C5F2D"/>
            </a:solidFill>
            <a:prstDash val="solid"/>
          </a:ln>
        </p:spPr>
      </p:sp>
      <p:sp>
        <p:nvSpPr>
          <p:cNvPr id="11" name="Shape 9"/>
          <p:cNvSpPr/>
          <p:nvPr/>
        </p:nvSpPr>
        <p:spPr>
          <a:xfrm>
            <a:off x="11292840" y="3044952"/>
            <a:ext cx="256032" cy="256032"/>
          </a:xfrm>
          <a:prstGeom prst="ellipse">
            <a:avLst/>
          </a:prstGeom>
          <a:solidFill>
            <a:srgbClr val="2C5F2D"/>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מחבר את הגוף לקשת האחורית</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B91C1C">
              <a:alpha val="12000"/>
            </a:srgbClr>
          </a:solidFill>
          <a:ln w="15875">
            <a:solidFill>
              <a:srgbClr val="B91C1C"/>
            </a:solidFill>
            <a:prstDash val="solid"/>
          </a:ln>
        </p:spPr>
      </p:sp>
      <p:sp>
        <p:nvSpPr>
          <p:cNvPr id="15" name="Shape 13"/>
          <p:cNvSpPr/>
          <p:nvPr/>
        </p:nvSpPr>
        <p:spPr>
          <a:xfrm>
            <a:off x="11292840" y="3913632"/>
            <a:ext cx="256032" cy="256032"/>
          </a:xfrm>
          <a:prstGeom prst="ellipse">
            <a:avLst/>
          </a:prstGeom>
          <a:solidFill>
            <a:srgbClr val="B91C1C"/>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נקודת עיגון לברגים אך גם נקודת כשל</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(3): הפדיקל הוא הגשר הקורטיקלי הצר בין הגוף הקדמי לקשת האחורית. הצפיפות הקורטיקלית שלו הופכת אותו לנקודת עיגון אידיאלית לברגים, אך אותה צרות הופכת אותו לנקודת כשל קריטית כאשר הוא נשחק (למשל בגרורה), מה שעלול לערער את יציבות הרמה ולחשוף שורשי עצבים או חוט שדרה.</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פדיקל</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החלק הקורטיקלי הצר המחבר את גוף החוליה לקשת האחורית; נקודת עיגון עיקרית לברגי פדיקל.</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גשר צר וחזק במיוחד המחבר בין שני אגפי מבצר - הוא מספיק חזק כדי לתלות עליו דגל כבד (בורג), אבל אם מישהו מחליש אותו (גרורה), כל המבצר עלול לקרוס.</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גרורה בפדיקל כל כך מדאיגה נוירוכירורגים?</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028090"/>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אנטומיה עצבית</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7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מדוע העצב הצווארי C3 הוא העצב העליון ביותר שיכול להיפגע מבקע דיסק בין-חולייתי צווארי?</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C1 ו-C2 חסרים שורשי עצבים לחלוטין</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אין דיסק בין-חולייתי ברמה האטלנטו-אקסיאלית (C1-C2), ולכן הדיסק הגבוה ביותר הוא C2-C3, המשפיע על העצב היוצא מתחתיו - C3</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ליגמנטום נוכה חוסם גישה לרמות גבוהות יותר</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עצב C3 הוא היחיד המכיל סיבים מוטוריים בצוואר</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028090"/>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אנטומיה עצבית</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ב) כי אין דיסק בין-חולייתי ברמה האטלנטו-אקסיאלית (C1-C2), ולכן הדיסק הגבוה ביותר הוא C2-C3, המשפיע על העצב היוצא מתחתיו - C3</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B45309">
              <a:alpha val="12000"/>
            </a:srgbClr>
          </a:solidFill>
          <a:ln w="15875">
            <a:solidFill>
              <a:srgbClr val="B45309"/>
            </a:solidFill>
            <a:prstDash val="solid"/>
          </a:ln>
        </p:spPr>
      </p:sp>
      <p:sp>
        <p:nvSpPr>
          <p:cNvPr id="7" name="Shape 5"/>
          <p:cNvSpPr/>
          <p:nvPr/>
        </p:nvSpPr>
        <p:spPr>
          <a:xfrm>
            <a:off x="11292840" y="2176272"/>
            <a:ext cx="256032" cy="256032"/>
          </a:xfrm>
          <a:prstGeom prst="ellipse">
            <a:avLst/>
          </a:prstGeom>
          <a:solidFill>
            <a:srgbClr val="B45309"/>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אין דיסק ברמת C1-C2</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1C7293">
              <a:alpha val="12000"/>
            </a:srgbClr>
          </a:solidFill>
          <a:ln w="15875">
            <a:solidFill>
              <a:srgbClr val="1C7293"/>
            </a:solidFill>
            <a:prstDash val="solid"/>
          </a:ln>
        </p:spPr>
      </p:sp>
      <p:sp>
        <p:nvSpPr>
          <p:cNvPr id="11" name="Shape 9"/>
          <p:cNvSpPr/>
          <p:nvPr/>
        </p:nvSpPr>
        <p:spPr>
          <a:xfrm>
            <a:off x="11292840" y="3044952"/>
            <a:ext cx="256032" cy="256032"/>
          </a:xfrm>
          <a:prstGeom prst="ellipse">
            <a:avLst/>
          </a:prstGeom>
          <a:solidFill>
            <a:srgbClr val="1C7293"/>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הדיסק הגבוה ביותר: C2-C3</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2C5F2D">
              <a:alpha val="12000"/>
            </a:srgbClr>
          </a:solidFill>
          <a:ln w="15875">
            <a:solidFill>
              <a:srgbClr val="2C5F2D"/>
            </a:solidFill>
            <a:prstDash val="solid"/>
          </a:ln>
        </p:spPr>
      </p:sp>
      <p:sp>
        <p:nvSpPr>
          <p:cNvPr id="15" name="Shape 13"/>
          <p:cNvSpPr/>
          <p:nvPr/>
        </p:nvSpPr>
        <p:spPr>
          <a:xfrm>
            <a:off x="11292840" y="3913632"/>
            <a:ext cx="256032" cy="256032"/>
          </a:xfrm>
          <a:prstGeom prst="ellipse">
            <a:avLst/>
          </a:prstGeom>
          <a:solidFill>
            <a:srgbClr val="2C5F2D"/>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משפיע על עצב C3</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(2): הדיסקים הבין-חולייתיים הצוואריים קיימים בין כל החוליות הצוואריות למעט ברמה האטלנטו-אקסיאלית (C1-C2). לכן הדיסק הגבוה ביותר בעמוד השדרה הוא C2-C3, ובקע בו יכול לפגוע רק בעצב C3 ומטה.</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עצב C3</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העצב השדרתי העליון ביותר שיכול להיפגע מבקע דיסק צווארי, כי אין דיסק ברמת C1-C2.</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מדרגות בבניין שמתחילות רק מקומה 3 - אי אפשר "למעוד" על מדרגה שלא קיימת בין קומה 1 ל-2.</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מה המשמעות הקלינית של עובדה זו?</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84B59F"/>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משמעות כירורגית</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8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בגישה קדמית צווארית (Smith-Robinson) לניתוח דיסקטומיה, מדוע יש להימנע מדיסקציה לטרלית של יותר מ-2 ס"מ מקו האמצע בחצי התחתון של גוף החוליה?</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שם עובר הוושט בלבד וניתן לפגוע בו בקלות</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זהו האזור בו נמצא ליגמנטום נוכה</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שם עובר עורק Adamkiewicz</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העורק הוורטברלי ממוקם לטרלית לתהליך האנצינטוס, ודיסקציה רחוקה מדי חושפת אותו יחד עם העצב השדרתי הסמוך לפורמן</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84B59F"/>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משמעות כירורגית</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ד) כי העורק הוורטברלי ממוקם לטרלית לתהליך האנצינטוס, ודיסקציה רחוקה מדי חושפת אותו יחד עם העצב השדרתי הסמוך לפורמן</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B91C1C">
              <a:alpha val="12000"/>
            </a:srgbClr>
          </a:solidFill>
          <a:ln w="15875">
            <a:solidFill>
              <a:srgbClr val="B91C1C"/>
            </a:solidFill>
            <a:prstDash val="solid"/>
          </a:ln>
        </p:spPr>
      </p:sp>
      <p:sp>
        <p:nvSpPr>
          <p:cNvPr id="7" name="Shape 5"/>
          <p:cNvSpPr/>
          <p:nvPr/>
        </p:nvSpPr>
        <p:spPr>
          <a:xfrm>
            <a:off x="11292840" y="2176272"/>
            <a:ext cx="256032" cy="256032"/>
          </a:xfrm>
          <a:prstGeom prst="ellipse">
            <a:avLst/>
          </a:prstGeom>
          <a:solidFill>
            <a:srgbClr val="B91C1C"/>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VA לטרלית לתהליך האנצינטוס</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B45309">
              <a:alpha val="12000"/>
            </a:srgbClr>
          </a:solidFill>
          <a:ln w="15875">
            <a:solidFill>
              <a:srgbClr val="B45309"/>
            </a:solidFill>
            <a:prstDash val="solid"/>
          </a:ln>
        </p:spPr>
      </p:sp>
      <p:sp>
        <p:nvSpPr>
          <p:cNvPr id="11" name="Shape 9"/>
          <p:cNvSpPr/>
          <p:nvPr/>
        </p:nvSpPr>
        <p:spPr>
          <a:xfrm>
            <a:off x="11292840" y="3044952"/>
            <a:ext cx="256032" cy="256032"/>
          </a:xfrm>
          <a:prstGeom prst="ellipse">
            <a:avLst/>
          </a:prstGeom>
          <a:solidFill>
            <a:srgbClr val="B45309"/>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סיכון בדיסקציה &gt;2 ס"מ מקו האמצע</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1C7293">
              <a:alpha val="12000"/>
            </a:srgbClr>
          </a:solidFill>
          <a:ln w="15875">
            <a:solidFill>
              <a:srgbClr val="1C7293"/>
            </a:solidFill>
            <a:prstDash val="solid"/>
          </a:ln>
        </p:spPr>
      </p:sp>
      <p:sp>
        <p:nvSpPr>
          <p:cNvPr id="15" name="Shape 13"/>
          <p:cNvSpPr/>
          <p:nvPr/>
        </p:nvSpPr>
        <p:spPr>
          <a:xfrm>
            <a:off x="11292840" y="3913632"/>
            <a:ext cx="256032" cy="256032"/>
          </a:xfrm>
          <a:prstGeom prst="ellipse">
            <a:avLst/>
          </a:prstGeom>
          <a:solidFill>
            <a:srgbClr val="1C7293"/>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חשיפה אפשרית גם לעצב השדרתי</a:t>
            </a:r>
            <a:endParaRPr lang="en-US" sz="950" dirty="0"/>
          </a:p>
        </p:txBody>
      </p:sp>
      <p:sp>
        <p:nvSpPr>
          <p:cNvPr id="17" name="Shape 15"/>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18" name="Text 16"/>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19" name="Text 17"/>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(4): העורק הוורטברלי (במקטע V2) ממוקם לטרלית לתהליך האנצינטוס. דיסקציה רחוקה מדי לטרלית (מעל 2 ס"מ מקו האמצע) בחצי התחתון של גוף החוליה ובמפרקי האנצו-חולייתיים עלולה לחשוף הן את העורק הוורטברלי והן את העצב השדרתי הסמוך לפורמן הבין-חולייתי.</a:t>
            </a:r>
            <a:endParaRPr lang="en-US" sz="1000" dirty="0"/>
          </a:p>
        </p:txBody>
      </p:sp>
      <p:sp>
        <p:nvSpPr>
          <p:cNvPr id="20" name="Shape 18"/>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1" name="Text 19"/>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גבול דיסקציה בטוח</a:t>
            </a:r>
            <a:endParaRPr lang="en-US" sz="1150" dirty="0"/>
          </a:p>
        </p:txBody>
      </p:sp>
      <p:sp>
        <p:nvSpPr>
          <p:cNvPr id="22" name="Text 20"/>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עד 2 ס"מ מקו האמצע בגישה קדמית צווארית, כדי להימנע מחשיפת העורק הוורטברלי.</a:t>
            </a:r>
            <a:endParaRPr lang="en-US" sz="950" dirty="0"/>
          </a:p>
        </p:txBody>
      </p:sp>
      <p:sp>
        <p:nvSpPr>
          <p:cNvPr id="23" name="Shape 21"/>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4" name="Text 22"/>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5" name="Text 23"/>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כביש ראשי עם שוליים צרים - אם נוסעים רחוק מדי מהמרכז (מעל 2 ס"מ), פוגשים תעלת חשמל נסתרת (העורק הוורטברלי) שאסור לגעת בה.</a:t>
            </a:r>
            <a:endParaRPr lang="en-US" sz="950" dirty="0"/>
          </a:p>
        </p:txBody>
      </p:sp>
      <p:sp>
        <p:nvSpPr>
          <p:cNvPr id="26" name="Text 24"/>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מה קורה אם בכל זאת פוגעים בעורק הוורטברלי במהלך ניתוח כזה?</a:t>
            </a:r>
            <a:endParaRPr lang="en-US" sz="900" dirty="0"/>
          </a:p>
        </p:txBody>
      </p:sp>
      <p:sp>
        <p:nvSpPr>
          <p:cNvPr id="27" name="Text 25"/>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C1B2A"/>
        </a:solidFill>
      </p:bgPr>
    </p:bg>
    <p:spTree>
      <p:nvGrpSpPr>
        <p:cNvPr id="1" name=""/>
        <p:cNvGrpSpPr/>
        <p:nvPr/>
      </p:nvGrpSpPr>
      <p:grpSpPr>
        <a:xfrm>
          <a:off x="0" y="0"/>
          <a:ext cx="0" cy="0"/>
          <a:chOff x="0" y="0"/>
          <a:chExt cx="0" cy="0"/>
        </a:xfrm>
      </p:grpSpPr>
      <p:sp>
        <p:nvSpPr>
          <p:cNvPr id="2" name="Text 0"/>
          <p:cNvSpPr/>
          <p:nvPr/>
        </p:nvSpPr>
        <p:spPr>
          <a:xfrm>
            <a:off x="914400" y="548640"/>
            <a:ext cx="10360152" cy="640080"/>
          </a:xfrm>
          <a:prstGeom prst="rect">
            <a:avLst/>
          </a:prstGeom>
          <a:noFill/>
          <a:ln/>
        </p:spPr>
        <p:txBody>
          <a:bodyPr wrap="square" rtlCol="0" anchor="ctr"/>
          <a:lstStyle/>
          <a:p>
            <a:pPr rtl="1" algn="ctr" indent="0" marL="0">
              <a:buNone/>
            </a:pPr>
            <a:r>
              <a:rPr lang="en-US" sz="3000" b="1" dirty="0">
                <a:solidFill>
                  <a:srgbClr val="FFFFFF"/>
                </a:solidFill>
                <a:latin typeface="Calibri" pitchFamily="34" charset="0"/>
                <a:ea typeface="Calibri" pitchFamily="34" charset="-122"/>
                <a:cs typeface="Calibri" pitchFamily="34" charset="-120"/>
              </a:rPr>
              <a:t>סיכום הכרטיסיות</a:t>
            </a:r>
            <a:endParaRPr lang="en-US" sz="3000" dirty="0"/>
          </a:p>
        </p:txBody>
      </p:sp>
      <p:sp>
        <p:nvSpPr>
          <p:cNvPr id="3" name="Text 1"/>
          <p:cNvSpPr/>
          <p:nvPr/>
        </p:nvSpPr>
        <p:spPr>
          <a:xfrm>
            <a:off x="1097280" y="1463040"/>
            <a:ext cx="9994392" cy="4389120"/>
          </a:xfrm>
          <a:prstGeom prst="rect">
            <a:avLst/>
          </a:prstGeom>
          <a:noFill/>
          <a:ln/>
        </p:spPr>
        <p:txBody>
          <a:bodyPr wrap="square" rtlCol="0" anchor="t"/>
          <a:lstStyle/>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7 צווארי</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12 חזי</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5 מותני</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עצה וזנב</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Adamkiewicz</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עורק בין-צלעי</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T9-L2</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ASA</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אזור וסקולרי קריטי</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T4-T9</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איסכמיה</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V1</a:t>
            </a:r>
            <a:endParaRPr lang="en-US" sz="1600" dirty="0"/>
          </a:p>
        </p:txBody>
      </p:sp>
      <p:sp>
        <p:nvSpPr>
          <p:cNvPr id="4" name="Text 2"/>
          <p:cNvSpPr/>
          <p:nvPr/>
        </p:nvSpPr>
        <p:spPr>
          <a:xfrm>
            <a:off x="914400" y="6309360"/>
            <a:ext cx="10360152" cy="365760"/>
          </a:xfrm>
          <a:prstGeom prst="rect">
            <a:avLst/>
          </a:prstGeom>
          <a:noFill/>
          <a:ln/>
        </p:spPr>
        <p:txBody>
          <a:bodyPr wrap="square"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maskit101.github.io/summeries-medicine/neurosurgery8</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2026-09-18T22:25:31Z</dcterms:created>
  <dcterms:modified xsi:type="dcterms:W3CDTF">2026-09-18T22:25:31Z</dcterms:modified>
</cp:coreProperties>
</file>