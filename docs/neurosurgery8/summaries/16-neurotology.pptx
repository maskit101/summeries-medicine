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5559552" y="640080"/>
            <a:ext cx="1078992" cy="1078992"/>
          </a:xfrm>
          <a:prstGeom prst="ellipse">
            <a:avLst/>
          </a:prstGeom>
          <a:noFill/>
          <a:ln w="381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788152" y="868680"/>
            <a:ext cx="621792" cy="62179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3601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4000" b="1">
                <a:solidFill>
                  <a:srgbClr val="FFFFFF"/>
                </a:solidFill>
                <a:latin typeface="Calibri"/>
              </a:rPr>
              <a:t>נוירוכירורגיה — מהדורה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36015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2200" b="0">
                <a:solidFill>
                  <a:srgbClr val="93C5FD"/>
                </a:solidFill>
                <a:latin typeface="Calibri"/>
              </a:rPr>
              <a:t>פרק 16: נוירוטולוגיה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3601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0">
                <a:solidFill>
                  <a:srgbClr val="7DD3FC"/>
                </a:solidFill>
                <a:latin typeface="Calibri"/>
              </a:rPr>
              <a:t>Neurotology  ·  Youmans Neurological Surgery, 8th Ed. · P. Ashley Wackym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36015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50" b="0">
                <a:solidFill>
                  <a:srgbClr val="64748B"/>
                </a:solidFill>
                <a:latin typeface="Calibri"/>
              </a:rPr>
              <a:t>8 כרטיסיות תרגול · שאלה ואז תשובה מלאה בכל כרטיסייה · לסטטיסטיקה חיה השתמשו באתר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3108960" cy="384048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50" b="1">
                <a:solidFill>
                  <a:srgbClr val="FFFFFF"/>
                </a:solidFill>
                <a:latin typeface="Calibri"/>
              </a:rPr>
              <a:t>מנגנון VOR וניסטגמוס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/>
            <a:r>
              <a:rPr sz="1200" b="0">
                <a:solidFill>
                  <a:srgbClr val="9CA3AF"/>
                </a:solidFill>
                <a:latin typeface="Calibri"/>
              </a:rPr>
              <a:t>כרטיסייה 1 מתוך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2000" b="1">
                <a:solidFill>
                  <a:srgbClr val="1F2937"/>
                </a:solidFill>
                <a:latin typeface="Calibri"/>
              </a:rPr>
              <a:t>מהו העיקרון הפיזיולוגי הבסיסי שעליו מבוססת תפיסת התנועה הוסטיבולרית, ולמה הוא מסביר גם ורטיגו מאובלציה חד-צדדית?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המוח קורא את הערך המוחלט של קצב הפריקה בכל צד בנפרד, לא צריך השוואה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84448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לכל תא שערה וסטיבולרי קצב פריקה בסיסי קבוע (כ-80/שנייה) משני הצדדים בו-זמנית; המוח קורא את ההפרש בין שני הצדדים ומפרש אותו כתנועה - כך שכל פתולוגיה המשנה את ההפרש (לא רק את הערך המוחלט) יוצרת ורטיגו, כולל אובלציה חד-צדדית שגורמת להפרש כרוני המדמה סיבוב מתמשך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תאי השערה הוסטיבולריים אינם פעילים ללא גירוי תנועה כלל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49824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ורטיגו מתרחש רק כשפעילות שני הצדדים יורדת לאפס בו-זמנית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3108960" cy="36576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00" b="1">
                <a:solidFill>
                  <a:srgbClr val="FFFFFF"/>
                </a:solidFill>
                <a:latin typeface="Calibri"/>
              </a:rPr>
              <a:t>מנגנון VOR וניסטגמוס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400" b="1">
                <a:solidFill>
                  <a:srgbClr val="15803D"/>
                </a:solidFill>
                <a:latin typeface="Calibri"/>
              </a:rPr>
              <a:t>התשובה הנכונה: ב) לכל תא שערה וסטיבולרי קצב פריקה בסיסי קבוע (כ-80/שנייה) משני הצדדים בו-זמנית; המוח קורא את ההפרש בין שני הצדדים ומפרש אותו כתנועה - כך שכל פתולוגיה המשנה את ההפרש (לא רק את הערך המוחלט) יוצרת ורטיגו, כולל אובלציה חד-צדדית שגורמת להפרש כרוני המדמה סיבוב מתמשך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740664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200" b="1">
                <a:solidFill>
                  <a:srgbClr val="6B7280"/>
                </a:solidFill>
                <a:latin typeface="Calibri"/>
              </a:rPr>
              <a:t>הסבר: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000" b="0">
                <a:solidFill>
                  <a:srgbClr val="1F2937"/>
                </a:solidFill>
                <a:latin typeface="Calibri"/>
              </a:rPr>
              <a:t>התשובה הנכונה (2): לכל תא שערה וסטיבולרי יש קצב פריקה בסיסי קבוע משני הצדדים בו-זמנית, והמוח 'קורא' את ההפרש ביניהם - לא את הערך המוחלט - ומפרש אותו כתנועה. באובלציה חד-צדדית (כמו שוואנומה שהורסת וסטיבולרי אחד), הצד הבריא 'מנצח' כרונית, בדיוק כמו בסיבוב אמיתי, והמוח מפרש זאת כסחרור מתמשך = ורטיגו + ניסטגמוס ספונטני.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08960"/>
            <a:ext cx="740664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1E3A8A"/>
                </a:solidFill>
                <a:latin typeface="Calibri"/>
              </a:rPr>
              <a:t>מונח: קצב פריקה טוני וסטיבולרי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1E3A8A"/>
                </a:solidFill>
                <a:latin typeface="Calibri"/>
              </a:rPr>
              <a:t>פעילות חשמלית בסיסית קבועה (כ-80 פעימות/שנייה) בעצב הוסטיבולרי משני הצדדים; תנועה אמיתית או פתולוגיה חד-צדדית משנה את ההפרש בין הצדדים, לא רק את הערך המוחלט.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7406640" cy="14173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5B21B6"/>
                </a:solidFill>
                <a:latin typeface="Calibri"/>
              </a:rPr>
              <a:t>סיפור לזכירה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4C1D95"/>
                </a:solidFill>
                <a:latin typeface="Calibri"/>
              </a:rPr>
              <a:t>דמייני שני בני אדם שמושכים חבל במשיכת חבל, שניהם במאמץ קבוע שווה - החבל נייח. אם אחד מהם לפתע נפצע ומושך פחות (אובלציה חד-צדדית), החבל 'זז' כרונית לכיוון השני - בדיוק כמו תנועה אמיתית, אבל בלי שבאמת היה סיבוב.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00" b="0">
                <a:solidFill>
                  <a:srgbClr val="5B21B6"/>
                </a:solidFill>
                <a:latin typeface="Calibri"/>
              </a:rPr>
              <a:t>שאלי את עצמך: איך היית מיישמת את העיקרון הזה במקרה קליני אמיתי?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250" b="1">
                <a:solidFill>
                  <a:srgbClr val="6B7280"/>
                </a:solidFill>
                <a:latin typeface="Calibri"/>
              </a:rPr>
              <a:t>מה קורה בפועל: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920240"/>
            <a:ext cx="3474720" cy="777240"/>
          </a:xfrm>
          <a:prstGeom prst="roundRect">
            <a:avLst/>
          </a:prstGeom>
          <a:solidFill>
            <a:srgbClr val="B91C1C"/>
          </a:solidFill>
          <a:ln w="1587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קצב פריקה בסיסי ~80/שנייה משני הצדדים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788920"/>
            <a:ext cx="3474720" cy="777240"/>
          </a:xfrm>
          <a:prstGeom prst="roundRect">
            <a:avLst/>
          </a:prstGeom>
          <a:solidFill>
            <a:srgbClr val="B45309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המוח קורא הפרש, לא ערך מוחלט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657600"/>
            <a:ext cx="3474720" cy="777240"/>
          </a:xfrm>
          <a:prstGeom prst="roundRect">
            <a:avLst/>
          </a:prstGeom>
          <a:solidFill>
            <a:srgbClr val="1C7293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אובלציה חד-צדדית = הפרש כרוני = ורטיגו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900" b="0">
                <a:solidFill>
                  <a:srgbClr val="9CA3AF"/>
                </a:solidFill>
                <a:latin typeface="Calibri"/>
              </a:rPr>
              <a:t>מצגת סטטית — ללא ניקוד חי. לתרגול עם סטטיסטיקה בזמן אמת, השתמשו באתר הכרטיסיות המקוון.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3108960" cy="384048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50" b="1">
                <a:solidFill>
                  <a:srgbClr val="FFFFFF"/>
                </a:solidFill>
                <a:latin typeface="Calibri"/>
              </a:rPr>
              <a:t>אובלציה וקומפנסציה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/>
            <a:r>
              <a:rPr sz="1200" b="0">
                <a:solidFill>
                  <a:srgbClr val="9CA3AF"/>
                </a:solidFill>
                <a:latin typeface="Calibri"/>
              </a:rPr>
              <a:t>כרטיסייה 2 מתוך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2000" b="1">
                <a:solidFill>
                  <a:srgbClr val="1F2937"/>
                </a:solidFill>
                <a:latin typeface="Calibri"/>
              </a:rPr>
              <a:t>מטופל עם מחלת מניר נכשל בטיפול תרופתי מקסימלי. מדוע נוירקטומי וסטיבולרי (כריתה מלאה של העצב) נותן תוצאה טובה יותר מהתערבות חלקית, חרף האינטואיציה שחלקית 'שומרת יותר'?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המוח מקזז (compensation) טוב בהרבה לאובדן וסטיבולרי מלא ופתאומי מאשר לאובדן חלקי ומשתנה; אבלציה מלאה יוצרת הפרש קבוע וחד-משמעי שהמוח 'לומד' להתעלם ממנו, בעוד שאובדן חלקי/פלוקטואנטי ממשיך ליצור הפרשים לא-עקביים שהמוח לא מצליח לכוון אליהם קומפנסציה יציבה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84448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התערבות חלקית פוגעת בעצב הקוכלארי בטעות תמיד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אין הבדל אמיתי בין אבלציה מלאה לחלקית מבחינת תוצאה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49824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אבלציה חלקית מסוכנת יותר כירורגית ולכן נמנעים ממנה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3108960" cy="36576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00" b="1">
                <a:solidFill>
                  <a:srgbClr val="FFFFFF"/>
                </a:solidFill>
                <a:latin typeface="Calibri"/>
              </a:rPr>
              <a:t>אובלציה וקומפנסציה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400" b="1">
                <a:solidFill>
                  <a:srgbClr val="15803D"/>
                </a:solidFill>
                <a:latin typeface="Calibri"/>
              </a:rPr>
              <a:t>התשובה הנכונה: א) המוח מקזז (compensation) טוב בהרבה לאובדן וסטיבולרי מלא ופתאומי מאשר לאובדן חלקי ומשתנה; אבלציה מלאה יוצרת הפרש קבוע וחד-משמעי שהמוח 'לומד' להתעלם ממנו, בעוד שאובדן חלקי/פלוקטואנטי ממשיך ליצור הפרשים לא-עקביים שהמוח לא מצליח לכוון אליהם קומפנסציה יציבה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740664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200" b="1">
                <a:solidFill>
                  <a:srgbClr val="6B7280"/>
                </a:solidFill>
                <a:latin typeface="Calibri"/>
              </a:rPr>
              <a:t>הסבר: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000" b="0">
                <a:solidFill>
                  <a:srgbClr val="1F2937"/>
                </a:solidFill>
                <a:latin typeface="Calibri"/>
              </a:rPr>
              <a:t>התשובה הנכונה (1): עם הזמן, לאחר אובלציה וסטיבולרית, המוח מקזז (compensation) - מנגנון שעובד טוב בהרבה לאובדן מלא ופתאומי (הפרש קבוע וחד-משמעי שהמוח 'לומד' להתעלם ממנו) מאשר לאובדן חלקי ומשתנה (הפרש לא-עקבי שלא ניתן לכוון אליו קומפנסציה יציבה). זה הבסיס לכך שבמניר, כשטיפול תרופתי נכשל, כריתה מלאה של העצב (נוירקטומי וסטיבולרי סלקטיבי, המשמר שמיעה) נותנת החלמה טובה יותר מהתערבות חלקית.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08960"/>
            <a:ext cx="740664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1E3A8A"/>
                </a:solidFill>
                <a:latin typeface="Calibri"/>
              </a:rPr>
              <a:t>מונח: קומפנסציה וסטיבולרית מרכזית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1E3A8A"/>
                </a:solidFill>
                <a:latin typeface="Calibri"/>
              </a:rPr>
              <a:t>יכולת המוח להתאים את עצמו להפרש כרוני בין קצבי הפריקה הוסטיבולריים; יעילה הרבה יותר כשההפרש קבוע וחד-משמעי מאשר כשהוא משתנה.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7406640" cy="14173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5B21B6"/>
                </a:solidFill>
                <a:latin typeface="Calibri"/>
              </a:rPr>
              <a:t>סיפור לזכירה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4C1D95"/>
                </a:solidFill>
                <a:latin typeface="Calibri"/>
              </a:rPr>
              <a:t>דמייני לכוון שעון שתמיד מפגר ב-10 דקות קבועות - קל להתרגל ולהוסיף 10 דקות בראש כל פעם. אבל שעון שמפגר כמות משתנה כל יום - אי אפשר ללמוד להתכוונן אליו. בדיוק כך המוח 'מתכוונן' טוב לאובדן וסטיבולרי מלא וקבוע, אך לא לאובדן חלקי ומשתנה.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00" b="0">
                <a:solidFill>
                  <a:srgbClr val="5B21B6"/>
                </a:solidFill>
                <a:latin typeface="Calibri"/>
              </a:rPr>
              <a:t>שאלי את עצמך: איך היית מיישמת את העיקרון הזה במקרה קליני אמיתי?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250" b="1">
                <a:solidFill>
                  <a:srgbClr val="6B7280"/>
                </a:solidFill>
                <a:latin typeface="Calibri"/>
              </a:rPr>
              <a:t>מה קורה בפועל: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920240"/>
            <a:ext cx="3474720" cy="777240"/>
          </a:xfrm>
          <a:prstGeom prst="roundRect">
            <a:avLst/>
          </a:prstGeom>
          <a:solidFill>
            <a:srgbClr val="B91C1C"/>
          </a:solidFill>
          <a:ln w="1587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קומפנסציה עובדת טוב לאובדן מלא ופתאומי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788920"/>
            <a:ext cx="3474720" cy="777240"/>
          </a:xfrm>
          <a:prstGeom prst="roundRect">
            <a:avLst/>
          </a:prstGeom>
          <a:solidFill>
            <a:srgbClr val="B45309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אובדן חלקי/משתנה = קומפנסציה לא יציבה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657600"/>
            <a:ext cx="3474720" cy="777240"/>
          </a:xfrm>
          <a:prstGeom prst="roundRect">
            <a:avLst/>
          </a:prstGeom>
          <a:solidFill>
            <a:srgbClr val="1C7293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לכן: נוירקטומי מלא &gt; אבלציה חלקית במניר עמיד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900" b="0">
                <a:solidFill>
                  <a:srgbClr val="9CA3AF"/>
                </a:solidFill>
                <a:latin typeface="Calibri"/>
              </a:rPr>
              <a:t>מצגת סטטית — ללא ניקוד חי. לתרגול עם סטטיסטיקה בזמן אמת, השתמשו באתר הכרטיסיות המקוון.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3108960" cy="384048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50" b="1">
                <a:solidFill>
                  <a:srgbClr val="FFFFFF"/>
                </a:solidFill>
                <a:latin typeface="Calibri"/>
              </a:rPr>
              <a:t>אנטומיית IAC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/>
            <a:r>
              <a:rPr sz="1200" b="0">
                <a:solidFill>
                  <a:srgbClr val="9CA3AF"/>
                </a:solidFill>
                <a:latin typeface="Calibri"/>
              </a:rPr>
              <a:t>כרטיסייה 3 מתוך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2000" b="1">
                <a:solidFill>
                  <a:srgbClr val="1F2937"/>
                </a:solidFill>
                <a:latin typeface="Calibri"/>
              </a:rPr>
              <a:t>בניתוח לכריתת שוואנומה וסטיבולרית, מה המיקום הצפוי של עצב הפנים ביחס לגידול בתוך תעלת השמיעה הפנימית (IAC), ולמה הבנה זו קריטית?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עצב הפנים נמצא תמיד אחורית לגידול, ללא קשר למקור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84448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עצב הפנים נמצא בתחתית ה-IAC, ליד עצב הקוכלארי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ה-IAC מכיל ארבעה 'תאים': קדמי-עליון=עצב הפנים, קדמי-תחתון=עצב קוכלארי, אחורי-עליון=וסטיבולרי עליון, אחורי-תחתון=וסטיבולרי תחתון - מופרדים ע"י מחיצת Bill's bar; מכיוון שהשוואנומה מקורה בעצב וסטיבולרי (אחורי), עצב הפנים נמצא קדמית לגידול - וזיהוי מיקום זה מראש מאפשר לשמר אותו בניתוח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49824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אין חלוקה מרחבית קבועה בתוך ה-IAC - המיקום משתנה אקראית בין מטופלים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3108960" cy="36576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00" b="1">
                <a:solidFill>
                  <a:srgbClr val="FFFFFF"/>
                </a:solidFill>
                <a:latin typeface="Calibri"/>
              </a:rPr>
              <a:t>אנטומיית IAC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400" b="1">
                <a:solidFill>
                  <a:srgbClr val="15803D"/>
                </a:solidFill>
                <a:latin typeface="Calibri"/>
              </a:rPr>
              <a:t>התשובה הנכונה: ג) ה-IAC מכיל ארבעה 'תאים': קדמי-עליון=עצב הפנים, קדמי-תחתון=עצב קוכלארי, אחורי-עליון=וסטיבולרי עליון, אחורי-תחתון=וסטיבולרי תחתון - מופרדים ע"י מחיצת Bill's bar; מכיוון שהשוואנומה מקורה בעצב וסטיבולרי (אחורי), עצב הפנים נמצא קדמית לגידול - וזיהוי מיקום זה מראש מאפשר לשמר אותו בניתוח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740664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200" b="1">
                <a:solidFill>
                  <a:srgbClr val="6B7280"/>
                </a:solidFill>
                <a:latin typeface="Calibri"/>
              </a:rPr>
              <a:t>הסבר: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000" b="0">
                <a:solidFill>
                  <a:srgbClr val="1F2937"/>
                </a:solidFill>
                <a:latin typeface="Calibri"/>
              </a:rPr>
              <a:t>התשובה הנכונה (3): ה-IAC מחולק לארבעה 'תאים' בשני עמודים (קדמי/אחורי) ושתי קומות (עליון/תחתון), עם Bill's bar מפריד בין קדמי-עליון לאחורי-עליון: קדמי-עליון = עצב הפנים; קדמי-תחתון = עצב הקוכלארי; אחורי-עליון = עצב הוסטיבולרי העליון; אחורי-תחתון = עצב הוסטיבולרי התחתון. מכיוון שהשוואנומה הוסטיבולרית מקורה כמעט תמיד בעצב וסטיבולרי (עליון או תחתון, שניהם אחוריים), עצב הפנים נמצא קדמית לגידול - הבנת המיקום המדויק הזה היא מה שמאפשר לשמר אותו בניתוחי CPA (רטרוסיגמואידי, בסיס גולגולת אמצעי, או טרנסלבירינתי).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08960"/>
            <a:ext cx="740664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1E3A8A"/>
                </a:solidFill>
                <a:latin typeface="Calibri"/>
              </a:rPr>
              <a:t>מונח: Bill's bar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1E3A8A"/>
                </a:solidFill>
                <a:latin typeface="Calibri"/>
              </a:rPr>
              <a:t>מחיצת עצם אנכית דקה בתוך ה-IAC המפרידה בין החלק הקדמי-עליון (עצב הפנים) לאחורי-עליון (עצב וסטיבולרי עליון).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7406640" cy="14173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5B21B6"/>
                </a:solidFill>
                <a:latin typeface="Calibri"/>
              </a:rPr>
              <a:t>סיפור לזכירה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4C1D95"/>
                </a:solidFill>
                <a:latin typeface="Calibri"/>
              </a:rPr>
              <a:t>דמייני דירת ארבעה חדרים עם מחיצה דקה אחת: חדר קדמי-עליון (עצב הפנים) וחדר קדמי-תחתון (קוכלארי) בעמוד הקדמי; שני חדרים וסטיבולריים בעמוד האחורי. כשפולש (שוואנומה) נכנס מהחדר האחורי, החדר הקדמי (עצב הפנים) נשאר במקום הצפוי - ואפשר 'לפנות' אותו בזהירות לפני שפורצים לחדר הפגוע.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00" b="0">
                <a:solidFill>
                  <a:srgbClr val="5B21B6"/>
                </a:solidFill>
                <a:latin typeface="Calibri"/>
              </a:rPr>
              <a:t>שאלי את עצמך: איך היית מיישמת את העיקרון הזה במקרה קליני אמיתי?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250" b="1">
                <a:solidFill>
                  <a:srgbClr val="6B7280"/>
                </a:solidFill>
                <a:latin typeface="Calibri"/>
              </a:rPr>
              <a:t>מה קורה בפועל: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920240"/>
            <a:ext cx="3474720" cy="777240"/>
          </a:xfrm>
          <a:prstGeom prst="roundRect">
            <a:avLst/>
          </a:prstGeom>
          <a:solidFill>
            <a:srgbClr val="B91C1C"/>
          </a:solidFill>
          <a:ln w="1587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קדמי-עליון = עצב הפנים (VII)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788920"/>
            <a:ext cx="3474720" cy="777240"/>
          </a:xfrm>
          <a:prstGeom prst="roundRect">
            <a:avLst/>
          </a:prstGeom>
          <a:solidFill>
            <a:srgbClr val="B45309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קדמי-תחתון = עצב קוכלארי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657600"/>
            <a:ext cx="3474720" cy="777240"/>
          </a:xfrm>
          <a:prstGeom prst="roundRect">
            <a:avLst/>
          </a:prstGeom>
          <a:solidFill>
            <a:srgbClr val="1C7293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אחורי (עליון+תחתון) = וסטיבולרי - שם מקור השוואנומה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900" b="0">
                <a:solidFill>
                  <a:srgbClr val="9CA3AF"/>
                </a:solidFill>
                <a:latin typeface="Calibri"/>
              </a:rPr>
              <a:t>מצגת סטטית — ללא ניקוד חי. לתרגול עם סטטיסטיקה בזמן אמת, השתמשו באתר הכרטיסיות המקוון.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3108960" cy="384048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50" b="1">
                <a:solidFill>
                  <a:srgbClr val="FFFFFF"/>
                </a:solidFill>
                <a:latin typeface="Calibri"/>
              </a:rPr>
              <a:t>VEMP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/>
            <a:r>
              <a:rPr sz="1200" b="0">
                <a:solidFill>
                  <a:srgbClr val="9CA3AF"/>
                </a:solidFill>
                <a:latin typeface="Calibri"/>
              </a:rPr>
              <a:t>כרטיסייה 4 מתוך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2000" b="1">
                <a:solidFill>
                  <a:srgbClr val="1F2937"/>
                </a:solidFill>
                <a:latin typeface="Calibri"/>
              </a:rPr>
              <a:t>כיצד cVEMP ו-oVEMP עוזרים לקבוע את עצב המקור (וסטיבולרי עליון מול תחתון) של שוואנומה וסטיבולרית, ומה החשיבות הניתוחית של מידע זה?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cVEMP ו-oVEMP בודקים את אותו עצב בדיוק - אין הבדל קליני ביניהם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84448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שני הבדיקות בודקות שמיעה ולא תפקוד וסטיבולרי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רק oVEMP רלוונטי קלינית; cVEMP אינו בשימוש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49824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cVEMP (צרווקלי) בודק את הסקולוס ואת העצב הוסטיבולרי התחתון; oVEMP (אוקולרי) בודק את האוטריקל ואת העצב הוסטיבולרי העליון - פרופיל אסימטרי בין השניים מרמז מאיזה עצב מקור הגידול צמח, מידע חשוב לתכנון ניתוחי כי העצב הוסטיבולרי העליון יושב קרוב לעצב הפנים ב-IAC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3108960" cy="36576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00" b="1">
                <a:solidFill>
                  <a:srgbClr val="FFFFFF"/>
                </a:solidFill>
                <a:latin typeface="Calibri"/>
              </a:rPr>
              <a:t>VEMP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400" b="1">
                <a:solidFill>
                  <a:srgbClr val="15803D"/>
                </a:solidFill>
                <a:latin typeface="Calibri"/>
              </a:rPr>
              <a:t>התשובה הנכונה: ד) cVEMP (צרווקלי) בודק את הסקולוס ואת העצב הוסטיבולרי התחתון; oVEMP (אוקולרי) בודק את האוטריקל ואת העצב הוסטיבולרי העליון - פרופיל אסימטרי בין השניים מרמז מאיזה עצב מקור הגידול צמח, מידע חשוב לתכנון ניתוחי כי העצב הוסטיבולרי העליון יושב קרוב לעצב הפנים ב-IAC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740664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200" b="1">
                <a:solidFill>
                  <a:srgbClr val="6B7280"/>
                </a:solidFill>
                <a:latin typeface="Calibri"/>
              </a:rPr>
              <a:t>הסבר: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000" b="0">
                <a:solidFill>
                  <a:srgbClr val="1F2937"/>
                </a:solidFill>
                <a:latin typeface="Calibri"/>
              </a:rPr>
              <a:t>התשובה הנכונה (4): האבנים האוטוליתיים - הסקולוס במישור אנכי, האוטריקל במישור אופקי - הם הבסיס ל-VEMP: cVEMP (נמדד בשריר הסטרנוקלידומסטואיד) בודק את הסקולוס ואת העצב הוסטיבולרי התחתון; oVEMP (נמדד בשריר מתחת לעין) בודק את האוטריקל ואת העצב הוסטיבולרי העליון. פגיעה סלקטיבית באחד מהם מרמזת מאיזה עצב מקור הגידול צמח - מידע חשוב כי העצב הוסטיבולרי העליון יושב קרוב לעצב הפנים ב-IAC (שניהם בקומה העליונה, מופרדים ע"י Bill's bar), כך שהפרופיל ה-VEMP יכול לרמוז על קרבת הגידול לעצב הפנים.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08960"/>
            <a:ext cx="740664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1E3A8A"/>
                </a:solidFill>
                <a:latin typeface="Calibri"/>
              </a:rPr>
              <a:t>מונח: VEMP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1E3A8A"/>
                </a:solidFill>
                <a:latin typeface="Calibri"/>
              </a:rPr>
              <a:t>Vestibular Evoked Myogenic Potential - בדיקה חשמלית הבודקת תפקוד אוטוליתי; cVEMP=סקולוס/וסטיבולרי תחתון, oVEMP=אוטריקל/וסטיבולרי עליון.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7406640" cy="14173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5B21B6"/>
                </a:solidFill>
                <a:latin typeface="Calibri"/>
              </a:rPr>
              <a:t>סיפור לזכירה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4C1D95"/>
                </a:solidFill>
                <a:latin typeface="Calibri"/>
              </a:rPr>
              <a:t>דמייני שני חיישנים שונים בבית: חיישן אחד (cVEMP) מחובר לרצפה הקומה התחתונה (סקולוס, וסטיבולרי תחתון); חיישן שני (oVEMP) מחובר לקומה העליונה (אוטריקל, וסטיבולרי עליון) - הקומה שבה גם 'חדר השכן' (עצב הפנים) ממוקם. אם רק חיישן הקומה העליונה מצפצף, זה מרמז שהבעיה שם, קרוב לשכן.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00" b="0">
                <a:solidFill>
                  <a:srgbClr val="5B21B6"/>
                </a:solidFill>
                <a:latin typeface="Calibri"/>
              </a:rPr>
              <a:t>שאלי את עצמך: איך היית מיישמת את העיקרון הזה במקרה קליני אמיתי?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250" b="1">
                <a:solidFill>
                  <a:srgbClr val="6B7280"/>
                </a:solidFill>
                <a:latin typeface="Calibri"/>
              </a:rPr>
              <a:t>מה קורה בפועל: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920240"/>
            <a:ext cx="3474720" cy="777240"/>
          </a:xfrm>
          <a:prstGeom prst="roundRect">
            <a:avLst/>
          </a:prstGeom>
          <a:solidFill>
            <a:srgbClr val="B91C1C"/>
          </a:solidFill>
          <a:ln w="1587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cVEMP = סקולוס = וסטיבולרי תחתון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788920"/>
            <a:ext cx="3474720" cy="777240"/>
          </a:xfrm>
          <a:prstGeom prst="roundRect">
            <a:avLst/>
          </a:prstGeom>
          <a:solidFill>
            <a:srgbClr val="B45309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oVEMP = אוטריקל = וסטיבולרי עליון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657600"/>
            <a:ext cx="3474720" cy="777240"/>
          </a:xfrm>
          <a:prstGeom prst="roundRect">
            <a:avLst/>
          </a:prstGeom>
          <a:solidFill>
            <a:srgbClr val="1C7293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עליון קרוב לעצב הפנים - מידע לתכנון ניתוחי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900" b="0">
                <a:solidFill>
                  <a:srgbClr val="9CA3AF"/>
                </a:solidFill>
                <a:latin typeface="Calibri"/>
              </a:rPr>
              <a:t>מצגת סטטית — ללא ניקוד חי. לתרגול עם סטטיסטיקה בזמן אמת, השתמשו באתר הכרטיסיות המקוון.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3108960" cy="384048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50" b="1">
                <a:solidFill>
                  <a:srgbClr val="FFFFFF"/>
                </a:solidFill>
                <a:latin typeface="Calibri"/>
              </a:rPr>
              <a:t>ורטיגו היקפי מול מרכזי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/>
            <a:r>
              <a:rPr sz="1200" b="0">
                <a:solidFill>
                  <a:srgbClr val="9CA3AF"/>
                </a:solidFill>
                <a:latin typeface="Calibri"/>
              </a:rPr>
              <a:t>כרטיסייה 5 מתוך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2000" b="1">
                <a:solidFill>
                  <a:srgbClr val="1F2937"/>
                </a:solidFill>
                <a:latin typeface="Calibri"/>
              </a:rPr>
              <a:t>מטופלת מגיעה עם ניסטגמוס בולט בבדיקת תנועה, אך מדווחת על תחושת ורטיגו מינימלית; יש דיפלופיה ואטקסיה נלוות. מה הדפוס הקליני המכריע, ומה האבחנה הסבירה?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ניסטגמוס גדול בלי תחושת ורטיגו פרופורציונלית, עם ממצאים גזעיים/צרבלריים נלווים (דיפלופיה, אטקסיה) - זה דפוס מרכזי (גזע מוח/צרבלום), לא היקפי; בנגע היקפי הורטיגו והניסטגמוס פרופורציונליים זה לזה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84448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זה בהחלט ורטיגו היקפי קלאסי כמו נויריטיס וסטיבולרי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דיפלופיה ואטקסיה הם ממצאים טיפוסיים ל-BPPV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49824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חסר קשר בין פרופורציית ניסטגמוס-ורטיגו לבין מיקום הנגע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3108960" cy="36576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00" b="1">
                <a:solidFill>
                  <a:srgbClr val="FFFFFF"/>
                </a:solidFill>
                <a:latin typeface="Calibri"/>
              </a:rPr>
              <a:t>ורטיגו היקפי מול מרכזי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400" b="1">
                <a:solidFill>
                  <a:srgbClr val="15803D"/>
                </a:solidFill>
                <a:latin typeface="Calibri"/>
              </a:rPr>
              <a:t>התשובה הנכונה: א) ניסטגמוס גדול בלי תחושת ורטיגו פרופורציונלית, עם ממצאים גזעיים/צרבלריים נלווים (דיפלופיה, אטקסיה) - זה דפוס מרכזי (גזע מוח/צרבלום), לא היקפי; בנגע היקפי הורטיגו והניסטגמוס פרופורציונליים זה לזה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740664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200" b="1">
                <a:solidFill>
                  <a:srgbClr val="6B7280"/>
                </a:solidFill>
                <a:latin typeface="Calibri"/>
              </a:rPr>
              <a:t>הסבר: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000" b="0">
                <a:solidFill>
                  <a:srgbClr val="1F2937"/>
                </a:solidFill>
                <a:latin typeface="Calibri"/>
              </a:rPr>
              <a:t>התשובה הנכונה (1): בנגע היקפי (וסטיבולרי), הורטיגו והניסטגמוס פרופורציונליים זה לזה ולרוב נלווים לתסמינים שמיעתיים (בשל קרבה אנטומית של הקוכלאה והוסטיבולום). בנגע מרכזי (גזע מוח/צרבלום), יכול להיות ניסטגמוס גדול בלי תחושת ורטיגו משמעותית, והתמונה נשלטת ע"י ממצאים גזעיים/צרבלריים נוספים כמו דיפלופיה, דיסארתריה, אטקסיה, וחוסר תחושה צולב. ניסטגמוס אנכי או משנה כיוון במבחן תנוחה הוא כמעט תמיד מרכזי.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08960"/>
            <a:ext cx="740664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1E3A8A"/>
                </a:solidFill>
                <a:latin typeface="Calibri"/>
              </a:rPr>
              <a:t>מונח: דיסוציאציה ניסטגמוס-ורטיגו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1E3A8A"/>
                </a:solidFill>
                <a:latin typeface="Calibri"/>
              </a:rPr>
              <a:t>חוסר התאמה בין עוצמת הניסטגמוס לתחושת הורטיגו - כשהניסטגמוס גדול אך הורטיגו מינימלי, זה מרמז על נגע מרכזי ולא היקפי.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7406640" cy="14173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5B21B6"/>
                </a:solidFill>
                <a:latin typeface="Calibri"/>
              </a:rPr>
              <a:t>סיפור לזכירה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4C1D95"/>
                </a:solidFill>
                <a:latin typeface="Calibri"/>
              </a:rPr>
              <a:t>דמייני שני מדי רעש: מד אחד (היקפי) מראה תמיד ערך שמתאים בדיוק לרמת הרעש שאתה שומע. מד שני (מרכזי) יכול להראות ערך גבוה מאוד בזמן שאתה כמעט לא שומע כלום - חוסר ההתאמה הזה בין המדידה לתחושה הוא עצמו הסימן האבחנתי.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00" b="0">
                <a:solidFill>
                  <a:srgbClr val="5B21B6"/>
                </a:solidFill>
                <a:latin typeface="Calibri"/>
              </a:rPr>
              <a:t>שאלי את עצמך: איך היית מיישמת את העיקרון הזה במקרה קליני אמיתי?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250" b="1">
                <a:solidFill>
                  <a:srgbClr val="6B7280"/>
                </a:solidFill>
                <a:latin typeface="Calibri"/>
              </a:rPr>
              <a:t>מה קורה בפועל: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920240"/>
            <a:ext cx="3474720" cy="777240"/>
          </a:xfrm>
          <a:prstGeom prst="roundRect">
            <a:avLst/>
          </a:prstGeom>
          <a:solidFill>
            <a:srgbClr val="B91C1C"/>
          </a:solidFill>
          <a:ln w="1587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היקפי: ורטיגו+ניסטגמוס פרופורציונליים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788920"/>
            <a:ext cx="3474720" cy="777240"/>
          </a:xfrm>
          <a:prstGeom prst="roundRect">
            <a:avLst/>
          </a:prstGeom>
          <a:solidFill>
            <a:srgbClr val="B45309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מרכזי: ניסטגמוס גדול בלי ורטיגו פרופורציונלי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657600"/>
            <a:ext cx="3474720" cy="777240"/>
          </a:xfrm>
          <a:prstGeom prst="roundRect">
            <a:avLst/>
          </a:prstGeom>
          <a:solidFill>
            <a:srgbClr val="1C7293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ממצאים גזעיים/צרבלריים נלווים = מרכזי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900" b="0">
                <a:solidFill>
                  <a:srgbClr val="9CA3AF"/>
                </a:solidFill>
                <a:latin typeface="Calibri"/>
              </a:rPr>
              <a:t>מצגת סטטית — ללא ניקוד חי. לתרגול עם סטטיסטיקה בזמן אמת, השתמשו באתר הכרטיסיות המקוון.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3108960" cy="384048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50" b="1">
                <a:solidFill>
                  <a:srgbClr val="FFFFFF"/>
                </a:solidFill>
                <a:latin typeface="Calibri"/>
              </a:rPr>
              <a:t>שוואנומה וסטיבולרית - בדיקות עזר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/>
            <a:r>
              <a:rPr sz="1200" b="0">
                <a:solidFill>
                  <a:srgbClr val="9CA3AF"/>
                </a:solidFill>
                <a:latin typeface="Calibri"/>
              </a:rPr>
              <a:t>כרטיסייה 6 מתוך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2000" b="1">
                <a:solidFill>
                  <a:srgbClr val="1F2937"/>
                </a:solidFill>
                <a:latin typeface="Calibri"/>
              </a:rPr>
              <a:t>מטופל עם אובדן שמיעה סנסורינאורלי קל (35 dB) אך ציון הבנת דיבור ירוד משמעותית (58% לעומת &gt;90% צפוי). איזה שילוב של בדיקות עזר מצביע על נגע רטרוקוכלארי (לא קוכלארי)?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OAE נעדר + רפלקס אקוסטי תקין - קלאסי לרטרוקוכלארי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84448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ABR עם עיכוב בגל I בלבד, גלים III ו-V תקינים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רפלקס אקוסטי נעדר/מוגבה (גם כשהאובדן הטהור-טוני עדיין קל-בינוני), עיכוב בגלי ABR מאוחרים (III, V) עם גל I תקין, ו-OAE תקין חרף אובדן שמיעה סנסורינאורלי משמעותי - כולם תומכים בפתולוגיה בעצב/גזע (רטרוקוכלארי) ולא בקוכלאה עצמה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49824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כל הבדיקות הללו אינן רלוונטיות לאבחנה בין קוכלארי לרטרוקוכלארי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3108960" cy="36576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00" b="1">
                <a:solidFill>
                  <a:srgbClr val="FFFFFF"/>
                </a:solidFill>
                <a:latin typeface="Calibri"/>
              </a:rPr>
              <a:t>שוואנומה וסטיבולרית - בדיקות עזר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400" b="1">
                <a:solidFill>
                  <a:srgbClr val="15803D"/>
                </a:solidFill>
                <a:latin typeface="Calibri"/>
              </a:rPr>
              <a:t>התשובה הנכונה: ג) רפלקס אקוסטי נעדר/מוגבה (גם כשהאובדן הטהור-טוני עדיין קל-בינוני), עיכוב בגלי ABR מאוחרים (III, V) עם גל I תקין, ו-OAE תקין חרף אובדן שמיעה סנסורינאורלי משמעותי - כולם תומכים בפתולוגיה בעצב/גזע (רטרוקוכלארי) ולא בקוכלאה עצמה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740664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200" b="1">
                <a:solidFill>
                  <a:srgbClr val="6B7280"/>
                </a:solidFill>
                <a:latin typeface="Calibri"/>
              </a:rPr>
              <a:t>הסבר: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000" b="0">
                <a:solidFill>
                  <a:srgbClr val="1F2937"/>
                </a:solidFill>
                <a:latin typeface="Calibri"/>
              </a:rPr>
              <a:t>התשובה הנכונה (3): ציון הבנת דיבור ירוד בצורה לא-פרופורציונלית לאובדן הטהור-טוני הוא דגל אדום קלאסי לפתולוגיה רטרוקוכלארית. הרפלקס האקוסטי נעדר/מוגבה הוא אחד הסימנים האודיולוגיים המוקדמים ביותר, לפני שינוי ב-ABR. ב-ABR, גל I (מייצג את העצב הפריפרי עצמו) נשאר תקין אך גלים מאוחרים (III=קומפלקס אוליברי עליון, V=קוליקולוס תחתון) מתעכבים/נעדרים - ממקם את הפגיעה בעצב השמיעה/גזע התחתון. OAE (תוצר תאי שערה חיצוניים) נשאר תקין בנגע רטרוקוכלארי טהור, כי הקוכלאה עצמה לא נפגעה - בניגוד לנגע קוכלארי שם ה-OAE נעדר.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08960"/>
            <a:ext cx="740664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1E3A8A"/>
                </a:solidFill>
                <a:latin typeface="Calibri"/>
              </a:rPr>
              <a:t>מונח: נגע רטרוקוכלארי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1E3A8A"/>
                </a:solidFill>
                <a:latin typeface="Calibri"/>
              </a:rPr>
              <a:t>פתולוגיה בעצב השמיעה או בגזע המוח (ולא בקוכלאה עצמה) - מאופיינת בהבנת דיבור ירודה לא-פרופורציונלית, רפלקס אקוסטי נעדר, עיכוב ABR בגלים מאוחרים, ו-OAE תקין.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7406640" cy="14173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5B21B6"/>
                </a:solidFill>
                <a:latin typeface="Calibri"/>
              </a:rPr>
              <a:t>סיפור לזכירה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4C1D95"/>
                </a:solidFill>
                <a:latin typeface="Calibri"/>
              </a:rPr>
              <a:t>דמייני מערכת טלפון: הקוכלאה היא המיקרופון (OAE - בודק אם המיקרופון עובד), והעצב/גזע הם קווי השידור (ABR/רפלקס אקוסטי - בודקים אם האות מגיע הלאה בזמן). במקרה הזה המיקרופון תקין לחלוטין (OAE תקין) אבל האות 'מתעכב' בדרך לקומה הגבוהה (עיכוב בגלי III/V) - התקלה היא בקו, לא במיקרופון.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00" b="0">
                <a:solidFill>
                  <a:srgbClr val="5B21B6"/>
                </a:solidFill>
                <a:latin typeface="Calibri"/>
              </a:rPr>
              <a:t>שאלי את עצמך: איך היית מיישמת את העיקרון הזה במקרה קליני אמיתי?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250" b="1">
                <a:solidFill>
                  <a:srgbClr val="6B7280"/>
                </a:solidFill>
                <a:latin typeface="Calibri"/>
              </a:rPr>
              <a:t>מה קורה בפועל: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920240"/>
            <a:ext cx="3474720" cy="777240"/>
          </a:xfrm>
          <a:prstGeom prst="roundRect">
            <a:avLst/>
          </a:prstGeom>
          <a:solidFill>
            <a:srgbClr val="B91C1C"/>
          </a:solidFill>
          <a:ln w="1587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רפלקס אקוסטי נעדר - סימן מוקדם מאוד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788920"/>
            <a:ext cx="3474720" cy="777240"/>
          </a:xfrm>
          <a:prstGeom prst="roundRect">
            <a:avLst/>
          </a:prstGeom>
          <a:solidFill>
            <a:srgbClr val="B45309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ABR: גל I תקין, גלים III/V מתעכבים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657600"/>
            <a:ext cx="3474720" cy="777240"/>
          </a:xfrm>
          <a:prstGeom prst="roundRect">
            <a:avLst/>
          </a:prstGeom>
          <a:solidFill>
            <a:srgbClr val="1C7293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OAE תקין (תאי שערה חיצוניים שלמים)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900" b="0">
                <a:solidFill>
                  <a:srgbClr val="9CA3AF"/>
                </a:solidFill>
                <a:latin typeface="Calibri"/>
              </a:rPr>
              <a:t>מצגת סטטית — ללא ניקוד חי. לתרגול עם סטטיסטיקה בזמן אמת, השתמשו באתר הכרטיסיות המקוון.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3108960" cy="384048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50" b="1">
                <a:solidFill>
                  <a:srgbClr val="FFFFFF"/>
                </a:solidFill>
                <a:latin typeface="Calibri"/>
              </a:rPr>
              <a:t>בדיקת קלוריק - COWS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/>
            <a:r>
              <a:rPr sz="1200" b="0">
                <a:solidFill>
                  <a:srgbClr val="9CA3AF"/>
                </a:solidFill>
                <a:latin typeface="Calibri"/>
              </a:rPr>
              <a:t>כרטיסייה 7 מתוך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2000" b="1">
                <a:solidFill>
                  <a:srgbClr val="1F2937"/>
                </a:solidFill>
                <a:latin typeface="Calibri"/>
              </a:rPr>
              <a:t>בבדיקת קלוריק דו-תרמית, מה הכיוון הצפוי של השלב המהיר של הניסטגמוס כשמשקים את האוזן הימנית במים קרים (30°C), ומה העיקרון הפיזיקלי?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ניסטגמוס לכיוון ימין - כי מים קרים מגרים את התעלה האופקית הימנית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84448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ניסטגמוס לכיוון שמאל (הנגדי) - מים קרים גורמים לזרימת אנדולימפה אמפוליפוגלית (משיכת הקופולה) בתעלה האופקית הימנית, מה שמוריד את קצב הפריקה בצד הימני ומדמה סיבוב לכיוון שמאל - לפי כלל COWS (Cold-Opposite)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אין כל ניסטגמוס מהגירוי הקר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49824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הכיוון תלוי רק בטמפרטורת החדר ולא בטמפרטורת המים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3108960" cy="36576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00" b="1">
                <a:solidFill>
                  <a:srgbClr val="FFFFFF"/>
                </a:solidFill>
                <a:latin typeface="Calibri"/>
              </a:rPr>
              <a:t>בדיקת קלוריק - COWS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400" b="1">
                <a:solidFill>
                  <a:srgbClr val="15803D"/>
                </a:solidFill>
                <a:latin typeface="Calibri"/>
              </a:rPr>
              <a:t>התשובה הנכונה: ב) ניסטגמוס לכיוון שמאל (הנגדי) - מים קרים גורמים לזרימת אנדולימפה אמפוליפוגלית (משיכת הקופולה) בתעלה האופקית הימנית, מה שמוריד את קצב הפריקה בצד הימני ומדמה סיבוב לכיוון שמאל - לפי כלל COWS (Cold-Opposite)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740664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200" b="1">
                <a:solidFill>
                  <a:srgbClr val="6B7280"/>
                </a:solidFill>
                <a:latin typeface="Calibri"/>
              </a:rPr>
              <a:t>הסבר: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000" b="0">
                <a:solidFill>
                  <a:srgbClr val="1F2937"/>
                </a:solidFill>
                <a:latin typeface="Calibri"/>
              </a:rPr>
              <a:t>התשובה הנכונה (2): בדיקת קלוריק דו-תרמית בודקת רק את התעלה האופקית. מים חמים (44°C) יוצרים זרימה אמפוליפטלית (דחיסת הקופולה) - גירוי מוגבר, ניסטגמוס לאותו צד. מים קרים (30°C) יוצרים זרימה אמפוליפוגלית (משיכת הקופולה) - גירוי מופחת, ניסטגמוס לכיוון הנגדי. מכאן COWS: Cold-Opposite, Warm-Same - הניסטגמוס (לפי השלב המהיר) פונה הנגדי לאוזן המושקית במים קרים, ולאותו צד באוזן המושקית במים חמים.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08960"/>
            <a:ext cx="740664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1E3A8A"/>
                </a:solidFill>
                <a:latin typeface="Calibri"/>
              </a:rPr>
              <a:t>מונח: COWS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1E3A8A"/>
                </a:solidFill>
                <a:latin typeface="Calibri"/>
              </a:rPr>
              <a:t>Cold-Opposite, Warm-Same - כלל זכירה לכיוון השלב המהיר של הניסטגמוס בבדיקת קלוריק דו-תרמית, לפי טמפרטורת המים שמוזרקים לאוזן.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7406640" cy="14173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5B21B6"/>
                </a:solidFill>
                <a:latin typeface="Calibri"/>
              </a:rPr>
              <a:t>סיפור לזכירה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4C1D95"/>
                </a:solidFill>
                <a:latin typeface="Calibri"/>
              </a:rPr>
              <a:t>דמייני מקלחת: מים קרים גורמים לך 'להירתע' ולהתרחק (לכיוון הנגדי) - בדיוק כמו שהקופולה 'נמשכת' הרחק מהגירוי. מים חמים, להפך, מזמינים אותך 'להישאר' באותו כיוון - כמו שהקופולה נדחסת לכיוון הגירוי.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00" b="0">
                <a:solidFill>
                  <a:srgbClr val="5B21B6"/>
                </a:solidFill>
                <a:latin typeface="Calibri"/>
              </a:rPr>
              <a:t>שאלי את עצמך: איך היית מיישמת את העיקרון הזה במקרה קליני אמיתי?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250" b="1">
                <a:solidFill>
                  <a:srgbClr val="6B7280"/>
                </a:solidFill>
                <a:latin typeface="Calibri"/>
              </a:rPr>
              <a:t>מה קורה בפועל: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920240"/>
            <a:ext cx="3474720" cy="777240"/>
          </a:xfrm>
          <a:prstGeom prst="roundRect">
            <a:avLst/>
          </a:prstGeom>
          <a:solidFill>
            <a:srgbClr val="B91C1C"/>
          </a:solidFill>
          <a:ln w="1587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מים קרים (30°C) = זרימה אמפוליפוגלית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788920"/>
            <a:ext cx="3474720" cy="777240"/>
          </a:xfrm>
          <a:prstGeom prst="roundRect">
            <a:avLst/>
          </a:prstGeom>
          <a:solidFill>
            <a:srgbClr val="B45309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↓קצב פריקה בצד המושקה = מדמה סיבוב נגדי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657600"/>
            <a:ext cx="3474720" cy="777240"/>
          </a:xfrm>
          <a:prstGeom prst="roundRect">
            <a:avLst/>
          </a:prstGeom>
          <a:solidFill>
            <a:srgbClr val="1C7293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COWS: Cold-Opposite, Warm-Same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900" b="0">
                <a:solidFill>
                  <a:srgbClr val="9CA3AF"/>
                </a:solidFill>
                <a:latin typeface="Calibri"/>
              </a:rPr>
              <a:t>מצגת סטטית — ללא ניקוד חי. לתרגול עם סטטיסטיקה בזמן אמת, השתמשו באתר הכרטיסיות המקוון.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3108960" cy="384048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50" b="1">
                <a:solidFill>
                  <a:srgbClr val="FFFFFF"/>
                </a:solidFill>
                <a:latin typeface="Calibri"/>
              </a:rPr>
              <a:t>אבחנה מבדלת של ורטיגו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/>
            <a:r>
              <a:rPr sz="1200" b="0">
                <a:solidFill>
                  <a:srgbClr val="9CA3AF"/>
                </a:solidFill>
                <a:latin typeface="Calibri"/>
              </a:rPr>
              <a:t>כרטיסייה 8 מתוך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2000" b="1">
                <a:solidFill>
                  <a:srgbClr val="1F2937"/>
                </a:solidFill>
                <a:latin typeface="Calibri"/>
              </a:rPr>
              <a:t>מטופלת מדווחת על אפיזודות ורטיגו הנמשכות 20 דקות עד מספר שעות, עם ירידה פלוקטואנטית בשמיעה בתדרים נמוכים, טיניטון, ותחושת מלאות באוזן. מה האבחנה הסבירה, ומה הטיפול כשתרופתי נכשל?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BPPV - תמרון Epley הוא הטיפול בכל מקרה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84448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SSCD - תיקון כירורגי מיידי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נויריטיס וסטיבולרי - סטרואידים בלבד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49824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מחלת מניר (הידרופס אנדולימפטי) - משך האפיזודה (20 דק'-שעות), שמיעה פלוקטואנטית עם ירידה בתדרים נמוכים, וטריאדת ורטיגו+טיניטון+שמיעה יורדת (עד 50% עם Tumarkin crisis) הם אופייניים; קו ראשון הוא דיאטה דלת נתרן ± משתן, וכשזה נכשל (&lt;1%) - נוירקטומי וסטיבולרי (לשמר שמיעה) או לבירינתקטומי (אם אין שמיעה שימושית)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3108960" cy="36576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00" b="1">
                <a:solidFill>
                  <a:srgbClr val="FFFFFF"/>
                </a:solidFill>
                <a:latin typeface="Calibri"/>
              </a:rPr>
              <a:t>אבחנה מבדלת של ורטיגו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400" b="1">
                <a:solidFill>
                  <a:srgbClr val="15803D"/>
                </a:solidFill>
                <a:latin typeface="Calibri"/>
              </a:rPr>
              <a:t>התשובה הנכונה: ד) מחלת מניר (הידרופס אנדולימפטי) - משך האפיזודה (20 דק'-שעות), שמיעה פלוקטואנטית עם ירידה בתדרים נמוכים, וטריאדת ורטיגו+טיניטון+שמיעה יורדת (עד 50% עם Tumarkin crisis) הם אופייניים; קו ראשון הוא דיאטה דלת נתרן ± משתן, וכשזה נכשל (&lt;1%) - נוירקטומי וסטיבולרי (לשמר שמיעה) או לבירינתקטומי (אם אין שמיעה שימושית)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740664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200" b="1">
                <a:solidFill>
                  <a:srgbClr val="6B7280"/>
                </a:solidFill>
                <a:latin typeface="Calibri"/>
              </a:rPr>
              <a:t>הסבר: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000" b="0">
                <a:solidFill>
                  <a:srgbClr val="1F2937"/>
                </a:solidFill>
                <a:latin typeface="Calibri"/>
              </a:rPr>
              <a:t>התשובה הנכונה (4): מחלת מניר מאופיינת באפיזודות של 20 דקות עד מספר שעות, עם שמיעה פלוקטואנטית שיורדת בעיקר בתדרים נמוכים, וטריאדה קלאסית של ורטיגו+טיניטון+שמיעה יורדת - עד 50% מהמטופלים חווים גם Tumarkin crisis (נפילות פתאומיות). הטיפול הראשון הוא דיאטה דלת נתרן (1500-2000 מ"ג/יום) ± משתן; כשזה נכשל (פחות מ-1% מהמקרים), הפתרון הניתוחי הוא נוירקטומי וסטיבולרי (שומר שמיעה) או לבירינתקטומי (אם אין עוד שמיעה שימושית לשמר) - מנצל את העובדה שהמוח מקזז טוב יותר לאובדן מלא מאשר לפלוקטואציה כרונית.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08960"/>
            <a:ext cx="740664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1E3A8A"/>
                </a:solidFill>
                <a:latin typeface="Calibri"/>
              </a:rPr>
              <a:t>מונח: הידרופס אנדולימפטי (מחלת מניר)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1E3A8A"/>
                </a:solidFill>
                <a:latin typeface="Calibri"/>
              </a:rPr>
              <a:t>עודף נוזל אנדולימפטי בלבירינת הגורם לטריאדה של ורטיגו, טיניטון ושמיעה פלוקטואנטית יורדת בתדרים נמוכים.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7406640" cy="14173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5B21B6"/>
                </a:solidFill>
                <a:latin typeface="Calibri"/>
              </a:rPr>
              <a:t>סיפור לזכירה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4C1D95"/>
                </a:solidFill>
                <a:latin typeface="Calibri"/>
              </a:rPr>
              <a:t>דמייני בלון מים (האנדולימפה) שמתמלא יותר מהרגיל ולפעמים 'מתפרץ' (אפיזודת ורטיגו) - אחרי שהוא מתרוקן חלקית, השמיעה והאיזון חוזרים זמנית, רק כדי שהבלון יתמלא שוב. דיאטה דלת נתרן מנסה 'להקטין' את כמות הנוזל שנכנס לבלון מההתחלה.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00" b="0">
                <a:solidFill>
                  <a:srgbClr val="5B21B6"/>
                </a:solidFill>
                <a:latin typeface="Calibri"/>
              </a:rPr>
              <a:t>שאלי את עצמך: איך היית מיישמת את העיקרון הזה במקרה קליני אמיתי?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250" b="1">
                <a:solidFill>
                  <a:srgbClr val="6B7280"/>
                </a:solidFill>
                <a:latin typeface="Calibri"/>
              </a:rPr>
              <a:t>מה קורה בפועל: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920240"/>
            <a:ext cx="3474720" cy="777240"/>
          </a:xfrm>
          <a:prstGeom prst="roundRect">
            <a:avLst/>
          </a:prstGeom>
          <a:solidFill>
            <a:srgbClr val="B91C1C"/>
          </a:solidFill>
          <a:ln w="1587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טריאדה: ורטיגו+טיניטון+שמיעה יורדת פלוקטואנטית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788920"/>
            <a:ext cx="3474720" cy="777240"/>
          </a:xfrm>
          <a:prstGeom prst="roundRect">
            <a:avLst/>
          </a:prstGeom>
          <a:solidFill>
            <a:srgbClr val="B45309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קו ראשון: דיאטה דלת נתרן ± משתן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657600"/>
            <a:ext cx="3474720" cy="777240"/>
          </a:xfrm>
          <a:prstGeom prst="roundRect">
            <a:avLst/>
          </a:prstGeom>
          <a:solidFill>
            <a:srgbClr val="1C7293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נכשל: נוירקטומי (לשמר שמיעה) / לבירינתקטומי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900" b="0">
                <a:solidFill>
                  <a:srgbClr val="9CA3AF"/>
                </a:solidFill>
                <a:latin typeface="Calibri"/>
              </a:rPr>
              <a:t>מצגת סטטית — ללא ניקוד חי. לתרגול עם סטטיסטיקה בזמן אמת, השתמשו באתר הכרטיסיות המקוון.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015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3000" b="1">
                <a:solidFill>
                  <a:srgbClr val="FFFFFF"/>
                </a:solidFill>
                <a:latin typeface="Calibri"/>
              </a:rPr>
              <a:t>סיכום הכרטיסיות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99439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>
                <a:solidFill>
                  <a:srgbClr val="E5E7EB"/>
                </a:solidFill>
                <a:latin typeface="Calibri"/>
              </a:rPr>
              <a:t>VOR: הפרש קצב פריקה בין צדדים = הסיגנל; אובלציה חד-צדדית = ניסטגמוס הרסני</a:t>
            </a:r>
          </a:p>
          <a:p>
            <a:pPr algn="r" rtl="1"/>
            <a:r>
              <a:rPr sz="1600">
                <a:solidFill>
                  <a:srgbClr val="E5E7EB"/>
                </a:solidFill>
                <a:latin typeface="Calibri"/>
              </a:rPr>
              <a:t>קומפנסציה טובה יותר לאובדן מלא מאשר לחלקי/משתנה</a:t>
            </a:r>
          </a:p>
          <a:p>
            <a:pPr algn="r" rtl="1"/>
            <a:r>
              <a:rPr sz="1600">
                <a:solidFill>
                  <a:srgbClr val="E5E7EB"/>
                </a:solidFill>
                <a:latin typeface="Calibri"/>
              </a:rPr>
              <a:t>IAC: "7-Up, Coke Down" - פנים קדמי-עליון, קוכלארי קדמי-תחתון</a:t>
            </a:r>
          </a:p>
          <a:p>
            <a:pPr algn="r" rtl="1"/>
            <a:r>
              <a:rPr sz="1600">
                <a:solidFill>
                  <a:srgbClr val="E5E7EB"/>
                </a:solidFill>
                <a:latin typeface="Calibri"/>
              </a:rPr>
              <a:t>VEMP: cVEMP=סקולוס=וסטיבולרי תחתון; oVEMP=אוטריקל=וסטיבולרי עליון</a:t>
            </a:r>
          </a:p>
          <a:p>
            <a:pPr algn="r" rtl="1"/>
            <a:r>
              <a:rPr sz="1600">
                <a:solidFill>
                  <a:srgbClr val="E5E7EB"/>
                </a:solidFill>
                <a:latin typeface="Calibri"/>
              </a:rPr>
              <a:t>היקפי: ורטיגו+ניסטגמוס פרופורציונליים; מרכזי: לא פרופורציונלי+סימנים גזעיים</a:t>
            </a:r>
          </a:p>
          <a:p>
            <a:pPr algn="r" rtl="1"/>
            <a:r>
              <a:rPr sz="1600">
                <a:solidFill>
                  <a:srgbClr val="E5E7EB"/>
                </a:solidFill>
                <a:latin typeface="Calibri"/>
              </a:rPr>
              <a:t>שוואנומה: הבנת דיבור ירודה לא-פרופורציונלית + רפלקס אקוסטי נעדר + OAE תקין</a:t>
            </a:r>
          </a:p>
          <a:p>
            <a:pPr algn="r" rtl="1"/>
            <a:r>
              <a:rPr sz="1600">
                <a:solidFill>
                  <a:srgbClr val="E5E7EB"/>
                </a:solidFill>
                <a:latin typeface="Calibri"/>
              </a:rPr>
              <a:t>COWS: Cold-Opposite, Warm-Same</a:t>
            </a:r>
          </a:p>
          <a:p>
            <a:pPr algn="r" rtl="1"/>
            <a:r>
              <a:rPr sz="1600">
                <a:solidFill>
                  <a:srgbClr val="E5E7EB"/>
                </a:solidFill>
                <a:latin typeface="Calibri"/>
              </a:rPr>
              <a:t>מניר: טריאדת ורטיגו+טיניטון+שמיעה יורדת פלוקטואנטית</a:t>
            </a:r>
          </a:p>
          <a:p>
            <a:pPr algn="r" rtl="1"/>
            <a:r>
              <a:rPr sz="1600">
                <a:solidFill>
                  <a:srgbClr val="E5E7EB"/>
                </a:solidFill>
                <a:latin typeface="Calibri"/>
              </a:rPr>
              <a:t>שיקום שמיעה: שתל קוכלארי (עצב שלם) מול ABI (NF2, אין עצב קוכלארי)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309360"/>
            <a:ext cx="103601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00" b="0">
                <a:solidFill>
                  <a:srgbClr val="64748B"/>
                </a:solidFill>
                <a:latin typeface="Calibri"/>
              </a:rPr>
              <a:t>maskit101.github.io/summeries-medicine/neurosurgery8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