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Oval 3"/>
          <p:cNvSpPr/>
          <p:nvPr/>
        </p:nvSpPr>
        <p:spPr>
          <a:xfrm>
            <a:off x="5559552" y="640080"/>
            <a:ext cx="1078992" cy="1078992"/>
          </a:xfrm>
          <a:prstGeom prst="ellipse">
            <a:avLst/>
          </a:prstGeom>
          <a:noFill/>
          <a:ln w="381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8152" y="868680"/>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0360152" cy="914400"/>
          </a:xfrm>
          <a:prstGeom prst="rect">
            <a:avLst/>
          </a:prstGeom>
          <a:noFill/>
        </p:spPr>
        <p:txBody>
          <a:bodyPr wrap="square" anchor="ctr" lIns="0" rIns="0" tIns="0" bIns="0">
            <a:spAutoFit/>
          </a:bodyPr>
          <a:lstStyle/>
          <a:p>
            <a:pPr algn="ctr" rtl="1"/>
            <a:r>
              <a:rPr sz="4000" b="1">
                <a:solidFill>
                  <a:srgbClr val="FFFFFF"/>
                </a:solidFill>
                <a:latin typeface="Calibri"/>
              </a:rPr>
              <a:t>נוירוכירורגיה — מהדורה 8</a:t>
            </a:r>
          </a:p>
        </p:txBody>
      </p:sp>
      <p:sp>
        <p:nvSpPr>
          <p:cNvPr id="7" name="TextBox 6"/>
          <p:cNvSpPr txBox="1"/>
          <p:nvPr/>
        </p:nvSpPr>
        <p:spPr>
          <a:xfrm>
            <a:off x="914400" y="3017520"/>
            <a:ext cx="10360152" cy="640080"/>
          </a:xfrm>
          <a:prstGeom prst="rect">
            <a:avLst/>
          </a:prstGeom>
          <a:noFill/>
        </p:spPr>
        <p:txBody>
          <a:bodyPr wrap="square" anchor="ctr" lIns="0" rIns="0" tIns="0" bIns="0">
            <a:spAutoFit/>
          </a:bodyPr>
          <a:lstStyle/>
          <a:p>
            <a:pPr algn="ctr" rtl="1"/>
            <a:r>
              <a:rPr sz="2200" b="0">
                <a:solidFill>
                  <a:srgbClr val="93C5FD"/>
                </a:solidFill>
                <a:latin typeface="Calibri"/>
              </a:rPr>
              <a:t>פרק 17: נוירואורולוגיה</a:t>
            </a:r>
          </a:p>
        </p:txBody>
      </p:sp>
      <p:sp>
        <p:nvSpPr>
          <p:cNvPr id="8" name="TextBox 7"/>
          <p:cNvSpPr txBox="1"/>
          <p:nvPr/>
        </p:nvSpPr>
        <p:spPr>
          <a:xfrm>
            <a:off x="914400" y="3657600"/>
            <a:ext cx="10360152" cy="457200"/>
          </a:xfrm>
          <a:prstGeom prst="rect">
            <a:avLst/>
          </a:prstGeom>
          <a:noFill/>
        </p:spPr>
        <p:txBody>
          <a:bodyPr wrap="square" anchor="ctr" lIns="0" rIns="0" tIns="0" bIns="0">
            <a:spAutoFit/>
          </a:bodyPr>
          <a:lstStyle/>
          <a:p>
            <a:pPr algn="ctr" rtl="1"/>
            <a:r>
              <a:rPr sz="1400" b="0">
                <a:solidFill>
                  <a:srgbClr val="7DD3FC"/>
                </a:solidFill>
                <a:latin typeface="Calibri"/>
              </a:rPr>
              <a:t>Neurourology  ·  Youmans Neurological Surgery, 8th Ed. · Lara S. MacLachlan, Brett D. Lebed, Eric S. Rovner</a:t>
            </a:r>
          </a:p>
        </p:txBody>
      </p:sp>
      <p:sp>
        <p:nvSpPr>
          <p:cNvPr id="9" name="TextBox 8"/>
          <p:cNvSpPr txBox="1"/>
          <p:nvPr/>
        </p:nvSpPr>
        <p:spPr>
          <a:xfrm>
            <a:off x="914400" y="5943600"/>
            <a:ext cx="10360152" cy="548640"/>
          </a:xfrm>
          <a:prstGeom prst="rect">
            <a:avLst/>
          </a:prstGeom>
          <a:noFill/>
        </p:spPr>
        <p:txBody>
          <a:bodyPr wrap="square" anchor="ctr" lIns="0" rIns="0" tIns="0" bIns="0">
            <a:spAutoFit/>
          </a:bodyPr>
          <a:lstStyle/>
          <a:p>
            <a:pPr algn="ctr" rtl="1"/>
            <a:r>
              <a:rPr sz="1250" b="0">
                <a:solidFill>
                  <a:srgbClr val="64748B"/>
                </a:solidFill>
                <a:latin typeface="Calibri"/>
              </a:rPr>
              <a:t>8 כרטיסיות תרגול · שאלה ואז תשובה מלאה בכל כרטיסייה · לסטטיסטיקה חיה השתמשו באתר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מנגנון המיקטוריציה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1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אילו שלוש קשתות עצב שולטות בדרכי השתן התחתונות, ומה תפקידה של כל אחת?</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פאראסימפתטי T11-L2 מכווץ; סימפתטי S2-S4 מרפה; פודנדלי C5-C6 שומר</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רק קשת אחת פאראסימפתטית S2-S4 אחראית על הכל</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פאראסימפתטי S2-S4 (עצב פלוויק) מכווץ דטרוזור; סימפתטי T11-L2 (היפוגסטרי) מרפה דטרוזור ומכווץ צוואר; פודנדלי S2-S4 (סומטי) שומר על הסוגר החיצוני</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כל שלוש הקשתות יוצאות מהגשר ישירות לשלפוחית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מנגנון המיקטוריציה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פאראסימפתטי S2-S4 (עצב פלוויק) מכווץ דטרוזור; סימפתטי T11-L2 (היפוגסטרי) מרפה דטרוזור ומכווץ צוואר; פודנדלי S2-S4 (סומטי) שומר על הסוגר החיצוני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שלוש הקשתות פועלות בתיאום הדוק. הפאראסימפתטי הוא 'מנוע הפינוי', הסימפתטי הוא 'בלם האגירה', והפודנדלי הוא 'השומר הסומטי' של הסוגר החיצוני. מתג מרכזי בגשר (pontine micturition center) מכריע איזו קשת פעילה בכל רגע נתון.</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Pontine micturition center</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מתג מרכזי בגשר שמקבל מידע תחושתי על נפח השלפוחית ומחליט על מעבר ממצב אגירה למצב פינוי - הופך את שלוש הקשתות בבת אחת.</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שלוש עמדות בקרה בחדר אחד: 'דוושת הגז' (פאראסימפתטי), 'הבלם' (סימפתטי), ו'השומר בדלת' (פודנדלי). מנהל אחד (הגשר) מחליט בכל רגע מי פעיל.</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פאראסימפתטי S2-S4: כיווץ דטרוזור (פינוי)</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סימפתטי T11-L2: הרפיית דטרוזור + סגירת צוואר (אגירה)</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פודנדלי S2-S4: שומר הסוגר החיצוני ברצון</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מיקום הנגע</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2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עם פגיעת חוט שדרה שלמה בגובה T4 (מעל T6). מה הפרופיל האורודינמי הצפוי?</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דטרוזור ארפלקטיבי, סוגרים סינרגיים - כמו פגיעה סקרלית</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דטרוזור היפראקטיבי, סוגר חלק וסוגר מדוד שניהם סינרגיים</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תפקוד תקין לחלוטין, כי T4 גבוה מדי להשפיע על השלפוחית</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דטרוזור היפראקטיבי, סוגר חלק (צוואר) דיסינרגי וסוגר מדוד (חיצוני) דיסינרגי - כי הנגע מעל T6, מוצא הסימפתטי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מיקום הנגע</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דטרוזור היפראקטיבי, סוגר חלק (צוואר) דיסינרגי וסוגר מדוד (חיצוני) דיסינרגי - כי הנגע מעל T6, מוצא הסימפתטי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T6 הוא מוצא הסימפתטי העליון וקו פרשת מים. נגע שלם מעליו מנתק גם את הקשת הסימפתטית (סוגר חלק) וגם את הקשת הפודנדלית (סוגר מדוד) מהמתג המרכזי, כך שבזמן כיווץ דטרוזור רפלקסיבי שני הסוגרים מתכווצים יחד איתו - דיסינרגיה כפולה, בסיכון גבוה לדרכי השתן העליונות.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Detrusor-sphincter dyssynergia</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כיווץ לא-רצוני של הסוגר בד בבד עם כיווץ הדטרוזור, הגורם לחסימה פונקציונלית בלחץ גבוה. קיים רק בפגיעות חוט שדרה.</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T6 כמו גדר גבול: מעליה שתי שמורות טבע מנותקות מהמרכז (סימפתטי+פודנדלי); מתחתיה (עד הקונוס) רק שמורה אחת (פודנדלי בלבד) מנותקת.</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מעל T6: שתי הדיסינרגיות (חלק + מדוד)</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בין T6 לקונוס: רק הסוגר המדוד דיסינרגי</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נגע סקרלי: אין דיסינרגיה, יש ארפלקסיה</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חירום נוירואורולוגי</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3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עם פגיעת חוט שדרה C6 מתלונן על כאב ראש פועם ויתר לחץ דם חריף בזמן החלפת קטטר. מה הפעולה הראשונה?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מתן תרופה להורדת לחץ דם ולהמתין לתגובה לפני בדיקה נוספת</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לחפש ולהעביר מיידית את הגירוי (קטטר חסום, שלפוחית/רקטום מלאים) - לפני או במקביל לכל טיפול תרופתי</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להמתין 30 דקות ולראות אם זה חולף מעצמו</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לשלוח להדמיית CT ראש בדחיפות כאבחנה ראשונה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חירום נוירואורולוגי</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לחפש ולהעביר מיידית את הגירוי (קטטר חסום, שלפוחית/רקטום מלאים) - לפני או במקביל לכל טיפול תרופתי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דיסרפלקסיה אוטונומית בפגיעה מעל T6 מחייבת חיפוש ושחרור מיידי של הגירוי - לרוב בשלפוחית או ברקטום. תרופות (ניפדיפין, פרזוסין, ניטרטים) הן תוספת לטיפול בלחץ הדם עצמו, לא תחליף לחיפוש הגורם, כי אי-טיפול בגירוי עלול להוביל למשבר היפרטנסיבי ושבץ.</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Autonomic dysreflexia</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פריקה אוטונומית מסיבית בפגיעות חוט שדרה מעל T6, המופעלת בעיקר על ידי התמלאות/חסימה של שלפוחית או רקטום - כאב ראש פועם, יתר לחץ דם, ברדיקרדיה, הזעה ואדמומיות מעל גובה הנגע.</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אזעקת אש: קודם מכבים את מקור האש (הגירוי בשלפוחית), לא רק פותחים חלונות כדי שהעשן ייצא (הורדת לחץ דם תרופתית).</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טריגר שכיח ביותר: התמלאות/חסימת שלפוחית או רקטום</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הסרת הגירוי היא הטיפול המיידי - לא רק תרופה</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ללא טיפול בגורם: סכנת משבר היפרטנסיבי ושבץ</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אורודינמיקה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4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פירושה של קומפליאנס ירודה בציסטומטריה, ולמה היא מסוכנת?</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עלייה הדרגתית וקבועה בלחץ תוך-שלפוחיתי ככל שהנפח גדל - אם היא עוברת כ-40 cmH2O, יש סיכון משמעותי להתדרדרות דרכי השתן העליונות</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קיבולת שלפוחית קטנה מדי בלבד, בלי קשר ללחץ</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כיווצים פתאומיים וחולפים של הדטרוזור, שלא קשורים ללחץ אגירה כרוני</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שינוי בצבע השתן בזמן המילוי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אורודינמיקה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עלייה הדרגתית וקבועה בלחץ תוך-שלפוחיתי ככל שהנפח גדל - אם היא עוברת כ-40 cmH2O, יש סיכון משמעותי להתדרדרות דרכי השתן העליונות</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בשלפוחית תקינה, התכונות הויסקואלסטיות של הדופן מאפשרות מילוי כמעט ללא עלייה בלחץ עד קרוב לקיבולת המלאה. קומפליאנס ירוד - פיברוזיס, דנרווציה, חסימת מפלט - מייצר עלייה הדרגתית וקבועה בלחץ שכאשר עוברת כ-40 ס"מ מים מהווה גורם סיכון מרכזי לרפלוקס, הידרונפרוזיס ואי ספיקת כליות, גם ללא תסמינים מורגשים.</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Bladder compliance</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יחס השינוי בלחץ התוך-שלפוחיתי לשינוי בנפח במהלך המילוי; תלוי בעיקר בתכונות הויסקואלסטיות הטבעיות של דופן השלפוחית.</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בלון רגיל מתנפח בקלות בלי התנגדות משמעותית עד שהוא כמעט מלא (קומפליאנס תקין); בלון נוקשה בנוי מגומי עבה מתנגד מההתחלה ולוחץ חזק גם בנפח קטן יחסית (קומפליאנס ירוד).</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קומפליאנס = שינוי לחץ חלקי שינוי נפח</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תקין: לחץ יציב ונמוך כמעט עד לקיבולת מלאה</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מעל 40 cmH2O: סף סיכון לדרכי השתן העליונות</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בדיקה נוירואורולוגית</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5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בודק רפלקס הבולבוקברנוזוס, ומה משמעות היעדרו?</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בודק את העצב הגניטופמורלי בלבד, ונעדר תמיד בנגעים סופרה-סקרליים</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בודק את תפקוד המוח הקורטיקלי, ונעדר בדמנציה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בודק את עצב הפלוויק הפאראסימפתטי, ונעדר בכל פגיעה בדטרוזור</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בודק שלמות הקשת הסקרלית S2-S4 (אפרנטי ואפרנטי פודנדלי) - היעדרו מרמז על פגיעה סקרלית או עצב פריפרי, אך הוא גם נעדר ב-10-15% מאנשים בריאים</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בדיקה נוירואורולוגית</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בודק שלמות הקשת הסקרלית S2-S4 (אפרנטי ואפרנטי פודנדלי) - היעדרו מרמז על פגיעה סקרלית או עצב פריפרי, אך הוא גם נעדר ב-10-15% מאנשים בריאים</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הבולבוקברנוזוס בודק ישירות את שלמות קשת הרפלקס הסקרלית (S2-S4) דרך עצב פודנדלי, הן באפרנט והן באפרנט. היעדרו עשוי לרמז על פגיעה סקרלית או עצב פריפרי, אך מכיוון שהוא נעדר גם ב-10-15% מאנשים בריאים לחלוטין, יש לפרש אותו בזהירות ולשלב עם ממצאים נוספים (טונוס סוגר אנאלי, רפלקס אנאלי).</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Bulbocavernosus reflex</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רפלקס שמעריך את שלמות הקשת הסקרלית S2-S4 - לחיצה על העטרה/דגדגן (אפרנט פודנדלי) גורמת לכיווץ הסוגר האנאלי (אפרנט פודנדלי).</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כמו בדיקת 'מעגל חשמלי' קטן: לוחצים על כפתור בקצה אחד (גניטליה) ובודקים אם הנורה בקצה השני (סוגר אנאלי) נדלקת. אם לא - יש נתק איפשהו בקשת הסקרלית, אבל לפעמים הנורה פשוט 'חלשה' גם בלי תקלה.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נבדק בלחיצה על העטרה/דגדגן, תגובה: כיווץ אנאלי</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אפרנטי ואפרנטי: עצב פודנדלי, קשת S2-S4</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חשוב: נעדר גם ב-10-15% מבריאים - לא אבחנתי לבד</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טיפול - כשל באגירה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6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מטופלת עם היפראקטיביות דטרוזור נוירוגנית נכשלת באנטיכולינרגיים (תופעות לוואי קשות) ובמירבגרון. מה הצעד הבא המומלץ לפי הפרק, לפני מעבר לניתוח גדול?</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להפסיק כל טיפול ולעבור ישירות לניתוב שתן</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לנסות תרופה אנטיכולינרגית נוספת בלבד, שוב ושוב</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זריקות בוטולינום טוקסין A תוך-דטרוזוריות (100-200 יחידות) - יעילות גם כשתרופות נכשלות, עם תועלת הנמשכת 6-9 חודשים, אם כי יש סיכון לאצירת שתן שעלולה לדרוש קטטריזציה זמנית</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ספינקטרוטומי חיצוני כירורגי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טיפול - כשל באגירה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זריקות בוטולינום טוקסין A תוך-דטרוזוריות (100-200 יחידות) - יעילות גם כשתרופות נכשלות, עם תועלת הנמשכת 6-9 חודשים, אם כי יש סיכון לאצירת שתן שעלולה לדרוש קטטריזציה זמנית</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הפרק ממקם במפורש את הזרקות הבוטולינום תוך-דטרוזוריות כקו הטיפול הבא אחרי כשל תרופתי (אנטיכולינרגיים, מירבגרון) בהיפראקטיביות דטרוזור נוירוגנית, לפני מעבר לאפשרויות כירורגיות גדולות יותר כמו נוירומודולציה סקרלית או אוגמנטציה. עד 77% מהמטופלים מגיבים עם ירידה של 50% ומעלה באפיזודות אי-שליטה, אך יש לעקוב אחר סיכון לאצירת שתן.</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Intravesical BoNT-A</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הזרקה אנדוסקופית של בוטולינום טוקסין A (100-200 יחידות) לדטרוזור, המפחיתה כיווציות לא-רצוניות למשך 6-9 חודשים בממוצע.</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כמו 'השתקת' שרירים פעילים יתר על המידה באופן זמני וממוקד - לא כריתה קבועה אלא 'חופשה' לדטרוזור הכוחני עד שהרעלן מתפרק.</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BoNT-A תוך-דטרוזורי: קו טיפול אחרי כשל תרופתי</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עד 77% מהמטופלים: ירידה של 50%+ באפיזודות אי-שליטה</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סיכון: אצירת שתן - לעיתים צריך CIC זמני</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טיפול - כשל בפינוי</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7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למה קטטריזציה נקייה לסירוגין (CIC) עדיפה על קטטר קבוע (פולי/סופרה-פובי) לטווח ארוך במטופלים נוירוגניים?</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שיעור נמוך יותר של זיהום סימפטומטי, פחות סיבוכים כוללים, ושימור טוב יותר של קומפליאנס השלפוחית, לעומת גירוי כרוני וסיכון לסרטן תאי קשקש בקטטר קבוע</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CIC זול יותר בלבד, בלי יתרון קליני</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קטטר קבוע תמיד עדיף, ו-CIC משמש רק כשאין ברירה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הבדל משמעותי בין השניים מבחינת סיבוכים</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טיפול - כשל בפינוי</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שיעור נמוך יותר של זיהום סימפטומטי, פחות סיבוכים כוללים, ושימור טוב יותר של קומפליאנס השלפוחית, לעומת גירוי כרוני וסיכון לסרטן תאי קשקש בקטטר קבוע</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למרות שבקטריאוריה שכיחה בשני המקרים, זיהום שתן סימפטומטי נדיר משמעותית ב-CIC מאשר בקטטר קבוע, עם שיעור סיבוכים כולל נמוך יותר. קטטר קבוע קשור לגירוי כרוני שמוביל למטפלזיה בקשקשת - גורם סיכון סטטיסטי משמעותי לסרטן שלפוחית תאי קשקש, סוג אגרסיבי במיוחד - ולכן מומלץ מעקב אנדוסקופי או ציטולוגי שנתי במטופלים עם קטטר קבוע כרוני.</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Clean Intermittent Catheterization (CIC)</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טכניקה שפותחה והופצה על ידי Lapides: ריקון שלפוחית סדיר (כל 4-6 שעות) עם שטיפת קטטר וידיים בסבון ומים, ללא דרישה לעקרות מלאה.</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כמו ביקור קצר ומתוזמן (CIC) לעומת אורח קבוע שלא עוזב (קטטר קבוע) - האורח הקבוע מגרה את המארח כרונית ויוצר סיכונים ארוכי טווח שהביקור הקצר נמנע מהם.</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CIC: פחות זיהום סימפטומטי מקטטר קבוע</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קטטר קבוע: גירוי כרוני → מטפלזיה בקשקשת → סיכון לסרטן שלפוחית</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שיטת לפידס: שטיפה בסבון ומים, לא עקרות מלאה</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שלפוחית לפי מיקום עליון</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8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ההבדל בין 'ברדיקינזיה של הסוגר' בפרקינסון לבין דיסינרגיה דטרוזור-סוגר אמיתית בפגיעת חוט שדרה?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הבדל - שתיהן אותה פתולוגיה בדיוק</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ברדיקינזיה של הסוגר היא עיכוב בהרפיית הסוגר בתחילת הפינוי שלא גורם לחסימה; דיסינרגיה אמיתית היא כיווץ לא-רצוני בד בבד עם כיווץ הדטרוזור שגורם לחסימה פונקציונלית - ומופיעה רק בפגיעות חוט שדרה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ברדיקינזיה מסוכנת יותר ומחייבת ניתוח דחוף</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דיסינרגיה אמיתית מופיעה גם בפרקינסון, בשכיחות זהה לפגיעת חוט שדרה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שלפוחית לפי מיקום עליון</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ברדיקינזיה של הסוגר היא עיכוב בהרפיית הסוגר בתחילת הפינוי שלא גורם לחסימה; דיסינרגיה אמיתית היא כיווץ לא-רצוני בד בבד עם כיווץ הדטרוזור שגורם לחסימה פונקציונלית - ומופיעה רק בפגיעות חוט שדרה</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בפרקינסון נמצא לרוב היפראקטיביות דטרוזור עם סינרגיה בין דטרוזור לסוגר החלק, אך עם עיכוב בהרפיית הסוגר בתחילת הפינוי - 'ברדיקינזיה של הסוגר' - שנראה ב-EMG כפעילות לא-רצונית אך אינו גורם לחסימה אמיתית. דיסינרגיה דטרוזור-סוגר אמיתית (כיווץ ממשי בד בבד עם כיווץ הדטרוזור, הגורם לחסימה פונקציונלית) מופיעה אך ורק בפגיעות חוט שדרה - הבחנה קריטית לתכנון טיפול נכון, כי טיפול בדיסינרגיה אמיתית (למשל ספינקטרוטומי) לא מתאים לברדיקינזיה.</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Sphincter bradykinesia</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עיכוב בהרפיית הסוגר החיצוני בתחילת הפינוי בחולי פרקינסון, הדומה ל-EMG לדיסינרגיה אך לא גורם לחסימה אמיתית ואינו מייצג פגיעה בחוט השדרה.</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כמו דלת שנפתחת לאט אבל בסוף נפתחת לגמרי (ברדיקינזיה) לעומת דלת שנעולה בכוח בדיוק כשמנסים לדחוף אותה (דיסינרגיה אמיתית) - התוצאה הקלינית שונה לגמרי למרות שבשתיהן ה-EMG 'לא נראה נקי'.</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פרקינסון: סוגר חלק סינרגי + עיכוב הרפיה (לא חסימה)</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פגיעת חוט שדרה: כיווץ ממשי בד בבד = חסימה פונקציונלית</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עד 60% מחולי פרקינסון עם EMG לא-תקין, אך לא דיסינרגיה אמיתית</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548640"/>
            <a:ext cx="10360152" cy="640080"/>
          </a:xfrm>
          <a:prstGeom prst="rect">
            <a:avLst/>
          </a:prstGeom>
          <a:noFill/>
        </p:spPr>
        <p:txBody>
          <a:bodyPr wrap="square" anchor="ctr" lIns="0" rIns="0" tIns="0" bIns="0">
            <a:spAutoFit/>
          </a:bodyPr>
          <a:lstStyle/>
          <a:p>
            <a:pPr algn="ctr" rtl="1"/>
            <a:r>
              <a:rPr sz="3000" b="1">
                <a:solidFill>
                  <a:srgbClr val="FFFFFF"/>
                </a:solidFill>
                <a:latin typeface="Calibri"/>
              </a:rPr>
              <a:t>סיכום הכרטיסיות</a:t>
            </a:r>
          </a:p>
        </p:txBody>
      </p:sp>
      <p:sp>
        <p:nvSpPr>
          <p:cNvPr id="5" name="TextBox 4"/>
          <p:cNvSpPr txBox="1"/>
          <p:nvPr/>
        </p:nvSpPr>
        <p:spPr>
          <a:xfrm>
            <a:off x="1097280" y="1463040"/>
            <a:ext cx="9994392" cy="4389120"/>
          </a:xfrm>
          <a:prstGeom prst="rect">
            <a:avLst/>
          </a:prstGeom>
          <a:noFill/>
        </p:spPr>
        <p:txBody>
          <a:bodyPr wrap="square">
            <a:spAutoFit/>
          </a:bodyPr>
          <a:lstStyle/>
          <a:p>
            <a:pPr algn="r" rtl="1"/>
            <a:r>
              <a:rPr sz="1600">
                <a:solidFill>
                  <a:srgbClr val="E5E7EB"/>
                </a:solidFill>
                <a:latin typeface="Calibri"/>
              </a:rPr>
              <a:t>שלוש קשתות: פאראסימפתטי, סימפתטי, פודנדלי</a:t>
            </a:r>
          </a:p>
          <a:p>
            <a:pPr algn="r" rtl="1"/>
            <a:r>
              <a:rPr sz="1600">
                <a:solidFill>
                  <a:srgbClr val="E5E7EB"/>
                </a:solidFill>
                <a:latin typeface="Calibri"/>
              </a:rPr>
              <a:t>מתג המיקטוריציה הפונטי</a:t>
            </a:r>
          </a:p>
          <a:p>
            <a:pPr algn="r" rtl="1"/>
            <a:r>
              <a:rPr sz="1600">
                <a:solidFill>
                  <a:srgbClr val="E5E7EB"/>
                </a:solidFill>
                <a:latin typeface="Calibri"/>
              </a:rPr>
              <a:t>T6 - קו פרשת מים לדיסינרגיה כפולה</a:t>
            </a:r>
          </a:p>
          <a:p>
            <a:pPr algn="r" rtl="1"/>
            <a:r>
              <a:rPr sz="1600">
                <a:solidFill>
                  <a:srgbClr val="E5E7EB"/>
                </a:solidFill>
                <a:latin typeface="Calibri"/>
              </a:rPr>
              <a:t>דיסינרגיה דטרוזור-סוגר רק בפגיעות חוט שדרה</a:t>
            </a:r>
          </a:p>
          <a:p>
            <a:pPr algn="r" rtl="1"/>
            <a:r>
              <a:rPr sz="1600">
                <a:solidFill>
                  <a:srgbClr val="E5E7EB"/>
                </a:solidFill>
                <a:latin typeface="Calibri"/>
              </a:rPr>
              <a:t>דיסרפלקסיה אוטונומית - חירום מעל T6</a:t>
            </a:r>
          </a:p>
          <a:p>
            <a:pPr algn="r" rtl="1"/>
            <a:r>
              <a:rPr sz="1600">
                <a:solidFill>
                  <a:srgbClr val="E5E7EB"/>
                </a:solidFill>
                <a:latin typeface="Calibri"/>
              </a:rPr>
              <a:t>קומפליאנס: סכנה מעל 40 cmH2O</a:t>
            </a:r>
          </a:p>
          <a:p>
            <a:pPr algn="r" rtl="1"/>
            <a:r>
              <a:rPr sz="1600">
                <a:solidFill>
                  <a:srgbClr val="E5E7EB"/>
                </a:solidFill>
                <a:latin typeface="Calibri"/>
              </a:rPr>
              <a:t>רפלקס בולבוקברנוזוס - נעדר גם ב-10-15% בריאים</a:t>
            </a:r>
          </a:p>
          <a:p>
            <a:pPr algn="r" rtl="1"/>
            <a:r>
              <a:rPr sz="1600">
                <a:solidFill>
                  <a:srgbClr val="E5E7EB"/>
                </a:solidFill>
                <a:latin typeface="Calibri"/>
              </a:rPr>
              <a:t>כשל אגירה: אנטיכולינרגי → BoNT-A → נוירומודולציה</a:t>
            </a:r>
          </a:p>
          <a:p>
            <a:pPr algn="r" rtl="1"/>
            <a:r>
              <a:rPr sz="1600">
                <a:solidFill>
                  <a:srgbClr val="E5E7EB"/>
                </a:solidFill>
                <a:latin typeface="Calibri"/>
              </a:rPr>
              <a:t>כשל פינוי: CIC עדיף על קטטר קבוע</a:t>
            </a:r>
          </a:p>
          <a:p>
            <a:pPr algn="r" rtl="1"/>
            <a:r>
              <a:rPr sz="1600">
                <a:solidFill>
                  <a:srgbClr val="E5E7EB"/>
                </a:solidFill>
                <a:latin typeface="Calibri"/>
              </a:rPr>
              <a:t>ברדיקינזיה של הסוגר בפרקינסון ≠ דיסינרגיה אמיתית</a:t>
            </a:r>
          </a:p>
        </p:txBody>
      </p:sp>
      <p:sp>
        <p:nvSpPr>
          <p:cNvPr id="6" name="TextBox 5"/>
          <p:cNvSpPr txBox="1"/>
          <p:nvPr/>
        </p:nvSpPr>
        <p:spPr>
          <a:xfrm>
            <a:off x="914400" y="6309360"/>
            <a:ext cx="10360152" cy="365760"/>
          </a:xfrm>
          <a:prstGeom prst="rect">
            <a:avLst/>
          </a:prstGeom>
          <a:noFill/>
        </p:spPr>
        <p:txBody>
          <a:bodyPr wrap="square" anchor="ctr" lIns="0" rIns="0" tIns="0" bIns="0">
            <a:spAutoFit/>
          </a:bodyPr>
          <a:lstStyle/>
          <a:p>
            <a:pPr algn="ctr" rtl="1"/>
            <a:r>
              <a:rPr sz="1200" b="0">
                <a:solidFill>
                  <a:srgbClr val="64748B"/>
                </a:solidFill>
                <a:latin typeface="Calibri"/>
              </a:rPr>
              <a:t>maskit101.github.io/summeries-medicine/neurosurgery8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