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מהדורה 8</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6: שיפור בטיחות המטופל</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Improving Patient Safety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הגדרות יסוד</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ההגדרה הנכונה ביותר של "סיבוך" (complication) בהשוואה ל"אירוע שלילי" (adverse event),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סיבוך הוא תמיד תוצאה של טעות רפואית, ואילו אירוע שלילי יכול להיות גם ללא טעות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סיבוך הוא המונח הרחב ביותר - כולל את כל האירועים השליליים (נמנעים ובלתי נמנעים) וגם נזק שנובע ישירות מהמחלה עצמה, גם ללא קשר לטיפול הרפואי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סיבוך ואירוע שלילי הם מונחים זהים לחלוטין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אירוע שלילי הוא מונח רחב יותר הכולל בתוכו סיבוכים</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הגדרות יסוד</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סיבוך הוא המונח הרחב ביותר - כולל את כל האירועים השליליים (נמנעים ובלתי נמנעים) וגם נזק שנובע ישירות מהמחלה עצמה, גם ללא קשר לטיפול הרפואי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A16207">
              <a:alpha val="12000"/>
            </a:srgbClr>
          </a:solidFill>
          <a:ln w="15875">
            <a:solidFill>
              <a:srgbClr val="A16207"/>
            </a:solidFill>
            <a:prstDash val="solid"/>
          </a:ln>
        </p:spPr>
      </p:sp>
      <p:sp>
        <p:nvSpPr>
          <p:cNvPr id="7" name="Shape 5"/>
          <p:cNvSpPr/>
          <p:nvPr/>
        </p:nvSpPr>
        <p:spPr>
          <a:xfrm>
            <a:off x="11292840" y="2176272"/>
            <a:ext cx="256032" cy="256032"/>
          </a:xfrm>
          <a:prstGeom prst="ellipse">
            <a:avLst/>
          </a:prstGeom>
          <a:solidFill>
            <a:srgbClr val="A1620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סיבוך = המונח הרחב ביותר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כולל גם נזק ישיר מהמחלה עצמה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4C1D95">
              <a:alpha val="12000"/>
            </a:srgbClr>
          </a:solidFill>
          <a:ln w="15875">
            <a:solidFill>
              <a:srgbClr val="4C1D95"/>
            </a:solidFill>
            <a:prstDash val="solid"/>
          </a:ln>
        </p:spPr>
      </p:sp>
      <p:sp>
        <p:nvSpPr>
          <p:cNvPr id="15" name="Shape 13"/>
          <p:cNvSpPr/>
          <p:nvPr/>
        </p:nvSpPr>
        <p:spPr>
          <a:xfrm>
            <a:off x="11292840" y="3913632"/>
            <a:ext cx="256032" cy="256032"/>
          </a:xfrm>
          <a:prstGeom prst="ellipse">
            <a:avLst/>
          </a:prstGeom>
          <a:solidFill>
            <a:srgbClr val="4C1D95"/>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אירוע שלילי = תת-קבוצה, קשור לטיפול הרפואי בלבד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הפרק מגדיר סיבוך כמונח הכולל את כל האירועים השליליים (preventable ו-nonpreventable כאחד) אך גם נזק שקשור ישירות למחלה עצמה ולא לטיפול - למשל דימום תוך-גולגולתי מגידול מוחי גם אם קרה ללא כל מגע עם מערכת הבריאות. תשובות 1, 3 ו-4 הופכות את יחסי ההכלה או משוות מונחים שאינם זהים.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סיבוך (Complication)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המונח הרחב ביותר מבין השלושה - כולל אירועים שליליים נמנעים ובלתי נמנעים, וגם נזק ישיר מהמחלה עצמה שאינו קשור לטיפול הרפואי.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שלוש עיגולים מקוננים: העיגול החיצוני ביותר (הגדול) הוא "סיבוכים", בתוכו עיגול "אירועים שליליים", ובתוכו עוד יותר פנימה "שגיאות".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שלושה מונחים נפרדים ולא אחד?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מודל ריזון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אחות מתכנתת קצב שגוי במשאבת עירוי כימותרפי, מה שגורם לפגיעה במטופל. בית החולים משתמש בשלושה דגמי משאבות שונים במחלקות שונות. מהי השגיאה האקטיבית ומהי הלטנטית?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האקטיבית והלטנטית הן אותה שגיאה - אין הבדל אמיתי ביניהן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האקטיבית היא ריבוי דגמי המשאבות; הלטנטית היא תכנות הקצב השגוי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האקטיבית היא תכנות הקצב השגוי על ידי האחות (קרוב למטופל, קצה חד); הלטנטית היא ריבוי דגמי המשאבות בבית החולים (כשל ארגוני, קצה קהה)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כאן בכלל שגיאה לטנטית, רק אקטיבית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מודל ריזון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האקטיבית היא תכנות הקצב השגוי על ידי האחות (קרוב למטופל, קצה חד); הלטנטית היא ריבוי דגמי המשאבות בבית החולים (כשל ארגוני, קצה קהה)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7F1D1D">
              <a:alpha val="12000"/>
            </a:srgbClr>
          </a:solidFill>
          <a:ln w="15875">
            <a:solidFill>
              <a:srgbClr val="7F1D1D"/>
            </a:solidFill>
            <a:prstDash val="solid"/>
          </a:ln>
        </p:spPr>
      </p:sp>
      <p:sp>
        <p:nvSpPr>
          <p:cNvPr id="7" name="Shape 5"/>
          <p:cNvSpPr/>
          <p:nvPr/>
        </p:nvSpPr>
        <p:spPr>
          <a:xfrm>
            <a:off x="11292840" y="2176272"/>
            <a:ext cx="256032" cy="256032"/>
          </a:xfrm>
          <a:prstGeom prst="ellipse">
            <a:avLst/>
          </a:prstGeom>
          <a:solidFill>
            <a:srgbClr val="7F1D1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אקטיבית = תכנות שגוי ע"י האחות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לטנטית = ריבוי דגמי משאבות (כשל מערכתי)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11827">
              <a:alpha val="12000"/>
            </a:srgbClr>
          </a:solidFill>
          <a:ln w="15875">
            <a:solidFill>
              <a:srgbClr val="111827"/>
            </a:solidFill>
            <a:prstDash val="solid"/>
          </a:ln>
        </p:spPr>
      </p:sp>
      <p:sp>
        <p:nvSpPr>
          <p:cNvPr id="15" name="Shape 13"/>
          <p:cNvSpPr/>
          <p:nvPr/>
        </p:nvSpPr>
        <p:spPr>
          <a:xfrm>
            <a:off x="11292840" y="3913632"/>
            <a:ext cx="256032" cy="256032"/>
          </a:xfrm>
          <a:prstGeom prst="ellipse">
            <a:avLst/>
          </a:prstGeom>
          <a:solidFill>
            <a:srgbClr val="11182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לטנטיות בד"כ קודמות זמנית ומשפיעות יותר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זו בדיוק הדוגמה מהפרק. השגיאה האקטיבית מתרחשת ב"קצה החד" - האחות שמתכנתת את הקצב, בקשר ישיר עם המטופל וגלויה לעין. השגיאה הלטנטית היא כשל ארגוני ב"קצה הקהה" - החלטת בית החולים להפעיל כמה סוגי משאבות שונים, מה שמגדיל את הסיכוי לבלבול. הפרק מדגיש ששגיאות לטנטיות משפיעות יותר על הגנת המטופל מאשר שגיאות של מתרגל בודד.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שגיאה אקטיבית מול לטנטית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אקטיבית (sharp end) - גלויה, בקשר ישיר עם המטופל. לטנטית (blunt end) - כשל ארגוני/עיצובי סמוי שמאפשר לשגיאה האקטיבית לקרות.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קרחון: קצה הקרחון הגלוי מעל המים הוא השגיאה האקטיבית (מה שכולם רואים ומאשימים), אך התהום הענקית שמתחת למים - הבלתי נראית - היא השגיאות הלטנטיות שבאמת מחזיקות את הכל.</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יותר לתקן שגיאות לטנטיות מאשר להעניש את האחות שטעתה?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חשיבה מערכתית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מחקר פרוספקטיבי על שגיאות בפרוצדורות נוירוכירורגיות מצא ששיעור השגיאות הקשור למיומנות הטכנית של המנתח בלבד הוא: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כ-23.7%-27.8% בלבד - השאר (כ-75%) קשור לגורמים אחרים כמו אחיות, מרדימים וטכנאי ציוד</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כ-90% - רוב השגיאות נובעות ממיומנות המנתח</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0% - למנתח אין כלל השפעה על שגיאות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כ-50%, בחלוקה שווה בין המנתח לצוות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חשיבה מערכתית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כ-23.7%-27.8% בלבד - השאר (כ-75%) קשור לגורמים אחרים כמו אחיות, מרדימים וטכנאי ציוד</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E3A8A">
              <a:alpha val="12000"/>
            </a:srgbClr>
          </a:solidFill>
          <a:ln w="15875">
            <a:solidFill>
              <a:srgbClr val="1E3A8A"/>
            </a:solidFill>
            <a:prstDash val="solid"/>
          </a:ln>
        </p:spPr>
      </p:sp>
      <p:sp>
        <p:nvSpPr>
          <p:cNvPr id="7" name="Shape 5"/>
          <p:cNvSpPr/>
          <p:nvPr/>
        </p:nvSpPr>
        <p:spPr>
          <a:xfrm>
            <a:off x="11292840" y="2176272"/>
            <a:ext cx="256032" cy="256032"/>
          </a:xfrm>
          <a:prstGeom prst="ellipse">
            <a:avLst/>
          </a:prstGeom>
          <a:solidFill>
            <a:srgbClr val="1E3A8A"/>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 כ-25% קשורות למיומנות המנתח</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4532D">
              <a:alpha val="12000"/>
            </a:srgbClr>
          </a:solidFill>
          <a:ln w="15875">
            <a:solidFill>
              <a:srgbClr val="14532D"/>
            </a:solidFill>
            <a:prstDash val="solid"/>
          </a:ln>
        </p:spPr>
      </p:sp>
      <p:sp>
        <p:nvSpPr>
          <p:cNvPr id="11" name="Shape 9"/>
          <p:cNvSpPr/>
          <p:nvPr/>
        </p:nvSpPr>
        <p:spPr>
          <a:xfrm>
            <a:off x="11292840" y="3044952"/>
            <a:ext cx="256032" cy="256032"/>
          </a:xfrm>
          <a:prstGeom prst="ellipse">
            <a:avLst/>
          </a:prstGeom>
          <a:solidFill>
            <a:srgbClr val="1453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כ-75% קשורות לגורמים אחרים בצוות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374151">
              <a:alpha val="12000"/>
            </a:srgbClr>
          </a:solidFill>
          <a:ln w="15875">
            <a:solidFill>
              <a:srgbClr val="374151"/>
            </a:solidFill>
            <a:prstDash val="solid"/>
          </a:ln>
        </p:spPr>
      </p:sp>
      <p:sp>
        <p:nvSpPr>
          <p:cNvPr id="15" name="Shape 13"/>
          <p:cNvSpPr/>
          <p:nvPr/>
        </p:nvSpPr>
        <p:spPr>
          <a:xfrm>
            <a:off x="11292840" y="3913632"/>
            <a:ext cx="256032" cy="256032"/>
          </a:xfrm>
          <a:prstGeom prst="ellipse">
            <a:avLst/>
          </a:prstGeom>
          <a:solidFill>
            <a:srgbClr val="37415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מכאן הבסיס לחשיבה מערכתית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המספר המדויק מהפרק הוא 23.7%-27.8% הקשורים למיומנות טכנית. זהו הבסיס המרכזי לטיעון בעד חשיבה מערכתית - גם מנתח שמבצע ניתוח בצורה מושלמת ימנע רק חלק קטן מהשגיאות, כי רוב השגיאות מקורן בגורמים אחרים: אחיות, מרדימים, טכנאי ציוד, ותהליכים ארגוניים.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חשיבה מערכתית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גישה המכירה בכך שרוב שגיאות בבריאות (כ-75% בנוירוכירורגיה) נובעות מגורמים מחוץ לשליטת המנתח הבודד, ולכן פתרונות אמיתיים חייבים להתייחס למערכת כולה.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תזמורת: גם אם הכנר הראשי (המנתח) מנגן בצורה מושלמת, קונצרט גרוע יכול לקרות בגלל תופף שלא בקצב, ניצוח לקוי, או אקוסטיקה גרועה באולם - כלומר הרוב המכריע של גורמי הכישלון האפשריים אינם קשורים לכנר הראשי כלל.</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ממצא זה משמעותי כל כך למדיניות בטיחות המטופל?</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כלי איתור</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ההבדל המרכזי בין ביצועי ה-Global Trigger Tool לבין מדדי ה-AHRQ המובנים בזיהוי אירועים שליליים?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 הכלים זהים לחלוטין בביצועיהם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AHRQ עדיף בכל הפרמטרים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Global Trigger Tool נחות בכל הפרמטרים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ל-Global Trigger Tool רגישות וסגוליות גבוהות מאוד (94.9%/100%) אך הוא עתיר עבודה; ל-AHRQ סגוליות גבוהה (98.5%) אך רגישות עלובה (5.8%), כלומר הוא מפספס רוב האירועים</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כלי איתור</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ל-Global Trigger Tool רגישות וסגוליות גבוהות מאוד (94.9%/100%) אך הוא עתיר עבודה; ל-AHRQ סגוליות גבוהה (98.5%) אך רגישות עלובה (5.8%), כלומר הוא מפספס רוב האירועים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47857">
              <a:alpha val="12000"/>
            </a:srgbClr>
          </a:solidFill>
          <a:ln w="15875">
            <a:solidFill>
              <a:srgbClr val="047857"/>
            </a:solidFill>
            <a:prstDash val="solid"/>
          </a:ln>
        </p:spPr>
      </p:sp>
      <p:sp>
        <p:nvSpPr>
          <p:cNvPr id="7" name="Shape 5"/>
          <p:cNvSpPr/>
          <p:nvPr/>
        </p:nvSpPr>
        <p:spPr>
          <a:xfrm>
            <a:off x="11292840" y="2176272"/>
            <a:ext cx="256032" cy="256032"/>
          </a:xfrm>
          <a:prstGeom prst="ellipse">
            <a:avLst/>
          </a:prstGeom>
          <a:solidFill>
            <a:srgbClr val="04785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GTT: רגישות/סגוליות גבוהות מאוד, אך יקר בזמן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7F1D1D">
              <a:alpha val="12000"/>
            </a:srgbClr>
          </a:solidFill>
          <a:ln w="15875">
            <a:solidFill>
              <a:srgbClr val="7F1D1D"/>
            </a:solidFill>
            <a:prstDash val="solid"/>
          </a:ln>
        </p:spPr>
      </p:sp>
      <p:sp>
        <p:nvSpPr>
          <p:cNvPr id="11" name="Shape 9"/>
          <p:cNvSpPr/>
          <p:nvPr/>
        </p:nvSpPr>
        <p:spPr>
          <a:xfrm>
            <a:off x="11292840" y="3044952"/>
            <a:ext cx="256032" cy="256032"/>
          </a:xfrm>
          <a:prstGeom prst="ellipse">
            <a:avLst/>
          </a:prstGeom>
          <a:solidFill>
            <a:srgbClr val="7F1D1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AHRQ: סגולי מאוד אך רגיש מעט - מפספס אירועים רבים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374151">
              <a:alpha val="12000"/>
            </a:srgbClr>
          </a:solidFill>
          <a:ln w="15875">
            <a:solidFill>
              <a:srgbClr val="374151"/>
            </a:solidFill>
            <a:prstDash val="solid"/>
          </a:ln>
        </p:spPr>
      </p:sp>
      <p:sp>
        <p:nvSpPr>
          <p:cNvPr id="15" name="Shape 13"/>
          <p:cNvSpPr/>
          <p:nvPr/>
        </p:nvSpPr>
        <p:spPr>
          <a:xfrm>
            <a:off x="11292840" y="3913632"/>
            <a:ext cx="256032" cy="256032"/>
          </a:xfrm>
          <a:prstGeom prst="ellipse">
            <a:avLst/>
          </a:prstGeom>
          <a:solidFill>
            <a:srgbClr val="37415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אין כלי מושלם - יש לשלב שיטות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ה-Global Trigger Tool מציג רגישות של 94.9% וסגוליות של 100%, אך הוא מסורבל וגוזל זמן רב - לא מעשי בנפח מטופלים גדול. לעומת זאת מדדי ה-AHRQ המובנים מציגים סגוליות מרשימה (98.5%) אך רגישות עלובה (5.8%) - כלומר רוב האירועים השליליים בפועל כלל אינם מזוהים על ידם. זו הסיבה שבפועל נהוג לשלב כמה שיטות זיהוי במקביל.</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רגישות וסגוליות בכלי איתור בטיחות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רגישות גבוהה = מזהה רוב האירועים האמיתיים (מעט false negative). סגוליות גבוהה = כמעט לא מזהה אירועים שאינם אמיתיים (מעט false positive). כלי אידיאלי משלב את שניהם, אך בפועל יש תמיד פשרה.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שומרי סף שונים בכניסה למועדון: האחד (GTT) בודק כל אורח ביסודיות אך לוקח לו הרבה זמן לכל אורח - כמעט אף פעם לא מכניס מישהו לא ראוי, וגם כמעט לא מפספס אף מוזמן אמיתי. השני (AHRQ) בודק רק תג כניסה קצר - כמעט אף פעם לא טועה כשהוא כן עוצר מישהו, אבל מפספס רוב האורחים הלא-ראויים כי לא מספיק לבדוק את כולם.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שכלי מסוים "סגולי" אך לא "רגיש"?</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מניעת ניתוח באתר שגוי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מצא המחקר הפיילוט הרב-מרכזי (Haynes et al., 2009) על רשימת התיוג הניתוחית של ה-WHO משנת 2008?</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הפחתה של 4% בסיבוכים ו-0.7% בתמותה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 שינוי מדיד בתוצאות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הפחתה בתמותה בלבד, ללא כל שינוי בשיעור הסיבוכים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בסיבוכים עקב עומס בירוקרטי נוסף</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מניעת ניתוח באתר שגוי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הפחתה של 4% בסיבוכים ו-0.7% בתמותה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47857">
              <a:alpha val="12000"/>
            </a:srgbClr>
          </a:solidFill>
          <a:ln w="15875">
            <a:solidFill>
              <a:srgbClr val="047857"/>
            </a:solidFill>
            <a:prstDash val="solid"/>
          </a:ln>
        </p:spPr>
      </p:sp>
      <p:sp>
        <p:nvSpPr>
          <p:cNvPr id="7" name="Shape 5"/>
          <p:cNvSpPr/>
          <p:nvPr/>
        </p:nvSpPr>
        <p:spPr>
          <a:xfrm>
            <a:off x="11292840" y="2176272"/>
            <a:ext cx="256032" cy="256032"/>
          </a:xfrm>
          <a:prstGeom prst="ellipse">
            <a:avLst/>
          </a:prstGeom>
          <a:solidFill>
            <a:srgbClr val="04785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4% הפחתה בסיבוכים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0.7% הפחתה בתמותה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374151">
              <a:alpha val="12000"/>
            </a:srgbClr>
          </a:solidFill>
          <a:ln w="15875">
            <a:solidFill>
              <a:srgbClr val="374151"/>
            </a:solidFill>
            <a:prstDash val="solid"/>
          </a:ln>
        </p:spPr>
      </p:sp>
      <p:sp>
        <p:nvSpPr>
          <p:cNvPr id="15" name="Shape 13"/>
          <p:cNvSpPr/>
          <p:nvPr/>
        </p:nvSpPr>
        <p:spPr>
          <a:xfrm>
            <a:off x="11292840" y="3913632"/>
            <a:ext cx="256032" cy="256032"/>
          </a:xfrm>
          <a:prstGeom prst="ellipse">
            <a:avLst/>
          </a:prstGeom>
          <a:solidFill>
            <a:srgbClr val="37415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נבנתה כתגובה לניתוחים באתר שגוי בכל הדיסציפלינות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המחקר הפיילוט הרב-מרכזי שבחן את רשימת התיוג בת ה-19 הסעיפים מצא הפחתה משמעותית: 4% פחות סיבוכים ו-0.7% פחות תמותה. תוצאה זו הובילה לאימוץ נרחב של רשימות תיוג וזמני time-out בתוכניות נוירוכירורגיות ובהתמחויות כירורגיות רבות אחרות ברחבי העולם.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WHO Surgical Safety Checklist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רשימת תיוג תלת-שלבית (לפני הרדמה, לפני החתך, לפני היציאה מחדר הניתוח) שפותחה ב-2008 לשיפור תקשורת הצוות ומניעת אירועים שליליים ניתוחיים.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טייס לפני המראה - הוא לא סומך על הזיכרון שלו, אלא עובר רשימת בדיקה קבועה בקול רם עם הצוות. רשימת ה-WHO מיישמת את אותו עיקרון בחדר הניתוח.</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רשימת תיוג פשוטה כל כך משיגה תוצאה כה משמעותית?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מניעת ניתוח באתר שגוי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הפרק, מהו מקומה של הנוירוכירורגיה בדירוג ההתמחויות עם השכיחות הגבוהה ביותר לניתוח באתר או ברמה שגויים, ומה הגורם העיקרי לכך?</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מקום ראשון; הגורם העיקרי הוא חוסר ניסיון של מנתחים צעירים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מקום אחרון מבין ההתמחויות; הגורם העיקרי הוא ציוד לא תקין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מקום שלישי, אחרי אורתופדיה וכירורגיה כללית; הגורם העיקרי הוא כשל תקשורתי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כלל דיווח על ניתוחים באתר שגוי בנוירוכירורגיה</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מניעת ניתוח באתר שגוי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מקום שלישי, אחרי אורתופדיה וכירורגיה כללית; הגורם העיקרי הוא כשל תקשורתי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E3A8A">
              <a:alpha val="12000"/>
            </a:srgbClr>
          </a:solidFill>
          <a:ln w="15875">
            <a:solidFill>
              <a:srgbClr val="1E3A8A"/>
            </a:solidFill>
            <a:prstDash val="solid"/>
          </a:ln>
        </p:spPr>
      </p:sp>
      <p:sp>
        <p:nvSpPr>
          <p:cNvPr id="7" name="Shape 5"/>
          <p:cNvSpPr/>
          <p:nvPr/>
        </p:nvSpPr>
        <p:spPr>
          <a:xfrm>
            <a:off x="11292840" y="2176272"/>
            <a:ext cx="256032" cy="256032"/>
          </a:xfrm>
          <a:prstGeom prst="ellipse">
            <a:avLst/>
          </a:prstGeom>
          <a:solidFill>
            <a:srgbClr val="1E3A8A"/>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מקום 3 - אחרי אורתופדיה וכירורגיה כללית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7F1D1D">
              <a:alpha val="12000"/>
            </a:srgbClr>
          </a:solidFill>
          <a:ln w="15875">
            <a:solidFill>
              <a:srgbClr val="7F1D1D"/>
            </a:solidFill>
            <a:prstDash val="solid"/>
          </a:ln>
        </p:spPr>
      </p:sp>
      <p:sp>
        <p:nvSpPr>
          <p:cNvPr id="11" name="Shape 9"/>
          <p:cNvSpPr/>
          <p:nvPr/>
        </p:nvSpPr>
        <p:spPr>
          <a:xfrm>
            <a:off x="11292840" y="3044952"/>
            <a:ext cx="256032" cy="256032"/>
          </a:xfrm>
          <a:prstGeom prst="ellipse">
            <a:avLst/>
          </a:prstGeom>
          <a:solidFill>
            <a:srgbClr val="7F1D1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גורם עיקרי: כשל תקשורתי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11827">
              <a:alpha val="12000"/>
            </a:srgbClr>
          </a:solidFill>
          <a:ln w="15875">
            <a:solidFill>
              <a:srgbClr val="111827"/>
            </a:solidFill>
            <a:prstDash val="solid"/>
          </a:ln>
        </p:spPr>
      </p:sp>
      <p:sp>
        <p:nvSpPr>
          <p:cNvPr id="15" name="Shape 13"/>
          <p:cNvSpPr/>
          <p:nvPr/>
        </p:nvSpPr>
        <p:spPr>
          <a:xfrm>
            <a:off x="11292840" y="3913632"/>
            <a:ext cx="256032" cy="256032"/>
          </a:xfrm>
          <a:prstGeom prst="ellipse">
            <a:avLst/>
          </a:prstGeom>
          <a:solidFill>
            <a:srgbClr val="11182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מוגדר "אירוע חוד" (sentinel event)</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נוירוכירורגיה היא ההתמחות השלישית בשכיחותה לביצוע ניתוח באתר/ברמה שגויים, אחרי אורתופדיה וכירורגיה כללית. האטיולוגיה נובעת בעיקר מכשל תקשורתי בצוות - לא מחוסר ניסיון או ציוד לקוי - מה שהוביל לפיתוח נהלי time-out ורשימות תיוג פורמליים כפתרון ממוקד.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אירוע חוד (Sentinel Event)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אירוע שלילי חמור, כמו ניתוח בצד/ברמה שגויים, המסווג על ידי The Joint Commission וחייב בדיווח רשמי למדינה.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שלוש קבוצות שרירים בתחרות מחוץ למגרש - אורתופדיה מובילה, כירורגיה כללית קרובה מאחור, ונוירוכירורגיה שלישית - כולן "מתחרות" על אותה בעיה, כשל תקשורת צוות, ולא על מיומנות טכנית של מנתח בודד.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שהגורם העיקרי הוא תקשורתי ולא טכני?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ריכוזיות טיפול</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מחקר על כריתת כיס מרה לפרוסקופית הראה כי הסיכוי לפגיעה באיברים הוא 1.7% בניתוח הראשון של המנתח לעומת 0.17% בניתוח ה-50. מה התופעה הזו ממחישה, ולמה אי אפשר לייחס אותה למנתח בלבד?&lt;/p&gt;</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זו תופעה אקראית ללא הסבר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זו "עקומת למידה" הממחישה את קשר נפח-תוצאה - אך התוצאה תלויה גם בהרדמה מומחית, סיעוד ומדיניות בית החולים, לא רק בניסיון המנתח האישי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התופעה מוכיחה שנפח ניתוחי אינו קשור לתוצאה קלינית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זו תופעה הקשורה אך ורק לציוד, ללא קשר לניסיון</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ריכוזיות טיפול</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זו "עקומת למידה" הממחישה את קשר נפח-תוצאה - אך התוצאה תלויה גם בהרדמה מומחית, סיעוד ומדיניות בית החולים, לא רק בניסיון המנתח האישי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4532D">
              <a:alpha val="12000"/>
            </a:srgbClr>
          </a:solidFill>
          <a:ln w="15875">
            <a:solidFill>
              <a:srgbClr val="14532D"/>
            </a:solidFill>
            <a:prstDash val="solid"/>
          </a:ln>
        </p:spPr>
      </p:sp>
      <p:sp>
        <p:nvSpPr>
          <p:cNvPr id="7" name="Shape 5"/>
          <p:cNvSpPr/>
          <p:nvPr/>
        </p:nvSpPr>
        <p:spPr>
          <a:xfrm>
            <a:off x="11292840" y="2176272"/>
            <a:ext cx="256032" cy="256032"/>
          </a:xfrm>
          <a:prstGeom prst="ellipse">
            <a:avLst/>
          </a:prstGeom>
          <a:solidFill>
            <a:srgbClr val="1453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עקומת למידה - חלק מקשר נפח-תוצאה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 רק המנתח - גם הרדמה, סיעוד, מדיניות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374151">
              <a:alpha val="12000"/>
            </a:srgbClr>
          </a:solidFill>
          <a:ln w="15875">
            <a:solidFill>
              <a:srgbClr val="374151"/>
            </a:solidFill>
            <a:prstDash val="solid"/>
          </a:ln>
        </p:spPr>
      </p:sp>
      <p:sp>
        <p:nvSpPr>
          <p:cNvPr id="15" name="Shape 13"/>
          <p:cNvSpPr/>
          <p:nvPr/>
        </p:nvSpPr>
        <p:spPr>
          <a:xfrm>
            <a:off x="11292840" y="3913632"/>
            <a:ext cx="256032" cy="256032"/>
          </a:xfrm>
          <a:prstGeom prst="ellipse">
            <a:avLst/>
          </a:prstGeom>
          <a:solidFill>
            <a:srgbClr val="37415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בסיס לטיעון בעד ריכוזיות טיפול</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הפרק משתמש בדוגמה זו כדי להמחיש עקומת למידה - אחד ההסברים לקשר נפח-תוצאה. אבל הפרק מדגיש שהתוצאה אינה תלויה רק בעקומת הלמידה האישית של המנתח - גם ההרדמה המומחית, הסיעוד, מדיניות בית החולים וטכנאי החדר תורמים לתוצאה הטובה יותר במרכזים בעלי נפח גבוה. זו הסיבה שהמסקנה המעשית היא ריכוזיות טיפול (regionalization) ולא רק "תרגול אישי" של המנתח.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קשר נפח-תוצאה (Volume-Outcome Relationship)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תופעה של תחלואה ותמותה מופחתות במרכזים/מנתחים בעלי נפח פרוצדורות גבוה, המיוחסת הן לעקומת למידה אישית והן לתשתית התומכת של המערכת כולה.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מסעדה חדשה מול מסעדה ותיקה עם 20 שנות ניסיון: לא רק השף השתפר עם הזמן, אלא כל הצוות - המלצרים, מנהל המטבח, שרשרת האספקה - כולם התמקצעו יחד. אי אפשר לייחס את השיפור רק לשף.</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המסקנה המדיניותית המעשית מקשר נפח-תוצאה?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מניעת זיהומים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רמת הראיות היחסית לשתי שיטות המניעה העיקריות ל-SSI שמוזכרות בפרק: אנטיביוטיקה טרום-ניתוחית לעומת אבקת ונקומיצין בפצע?&lt;/p&gt;</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שתיהן בעלות עדות מוצקה וזהה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אף אחת מהן אינה יעילה כלל</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ונקומיצין באבקה הוא הסטנדרט המוכח, אנטיביוטיקה טרום-ניתוחית שנויה במחלוקת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אנטיביוטיקה טרום-ניתוחית בזמן היא בעלת עדות מוצקה, ואילו הממצא החיובי לונקומיצין באבקה (יחס סיכויים 0.19) לא שוחזר במחקרים נוספים</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מניעת זיהומים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אנטיביוטיקה טרום-ניתוחית בזמן היא בעלת עדות מוצקה, ואילו הממצא החיובי לונקומיצין באבקה (יחס סיכויים 0.19) לא שוחזר במחקרים נוספים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047857">
              <a:alpha val="12000"/>
            </a:srgbClr>
          </a:solidFill>
          <a:ln w="15875">
            <a:solidFill>
              <a:srgbClr val="047857"/>
            </a:solidFill>
            <a:prstDash val="solid"/>
          </a:ln>
        </p:spPr>
      </p:sp>
      <p:sp>
        <p:nvSpPr>
          <p:cNvPr id="7" name="Shape 5"/>
          <p:cNvSpPr/>
          <p:nvPr/>
        </p:nvSpPr>
        <p:spPr>
          <a:xfrm>
            <a:off x="11292840" y="2176272"/>
            <a:ext cx="256032" cy="256032"/>
          </a:xfrm>
          <a:prstGeom prst="ellipse">
            <a:avLst/>
          </a:prstGeom>
          <a:solidFill>
            <a:srgbClr val="04785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אנטיביוטיקה בזמן: עדות מוצקה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713F12">
              <a:alpha val="12000"/>
            </a:srgbClr>
          </a:solidFill>
          <a:ln w="15875">
            <a:solidFill>
              <a:srgbClr val="713F12"/>
            </a:solidFill>
            <a:prstDash val="solid"/>
          </a:ln>
        </p:spPr>
      </p:sp>
      <p:sp>
        <p:nvSpPr>
          <p:cNvPr id="11" name="Shape 9"/>
          <p:cNvSpPr/>
          <p:nvPr/>
        </p:nvSpPr>
        <p:spPr>
          <a:xfrm>
            <a:off x="11292840" y="3044952"/>
            <a:ext cx="256032" cy="256032"/>
          </a:xfrm>
          <a:prstGeom prst="ellipse">
            <a:avLst/>
          </a:prstGeom>
          <a:solidFill>
            <a:srgbClr val="713F1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ונקומיצין באבקה: תוצאה ראשונית טובה, לא שוחזרה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374151">
              <a:alpha val="12000"/>
            </a:srgbClr>
          </a:solidFill>
          <a:ln w="15875">
            <a:solidFill>
              <a:srgbClr val="374151"/>
            </a:solidFill>
            <a:prstDash val="solid"/>
          </a:ln>
        </p:spPr>
      </p:sp>
      <p:sp>
        <p:nvSpPr>
          <p:cNvPr id="15" name="Shape 13"/>
          <p:cNvSpPr/>
          <p:nvPr/>
        </p:nvSpPr>
        <p:spPr>
          <a:xfrm>
            <a:off x="11292840" y="3913632"/>
            <a:ext cx="256032" cy="256032"/>
          </a:xfrm>
          <a:prstGeom prst="ellipse">
            <a:avLst/>
          </a:prstGeom>
          <a:solidFill>
            <a:srgbClr val="37415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רשימות תיוג מפחיתות SSI בעקיפין</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הפרק מבחין בבירור ברמת הראיות: אנטיביוטיקה טרום-ניתוחית שניתנת בזמן הוכחה ברציפות כמפחיתה סיכון SSI. לעומת זאת, מחקר אחד הראה שאבקת ונקומיצין בפצע (בעיקר בעמוד שדרה) מפחיתה סיכון ליחס סיכויים של 0.19, אך תוצאה זו לא שוחזרה בעקביות במחקרי המשך - כלומר רמת הביטחון בה נמוכה יותר.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מניעת SSI</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שילוב של אנטיביוטיקה טרום-ניתוחית בזמן (עדות חזקה), טכניקות ניתוחיות (ונקומיצין, NPWT, דבק), ושליטה בקומורבידיות - עם רמות ראיות שונות לכל שיטה.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תרופות בבדיקה קלינית: אחת עברה עשרות ניסויים חוזרים עם תוצאה עקבית (אנטיביוטיקה), והשנייה הראתה תוצאה מבטיחה בניסוי אחד אך נכשלה לחזור על עצמה בניסויים הבאים (ונקומיצין) - שתיהן "מוזכרות בספרות", אך רמת האמון בהן שונה מאוד.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להבחין ברמת הראיות בין שתי ההתערבויות?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סיבוך</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אירוע שלילי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שגיאה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near miss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שגיאה אקטיבית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שגיאה לטנטית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James Reason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sharp end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blunt end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חשיבה מערכתית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מיומנות טכנית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שגיאות נוירוכירורגיות</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2026-09-20T23:54:58Z</dcterms:created>
  <dcterms:modified xsi:type="dcterms:W3CDTF">2026-09-20T23:54:58Z</dcterms:modified>
</cp:coreProperties>
</file>