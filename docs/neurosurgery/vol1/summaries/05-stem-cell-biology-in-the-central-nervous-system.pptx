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B2A"/>
        </a:solidFill>
      </p:bgPr>
    </p:bg>
    <p:spTree>
      <p:nvGrpSpPr>
        <p:cNvPr id="1" name=""/>
        <p:cNvGrpSpPr/>
        <p:nvPr/>
      </p:nvGrpSpPr>
      <p:grpSpPr>
        <a:xfrm>
          <a:off x="0" y="0"/>
          <a:ext cx="0" cy="0"/>
          <a:chOff x="0" y="0"/>
          <a:chExt cx="0" cy="0"/>
        </a:xfrm>
      </p:grpSpPr>
      <p:sp>
        <p:nvSpPr>
          <p:cNvPr id="2" name="Shape 0"/>
          <p:cNvSpPr/>
          <p:nvPr/>
        </p:nvSpPr>
        <p:spPr>
          <a:xfrm>
            <a:off x="5559552" y="640080"/>
            <a:ext cx="1078992" cy="1078992"/>
          </a:xfrm>
          <a:prstGeom prst="ellipse">
            <a:avLst/>
          </a:prstGeom>
          <a:ln w="38100">
            <a:solidFill>
              <a:srgbClr val="1C7293"/>
            </a:solidFill>
            <a:prstDash val="solid"/>
          </a:ln>
        </p:spPr>
      </p:sp>
      <p:sp>
        <p:nvSpPr>
          <p:cNvPr id="3" name="Shape 1"/>
          <p:cNvSpPr/>
          <p:nvPr/>
        </p:nvSpPr>
        <p:spPr>
          <a:xfrm>
            <a:off x="5788152" y="868680"/>
            <a:ext cx="621792" cy="621792"/>
          </a:xfrm>
          <a:prstGeom prst="ellipse">
            <a:avLst/>
          </a:prstGeom>
          <a:solidFill>
            <a:srgbClr val="1C7293"/>
          </a:solidFill>
          <a:ln/>
        </p:spPr>
      </p:sp>
      <p:sp>
        <p:nvSpPr>
          <p:cNvPr id="4" name="Text 2"/>
          <p:cNvSpPr/>
          <p:nvPr/>
        </p:nvSpPr>
        <p:spPr>
          <a:xfrm>
            <a:off x="914400" y="2103120"/>
            <a:ext cx="10360152" cy="914400"/>
          </a:xfrm>
          <a:prstGeom prst="rect">
            <a:avLst/>
          </a:prstGeom>
          <a:noFill/>
          <a:ln/>
        </p:spPr>
        <p:txBody>
          <a:bodyPr wrap="square" rtlCol="0" anchor="ctr"/>
          <a:lstStyle/>
          <a:p>
            <a:pPr rtl="1" algn="ctr" indent="0" marL="0">
              <a:buNone/>
            </a:pPr>
            <a:r>
              <a:rPr lang="en-US" sz="4400" b="1" dirty="0">
                <a:solidFill>
                  <a:srgbClr val="FFFFFF"/>
                </a:solidFill>
                <a:latin typeface="Calibri" pitchFamily="34" charset="0"/>
                <a:ea typeface="Calibri" pitchFamily="34" charset="-122"/>
                <a:cs typeface="Calibri" pitchFamily="34" charset="-120"/>
              </a:rPr>
              <a:t>נוירוכירורגיה</a:t>
            </a:r>
            <a:endParaRPr lang="en-US" sz="4400" dirty="0"/>
          </a:p>
        </p:txBody>
      </p:sp>
      <p:sp>
        <p:nvSpPr>
          <p:cNvPr id="5" name="Text 3"/>
          <p:cNvSpPr/>
          <p:nvPr/>
        </p:nvSpPr>
        <p:spPr>
          <a:xfrm>
            <a:off x="914400" y="3017520"/>
            <a:ext cx="10360152" cy="640080"/>
          </a:xfrm>
          <a:prstGeom prst="rect">
            <a:avLst/>
          </a:prstGeom>
          <a:noFill/>
          <a:ln/>
        </p:spPr>
        <p:txBody>
          <a:bodyPr wrap="square" rtlCol="0" anchor="ctr"/>
          <a:lstStyle/>
          <a:p>
            <a:pPr rtl="1" algn="ctr" indent="0" marL="0">
              <a:buNone/>
            </a:pPr>
            <a:r>
              <a:rPr lang="en-US" sz="2400" dirty="0">
                <a:solidFill>
                  <a:srgbClr val="93C5FD"/>
                </a:solidFill>
                <a:latin typeface="Calibri" pitchFamily="34" charset="0"/>
                <a:ea typeface="Calibri" pitchFamily="34" charset="-122"/>
                <a:cs typeface="Calibri" pitchFamily="34" charset="-120"/>
              </a:rPr>
              <a:t>פרק 5: ביולוגיית תאי גזע במערכת העצבים המרכזית</a:t>
            </a:r>
            <a:endParaRPr lang="en-US" sz="2400" dirty="0"/>
          </a:p>
        </p:txBody>
      </p:sp>
      <p:sp>
        <p:nvSpPr>
          <p:cNvPr id="6" name="Text 4"/>
          <p:cNvSpPr/>
          <p:nvPr/>
        </p:nvSpPr>
        <p:spPr>
          <a:xfrm>
            <a:off x="914400" y="3657600"/>
            <a:ext cx="10360152" cy="457200"/>
          </a:xfrm>
          <a:prstGeom prst="rect">
            <a:avLst/>
          </a:prstGeom>
          <a:noFill/>
          <a:ln/>
        </p:spPr>
        <p:txBody>
          <a:bodyPr wrap="square" rtlCol="0" anchor="ctr"/>
          <a:lstStyle/>
          <a:p>
            <a:pPr algn="ctr" indent="0" marL="0">
              <a:buNone/>
            </a:pPr>
            <a:r>
              <a:rPr lang="en-US" sz="1500" i="1" dirty="0">
                <a:solidFill>
                  <a:srgbClr val="7DD3FC"/>
                </a:solidFill>
                <a:latin typeface="Calibri" pitchFamily="34" charset="0"/>
                <a:ea typeface="Calibri" pitchFamily="34" charset="-122"/>
                <a:cs typeface="Calibri" pitchFamily="34" charset="-120"/>
              </a:rPr>
              <a:t>Stem Cell Biology in the Central Nervous System  ·  Youmans Neurological Surgery</a:t>
            </a:r>
            <a:endParaRPr lang="en-US" sz="1500" dirty="0"/>
          </a:p>
        </p:txBody>
      </p:sp>
      <p:sp>
        <p:nvSpPr>
          <p:cNvPr id="7" name="Text 5"/>
          <p:cNvSpPr/>
          <p:nvPr/>
        </p:nvSpPr>
        <p:spPr>
          <a:xfrm>
            <a:off x="914400" y="5943600"/>
            <a:ext cx="10360152" cy="548640"/>
          </a:xfrm>
          <a:prstGeom prst="rect">
            <a:avLst/>
          </a:prstGeom>
          <a:noFill/>
          <a:ln/>
        </p:spPr>
        <p:txBody>
          <a:bodyPr wrap="square" rtlCol="0" anchor="ctr"/>
          <a:lstStyle/>
          <a:p>
            <a:pPr rtl="1" algn="ctr" indent="0" marL="0">
              <a:buNone/>
            </a:pPr>
            <a:r>
              <a:rPr lang="en-US" sz="1250" dirty="0">
                <a:solidFill>
                  <a:srgbClr val="64748B"/>
                </a:solidFill>
                <a:latin typeface="Calibri" pitchFamily="34" charset="0"/>
                <a:ea typeface="Calibri" pitchFamily="34" charset="-122"/>
                <a:cs typeface="Calibri" pitchFamily="34" charset="-120"/>
              </a:rPr>
              <a:t>8 כרטיסיות תרגול · שאלה ואז תשובה מלאה בכל כרטיסייה · לסטטיסטיקה חיה השתמשי באפליקציית ה-HTML</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האזור התת-חדרי (SVZ)</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1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תלמידה לומדת שבתוך האזור התת-חדרי (Subventricular Zone, SVZ) קיימת היררכיה של שלושה סוגי תאים (B, C, A) שמובילה בסופו של דבר להיווצרות נוירונים בבולבוס האולפקטורי. איזה תיאור נכון ביותר מתאר את סדר ההתמיינות ואת התפקיד הייחודי של כל סוג תא?</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תאי B הם הפרוגניטורים המתחלקים במהירות הגבוהה ביותר, ומהם נוצרים ישירות נוירובלסטים (A) שמתמיינים לתאי אפנדימה</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תאי C הם תאי הגזע האמיתיים (GFAP+), ומהם נוצרים תאי B שהם תאים חולפים בעלי קצב חלוקה גבוה</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תאי B (אסטרוציטים חולקים באיטיות, GFAP+/PSA-NCAM+) הם תאי הגזע האמיתיים; הם מייצרים א-סימטרית תאי C (transit-amplifying, GFAP-/PSA-NCAM-) שמתחלקים מהר לתקופה קצרה; ואלה מייצרים תאי A (נוירובלסטים נודדים) שנעים דרך ה-RMS לבולבוס האולפקטורי</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תאי A הם תאי הגזע הראשוניים שמקורם ישירות מתאי האפנדימה המצפים את החדר הצדדי</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האזור התת-חדרי (SVZ)</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תאי B (אסטרוציטים חולקים באיטיות, GFAP+/PSA-NCAM+) הם תאי הגזע האמיתיים; הם מייצרים א-סימטרית תאי C (transit-amplifying, GFAP-/PSA-NCAM-) שמתחלקים מהר לתקופה קצרה; ואלה מייצרים תאי A (נוירובלסטים נודדים) שנעים דרך ה-RMS לבולבוס האולפקטורי</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תאי B הם האסטרוציטים המצפים את ה-SVZ (GFAP+/PSA-NCAM+), מתחלקים באיטיות - אוכלוסיית תאי הגזע האמיתית, שמקורה בגליה רדיאלית עוברית</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תא B מתחלק א-סימטרית: בת אחת נשארת אסטרוציט B (שימור עצמי), השנייה הופכת לתא C (transit-amplifying, GFAP-/PSA-NCAM-, קצב מיטוזה גבוה לזמן קצר)</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תאי C מייצרים תאי A (נוירובלסטים נודדים, מסומנים ב-doublecortin)</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תאי A נודדים דרך ה-RMS (Rostral Migratory Stream) לבולבוס האולפקטורי ומתמיינים לאינטרנוירונים מעכבים (תאי גרנולה ופריגלומרולריים)</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תאי B הם תא הגזע האמיתי, מייצרים C ואז A בשרשרת. תשובה 0 הפוכה - B אינם המהירים ביותר, ו-A אינם הופכים לאפנדימה. תשובה 1 הפוכה - C אינם תא הגזע, B הוא תא הגזע. תשובה 3 שגויה - תאי האפנדימה נחשדו בעבר כתא הגזע אך התברר שדווקא תאי B (לא האפנדימה) הם אוכלוסיית ה-NSC המקובלת.</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RMS (Rostral Migratory Stream)</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מסלול הנדידה שדרכו נעים נוירובלסטים שמקורם ב-SVZ באופן טנגנציאלי לכיוון הבולבוס האולפקטורי, ולאחר ההגעה עוברים למיגרציה רדיאלית.</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מפעל משפחתי: הסבתא (תא B) איטית אך יציבה, לעולם לא עוזבת את הבית ותמיד מולידה עוד ילד אחד שיישאר במקומה. הבן שלה (תא C) הוא עובד זמני נמרץ שעובד בקצב מטורף לזמן קצר, ואז 'שולח' את הנכד (תא A) לצאת לדרך ארוכה (RMS) אל עיר רחוקה (הבולבוס האולפקטורי) כדי להתיישב שם.</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בכלל צריך שלוש רמות (B-&gt;C-&gt;A) ולא ישר B-&gt;A?</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B85042"/>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האזור התת-גרעיני (SGZ) בהיפוקמפוס</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2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באזור התת-גרעיני (Subgranular Zone, SGZ) של ההיפוקמפוס, איזה תיאור נכון ביותר לגבי מקור הנוירונים החדשים ויעדם התפקודי?</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תאי B (אסטרוציטים GFAP+) מייצרים תאי D (ביניים, PSA-NCAM+/DCX+, פחות מיטוטיים מתאי C ב-SVZ) שמתמיינים לתאי גרנולה מעוררים המשלחים סיבי mossy fiber לאזור CA3 בהיפוקמפוס</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תאי D הם תאי הגזע העיקריים, ומהם נוצרים תאי B שנודדים אל הבולבוס האולפקטורי</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הנוירונים החדשים ב-SGZ הם תמיד מעכבים (inhibitory) וממלאים תפקיד זהה לאלה שנוצרים ב-SVZ</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תאי הגרנולה החדשים נודדים מרחק ארוך מאוד (מספר סנטימטרים) לפני שהם משתלבים במעגל התפקודי</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B85042"/>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האזור התת-גרעיני (SGZ) בהיפוקמפוס</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תאי B (אסטרוציטים GFAP+) מייצרים תאי D (ביניים, PSA-NCAM+/DCX+, פחות מיטוטיים מתאי C ב-SVZ) שמתמיינים לתאי גרנולה מעוררים המשלחים סיבי mossy fiber לאזור CA3 בהיפוקמפוס</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תאי B (אסטרוציטים GFAP+) הם הפרוגניטור העיקרי ב-SGZ, אותה תוית 'B' כמו ב-SVZ אך שושלת המשך שונה</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תאי B מייצרים תאי D - ביניים, PSA-NCAM+/DCX+, אך פחות מיטוטיים מתאי C ב-SVZ (ולכן ההגברה המספרית מוגבלת יותר)</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תאי D מייצרים תאי גרנולה מעוררים שנודדים מרחק קצר בלבד לשכבת הגרנולה, קרוב מאוד למקורם האסטרוציטי (בניגוד לנוירובלסטים ב-SVZ שנודדים רחוק דרך ה-RMS)</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נוירוני הגרנולה הבשלים משלחים אקסונים (mossy fibers) לאזור CA3 - חלק מרכזי במעגל הזיכרון וההשתלבות התפקודית מתרחשת תוך כשבוע</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(0). תשובה 1 הפוכה - D אינם תא הגזע. תשובה 2 שגויה - תאי הגרנולה ב-SGZ הם מעוררים (excitatory), בניגוד לאינטרנוירונים המעכבים שנוצרים ב-SVZ. תשובה 3 שגויה - נוירוני ה-SGZ נודדים מרחק קצר בלבד, לא כמו הנוירובלסטים ב-SVZ שנודדים דרך כל ה-RMS.</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Mossy fibers</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האקסונים של תאי הגרנולה בגירוס המשונן, שיוצרים סינפסות עם נוירוני הפירמידה באזור CA3 - חוליה מרכזית במעגל הזיכרון הטריסינפטי של ההיפוקמפוס.</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בעוד שהמשפחה מ-SVZ שולחת את הנכד למסע ארוך, המשפחה מההיפוקמפוס (SGZ) מגדלת ילד שנשאר ממש ליד הבית וסתם שולח חוט טלפון אחד (mossy fiber) לשכן הקרוב (CA3).</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שדווקא נוירוני הגרנולה ב-SGZ (ולא רק תאי גליה) יתחדשו לאורך החיים?</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1295C"/>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אסטרוציטים כתאי גזע ומקור עוברי</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3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חוקרת בודקת את המקור ההתפתחותי של תאי B ב-SVZ הבוגר ומגלה שהם חולקים סמנים ומאפיינים מבניים (תהליך אפיקלי לחדר, ובחלקם תהליך בזאלי) עם אוכלוסיית תאים עוברית ספציפית. מהי אוכלוסיית התאים העוברית הזו, ומה המשמעות התפקודית של הממצא?</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נוירובלסטים עובריים - המשמעות היא שתאי B הם תמיד פוסט-מיטוטיים</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תאי גזע המטופויאטיים - המשמעות היא שמערכת החיסון מווסתת נוירוגנזה</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אוליגודנדרוציטים לא בוגרים - המשמעות היא שתאי B תמיד מייצרים מיאלין תחילה</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גליה רדיאלית (radial glia), תא הגזע העצבי העיקרי במוח הקדמי העוברי היונק - המשמעות היא שתכונת 'תא הגזע' של אסטרוציטים בוגרים אינה תופעה חדשה אלא המשך ישיר של תפקיד עוברי שנשמר לאורך החיים</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1295C"/>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אסטרוציטים כתאי גזע ומקור עוברי</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גליה רדיאלית (radial glia), תא הגזע העצבי העיקרי במוח הקדמי העוברי היונק - המשמעות היא שתכונת 'תא הגזע' של אסטרוציטים בוגרים אינה תופעה חדשה אלא המשך ישיר של תפקיד עוברי שנשמר לאורך החיים</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גליה רדיאלית היא תא הגזע העצבי העיקרי במוח הקדמי העוברי היונק, ומגעת לחדר דרך תהליך אפיקלי</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לגליה רדיאלית יש גם תהליך בזאלי המשתרע לפיה; חלק מתאי B ה-SVZ הבוגרים שומרים תהליך דומה (מקוצר)</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החתימה המבנית המשותפת תומכת ברציפות שושלתית: תאי B אינם 'תא גזע חדש' שהומצא בבגרות, אלא צאצא ישיר של הגליה הרדיאלית העוברית</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זה ממסגר מחדש את האסטרוציט - שנחשב פעם 'תא תמיכה/דבק' סופי - כתא בעל פוטנציאל פרוגניטורי מובנה, בזכות מגעיו הרבים עם כלי דם ותקשורת gap junction</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בהתאם לפרק. תשובה 0 שגויה - נוירובלסטים הם תוצר סופי, לא מקור. תשובה 1 ו-2 לא קשורות למקור ההתפתחותי המתואר בפרק.</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גליה רדיאלית (Radial glia)</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תאי פרוגניטור מוארכים ודו-קוטביים המשתרעים מפני החדר ועד הפיה בצינור העצבי העוברי, המשמשים גם כפיגום למיגרציית נוירונים וגם כתא הגזע העצבי העיקרי של המוח הקדמי המתפתח.</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תארי עמוד שדרה זקוף שמחזיק את כל הבניין מהמרתף (חדר) עד לגג (פיה) - זו הגליה הרדיאלית העוברית. גם אחרי שהבניין (המוח) כבר בנוי, חלק מ'עמודי השדרה' האלה לא נהרסים אלא 'מתקצרים' והופכים לאסטרוציטים B שממשיכים לתמוך - ומתברר שהם עדיין יודעים לבנות מחדש.</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זה מפתיע שאסטרוציט - שנחשב באופן מסורתי לתא נתמך/גלוי - משמש כתא גזע?</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6D2E46"/>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גליוגנזה וסמני OPC</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4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אילו משלושת הסמנים (NG2, PDGFR-α, A2B5) הכי קרוב לספק מידע תפקודי-סיבתי (ולא רק זיהוי) על תאי הפרוגניטור האוליגודנדרוציטים (OPC), ומדוע?</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A2B5 בלבד - כי הוא הסמן הכי ספציפי ל-OPC ואינו מבוטא באף תא אחר</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PDGFR-α - כי מחקרי knockout של PDGF-A מראים שהיעדרו גורם לירידה/היעלמות של תאי PDGFR-α+ ואוליגודנדרוציטים, היפומיאלינציה חמורה ופנוטיפ רעד - כלומר יש קשר סיבתי מוכח בין המסלול לגורל התאי</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NG2 בלבד - כי הוא סמן ספציפי אך ורק לתאי OPC ואינו מעורב באיתות</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אף אחד מהשלושה - כולם רק סמנים גנריים ללא קשר תפקודי</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6D2E46"/>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גליוגנזה וסמני OPC</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PDGFR-α - כי מחקרי knockout של PDGF-A מראים שהיעדרו גורם לירידה/היעלמות של תאי PDGFR-α+ ואוליגודנדרוציטים, היפומיאלינציה חמורה ופנוטיפ רעד - כלומר יש קשר סיבתי מוכח בין המסלול לגורל התאי</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PDGFR-α מסמן OPCs ומשתתף ישירות באיתות: הוא הקולטן ל-PDGF, מיטוגן ל-OPCs</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עכברי PDGF-A knockout מראים ירידה/היעלמות של פרוגניטורים PDGFR-α+ ואוליגודנדרוציטים, תלוי אזור</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האובדן הזה גורם להיפומיאלינציה חמורה ולפנוטיפ רעד גלוי קלינית - קשר סיבתי ולא רק מתאמי בין הסמן/מסלול לתוצאת המיאלינציה</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לעומת זאת A2B5 מסמן גם פרוגניטורים נוירונליים וחלק מהאסטרוציטים (לא ספציפי ל-OPC), ו-NG2, אף שנדרש לאיתות PDGF יעיל, בעיקר מציין זהות תאית ולא מניע לבדו את הגורל</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תשובה 0 שגויה - A2B5 אינו ספציפי, מבוטא גם בפרוגניטורים נוירונליים ואסטרוציטים מסוימים. תשובה 2 שגויה - NG2 אכן נדרש לאיתות PDGF יעיל, אך מסמן גם תת-אוכלוסיות גליאליות מובחנות אחרות, ואין לו קשר סיבתי מוכח עצמאי כמו PDGFR-α. תשובה 3 שגויה - יש בבירור מידע תפקודי, בעיקר דרך PDGFR-α.</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PDGFR-α</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קולטן טירוזין-קינאז על פני התא, שהליגנד שלו (PDGF) הוא מיטוגן לתאי OPC; מבוטא ביתר לאחר פגיעה ב-CNS.</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תארי את PDGFR-α ככפתור התנעה אמיתי במכונית (לא רק מדבקה על השמשה) - אם מסירים את הדלק (PDGF-A) שמפעיל את הכפתור, המכונית (תא ה-OPC) לא רק 'לא מזוהה' יותר - היא פשוט לא זזה, וכתוצאה מכך אין מיאלין ויש רעד.</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בכלל צריך שלושה סמנים חופפים חלקית לאותה אוכלוסייה?</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C5F2D"/>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תאי גזע בחוט השדרה ותלות בנישה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5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חוקרים מבודדים תאי גזע עצביים (NSCs) מחוט השדרה הבוגר של עכבר ובודקים את יכולתם בשני תנאים: (א) בתרבית in vitro, (ב) לאחר השתלה לתוך הגירוס המשונן (dentate gyrus) הנוירוגני. באיזה מהתנאים תאי הגזע מהחוט השדרה מסוגלים לייצר נוירונים, ומה זה מלמד על גורל התא?</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רק in vivo בחוט השדרה עצמו - מלמד שגורל התא נקבע אך ורק על ידי גורמים תוך-תאיים</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אף לא באחד מהתנאים - תאי הגזע של חוט השדרה הם glial-restricted לחלוטין ולעולם אינם יכולים לייצר נוירונים</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גם ב-in vitro וגם לאחר השתלה לגירוס המשונן, למרות שבתוך חוט השדרה עצמו (in vivo) הם glial-restricted - מלמד שהנישה קובעת את גורל התא לא פחות מגורמים תוך-תאיים</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רק לאחר השתלה לגירוס המשונן, אך לא ב-in vitro - מלמד שרק תנאי in vivo יכולים להשפיע על גורל התא</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C5F2D"/>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תאי גזע בחוט השדרה ותלות בנישה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גם ב-in vitro וגם לאחר השתלה לגירוס המשונן, למרות שבתוך חוט השדרה עצמו (in vivo) הם glial-restricted - מלמד שהנישה קובעת את גורל התא לא פחות מגורמים תוך-תאיים</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בנישה הטבעית שלהם (in vivo, חוט השדרה) תאי ה-NSC הם glial-restricted - אינם מייצרים נוירונים למרות היותם עצמם רב-פוטנטיים ומתחדשים עצמית</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אותם תאים בדיוק, מוצאים מהנישה וגדלים ב-in vitro, כן מסוגלים לייצר נוירונים - מוכיח שההגבלה אינה תכונה תוך-תאית קבועה</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כאשר מושתלים לגירוס המשונן הנוירוגני (נישה מתירנית), תאי הגזע מחוט השדרה שוב מייצרים נוירונים</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יחד, זה מראה שגורל התא נקבע גם על ידי גורמים תוך-תאיים וגם על ידי המיקרו-סביבה (ציטוקינים, גורמי גדילה, תאי אנדותל, אסטרוציטים) - הנישה יכולה 'לשחרר' פוטנציאל שהסביבה הטבעית מדכאת</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תשובה 0 הפוכה לחלוטין מהממצא. תשובה 1 שגויה - הם כן מייצרים נוירונים בשני התנאים האחרים. תשובה 3 שגויה - הם מייצרים נוירונים גם ב-in vitro, לא רק לאחר השתלה.</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Glial-restricted</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תיאור פרוגניטור שפוטנציאל ההתמיינות שלו in vivo מוגבל לשושלות גליאליות (אסטרוציטים/אוליגודנדרוציטים) בלבד, ואינו כולל נוירונים, גם אם בתנאים אחרים הוא שומר על פוטנציאל רחב יותר.</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תארי זרע שנשתל באדמה חולית מדברית (חוט השדרה) - הוא פשוט לא נובט (רק שורשים=גליה). אותו זרע בדיוק, אם מעבירים אותו לעציץ עם אדמה עשירה (גירוס משונן) או לחממה מבוקרת (in vitro), פתאום פורח לפרח מלא (נוירון). הזרע לא השתנה - האדמה כן.</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זה חשוב קלינית שגורל תאי הגזע תלוי בנישה ולא רק בזהות התא?</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990011"/>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תגובת תאי גזע/פרוגניטורים לפגיעה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6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לאחר פגיעה מוחית (טראומטית, איסכמית או כימית), מהו התיאור המדויק ביותר של התגובה הפרוליפרטיבית האנדוגנית שנצפית ברוב רקמת ה-CNS (לא רק באזורים הנוירוגניים)?</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התגובה הפרוליפרטיבית העיקרית מתרחשת בפרוגניטורים גליאליים (בעיקר OPCs) בפרנכימה, שמתרבים, נודדים לאזור הפגיעה ומיאלינטים מחדש - בעוד התמיינות נוירונלית מחוץ ל-SVZ/SGZ נדירה ולרוב אבורטיבית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התגובה העיקרית היא ייצור נוירונים חדשים בכל רחבי הפרנכימה הפגועה, ללא צורך בגורמי גדילה נוספים</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שום תגובה פרוליפרטיבית משמעותית לאחר פגיעה מוחית - התיקון תלוי לחלוטין בהשתלת תאים חיצוניים</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הפגיעה תמיד מגבירה את הנוירוגנזה ב-SVZ ומדכאת אותה לחלוטין ב-SGZ</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990011"/>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תגובת תאי גזע/פרוגניטורים לפגיעה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התגובה הפרוליפרטיבית העיקרית מתרחשת בפרוגניטורים גליאליים (בעיקר OPCs) בפרנכימה, שמתרבים, נודדים לאזור הפגיעה ומיאלינטים מחדש - בעוד התמיינות נוירונלית מחוץ ל-SVZ/SGZ נדירה ולרוב אבורטיבית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האזורים הנוירוגניים (SVZ, היפוקמפוס) אכן מגיבים לפגיעה איסכמית/kainate בעלייה בפרוליפרציה וביצירת נוירונים, לפעמים לחודשים</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אך התגובה הפרוליפרטיבית הדומיננטית והנרחבת ביותר מתרחשת בפרוגניטורים גליאליים (בעיקר OPCs) בכל רחבי הפרנכימה - לא רק בנישות הנוירוגניות</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גורמי גדילה שעולים לאחר פגיעה (למשל PDGF, FGF) הם מיטוגניים ל-OPCs ומניעים פרוליפרציה, מיגרציה לאזור הנגע ורמיאלינציה</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עם זאת, אותם גורמים מיטוגניים גם מעכבים התמיינות סופית, כך שיש 'לנטרל' אותם לפני שמיאלינציה בפועל יכולה להתרחש; התמיינות נוירונלית מחוץ ל-SVZ/SGZ נותרת נדירה ואבורטיבית - כך שתיקון אנדוגני לבדו לרוב אינו מספיק</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(0). תשובה 1 שגויה - נוירוגנזה נרחבת מחוץ לנישות אינה מתרחשת. תשובה 2 שגויה - יש תגובה פרוליפרטיבית אנדוגנית משמעותית, בעיקר גליאלית. תשובה 3 שגויה - הפרק לא מתאר דיכוי מוחלט ב-SGZ, אלא עלייה בשני האזורים הנוירוגניים.</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התמיינות אבורטיבית (Abortive differentiation)</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ניסיון התמיינות שמתחיל (למשל תא מתחיל לבטא סמנים מוקדמים) אך אינו מגיע להשלמת תא בוגר ומשולב תפקודית.</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תארי צוות תיקונים (OPCs) שמגיע במהירות לכל אתר נזק בעיר (הפרנכימה) - אבל אין להם באמת הוראות סופיות להשלים את הבנייה (מיאלינציה) עד שמישהו 'מכבה' את אות ההתרבות המתמשך. לעומת זאת, קבלני הבנייה המיוחדים (נוירוגנזה) יודעים לעבוד רק בשני אתרים ספציפיים בעיר (SVZ, SGZ).</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יש הבדל כה גדול בין התגובה הגליאלית (נרחבת) לנוירונלית (מוגבלת) לפגיעה?</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028090"/>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תאי גזע וסרטן</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7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פתולוג בודק גליומה ומזהה בתוכה תת-אוכלוסיית תאים המבטאת נסטין ו-CD133, המסוגלת - כאשר מבודדת ומושתלת בעכבר חדש - ליצור גידול חדש בעל אותה הטרוגניות כמו הגידול המקורי. מהם שני האירועים המולקולריים שכנראה נדרשו כדי שתא גזע/פרוגניטור יהפוך לתא הגזע הסרטני הזה?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עלייה בביטוי GFAP ואובדן ביטוי נסטין</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מוטציה בקולטן PDGFR-α בלבד</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עלייה בביטוי Olig2 בלבד, ללא כל שינוי נוסף</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(1) אובדן בקרת מחזור התא, לרוב עקב מוטציה בגן כמו Pten או p53, ו-(2) חוסר רגישות נרכש לאותות התמיינות, כך שהתאים ממשיכים להתרבות מבלי להבשיל באופן סופי</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028090"/>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תאי גזע וסרטן</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(1) אובדן בקרת מחזור התא, לרוב עקב מוטציה בגן כמו Pten או p53, ו-(2) חוסר רגישות נרכש לאותות התמיינות, כך שהתאים ממשיכים להתרבות מבלי להבשיל באופן סופי</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יכולת ההתחדשות העצמית משותפת לתאי גזע נורמליים ולתאי גידול - מסלולים כמו Sonic Hedgehog (Shh) ו-Notch משמרים NSCs וגם מעורבים במדולובלסטומה וגליובלסטומה</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'תא הגזע הסרטני' מוגדר פונקציונלית: תא מתחדש עצמית בתוך הגידול המסוגל לשחזר את מלוא ההטרוגניות שלו, מוכח בהשתלה סדרתית לפונדק חדש</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שני מכות מולקולריות נדרשות ככל הנראה להפיכה גידולית: אובדן בקרת מחזור תא (מוטציה ב-Pten או p53) בתוספת חוסר רגישות נרכש לאותות התמיינות</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סמנים כמו נסטין ו-CD133 (סמני גזע/פרוגניטור) יכולים לשמש קלינית לחיזוי פרוגנוזה במטופלי גליומה, ומשקפים את הביולוגיה דמויית-הגזע בתוך הגידול</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בהתאם למודל שני-המכות המתואר בפרק. תשובות 0, 1 ו-2 מתארות שינויים בודדים לא-ספציפיים שאינם תואמים את שני המנגנונים המרכזיים שהפרק מציין.</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היפותזת תא הגזע הסרטני (Cancer stem cell hypothesis)</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הרעיון שתת-אוכלוסייה מתחדשת עצמית בתוך גידול אחראית לקיום צמיחת הגידול ולשחזורו לאחר טיפול, בדומה לאופן שבו תאי גזע נורמליים מקיימים רקמה.</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כנופיית פשע (הגידול) שרוב חבריה (תאי הגידול הרגילים) הם 'חד פעמיים' - אבל יש 'ראש כנופיה' נסתר (תא הגזע הסרטני) שיודע לגייס מחדש כנופיה שלמה בכל מקום חדש שהוא מגיע אליו. כדי שראש כנופיה כזה ייווצר, הוא צריך גם לאבד את הבלמים (Pten/p53) וגם להתעלם מהוראות 'תתפרק ותתבגר' (חוסר רגישות לאיתות התמיינות).</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עצם קיומם של פרוגניטורים בתוך גליומה לא מוכיח בהכרח שהם ה'תא של המקור' הסרטני?</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84B59F"/>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טיפולים מבוססי תאי גזע - השתלה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8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מחקרים חוזרים ונשנים מראים שתאי גזע עצביים (NSCs) שהושתלו למערכת העצבים המרכזית נוטים בחוזקה להתמיין לתאי גליה (במיוחד אסטרוציטים), למרות שאותם תאים בדיוק היו מסוגלים לייצר נוירונים בתרבית או באזורים נוירוגניים. מהי המשמעות הטיפולית העיקרית של תופעה זו (lineage restriction)?</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שום משמעות טיפולית - זהו ממצא מעבדתי בלבד ללא רלוונטיות קלינית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יש חשיבות קריטית לנסות ולשנות את מקום/אופן ההשתלה (למשל דרך נישות מלאכותיות) ולא רק את זהות התא המושתל, כדי לשפר את סיכויי ההתמיינות הנוירונלית הרצויה</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יש להשתמש אך ורק בתאים מובחנים מראש (לעולם לא בלתי-מובחנים) בכל מצב טיפולי</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יש להימנע לחלוטין מהשתלת NSCs ולהעדיף רק גישות תרופתיות</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84B59F"/>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טיפולים מבוססי תאי גזע - השתלה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יש חשיבות קריטית לנסות ולשנות את מקום/אופן ההשתלה (למשל דרך נישות מלאכותיות) ולא רק את זהות התא המושתל, כדי לשפר את סיכויי ההתמיינות הנוירונלית הרצויה</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למרות יכולת מוכחת ליצור נוירונים in vitro או בנישה נוירוגנית, NSCs שהושתלו ל-CNS נוטים בחוזקה לגורל גליאלי (בעיקר אסטרוציטי)</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ל-lineage restriction זו יש משמעות טיפולית משמעותית - העברת סוג התא הנכון בלבד אינה מספיקה אם אתר ההשתלה 'דוחף' אותו לגורל הלא-רצוי</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בהתאם לעיקרון שהמיקרו-סביבה מעצבת גורל (כפי שנראה גם בתאי הגזע של חוט השדרה), פותחו נישות מלאכותיות המיועדות ספציפית לטפל בבעיה זו</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פרמטרים טיפוליים נוספים (תאים בלתי-מובחנים מול מובחנים-מראש, תזמון, נתיב מתן, דיכוי חיסוני) חייבים גם הם להיות מותאמים לפגיעה/מחלה הספציפית ולמטרת הטיפול</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תשובה 0 שגויה - יש משמעות טיפולית ברורה שמונעת פיתוח נישות מלאכותיות. תשובה 2 שגויה - הפרק מציין ששתי הגישות (תאים מובחנים ובלתי-מובחנים) רלוונטיות, תלוי במטרת הטיפול. תשובה 3 שגויה - הפרק אינו שולל השתלת NSCs, אלא מציע לשפר את תנאי ההשתלה.</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נישה מלאכותית (Artificial niche)</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מיקרו-סביבה מהונדסת שנועדה לתמוך ולכוון את התמיינות תאי הגזע המושתלים לכיוון הגורל התאי הרצוי.</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זה כמו לשלוח שף מעולה (NSC בעל פוטנציאל נוירוני) למטבח זר עם כלים לא מתאימים (נישת ההשתלה) - הוא יידע לבשל רק את מה שהמטבח מאפשר (גליה), לא בהכרח את המנה שרצינו (נוירונים). הפתרון הוא לא רק לבחור שף טוב יותר, אלא גם לצייד את המטבח בכלים הנכונים (נישה מלאכותית).</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בכלל תאי גזע 'בוחרים' גליה על פני נוירון בהשתלה, בהינתן שהם יכולים לייצר נוירונים בהקשרים אחרים?</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1B2A"/>
        </a:solidFill>
      </p:bgPr>
    </p:bg>
    <p:spTree>
      <p:nvGrpSpPr>
        <p:cNvPr id="1" name=""/>
        <p:cNvGrpSpPr/>
        <p:nvPr/>
      </p:nvGrpSpPr>
      <p:grpSpPr>
        <a:xfrm>
          <a:off x="0" y="0"/>
          <a:ext cx="0" cy="0"/>
          <a:chOff x="0" y="0"/>
          <a:chExt cx="0" cy="0"/>
        </a:xfrm>
      </p:grpSpPr>
      <p:sp>
        <p:nvSpPr>
          <p:cNvPr id="2" name="Text 0"/>
          <p:cNvSpPr/>
          <p:nvPr/>
        </p:nvSpPr>
        <p:spPr>
          <a:xfrm>
            <a:off x="914400" y="548640"/>
            <a:ext cx="10360152" cy="640080"/>
          </a:xfrm>
          <a:prstGeom prst="rect">
            <a:avLst/>
          </a:prstGeom>
          <a:noFill/>
          <a:ln/>
        </p:spPr>
        <p:txBody>
          <a:bodyPr wrap="square" rtlCol="0" anchor="ctr"/>
          <a:lstStyle/>
          <a:p>
            <a:pPr rtl="1" algn="ctr" indent="0" marL="0">
              <a:buNone/>
            </a:pPr>
            <a:r>
              <a:rPr lang="en-US" sz="3000" b="1" dirty="0">
                <a:solidFill>
                  <a:srgbClr val="FFFFFF"/>
                </a:solidFill>
                <a:latin typeface="Calibri" pitchFamily="34" charset="0"/>
                <a:ea typeface="Calibri" pitchFamily="34" charset="-122"/>
                <a:cs typeface="Calibri" pitchFamily="34" charset="-120"/>
              </a:rPr>
              <a:t>סיכום הכרטיסיות</a:t>
            </a:r>
            <a:endParaRPr lang="en-US" sz="3000" dirty="0"/>
          </a:p>
        </p:txBody>
      </p:sp>
      <p:sp>
        <p:nvSpPr>
          <p:cNvPr id="3" name="Text 1"/>
          <p:cNvSpPr/>
          <p:nvPr/>
        </p:nvSpPr>
        <p:spPr>
          <a:xfrm>
            <a:off x="1097280" y="1463040"/>
            <a:ext cx="9994392" cy="4389120"/>
          </a:xfrm>
          <a:prstGeom prst="rect">
            <a:avLst/>
          </a:prstGeom>
          <a:noFill/>
          <a:ln/>
        </p:spPr>
        <p:txBody>
          <a:bodyPr wrap="square" rtlCol="0" anchor="t"/>
          <a:lstStyle/>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SVZ</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תאי B</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תאי C</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תאי A (נוירובלסטים)</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RMS</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GFAP</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PSA-NCAM</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SGZ</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תאי D</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תאי גרנולה</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mossy fibers</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CA3</a:t>
            </a:r>
            <a:endParaRPr lang="en-US" sz="1600" dirty="0"/>
          </a:p>
        </p:txBody>
      </p:sp>
      <p:sp>
        <p:nvSpPr>
          <p:cNvPr id="4" name="Text 2"/>
          <p:cNvSpPr/>
          <p:nvPr/>
        </p:nvSpPr>
        <p:spPr>
          <a:xfrm>
            <a:off x="914400" y="6309360"/>
            <a:ext cx="10360152" cy="3657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maskit101.github.io/summeries-medicine/neurosurgery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2026-08-12T23:37:15Z</dcterms:created>
  <dcterms:modified xsi:type="dcterms:W3CDTF">2026-08-12T23:37:15Z</dcterms:modified>
</cp:coreProperties>
</file>