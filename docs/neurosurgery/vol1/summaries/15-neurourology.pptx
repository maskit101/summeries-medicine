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B2A"/>
        </a:solidFill>
      </p:bgPr>
    </p:bg>
    <p:spTree>
      <p:nvGrpSpPr>
        <p:cNvPr id="1" name=""/>
        <p:cNvGrpSpPr/>
        <p:nvPr/>
      </p:nvGrpSpPr>
      <p:grpSpPr>
        <a:xfrm>
          <a:off x="0" y="0"/>
          <a:ext cx="0" cy="0"/>
          <a:chOff x="0" y="0"/>
          <a:chExt cx="0" cy="0"/>
        </a:xfrm>
      </p:grpSpPr>
      <p:sp>
        <p:nvSpPr>
          <p:cNvPr id="2" name="Shape 0"/>
          <p:cNvSpPr/>
          <p:nvPr/>
        </p:nvSpPr>
        <p:spPr>
          <a:xfrm>
            <a:off x="5559552" y="640080"/>
            <a:ext cx="1078992" cy="1078992"/>
          </a:xfrm>
          <a:prstGeom prst="ellipse">
            <a:avLst/>
          </a:prstGeom>
          <a:ln w="38100">
            <a:solidFill>
              <a:srgbClr val="1C7293"/>
            </a:solidFill>
            <a:prstDash val="solid"/>
          </a:ln>
        </p:spPr>
      </p:sp>
      <p:sp>
        <p:nvSpPr>
          <p:cNvPr id="3" name="Shape 1"/>
          <p:cNvSpPr/>
          <p:nvPr/>
        </p:nvSpPr>
        <p:spPr>
          <a:xfrm>
            <a:off x="5788152" y="868680"/>
            <a:ext cx="621792" cy="621792"/>
          </a:xfrm>
          <a:prstGeom prst="ellipse">
            <a:avLst/>
          </a:prstGeom>
          <a:solidFill>
            <a:srgbClr val="1C7293"/>
          </a:solidFill>
          <a:ln/>
        </p:spPr>
      </p:sp>
      <p:sp>
        <p:nvSpPr>
          <p:cNvPr id="4" name="Text 2"/>
          <p:cNvSpPr/>
          <p:nvPr/>
        </p:nvSpPr>
        <p:spPr>
          <a:xfrm>
            <a:off x="914400" y="2103120"/>
            <a:ext cx="10360152" cy="914400"/>
          </a:xfrm>
          <a:prstGeom prst="rect">
            <a:avLst/>
          </a:prstGeom>
          <a:noFill/>
          <a:ln/>
        </p:spPr>
        <p:txBody>
          <a:bodyPr wrap="square" rtlCol="0" anchor="ctr"/>
          <a:lstStyle/>
          <a:p>
            <a:pPr rtl="1" algn="ctr" indent="0" marL="0">
              <a:buNone/>
            </a:pPr>
            <a:r>
              <a:rPr lang="en-US" sz="4000" b="1" dirty="0">
                <a:solidFill>
                  <a:srgbClr val="FFFFFF"/>
                </a:solidFill>
                <a:latin typeface="Calibri" pitchFamily="34" charset="0"/>
                <a:ea typeface="Calibri" pitchFamily="34" charset="-122"/>
                <a:cs typeface="Calibri" pitchFamily="34" charset="-120"/>
              </a:rPr>
              <a:t>נוירוכירורגיה — כרך 1</a:t>
            </a:r>
            <a:endParaRPr lang="en-US" sz="4000" dirty="0"/>
          </a:p>
        </p:txBody>
      </p:sp>
      <p:sp>
        <p:nvSpPr>
          <p:cNvPr id="5" name="Text 3"/>
          <p:cNvSpPr/>
          <p:nvPr/>
        </p:nvSpPr>
        <p:spPr>
          <a:xfrm>
            <a:off x="914400" y="3017520"/>
            <a:ext cx="10360152" cy="640080"/>
          </a:xfrm>
          <a:prstGeom prst="rect">
            <a:avLst/>
          </a:prstGeom>
          <a:noFill/>
          <a:ln/>
        </p:spPr>
        <p:txBody>
          <a:bodyPr wrap="square" rtlCol="0" anchor="ctr"/>
          <a:lstStyle/>
          <a:p>
            <a:pPr rtl="1" algn="ctr" indent="0" marL="0">
              <a:buNone/>
            </a:pPr>
            <a:r>
              <a:rPr lang="en-US" sz="2400" dirty="0">
                <a:solidFill>
                  <a:srgbClr val="93C5FD"/>
                </a:solidFill>
                <a:latin typeface="Calibri" pitchFamily="34" charset="0"/>
                <a:ea typeface="Calibri" pitchFamily="34" charset="-122"/>
                <a:cs typeface="Calibri" pitchFamily="34" charset="-120"/>
              </a:rPr>
              <a:t>פרק 15: נוירואורולוגיה</a:t>
            </a:r>
            <a:endParaRPr lang="en-US" sz="2400" dirty="0"/>
          </a:p>
        </p:txBody>
      </p:sp>
      <p:sp>
        <p:nvSpPr>
          <p:cNvPr id="6" name="Text 4"/>
          <p:cNvSpPr/>
          <p:nvPr/>
        </p:nvSpPr>
        <p:spPr>
          <a:xfrm>
            <a:off x="914400" y="3657600"/>
            <a:ext cx="10360152" cy="457200"/>
          </a:xfrm>
          <a:prstGeom prst="rect">
            <a:avLst/>
          </a:prstGeom>
          <a:noFill/>
          <a:ln/>
        </p:spPr>
        <p:txBody>
          <a:bodyPr wrap="square" rtlCol="0" anchor="ctr"/>
          <a:lstStyle/>
          <a:p>
            <a:pPr algn="ctr" indent="0" marL="0">
              <a:buNone/>
            </a:pPr>
            <a:r>
              <a:rPr lang="en-US" sz="1500" i="1" dirty="0">
                <a:solidFill>
                  <a:srgbClr val="7DD3FC"/>
                </a:solidFill>
                <a:latin typeface="Calibri" pitchFamily="34" charset="0"/>
                <a:ea typeface="Calibri" pitchFamily="34" charset="-122"/>
                <a:cs typeface="Calibri" pitchFamily="34" charset="-120"/>
              </a:rPr>
              <a:t>Neurourology  ·  Youmans Neurological Surgery</a:t>
            </a:r>
            <a:endParaRPr lang="en-US" sz="1500" dirty="0"/>
          </a:p>
        </p:txBody>
      </p:sp>
      <p:sp>
        <p:nvSpPr>
          <p:cNvPr id="7" name="Text 5"/>
          <p:cNvSpPr/>
          <p:nvPr/>
        </p:nvSpPr>
        <p:spPr>
          <a:xfrm>
            <a:off x="914400" y="5943600"/>
            <a:ext cx="10360152" cy="548640"/>
          </a:xfrm>
          <a:prstGeom prst="rect">
            <a:avLst/>
          </a:prstGeom>
          <a:noFill/>
          <a:ln/>
        </p:spPr>
        <p:txBody>
          <a:bodyPr wrap="square" rtlCol="0" anchor="ctr"/>
          <a:lstStyle/>
          <a:p>
            <a:pPr rtl="1" algn="ctr" indent="0" marL="0">
              <a:buNone/>
            </a:pPr>
            <a:r>
              <a:rPr lang="en-US" sz="1250" dirty="0">
                <a:solidFill>
                  <a:srgbClr val="64748B"/>
                </a:solidFill>
                <a:latin typeface="Calibri" pitchFamily="34" charset="0"/>
                <a:ea typeface="Calibri" pitchFamily="34" charset="-122"/>
                <a:cs typeface="Calibri" pitchFamily="34" charset="-120"/>
              </a:rPr>
              <a:t>9 כרטיסיות תרגול · שאלה ואז תשובה מלאה בכל כרטיסייה · לסטטיסטיקה חיה השתמשי באפליקציית ה-HTML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דיסרפלקסיה אוטונומית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1 מתוך 9</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מטופל עם פגיעת חוט שדרה ב-T4 מגיע עם כאב ראש פועם, יתר לחץ דם קשה וברדיקרדיה. מהו הטיפול הדחוף הראשון?</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הסרת הגורם המעורר (למשל שחרור צנתר חסום/ריקון שלפוחית)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מתן חוסם בטא תוך ורידי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הרדמה כללית מיידית</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מתן נוזלים במהירות</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דיסרפלקסיה אוטונומית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הסרת הגורם המעורר (למשל שחרור צנתר חסום/ריקון שלפוחית)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91C1C">
              <a:alpha val="12000"/>
            </a:srgbClr>
          </a:solidFill>
          <a:ln w="15875">
            <a:solidFill>
              <a:srgbClr val="B91C1C"/>
            </a:solidFill>
            <a:prstDash val="solid"/>
          </a:ln>
        </p:spPr>
      </p:sp>
      <p:sp>
        <p:nvSpPr>
          <p:cNvPr id="7" name="Shape 5"/>
          <p:cNvSpPr/>
          <p:nvPr/>
        </p:nvSpPr>
        <p:spPr>
          <a:xfrm>
            <a:off x="11292840" y="2176272"/>
            <a:ext cx="256032" cy="256032"/>
          </a:xfrm>
          <a:prstGeom prst="ellipse">
            <a:avLst/>
          </a:prstGeom>
          <a:solidFill>
            <a:srgbClr val="B91C1C"/>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דיסרפלקסיה אוטונומית מתרחשת בנגעים מעל T6</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7706">
              <a:alpha val="12000"/>
            </a:srgbClr>
          </a:solidFill>
          <a:ln w="15875">
            <a:solidFill>
              <a:srgbClr val="D97706"/>
            </a:solidFill>
            <a:prstDash val="solid"/>
          </a:ln>
        </p:spPr>
      </p:sp>
      <p:sp>
        <p:nvSpPr>
          <p:cNvPr id="11" name="Shape 9"/>
          <p:cNvSpPr/>
          <p:nvPr/>
        </p:nvSpPr>
        <p:spPr>
          <a:xfrm>
            <a:off x="11292840" y="3044952"/>
            <a:ext cx="256032" cy="256032"/>
          </a:xfrm>
          <a:prstGeom prst="ellipse">
            <a:avLst/>
          </a:prstGeom>
          <a:solidFill>
            <a:srgbClr val="D97706"/>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הגורם השכיח ביותר: מתיחת שלפוחית או רקטום</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047857">
              <a:alpha val="12000"/>
            </a:srgbClr>
          </a:solidFill>
          <a:ln w="15875">
            <a:solidFill>
              <a:srgbClr val="047857"/>
            </a:solidFill>
            <a:prstDash val="solid"/>
          </a:ln>
        </p:spPr>
      </p:sp>
      <p:sp>
        <p:nvSpPr>
          <p:cNvPr id="15" name="Shape 13"/>
          <p:cNvSpPr/>
          <p:nvPr/>
        </p:nvSpPr>
        <p:spPr>
          <a:xfrm>
            <a:off x="11292840" y="3913632"/>
            <a:ext cx="256032" cy="256032"/>
          </a:xfrm>
          <a:prstGeom prst="ellipse">
            <a:avLst/>
          </a:prstGeom>
          <a:solidFill>
            <a:srgbClr val="047857"/>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הטיפול הראשון תמיד - הסרת הגורם, לא תרופה</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הטיפול הדחוף הראשון בדיסרפלקסיה אוטונומית הוא תמיד הסרת הגורם המעורר - לרוב מתיחת שלפוחית/רקטום. רק אם הלחץ נשאר גבוה לאחר מכן שוקלים טיפול תרופתי. חוסמי בטא (2) אינם קו ראשון ועלולים להחמיר ברדיקרדיה. הרדמה (3) ונוזלים (4) אינם מטפלים בגורם ועלולים להזיק.</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Autonomic Dysreflexia</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סיבוך מסכן חיים בפגיעות חוט שדרה מעל T6, הכולל פריקה סימפתטית מסיבית בתגובה לגירוי מתחת לנגע.</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אזעקה שנדלקת מתחת לנגע (שלפוחית מלאה) אבל המוח לא יכול לכבות אותה כי הנתיב חתוך - הפתרון: לכבות את מקור האזעקה ישירות.</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הברדיקרדיה לא סותרת את האבחנה של יתר לחץ דם?</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B85042"/>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דפוסים לפי רמת נגע</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2 מתוך 9</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מטופל לאחר שבץ מוחי פרונטלי מתלונן על תכיפות ודחיפות בהשתנה. איזה דפוס אורודינמי צפוי?</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דטרוסור אריפלקסי עם טונוס סוגר מוחלש</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דיסינרגיה דטרוסור-סוגר מלאה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היפראקטיביות דטרוסור עם תיאום דטרוסור-סוגר שמור</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אצירת שתן מוחלטת ללא תחושה</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B85042"/>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דפוסים לפי רמת נגע</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היפראקטיביות דטרוסור עם תיאום דטרוסור-סוגר שמור</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E3A8A">
              <a:alpha val="12000"/>
            </a:srgbClr>
          </a:solidFill>
          <a:ln w="15875">
            <a:solidFill>
              <a:srgbClr val="1E3A8A"/>
            </a:solidFill>
            <a:prstDash val="solid"/>
          </a:ln>
        </p:spPr>
      </p:sp>
      <p:sp>
        <p:nvSpPr>
          <p:cNvPr id="7" name="Shape 5"/>
          <p:cNvSpPr/>
          <p:nvPr/>
        </p:nvSpPr>
        <p:spPr>
          <a:xfrm>
            <a:off x="11292840" y="2176272"/>
            <a:ext cx="256032" cy="256032"/>
          </a:xfrm>
          <a:prstGeom prst="ellipse">
            <a:avLst/>
          </a:prstGeom>
          <a:solidFill>
            <a:srgbClr val="1E3A8A"/>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נגע סופרה-פונטיני פוגע רק בעכבה הרצונית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047857">
              <a:alpha val="12000"/>
            </a:srgbClr>
          </a:solidFill>
          <a:ln w="15875">
            <a:solidFill>
              <a:srgbClr val="047857"/>
            </a:solidFill>
            <a:prstDash val="solid"/>
          </a:ln>
        </p:spPr>
      </p:sp>
      <p:sp>
        <p:nvSpPr>
          <p:cNvPr id="11" name="Shape 9"/>
          <p:cNvSpPr/>
          <p:nvPr/>
        </p:nvSpPr>
        <p:spPr>
          <a:xfrm>
            <a:off x="11292840" y="3044952"/>
            <a:ext cx="256032" cy="256032"/>
          </a:xfrm>
          <a:prstGeom prst="ellipse">
            <a:avLst/>
          </a:prstGeom>
          <a:solidFill>
            <a:srgbClr val="047857"/>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התיאום דטרוסור-סוגר (מבוצע ב-PMC בפונס) נשאר שלם</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5803D">
              <a:alpha val="12000"/>
            </a:srgbClr>
          </a:solidFill>
          <a:ln w="15875">
            <a:solidFill>
              <a:srgbClr val="15803D"/>
            </a:solidFill>
            <a:prstDash val="solid"/>
          </a:ln>
        </p:spPr>
      </p:sp>
      <p:sp>
        <p:nvSpPr>
          <p:cNvPr id="15" name="Shape 13"/>
          <p:cNvSpPr/>
          <p:nvPr/>
        </p:nvSpPr>
        <p:spPr>
          <a:xfrm>
            <a:off x="11292840" y="3913632"/>
            <a:ext cx="256032" cy="256032"/>
          </a:xfrm>
          <a:prstGeom prst="ellipse">
            <a:avLst/>
          </a:prstGeom>
          <a:solidFill>
            <a:srgbClr val="15803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לכן: היפראקטיביות עם תחושה שמורה, ללא דיסינרגיה אמיתית</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נגעים מעל הפונס (כמו שבץ פרונטלי) פוגעים רק בעכבה הקורטיקלית הרצונית על מרכז ההשתנה, אך אינם פוגעים במסלול שמתאם בין הדטרוסור לסוגר (הממוקם ב-PMC עצמו ומטה). לכן מתקבלת היפראקטיביות דטרוסור עם תיאום שמור, ולא דיסינרגיה. תשובות 1 ו-4 מתאימות לנגעים סקרליים/אינפרה-סקרליים. תשובה 2 מתאימה לנגע סופרה-סקרלי.</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Suprapontine lesion</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נגע מעל מרכז ההשתנה הפונטיני - פוגע בעכבה הרצונית בלבד, לא בתיאום הרפלקסיבי.</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להבדיל בין 'היפראקטיביות עם תיאום שמור' ל'דיסינרגיה'?</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1295C"/>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טיפול: קתטריזציה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3 מתוך 9</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מהו היתרון העיקרי של קתטריזציה נקייה לסירוגין (CIC) לעומת קתטר קבוע (Foley) לטווח ארוך?</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CIC אינה דורשת שיתוף פעולה של המטופל</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CIC קשורה לפחות זיהומים, אבנים וסיבוכים ארוכי טווח בהשוואה לקתטר קבוע</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CIC יעילה רק בנשים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CIC אינה מצריכה הכשרה כלל</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1295C"/>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טיפול: קתטריזציה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CIC קשורה לפחות זיהומים, אבנים וסיבוכים ארוכי טווח בהשוואה לקתטר קבוע</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CIC = ריקון תקופתי ללא צנתר קבוע בגוף</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047857">
              <a:alpha val="12000"/>
            </a:srgbClr>
          </a:solidFill>
          <a:ln w="15875">
            <a:solidFill>
              <a:srgbClr val="047857"/>
            </a:solidFill>
            <a:prstDash val="solid"/>
          </a:ln>
        </p:spPr>
      </p:sp>
      <p:sp>
        <p:nvSpPr>
          <p:cNvPr id="11" name="Shape 9"/>
          <p:cNvSpPr/>
          <p:nvPr/>
        </p:nvSpPr>
        <p:spPr>
          <a:xfrm>
            <a:off x="11292840" y="3044952"/>
            <a:ext cx="256032" cy="256032"/>
          </a:xfrm>
          <a:prstGeom prst="ellipse">
            <a:avLst/>
          </a:prstGeom>
          <a:solidFill>
            <a:srgbClr val="047857"/>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פחות זיהומים כרוניים, אבנים וסרטן שלפוחית לטווח ארוך</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5803D">
              <a:alpha val="12000"/>
            </a:srgbClr>
          </a:solidFill>
          <a:ln w="15875">
            <a:solidFill>
              <a:srgbClr val="15803D"/>
            </a:solidFill>
            <a:prstDash val="solid"/>
          </a:ln>
        </p:spPr>
      </p:sp>
      <p:sp>
        <p:nvSpPr>
          <p:cNvPr id="15" name="Shape 13"/>
          <p:cNvSpPr/>
          <p:nvPr/>
        </p:nvSpPr>
        <p:spPr>
          <a:xfrm>
            <a:off x="11292840" y="3913632"/>
            <a:ext cx="256032" cy="256032"/>
          </a:xfrm>
          <a:prstGeom prst="ellipse">
            <a:avLst/>
          </a:prstGeom>
          <a:solidFill>
            <a:srgbClr val="15803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שיטת הבחירה כשיש בעיה בהתרוקנות (לא באגירה)</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הפרק מדגיש ש-CIC עדיפה על קתטר קבוע מבחינת סיכון לזיהומים כרוניים, אבנים וסיבוכים ארוכי טווח, אף שהיא דורשת יכולת/עזרה בביצוע. תשובות 1, 3 ו-4 אינן נכונות - CIC דורשת מוטוריקה עדינה או מטפל, מתאימה לשני המינים, ומצריכה הדרכה.</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Clean Intermittent Catheterization (CIC)</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קתטריזציה תקופתית להתרוקנות שלפוחית ללא השארת קתטר קבוע - שיטת ריקון מועדפת בהפרעות התרוקנות נוירוגניות.</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מתי בכל זאת עשוי להיבחר קתטר קבוע על פני CIC?</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6D2E46"/>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טיפול: בוטולינום טוקסין</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4 מתוך 9</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מהי תופעת הלוואי המשמעותית ביותר שיש לצפות לה לאחר הזרקת בוטולינום טוקסין A לדטרוסור?</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נשירת שיער</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עלייה בלחץ הדם</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כאב ראש כרוני</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אצירת שתן, המצריכה לעיתים קרובות מעבר ל-CIC</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6D2E46"/>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טיפול: בוטולינום טוקסין</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אצירת שתן, המצריכה לעיתים קרובות מעבר ל-CIC</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6D28D9">
              <a:alpha val="12000"/>
            </a:srgbClr>
          </a:solidFill>
          <a:ln w="15875">
            <a:solidFill>
              <a:srgbClr val="6D28D9"/>
            </a:solidFill>
            <a:prstDash val="solid"/>
          </a:ln>
        </p:spPr>
      </p:sp>
      <p:sp>
        <p:nvSpPr>
          <p:cNvPr id="7" name="Shape 5"/>
          <p:cNvSpPr/>
          <p:nvPr/>
        </p:nvSpPr>
        <p:spPr>
          <a:xfrm>
            <a:off x="11292840" y="2176272"/>
            <a:ext cx="256032" cy="256032"/>
          </a:xfrm>
          <a:prstGeom prst="ellipse">
            <a:avLst/>
          </a:prstGeom>
          <a:solidFill>
            <a:srgbClr val="6D28D9"/>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100-300 יחידות מוזרקות אנדוסקופית לדטרוסור</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047857">
              <a:alpha val="12000"/>
            </a:srgbClr>
          </a:solidFill>
          <a:ln w="15875">
            <a:solidFill>
              <a:srgbClr val="047857"/>
            </a:solidFill>
            <a:prstDash val="solid"/>
          </a:ln>
        </p:spPr>
      </p:sp>
      <p:sp>
        <p:nvSpPr>
          <p:cNvPr id="11" name="Shape 9"/>
          <p:cNvSpPr/>
          <p:nvPr/>
        </p:nvSpPr>
        <p:spPr>
          <a:xfrm>
            <a:off x="11292840" y="3044952"/>
            <a:ext cx="256032" cy="256032"/>
          </a:xfrm>
          <a:prstGeom prst="ellipse">
            <a:avLst/>
          </a:prstGeom>
          <a:solidFill>
            <a:srgbClr val="047857"/>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משפר קיבולת ו-compliance ל-6-9 חודשים</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45309">
              <a:alpha val="12000"/>
            </a:srgbClr>
          </a:solidFill>
          <a:ln w="15875">
            <a:solidFill>
              <a:srgbClr val="B45309"/>
            </a:solidFill>
            <a:prstDash val="solid"/>
          </a:ln>
        </p:spPr>
      </p:sp>
      <p:sp>
        <p:nvSpPr>
          <p:cNvPr id="15" name="Shape 13"/>
          <p:cNvSpPr/>
          <p:nvPr/>
        </p:nvSpPr>
        <p:spPr>
          <a:xfrm>
            <a:off x="11292840" y="3913632"/>
            <a:ext cx="256032" cy="256032"/>
          </a:xfrm>
          <a:prstGeom prst="ellipse">
            <a:avLst/>
          </a:prstGeom>
          <a:solidFill>
            <a:srgbClr val="B45309"/>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סיכון משמעותי לאצירת שתן - ייתכן צורך ב-CIC</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(4): הפרק מציין במפורש שהסיכון לאצירת שתן משמעותי לאחר הזרקה, ומטופלים עשויים להזדקק ל-CIC לריקון השלפוחית. תופעות הלוואי הנדירות האחרות (טשטוש ראייה, חולשה, כשל נשימתי) קשורות לספיגה סיסטמית, אך אינן האפשרויות בשאלה. נשירת שיער (1), עלייה בלחץ דם (2) וכאב ראש כרוני (3) אינם תופעות לוואי מוכרות של הטיפול הזה.</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Botulinum Toxin A (intradetrusor)</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טוקסין המשותק זמנית את פעילות הדטרוסור על ידי חסימת שחרור אצטילכולין בצומת העצבי-שרירי.</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בוטוקס עלול לגרום דווקא לאצירה, בזמן שהוא ניתן לטיפול בהיפראקטיביות?</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C5F2D"/>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רפלקסים סקרליים</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5 מתוך 9</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רפלקס הבולבוקברנוזוס בודק את שלמות אילו מקטעי חוט שדרה, ומה העצב האחראי?</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S2-4, עצב פודנדלי (אפרנטי ואפרנטי)</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T11-L2, עצב היפוגסטרי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L1-2, עצב גניטופמורלי</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S2-5, עצב וגוס</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C5F2D"/>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רפלקסים סקרליים</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S2-4, עצב פודנדלי (אפרנטי ואפרנטי)</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נבדק על ידי לחיצה על העטרה/דגדגן וזיהוי כיווץ סוגר אנאלי</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E3A8A">
              <a:alpha val="12000"/>
            </a:srgbClr>
          </a:solidFill>
          <a:ln w="15875">
            <a:solidFill>
              <a:srgbClr val="1E3A8A"/>
            </a:solidFill>
            <a:prstDash val="solid"/>
          </a:ln>
        </p:spPr>
      </p:sp>
      <p:sp>
        <p:nvSpPr>
          <p:cNvPr id="11" name="Shape 9"/>
          <p:cNvSpPr/>
          <p:nvPr/>
        </p:nvSpPr>
        <p:spPr>
          <a:xfrm>
            <a:off x="11292840" y="3044952"/>
            <a:ext cx="256032" cy="256032"/>
          </a:xfrm>
          <a:prstGeom prst="ellipse">
            <a:avLst/>
          </a:prstGeom>
          <a:solidFill>
            <a:srgbClr val="1E3A8A"/>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אפרנטי ואפרנטי - שניהם דרך העצב הפודנדלי</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5803D">
              <a:alpha val="12000"/>
            </a:srgbClr>
          </a:solidFill>
          <a:ln w="15875">
            <a:solidFill>
              <a:srgbClr val="15803D"/>
            </a:solidFill>
            <a:prstDash val="solid"/>
          </a:ln>
        </p:spPr>
      </p:sp>
      <p:sp>
        <p:nvSpPr>
          <p:cNvPr id="15" name="Shape 13"/>
          <p:cNvSpPr/>
          <p:nvPr/>
        </p:nvSpPr>
        <p:spPr>
          <a:xfrm>
            <a:off x="11292840" y="3913632"/>
            <a:ext cx="256032" cy="256032"/>
          </a:xfrm>
          <a:prstGeom prst="ellipse">
            <a:avLst/>
          </a:prstGeom>
          <a:solidFill>
            <a:srgbClr val="15803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בודק ישירות את שלמות מקטעי S2-4</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לפי טבלת הרפלקסים הנוירואורולוגיים בפרק, הבולבוקברנוזוס נבדק במקטעים S2-4, עם אפרנטי ואפרנטי שניהם דרך העצב הפודנדלי. T11-L2 (2) הוא המקטע הסימפתטי, לא רפלקס סקרלי. הרפלקס הקרמסטרי (3) הוא ב-L1-2 ודרך העצב הגניטופמורלי. עצב וגוס (4) אינו קשור לרפלקסים אלו.</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Bulbocavernosus reflex</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רפלקס סקרלי הבודק שלמות S2-4 - לחיצה על העטרה/דגדגן גורמת לכיווץ הסוגר האנאלי.</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בדיקת רפלקס סקרלי חשובה לפני קביעת תוכנית טיפול נוירואורולוגית?</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990011"/>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דיסינרגיה דטרוסור-סוגר</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6 מתוך 9</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מהי דיסינרגיה דטרוסור-סוגר, ובאיזו רמת נגע היא אופיינית?</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כיווץ בו-זמני של דטרוסור וסוגר בנגע סקרלי טהור</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הרפיה בו-זמנית של דטרוסור וסוגר בנגע סופרה-פונטיני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כיווץ בלתי-מתואם של הדטרוסור מול סוגר שאינו נרפה, האופייני לנגע ספינלי סופרה-סקרלי</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היעדר כל פעילות דטרוסור בנגע סופרה-פונטיני</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990011"/>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דיסינרגיה דטרוסור-סוגר</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כיווץ בלתי-מתואם של הדטרוסור מול סוגר שאינו נרפה, האופייני לנגע ספינלי סופרה-סקרלי</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91C1C">
              <a:alpha val="12000"/>
            </a:srgbClr>
          </a:solidFill>
          <a:ln w="15875">
            <a:solidFill>
              <a:srgbClr val="B91C1C"/>
            </a:solidFill>
            <a:prstDash val="solid"/>
          </a:ln>
        </p:spPr>
      </p:sp>
      <p:sp>
        <p:nvSpPr>
          <p:cNvPr id="7" name="Shape 5"/>
          <p:cNvSpPr/>
          <p:nvPr/>
        </p:nvSpPr>
        <p:spPr>
          <a:xfrm>
            <a:off x="11292840" y="2176272"/>
            <a:ext cx="256032" cy="256032"/>
          </a:xfrm>
          <a:prstGeom prst="ellipse">
            <a:avLst/>
          </a:prstGeom>
          <a:solidFill>
            <a:srgbClr val="B91C1C"/>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נגרמת מניתוק בין PMC לקשת הרפלקס הסקרלית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991B1B">
              <a:alpha val="12000"/>
            </a:srgbClr>
          </a:solidFill>
          <a:ln w="15875">
            <a:solidFill>
              <a:srgbClr val="991B1B"/>
            </a:solidFill>
            <a:prstDash val="solid"/>
          </a:ln>
        </p:spPr>
      </p:sp>
      <p:sp>
        <p:nvSpPr>
          <p:cNvPr id="11" name="Shape 9"/>
          <p:cNvSpPr/>
          <p:nvPr/>
        </p:nvSpPr>
        <p:spPr>
          <a:xfrm>
            <a:off x="11292840" y="3044952"/>
            <a:ext cx="256032" cy="256032"/>
          </a:xfrm>
          <a:prstGeom prst="ellipse">
            <a:avLst/>
          </a:prstGeom>
          <a:solidFill>
            <a:srgbClr val="991B1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הדטרוסור מתכווץ בזמן שהסוגר נשאר סגור/מתכווץ</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45309">
              <a:alpha val="12000"/>
            </a:srgbClr>
          </a:solidFill>
          <a:ln w="15875">
            <a:solidFill>
              <a:srgbClr val="B45309"/>
            </a:solidFill>
            <a:prstDash val="solid"/>
          </a:ln>
        </p:spPr>
      </p:sp>
      <p:sp>
        <p:nvSpPr>
          <p:cNvPr id="15" name="Shape 13"/>
          <p:cNvSpPr/>
          <p:nvPr/>
        </p:nvSpPr>
        <p:spPr>
          <a:xfrm>
            <a:off x="11292840" y="3913632"/>
            <a:ext cx="256032" cy="256032"/>
          </a:xfrm>
          <a:prstGeom prst="ellipse">
            <a:avLst/>
          </a:prstGeom>
          <a:solidFill>
            <a:srgbClr val="B45309"/>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גורמת ללחץ אגירה גבוה - סיכון לדרכי שתן עליונות</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דיסינרגיה דטרוסור-סוגר מתרחשת כאשר נגע ספינלי מעל המקטע הסקרלי (סופרה-סקרלי) מנתק את תיאום ה-PMC, כך שהדטרוסור מתכווץ בזמן שהסוגר החיצוני אינו נרפה - יוצר חסימה תפקודית ולחץ גבוה. תשובות 1, 2 ו-4 מתארות דפוסים לא נכונים - בנגע סקרלי טהור הדטרוסור אריפלקסי (לא מתכווץ), ובנגע סופרה-פונטיני התיאום נשאר שלם.</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Detrusor-Sphincter Dyssynergia</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כיווץ דטרוסור לא-מתואם מול סוגר חיצוני שאינו נרפה, האופייני לנגעים ספינליים מעל המקטע הסקרלי.</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דיסינרגיה מסוכנת יותר מסתם היפראקטיביות דטרוסור פשוטה?</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028090"/>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שוק ספינלי וקאודה אקווינה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7 מתוך 9</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מטופל עם פריצת דיסק תחתונה הגורמת לתסמונת קאודה אקווינה. איזה דפוס שלפוחית צפוי, ולמה זה שונה משוק ספינלי חולף?</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דטרוסור היפראקטיבי עם תיאום שמור, זמני בלבד</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דטרוסור אריפלקסי קבוע וטונוס סוגר מוחלש - כי קשת הרפלקס עצמה נהרסת, לא רק מנותקת זמנית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כל שינוי בתפקוד השלפוחית</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דיסרפלקסיה אוטונומית מיידית</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028090"/>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שוק ספינלי וקאודה אקווינה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דטרוסור אריפלקסי קבוע וטונוס סוגר מוחלש - כי קשת הרפלקס עצמה נהרסת, לא רק מנותקת זמנית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A16207">
              <a:alpha val="12000"/>
            </a:srgbClr>
          </a:solidFill>
          <a:ln w="15875">
            <a:solidFill>
              <a:srgbClr val="A16207"/>
            </a:solidFill>
            <a:prstDash val="solid"/>
          </a:ln>
        </p:spPr>
      </p:sp>
      <p:sp>
        <p:nvSpPr>
          <p:cNvPr id="7" name="Shape 5"/>
          <p:cNvSpPr/>
          <p:nvPr/>
        </p:nvSpPr>
        <p:spPr>
          <a:xfrm>
            <a:off x="11292840" y="2176272"/>
            <a:ext cx="256032" cy="256032"/>
          </a:xfrm>
          <a:prstGeom prst="ellipse">
            <a:avLst/>
          </a:prstGeom>
          <a:solidFill>
            <a:srgbClr val="A16207"/>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קאודה אקווינה = נגע היקפי מתחת לקוֹנוּס (L2 ומטה)</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991B1B">
              <a:alpha val="12000"/>
            </a:srgbClr>
          </a:solidFill>
          <a:ln w="15875">
            <a:solidFill>
              <a:srgbClr val="991B1B"/>
            </a:solidFill>
            <a:prstDash val="solid"/>
          </a:ln>
        </p:spPr>
      </p:sp>
      <p:sp>
        <p:nvSpPr>
          <p:cNvPr id="11" name="Shape 9"/>
          <p:cNvSpPr/>
          <p:nvPr/>
        </p:nvSpPr>
        <p:spPr>
          <a:xfrm>
            <a:off x="11292840" y="3044952"/>
            <a:ext cx="256032" cy="256032"/>
          </a:xfrm>
          <a:prstGeom prst="ellipse">
            <a:avLst/>
          </a:prstGeom>
          <a:solidFill>
            <a:srgbClr val="991B1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הורס את קשת הרפלקס הסקרלית עצמה - לא רק מנתק אותה</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6B7280">
              <a:alpha val="12000"/>
            </a:srgbClr>
          </a:solidFill>
          <a:ln w="15875">
            <a:solidFill>
              <a:srgbClr val="6B7280"/>
            </a:solidFill>
            <a:prstDash val="solid"/>
          </a:ln>
        </p:spPr>
      </p:sp>
      <p:sp>
        <p:nvSpPr>
          <p:cNvPr id="15" name="Shape 13"/>
          <p:cNvSpPr/>
          <p:nvPr/>
        </p:nvSpPr>
        <p:spPr>
          <a:xfrm>
            <a:off x="11292840" y="3913632"/>
            <a:ext cx="256032" cy="256032"/>
          </a:xfrm>
          <a:prstGeom prst="ellipse">
            <a:avLst/>
          </a:prstGeom>
          <a:solidFill>
            <a:srgbClr val="6B7280"/>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בניגוד לשוק ספינלי (זמני), הפגיעה כאן קבועה</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פגיעה בקאודה אקווינה היא פגיעה עצבית היקפית שהורסת פיזית את קשת הרפלקס הסקרלית - בניגוד לשוק ספינלי, שהוא דיכוי זמני (6-12 שבועות עד שנתיים) של רפלקסים שלמים אנטומית מעל הפגיעה. לכן הדפוס בקאודה אקווינה הוא דטרוסור אריפלקסי קבוע וטונוס סוגר מוחלש - לא מצב חולף. תשובה 1 מתאימה לנגע סופרה-פונטיני. תשובה 4 שגויה כי דיסרפלקסיה מצריכה נגע מעל T6, לא קאודה אקווינה.</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Cauda Equina Syndrome</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פגיעה בשורשי העצבים מתחת לקוֹנוּס מדולריס (מתחת ל-L2), הגורמת לדפוס של פגיעה עצבית היקפית בשלפוחית.</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שוק ספינלי חולף בעוד קאודה אקווינה בדרך כלל לא?</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84B59F"/>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טיפול: נוירומודולציה סקרלית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8 מתוך 9</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נוירומודולציה סקרלית פועלת על ידי גירוי חשמלי דרך אלקטרודות המושתלות באיזה פורמן, ולאיזו אוכלוסיית מטופלים היא מתאימה בעיקר?</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פורמן L1-2, לכל חולי אצירת שתן</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פורמן S1, לחולי פרקינסון בלבד</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פורמן T11, למניעת דיסרפלקסיה אוטונומית</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פורמן S3 או S4, למטופלים עמידים לטיפול תרופתי בדחיפות/תכיפות/בריחת שתן דחפית</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84B59F"/>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טיפול: נוירומודולציה סקרלית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פורמן S3 או S4, למטופלים עמידים לטיפול תרופתי בדחיפות/תכיפות/בריחת שתן דחפית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7C3AED">
              <a:alpha val="12000"/>
            </a:srgbClr>
          </a:solidFill>
          <a:ln w="15875">
            <a:solidFill>
              <a:srgbClr val="7C3AED"/>
            </a:solidFill>
            <a:prstDash val="solid"/>
          </a:ln>
        </p:spPr>
      </p:sp>
      <p:sp>
        <p:nvSpPr>
          <p:cNvPr id="7" name="Shape 5"/>
          <p:cNvSpPr/>
          <p:nvPr/>
        </p:nvSpPr>
        <p:spPr>
          <a:xfrm>
            <a:off x="11292840" y="2176272"/>
            <a:ext cx="256032" cy="256032"/>
          </a:xfrm>
          <a:prstGeom prst="ellipse">
            <a:avLst/>
          </a:prstGeom>
          <a:solidFill>
            <a:srgbClr val="7C3AED"/>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אלקטרודות פרקוטניות בפורמן S3 או S4</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E3A8A">
              <a:alpha val="12000"/>
            </a:srgbClr>
          </a:solidFill>
          <a:ln w="15875">
            <a:solidFill>
              <a:srgbClr val="1E3A8A"/>
            </a:solidFill>
            <a:prstDash val="solid"/>
          </a:ln>
        </p:spPr>
      </p:sp>
      <p:sp>
        <p:nvSpPr>
          <p:cNvPr id="11" name="Shape 9"/>
          <p:cNvSpPr/>
          <p:nvPr/>
        </p:nvSpPr>
        <p:spPr>
          <a:xfrm>
            <a:off x="11292840" y="3044952"/>
            <a:ext cx="256032" cy="256032"/>
          </a:xfrm>
          <a:prstGeom prst="ellipse">
            <a:avLst/>
          </a:prstGeom>
          <a:solidFill>
            <a:srgbClr val="1E3A8A"/>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מגרות סיבים אפרנטיים המעורבים ברפלקס ההשתנה</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5803D">
              <a:alpha val="12000"/>
            </a:srgbClr>
          </a:solidFill>
          <a:ln w="15875">
            <a:solidFill>
              <a:srgbClr val="15803D"/>
            </a:solidFill>
            <a:prstDash val="solid"/>
          </a:ln>
        </p:spPr>
      </p:sp>
      <p:sp>
        <p:nvSpPr>
          <p:cNvPr id="15" name="Shape 13"/>
          <p:cNvSpPr/>
          <p:nvPr/>
        </p:nvSpPr>
        <p:spPr>
          <a:xfrm>
            <a:off x="11292840" y="3913632"/>
            <a:ext cx="256032" cy="256032"/>
          </a:xfrm>
          <a:prstGeom prst="ellipse">
            <a:avLst/>
          </a:prstGeom>
          <a:solidFill>
            <a:srgbClr val="15803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כ-60% הצלחה ב-5 שנים במטופלים עמידים לתרופות</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(4): נוירומודולציה סקרלית משתמשת באלקטרודות פרקוטניות בפורמן S3 או S4 לגירוי סיבים אפרנטיים, ומיועדת בעיקר למטופלים עם דחיפות/תכיפות/בריחת שתן דחפית העמידים לטיפול תרופתי, עם הצלחה של כ-60% ב-5 שנים. הניסיון בהיפראקטיביות נוירוגנית מוגבל אך מבטיח. תשובות 1, 2 ו-3 שגויות מבחינת המיקום האנטומי והאוכלוסייה.</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Sacral Neuromodulation</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טכניקה של גירוי חשמלי פרקוטני של סיבים אפרנטיים בפורמן S3/S4 לטיפול בהפרעות אגירה/דחיפות עמידות לתרופות.</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בוחרים דווקא בפורמן S3/S4 ולא במקטע אחר?</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F96167"/>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אנטומיה: עצבוב סוגר חיצוני</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9 מתוך 9</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איזה גרעין בחוט השדרה אחראי על עצבוב הסוגר החיצוני המפוסק (striated), ומה ייחודי בשליטה עליו?</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גרעין Onuf בקרן הקדמית של S2-4 - השליטה היחידה מבין שלוש המערכות שהיא רצונית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גרעין Barrington בפונס - שליטה בלתי-רצונית בלבד</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גנגליון פרה-ורטברלי בגובה T11-L2</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גרעין העדשתי בגרעיני הבסיס</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F96167"/>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אנטומיה: עצבוב סוגר חיצוני</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גרעין Onuf בקרן הקדמית של S2-4 - השליטה היחידה מבין שלוש המערכות שהיא רצונית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5B21B6">
              <a:alpha val="12000"/>
            </a:srgbClr>
          </a:solidFill>
          <a:ln w="15875">
            <a:solidFill>
              <a:srgbClr val="5B21B6"/>
            </a:solidFill>
            <a:prstDash val="solid"/>
          </a:ln>
        </p:spPr>
      </p:sp>
      <p:sp>
        <p:nvSpPr>
          <p:cNvPr id="7" name="Shape 5"/>
          <p:cNvSpPr/>
          <p:nvPr/>
        </p:nvSpPr>
        <p:spPr>
          <a:xfrm>
            <a:off x="11292840" y="2176272"/>
            <a:ext cx="256032" cy="256032"/>
          </a:xfrm>
          <a:prstGeom prst="ellipse">
            <a:avLst/>
          </a:prstGeom>
          <a:solidFill>
            <a:srgbClr val="5B21B6"/>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גרעין Onuf ממוקם בקרן הקדמית של החוט הסקרלי S2-4</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E3A8A">
              <a:alpha val="12000"/>
            </a:srgbClr>
          </a:solidFill>
          <a:ln w="15875">
            <a:solidFill>
              <a:srgbClr val="1E3A8A"/>
            </a:solidFill>
            <a:prstDash val="solid"/>
          </a:ln>
        </p:spPr>
      </p:sp>
      <p:sp>
        <p:nvSpPr>
          <p:cNvPr id="11" name="Shape 9"/>
          <p:cNvSpPr/>
          <p:nvPr/>
        </p:nvSpPr>
        <p:spPr>
          <a:xfrm>
            <a:off x="11292840" y="3044952"/>
            <a:ext cx="256032" cy="256032"/>
          </a:xfrm>
          <a:prstGeom prst="ellipse">
            <a:avLst/>
          </a:prstGeom>
          <a:solidFill>
            <a:srgbClr val="1E3A8A"/>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מעצבב את הסוגר החיצוני ורצפת האגן דרך העצב הפודנדלי</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5803D">
              <a:alpha val="12000"/>
            </a:srgbClr>
          </a:solidFill>
          <a:ln w="15875">
            <a:solidFill>
              <a:srgbClr val="15803D"/>
            </a:solidFill>
            <a:prstDash val="solid"/>
          </a:ln>
        </p:spPr>
      </p:sp>
      <p:sp>
        <p:nvSpPr>
          <p:cNvPr id="15" name="Shape 13"/>
          <p:cNvSpPr/>
          <p:nvPr/>
        </p:nvSpPr>
        <p:spPr>
          <a:xfrm>
            <a:off x="11292840" y="3913632"/>
            <a:ext cx="256032" cy="256032"/>
          </a:xfrm>
          <a:prstGeom prst="ellipse">
            <a:avLst/>
          </a:prstGeom>
          <a:solidFill>
            <a:srgbClr val="15803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המערכת היחידה מבין השלוש שנמצאת תחת שליטה רצונית</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גרעין Onuf ממוקם בקרן הקדמית של המקטע הסקרלי S2-4 ומעצבב את הסוגר החיצוני ורצפת האגן דרך העצב הפודנדלי - זוהי המערכת הסומטית-הרצונית היחידה מבין שלוש מערכות העצבוב (לעומת הפאראסימפתטי והסימפתטי הבלתי-רצוניים). גרעין Barrington (2) הוא PMC בפונס ואינו גרעין מוטורי סקרלי. תשובות 3 ו-4 אינן קשורות לעצבוב הסוגר.</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Onuf's Nucleus</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גרעין מוטורי סומטי בקרן הקדמית של S2-4, האחראי על עצבוב רצוני של הסוגר החיצוני ורצפת האגן.</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algn="r" indent="0" marL="0">
              <a:buNone/>
            </a:pP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לדעת שהעצבוב לסוגר החיצוני הוא הרצוני היחיד?</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1B2A"/>
        </a:solidFill>
      </p:bgPr>
    </p:bg>
    <p:spTree>
      <p:nvGrpSpPr>
        <p:cNvPr id="1" name=""/>
        <p:cNvGrpSpPr/>
        <p:nvPr/>
      </p:nvGrpSpPr>
      <p:grpSpPr>
        <a:xfrm>
          <a:off x="0" y="0"/>
          <a:ext cx="0" cy="0"/>
          <a:chOff x="0" y="0"/>
          <a:chExt cx="0" cy="0"/>
        </a:xfrm>
      </p:grpSpPr>
      <p:sp>
        <p:nvSpPr>
          <p:cNvPr id="2" name="Text 0"/>
          <p:cNvSpPr/>
          <p:nvPr/>
        </p:nvSpPr>
        <p:spPr>
          <a:xfrm>
            <a:off x="914400" y="548640"/>
            <a:ext cx="10360152" cy="640080"/>
          </a:xfrm>
          <a:prstGeom prst="rect">
            <a:avLst/>
          </a:prstGeom>
          <a:noFill/>
          <a:ln/>
        </p:spPr>
        <p:txBody>
          <a:bodyPr wrap="square" rtlCol="0" anchor="ctr"/>
          <a:lstStyle/>
          <a:p>
            <a:pPr rtl="1" algn="ctr" indent="0" marL="0">
              <a:buNone/>
            </a:pPr>
            <a:r>
              <a:rPr lang="en-US" sz="3000" b="1" dirty="0">
                <a:solidFill>
                  <a:srgbClr val="FFFFFF"/>
                </a:solidFill>
                <a:latin typeface="Calibri" pitchFamily="34" charset="0"/>
                <a:ea typeface="Calibri" pitchFamily="34" charset="-122"/>
                <a:cs typeface="Calibri" pitchFamily="34" charset="-120"/>
              </a:rPr>
              <a:t>סיכום הכרטיסיות</a:t>
            </a:r>
            <a:endParaRPr lang="en-US" sz="3000" dirty="0"/>
          </a:p>
        </p:txBody>
      </p:sp>
      <p:sp>
        <p:nvSpPr>
          <p:cNvPr id="3" name="Text 1"/>
          <p:cNvSpPr/>
          <p:nvPr/>
        </p:nvSpPr>
        <p:spPr>
          <a:xfrm>
            <a:off x="1097280" y="1463040"/>
            <a:ext cx="9994392" cy="4389120"/>
          </a:xfrm>
          <a:prstGeom prst="rect">
            <a:avLst/>
          </a:prstGeom>
          <a:noFill/>
          <a:ln/>
        </p:spPr>
        <p:txBody>
          <a:bodyPr wrap="square" rtlCol="0" anchor="t"/>
          <a:lstStyle/>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autonomic dysreflexia</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T6</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sympathetic outflow</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suprapontine</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detrusor overactivity</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PMC</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CIC</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indwelling catheter</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bladder emptying</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botulinum toxin A</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urinary retention</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bulbocavernosus reflex</a:t>
            </a:r>
            <a:endParaRPr lang="en-US" sz="1600" dirty="0"/>
          </a:p>
        </p:txBody>
      </p:sp>
      <p:sp>
        <p:nvSpPr>
          <p:cNvPr id="4" name="Text 2"/>
          <p:cNvSpPr/>
          <p:nvPr/>
        </p:nvSpPr>
        <p:spPr>
          <a:xfrm>
            <a:off x="914400" y="6309360"/>
            <a:ext cx="10360152"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maskit101.github.io/summeries-medicine/neurosurgery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2026-09-04T12:27:54Z</dcterms:created>
  <dcterms:modified xsi:type="dcterms:W3CDTF">2026-09-04T12:27:54Z</dcterms:modified>
</cp:coreProperties>
</file>