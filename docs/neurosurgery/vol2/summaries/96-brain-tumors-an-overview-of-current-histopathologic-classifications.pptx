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B2A"/>
        </a:solidFill>
      </p:bgPr>
    </p:bg>
    <p:spTree>
      <p:nvGrpSpPr>
        <p:cNvPr id="1" name=""/>
        <p:cNvGrpSpPr/>
        <p:nvPr/>
      </p:nvGrpSpPr>
      <p:grpSpPr>
        <a:xfrm>
          <a:off x="0" y="0"/>
          <a:ext cx="0" cy="0"/>
          <a:chOff x="0" y="0"/>
          <a:chExt cx="0" cy="0"/>
        </a:xfrm>
      </p:grpSpPr>
      <p:sp>
        <p:nvSpPr>
          <p:cNvPr id="2" name="Shape 0"/>
          <p:cNvSpPr/>
          <p:nvPr/>
        </p:nvSpPr>
        <p:spPr>
          <a:xfrm>
            <a:off x="5559552" y="640080"/>
            <a:ext cx="1078992" cy="1078992"/>
          </a:xfrm>
          <a:prstGeom prst="ellipse">
            <a:avLst/>
          </a:prstGeom>
          <a:ln w="38100">
            <a:solidFill>
              <a:srgbClr val="1C7293"/>
            </a:solidFill>
            <a:prstDash val="solid"/>
          </a:ln>
        </p:spPr>
      </p:sp>
      <p:sp>
        <p:nvSpPr>
          <p:cNvPr id="3" name="Shape 1"/>
          <p:cNvSpPr/>
          <p:nvPr/>
        </p:nvSpPr>
        <p:spPr>
          <a:xfrm>
            <a:off x="5788152" y="868680"/>
            <a:ext cx="621792" cy="621792"/>
          </a:xfrm>
          <a:prstGeom prst="ellipse">
            <a:avLst/>
          </a:prstGeom>
          <a:solidFill>
            <a:srgbClr val="1C7293"/>
          </a:solidFill>
          <a:ln/>
        </p:spPr>
      </p:sp>
      <p:sp>
        <p:nvSpPr>
          <p:cNvPr id="4" name="Text 2"/>
          <p:cNvSpPr/>
          <p:nvPr/>
        </p:nvSpPr>
        <p:spPr>
          <a:xfrm>
            <a:off x="914400" y="2103120"/>
            <a:ext cx="10360152" cy="914400"/>
          </a:xfrm>
          <a:prstGeom prst="rect">
            <a:avLst/>
          </a:prstGeom>
          <a:noFill/>
          <a:ln/>
        </p:spPr>
        <p:txBody>
          <a:bodyPr wrap="square" rtlCol="0" anchor="ctr"/>
          <a:lstStyle/>
          <a:p>
            <a:pPr rtl="1" algn="ctr" indent="0" marL="0">
              <a:buNone/>
            </a:pPr>
            <a:r>
              <a:rPr lang="en-US" sz="4000" b="1" dirty="0">
                <a:solidFill>
                  <a:srgbClr val="FFFFFF"/>
                </a:solidFill>
                <a:latin typeface="Calibri" pitchFamily="34" charset="0"/>
                <a:ea typeface="Calibri" pitchFamily="34" charset="-122"/>
                <a:cs typeface="Calibri" pitchFamily="34" charset="-120"/>
              </a:rPr>
              <a:t>נוירוכירורגיה — כרך 2</a:t>
            </a:r>
            <a:endParaRPr lang="en-US" sz="4000" dirty="0"/>
          </a:p>
        </p:txBody>
      </p:sp>
      <p:sp>
        <p:nvSpPr>
          <p:cNvPr id="5" name="Text 3"/>
          <p:cNvSpPr/>
          <p:nvPr/>
        </p:nvSpPr>
        <p:spPr>
          <a:xfrm>
            <a:off x="914400" y="3017520"/>
            <a:ext cx="10360152" cy="640080"/>
          </a:xfrm>
          <a:prstGeom prst="rect">
            <a:avLst/>
          </a:prstGeom>
          <a:noFill/>
          <a:ln/>
        </p:spPr>
        <p:txBody>
          <a:bodyPr wrap="square" rtlCol="0" anchor="ctr"/>
          <a:lstStyle/>
          <a:p>
            <a:pPr rtl="1" algn="ctr" indent="0" marL="0">
              <a:buNone/>
            </a:pPr>
            <a:r>
              <a:rPr lang="en-US" sz="2400" dirty="0">
                <a:solidFill>
                  <a:srgbClr val="93C5FD"/>
                </a:solidFill>
                <a:latin typeface="Calibri" pitchFamily="34" charset="0"/>
                <a:ea typeface="Calibri" pitchFamily="34" charset="-122"/>
                <a:cs typeface="Calibri" pitchFamily="34" charset="-120"/>
              </a:rPr>
              <a:t>פרק 96: סקירת הסיווגים ההיסטופתולוגיים העדכניים של גידולי מוח</a:t>
            </a:r>
            <a:endParaRPr lang="en-US" sz="2400" dirty="0"/>
          </a:p>
        </p:txBody>
      </p:sp>
      <p:sp>
        <p:nvSpPr>
          <p:cNvPr id="6" name="Text 4"/>
          <p:cNvSpPr/>
          <p:nvPr/>
        </p:nvSpPr>
        <p:spPr>
          <a:xfrm>
            <a:off x="914400" y="3657600"/>
            <a:ext cx="10360152" cy="457200"/>
          </a:xfrm>
          <a:prstGeom prst="rect">
            <a:avLst/>
          </a:prstGeom>
          <a:noFill/>
          <a:ln/>
        </p:spPr>
        <p:txBody>
          <a:bodyPr wrap="square" rtlCol="0" anchor="ctr"/>
          <a:lstStyle/>
          <a:p>
            <a:pPr algn="ctr" indent="0" marL="0">
              <a:buNone/>
            </a:pPr>
            <a:r>
              <a:rPr lang="en-US" sz="1500" i="1" dirty="0">
                <a:solidFill>
                  <a:srgbClr val="7DD3FC"/>
                </a:solidFill>
                <a:latin typeface="Calibri" pitchFamily="34" charset="0"/>
                <a:ea typeface="Calibri" pitchFamily="34" charset="-122"/>
                <a:cs typeface="Calibri" pitchFamily="34" charset="-120"/>
              </a:rPr>
              <a:t>Brain Tumors- An Overview of Current Histopathologic Classifications  ·  Youmans Neurological Surgery</a:t>
            </a:r>
            <a:endParaRPr lang="en-US" sz="1500" dirty="0"/>
          </a:p>
        </p:txBody>
      </p:sp>
      <p:sp>
        <p:nvSpPr>
          <p:cNvPr id="7" name="Text 5"/>
          <p:cNvSpPr/>
          <p:nvPr/>
        </p:nvSpPr>
        <p:spPr>
          <a:xfrm>
            <a:off x="914400" y="5943600"/>
            <a:ext cx="10360152" cy="548640"/>
          </a:xfrm>
          <a:prstGeom prst="rect">
            <a:avLst/>
          </a:prstGeom>
          <a:noFill/>
          <a:ln/>
        </p:spPr>
        <p:txBody>
          <a:bodyPr wrap="square" rtlCol="0" anchor="ctr"/>
          <a:lstStyle/>
          <a:p>
            <a:pPr rtl="1" algn="ctr" indent="0" marL="0">
              <a:buNone/>
            </a:pPr>
            <a:r>
              <a:rPr lang="en-US" sz="1250" dirty="0">
                <a:solidFill>
                  <a:srgbClr val="64748B"/>
                </a:solidFill>
                <a:latin typeface="Calibri" pitchFamily="34" charset="0"/>
                <a:ea typeface="Calibri" pitchFamily="34" charset="-122"/>
                <a:cs typeface="Calibri" pitchFamily="34" charset="-120"/>
              </a:rPr>
              <a:t>8 כרטיסיות תרגול · שאלה ואז תשובה מלאה בכל כרטיסייה · לסטטיסטיקה חיה השתמשי באפליקציית ה-HTML</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דרגות WHO ואסטרוציטומה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1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מטופל עם גליומה מבוזרת עובר ביופסיה חוזרת לאחר החמרה קלינית. ההשוואה להיסטולוגיה הקודמת מראה כעת גם שגשוג כלי דם מיקרווסקולרי מובהק, בנוסף לאטיפיה גרעינית ופעילות מיטוטית שכבר תועדו קודם. מהי המשמעות הדרגתית (WHO grade) של הממצא החדש?</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משמעות קלינית - שגשוג כלי דם עלול להופיע בכל דרגת גידול ואינו קריטריון אבחנתי</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הגידול משודרג ל-Grade III בלבד - Grade IV מחייב גם נוכחות נמק, לא שגשוג כלי דם בלבד</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יש להוריד את הדרגה - שגשוג כלי דם משקף תגובה חיסונית מוצלחת נגד הגידול</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הגידול משודרג ל-Grade IV (גליובלסטומה) - שגשוג כלי דם מיקרווסקולרי מספיק, גם ללא נמק, בשילוב עם האטיפיה והמיטוזות שכבר קיימות</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דרגות WHO ואסטרוציטומה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הגידול משודרג ל-Grade IV (גליובלסטומה) - שגשוג כלי דם מיקרווסקולרי מספיק, גם ללא נמק, בשילוב עם האטיפיה והמיטוזות שכבר קיימות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אטיפיה גרעינית בלבד מאפיינת Grade II</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הצטרפות פעילות מיטוטית בולטת מעלה ל-Grade III</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הצטרפות שגשוג כלי דם ו/או נמק (לא חובה שניהם יחד!) מעלה ל-Grade IV</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הצירוף של אטיפיה, מיטוזות ועכשיו גם שגשוג כלי דם מיקרווסקולרי הוא בדיוק ההגדרה ההיסטולוגית של גליובלסטומה (Grade IV) לפי WHO 2007 - נמק אינו נדרש כתנאי נוסף. האפשרות שמצריכה גם נמק בנוסף טועה: שגשוג כלי דם לבדו, בשילוב פליאומורפיזם ומיטוזות, כבר מספיק. האפשרות שרואה בשגשוג כלי דם ממצא חסר משמעות מתעלמת מכך שזהו אחד משני הקריטריונים ההיסטולוגיים המגדירים GBM. האפשרות שמציעה הורדת דרגה הפוכה לחלוטין למנגנון האמיתי: שגשוג כלי הדם משקף ניסיון (כושל בסופו של דבר) של הגוף לספק דם לגידול שגדל מהר מדי, לא תגובה חיסונית מוצלחת.</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שגשוג מיקרווסקולרי (microvascular proliferation)</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ריבוי שכבות של תאי אנדותל ופריציטים בדופן כלי הדם (יותר משתי שכבות תאים) - תגובת כלי הדם לניסיון "לרדוף" אחרי גידול שגדל מהר יותר מקצב אספקת הדם אליו.</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עיר שגדלה כל כך מהר שהכבישים (כלי הדם) מתחילים להיבנות בבהילות ובכל כיוון כדי לנסות לספק לכל השכונות החדשות - זה בדיוק שגשוג כלי הדם המיקרווסקולרי: תגובה נואשת לגידול מהיר מדי.</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שגשוג כלי דם, ולא רק מיטוזות, הוא הסימן שמעלה את הדרגה ל-IV ולא משאיר אותה ב-III?</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B85042"/>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גליובלסטומה - מסלולים גנטיים</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2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שתי מטופלות מאובחנות עם גליובלסטומה (GBM). הראשונה בת 68, ללא היסטוריה קודמת של גידול מוחי, עם הגברת (amplification) של הגן EGFR. השנייה בת 38, עם היסטוריה של אסטרוציטומה מבוזרת (Grade II) לפני שנתיים שהתקדמה כעת, עם מוטציית TP53. כיצד מסווגים את שני המקרים?</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שתי המטופלות סובלות מאותו תת-סוג בדיוק - הגיל וההיסטוריה אינם רלוונטיים לסיווג</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המטופלת הראשונה: GBM ראשוני (דה-נובו); המטופלת השנייה: GBM משני (מהתקדמות אסטרוציטומה קיימת) - שני מסלולים גנטיים שונים המתכנסים לאותו פנוטיפ היסטולוגי</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המטופלת הראשונה: GBM משני; השנייה: GBM ראשוני - כי TP53 הוא הסמן השכיח יותר בכלל</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 אפשר לקבוע תת-סוג בלי בדיקת מחיקת 1p/19q בשתי המטופלות</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B85042"/>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גליובלסטומה - מסלולים גנטיים</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המטופלת הראשונה: GBM ראשוני (דה-נובו); המטופלת השנייה: GBM משני (מהתקדמות אסטרוציטומה קיימת) - שני מסלולים גנטיים שונים המתכנסים לאותו פנוטיפ היסטולוגי</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GBM ראשוני = דה-נובו, גיל מבוגר יחסית, הגברת EGFR בכ-40% מהמקרים</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GBM משני = מתקדם מאסטרוציטומה מבוזרת קיימת, מבוגרים צעירים יותר (&lt;45), מוטציית TP53</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שני המסלולים הגנטיים השונים מתכנסים לאותו פנוטיפ היסטולוגי סופי - GBM Grade IV</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הגדרת GBM ראשוני מול משני מבוססת על ההיסטוריה הקלינית (האם קדם גידול ממאיר פחות) ועל הסמן הגנטי (EGFR מול TP53) - בדיוק כפי שמתואר בשתי המטופלות. הטענה ששני המקרים זהים מתעלמת מהבדל קליני וגנטי מהותי. החלפת הסיווגים בין המטופלות הפוכה לעובדות: TP53 הוא הסמן של GBM משני דווקא, לא ראשוני. ולבסוף, בדיקת 1p/19q רלוונטית לאבחנה מבדלת מול אוליגודנדרוגליומה, ואינה נדרשת לסיווג ראשוני/משני של GBM.</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GBM ראשוני מול משני (Primary vs secondary GBM)</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שני מסלולים קליניים-גנטיים שונים המובילים לאותה תמונה היסטולוגית סופית של גליובלסטומה Grade IV; ראשוני מופיע דה-נובו, משני מתפתח מהתקדמות גידול קיים.</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כמו שתי דרכים שונות לגמרי שמובילות לאותה פסגת הר: אחת דרך עלייה תלולה ומהירה (ראשוני, ישר לפסגה), והשנייה דרך מסלול הררי ארוך יותר עם תחנות ביניים (משני, דרך Grade II ו-III) - אבל שתיהן מגיעות לאותה פסגה: GBM.</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מבחינה קלינית להבדיל בין GBM ראשוני למשני, אם הטיפול הסופי דומה?</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1295C"/>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קריטריוני אבחנה - GBM</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3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פתולוג בוחן ביופסיה של גליומה בדרגה גבוהה. הוא מזהה פליאומורפיזם בולט, פעילות מיטוטית גבוהה ושגשוג כלי דם מיקרווסקולרי גלומרולואידי - אך לא מוצא שום אזור נמק בכל החתכים שנבדקו. האם ניתן לאבחן גליובלסטומה (GBM) במקרה זה לפי קריטריוני WHO 2007?</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לא - נמק הוא קריטריון חובה שאין בלעדיו לאבחן GBM בשום מקרה</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לא - יש לחכות לביופסיה חוזרת שתדגים נמק לפני קביעת האבחנה הסופית</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כן - שגשוג כלי דם מיקרווסקולרי, בשילוב פליאומורפיזם ופעילות מיטוטית מוגברת, מספיק לאבחנת GBM גם ללא נמק</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כן, אך רק אם גם מתגלה מוטציית TP53 בבדיקה מולקולרית נלווית</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1295C"/>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קריטריוני אבחנה - GBM</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כן - שגשוג כלי דם מיקרווסקולרי, בשילוב פליאומורפיזם ופעילות מיטוטית מוגברת, מספיק לאבחנת GBM גם ללא נמק</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נמק ושגשוג כלי דם הם שני הממצאים ה'קלאסיים' של GBM - אך רק אחד מהם חובה</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שגשוג כלי דם מיקרווסקולרי + פליאומורפיזם + מיטוזות מוגברות = מספיק לאבחנה</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נמק (במיוחד נמק פסאודו-פליסאדי) שכיח מאוד ב-GBM אך אינו קריטריון הכרחי</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לפי WHO 2007, שגשוג כלי דם מיקרווסקולרי בשילוב עם פליאומורפיזם ופעילות מיטוטית מוגברת מספיק כשלעצמו לאבחנת GBM - נמק, אף שהוא שכיח מאוד קלינית, אינו תנאי הכרחי. הדרישה המוחלטת לנמק בכל מקרה אינה נכונה עובדתית. גם ההמלצה להמתין לביופסיה חוזרת מיותרת - האבחנה כבר ניתנת לקביעה מהממצאים הקיימים. ולבסוף, מוטציית TP53 קשורה למסלול הגנטי של GBM משני ואינה תנאי לאבחנה ההיסטולוגית עצמה.</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נמק פסאודו-פליסאדי (pseudopalisading necrosis)</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דפוס היסטולוגי שבו תאי גידול נדחסים בטבעת סביב אזור נמק מרכזי - ממצא שכיח מאוד אך לא הכרחי ב-GBM.</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כמו רשימת קריטריונים לקבלה למועדון שבה מספיק לעמוד בשניים מתוך שלושה תנאים - אפשר 'להתקבל' (לאבחן GBM) גם אם התנאי השלישי (נמק) חסר, כל עוד השניים האחרים (שגשוג כלי דם + פליאומורפיזם/מיטוזות) קיימים.</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מבחינה ביולוגית, למה שגשוג כלי דם לבדו (ללא נמק) כבר מספיק כדי להעיד על הגידול הכי אגרסיבי?</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6D2E46"/>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אוליגודנדרוגליומה ומולקולריקה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4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תחת המיקרוסקופ, תאי אוליגודנדרוגליומה מראים 'הילה' צלולה סביב הגרעין ('ביצת עין', fried egg). מהי המשמעות הביולוגית האמיתית של הילה זו, ומדוע חשוב לדעת זאת קלינית?</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ההילה היא ארטיפקט של קיבוע בפורמלין והטבעה בפרפין ולא תכונה של התא החי - ולכן היא עלולה להיעדר או להיות פחות בולטת בביופסיה קפואה תוך-ניתוחית</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ההילה מייצגת הצטברות שומן תוך-תאית אמיתית, זהה בתא חי ובתא מעובד</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ההילה היא סימן אבחנתי-מולקולרי המחליף את הצורך בבדיקת מחיקת 1p/19q</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ההילה מעידה תמיד על דרגה גבוהה יותר (Grade III) של הגידול</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6D2E46"/>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אוליגודנדרוגליומה ומולקולריקה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ההילה היא ארטיפקט של קיבוע בפורמלין והטבעה בפרפין ולא תכונה של התא החי - ולכן היא עלולה להיעדר או להיות פחות בולטת בביופסיה קפואה תוך-ניתוחית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ההילה נוצרת מהתכווצות הציטופלזמה סביב הגרעין בזמן קיבוע פורמלין+פרפין</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בביופסיה קפואה, שלא עוברת אותו תהליך קיבוע, ההילה פחות בולטת</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המשמעות הקלינית: אין להסתמך רק על 'ביצת העין' בזמן ניתוח (frozen section) - יש לחכות לרקמה קבועה</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הפרק מדגיש במפורש שההילה הפרינוקלארית היא ארטיפקט קיבוע ולא מאפיין ביולוגי מולד - כך שהמראה הקלאסי פחות אמין בביופסיה קפואה. הטענה שמדובר בהצטברות שומן אמיתית שגויה עובדתית. ההילה גם אינה מחליפה בדיקה מולקולרית - מחיקת 1p/19q היא בדיקה נפרדת ומשלימה, לא זהה לה במשמעותה. ולבסוף, נוכחות ההילה כשלעצמה אינה מסמנת דרגה גבוהה יותר - זהו מאפיין מורפולוגי בסיסי שמופיע כבר ב-Grade II.</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ארטיפקט קיבוע (fixation artifact)</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שינוי מורפולוגי שנוצר כתוצאה מתהליך העיבוד ההיסטולוגי (קיבוע, הטבעה, חיתוך) ואינו קיים ברקמה החיה - חשוב להכיר כדי לא לפרש אותו כממצא ביולוגי.</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כמו קמט בבד שמופיע רק אחרי כביסה וגיהוץ מסוימים - הקמט (ההילה) לא היה שם לפני התהליך, אבל הוא כן עוזר לזהות איך הבד עובד (=לאבחן), כל עוד זוכרים שזה תוצר של התהליך ולא תכונה מקורית.</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לפתולוג לדעת שממצא מסוים הוא ארטיפקט טכני ולא תכונה ביולוגית?</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C5F2D"/>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אפנדימומה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5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בביופסיה של גידול תוך-חדרי, הפתולוג מזהה תהליכים ציטופלזמטיים פיברילריים דקים שמקרינים כלפי דופן כלי דם ('צווארון' סביב הכלי). מהי האבחנה הסבירה ביותר, ומהו שם המבנה ההיסטולוגי שזוהה?</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מדולובלסטומה; רוזטת Homer-Wright</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אסטרוציטומה פילוציטית; סיבי Rosenthal</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מנינגיומה; גופיף פסמומה</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אפנדימומה; פסאודו-רוזטה פריווסקולרית (perivascular pseudorosette)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C5F2D"/>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אפנדימומה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אפנדימומה; פסאודו-רוזטה פריווסקולרית (perivascular pseudorosette)</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פסאודו-רוזטה פריווסקולרית = הסימן ההיסטולוגי השכיח ביותר של אפנדימומה</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תהליכים גליאליים דקים מקרינים מהתא אל דופן כלי הדם, יוצרים 'צווארון'</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שונה מרוזטה אפנדימלית אמיתית (תאים סביב לומן מרכזי) - נדירה יותר אך אלגנטית יותר אבחנתית</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התיאור ('צווארון' פריווסקולרי של תהליכים פיברילריים) הוא ההגדרה הקלאסית של פסאודו-רוזטה פריווסקולרית, האופיינית לאפנדימומה. רוזטת Homer-Wright שייכת למדולובלסטומה ומורכבת מתאים סביב חומר פיברילרי מרכזי, לא סביב כלי דם. סיבי Rosenthal הם מבנים תוך-תאיים באסטרוציטומה פילוציטית, לא מבנה 'צווארון' סביב כלי דם. גופיף פסמומה הוא הסתיידות עגולה במנינגיומה, שונה לחלוטין מבחינה מורפולוגית.</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פסאודו-רוזטה פריווסקולרית (perivascular pseudorosette)</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תהליכים ציטופלזמטיים גליאליים דקים המשתרעים מתאי הגידול אל דופן כלי דם קטן, יוצרים מראה 'צווארון' סביב הכלי - הסימן ההיסטולוגי המרכזי של אפנדימומה.</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עיגול תלמידים סביב מורה (כלי הדם) כשכולם מושיטים יד (התהליך הציטופלזמטי) לכיוונו - זו בדיוק הצורה של פסאודו-רוזטה פריווסקולרית.</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להבדיל בין פסאודו-רוזטה פריווסקולרית לרוזטה אפנדימלית אמיתית?</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990011"/>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גידולים אמבריונליים - AT/RT</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6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תינוקת בת שנתיים מאובחנת עם גידול בפוסה האחורית. בדיקה אימונוהיסטוכימית מדגימה אובדן מוחלט של ביטוי גרעיני לחלבון INI1 בתאי הגידול. מהי המשמעות האבחנתית?</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מדובר במדולובלסטומה קלאסית - ביטוי INI1 תמיד אבוד במדולובלסטומה</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מדובר בגידול טרטואידי/רבדואידי אטיפי (AT/RT) - אובדן INI1 הוא הסמן האבחנתי המכריע, בעוד שביטויו תמיד נשמר במדולובלסטומה</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התוצאה אינה תקפה - יש לחזור על הצביעה כי INI1 תמיד חיובי בכל גידולי הפוסה האחורית</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מדובר באסטרוציטומה פילוציטית עם אובדן משני של INI1</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990011"/>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גידולים אמבריונליים - AT/RT</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מדובר בגידול טרטואידי/רבדואידי אטיפי (AT/RT) - אובדן INI1 הוא הסמן האבחנתי המכריע, בעוד שביטויו תמיד נשמר במדולובלסטומה</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INI1/SMARCB1 הוא גן מדכא-גידולים; אינאקטיבציה שלו גורמת לאובדן ביטוי החלבון</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אובדן INI1 גרעיני = הסמן האבחנתי המכריע ל-AT/RT</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במדולובלסטומה, לעומת זאת, ביטוי INI1 תמיד נשמר - זהו כלי ההבחנה העיקרי בין השניים</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אובדן ביטוי אימונוהיסטוכימי גרעיני של INI1 הוא הממצא האבחנתי המכריע ב-AT/RT, במיוחד בגידול פוסה אחורית בילדות צעירה. הטענה שמדובר במדולובלסטומה קלאסית הפוכה מהעובדות - במדולובלסטומה ביטוי INI1 תמיד נשמר, ואובדנו דווקא שולל אבחנה זו. אין סיבה לפקפק בתקפות התוצאה - זו צביעה אמינה ונפוצה בפרקטיקה. ולבסוף, אסטרוציטומה פילוציטית אינה קשורה כלל לאובדן INI1, שהוא ייחודי לספקטרום גידולי הרבדואיד.</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INI1/SMARCB1</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גן מדכא-גידולים; אינאקטיבציה שלו (ולכן אובדן ביטוי החלבון בצביעה אימונוהיסטוכימית) הוא הממצא המכריע לאבחנת גידול טרטואידי/רבדואידי אטיפי (AT/RT).</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תארי לעצמך תג זיהוי (INI1) שכל התאים התקינים והרוב הגדול של גידולי פוסה אחורית אחרים עונדים - חוץ מ-AT/RT, שבו התג נעלם לגמרי. היעדר התג הוא בדיוק מה שמסגיר את הזהות.</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הגיל הצעיר מאוד (כמו במקרה הזה) מעלה את החשד ל-AT/RT עוד לפני קבלת תוצאת ה-INI1?</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028090"/>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מנינגיומה - קריטריוני דרגה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7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פתולוג בוחן מנינגיומה וסופר 5 מיטוזות ל-10 שדות בהגדלה גבוהה (HPF), ללא פלישה למוח. מהי הדרגה (WHO grade) הנכונה, ומדוע?</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Grade I - כי אין פלישה למוח, וזה הקריטריון היחיד שקובע שדרוג</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Grade III - כל ספירה מעל 4 מיטוזות תמיד מעידה על מנינגיומה אנפלסטית</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Grade II (אטיפית) - הסף לשדרוג הוא 4 מיטוזות ומעלה ל-10 HPF; פלישה למוח אינה נדרשת בנוסף</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 אפשר לקבוע דרגה בלי בדיקת EMA משלימה</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028090"/>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מנינגיומה - קריטריוני דרגה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Grade II (אטיפית) - הסף לשדרוג הוא 4 מיטוזות ומעלה ל-10 HPF; פלישה למוח אינה נדרשת בנוסף</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סף מיטוטי ל-Grade II (אטיפית): 4 מיטוזות ומעלה ל-10 HPF</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לחלופין: 3 מתוך 5 מאפיינים נוספים (צלולריות, תאים קטנים, נוקלאולי, שכבות, מיקרונקרוזיס) - גם ללא הגעה לסף המיטוטי</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פלישה למוח היא קריטריון שדרוג עצמאי בפני עצמו - לא תנאי נוסף שחייב להתלוות למיטוזות</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5 מיטוזות עוברות את סף ה-4 הנדרש ל-Grade II (אטיפית), ללא צורך בפלישה נוספת למוח - זהו קריטריון שדרוג עצמאי, לא תוספת הכרחית. הדרישה לפלישה למוח כתנאי יחיד מתעלמת מהקריטריון המיטוטי הנפרד. הרף להגדרת Grade III הוא 20 מיטוזות ומעלה, גבוה בהרבה מ-5 - כך שהטענה שכל ספירה מעל 4 מעידה על Grade III שגויה. ולבסוף, EMA הוא סמן אימונוהיסטוכימי שמסייע לאבחנה מבדלת ממנינגיומה, אך אינו נדרש לקביעת הדרגה עצמה.</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מנינגיומה אטיפית (atypical meningioma, WHO grade II)</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מנינגיומה עם שדרוג דרגה על בסיס 4 מיטוזות ומעלה ל-10 HPF, או 3 מתוך 5 מאפיינים היסטולוגיים נוספים, או פלישה למוח - כל אחד מהקריטריונים הללו מספיק בפני עצמו.</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כמו מבחן קבלה עם שלושה מסלולים נפרדים להצלחה (ציון מיטוטי גבוה, או צבר תכונות חשודות, או פלישה) - מספיק לעבור באחד מהם כדי 'להתקבל' לדרגה II, אין צורך לעבור בכולם יחד.</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WHO קבע כמה קריטריונים חלופיים לשדרוג במקום דרישה יחידה?</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84B59F"/>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קרניופרינגיומה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8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ילד בן 8 מנותח להסרת גידול באזור הסלרי/סופרה-סלרי. הפתולוגיה מדגימה קינים אפיתליאליים עם פליסאדינג גרעיני היקפי, ונודולי 'קרטין רטוב' מסויד, עם ציסטות המכילות נוזל צמיגי כהה. מהו תת-הסוג הסביר ביותר, ומה מקור הרקמה החשוד?</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קרניופרינגיומה מטיפוס אדמנטינומטי (adamantinomatous) - כנראה משאריות שק רתקה (Rathke's pouch); שכיח יותר בילדים</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קרניופרינגיומה מטיפוס פפילרי - שכיח בעיקר בילדים; מאופיין באפיתל קשקשי לא-מקרנן</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גרמינומה - עם אוכלוסיית תאים דו-פאזית ורגישות גבוהה לקרינה</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אפנדימומה מיקסופפילרית - עם תאים קובואידליים סביב מיקרוציסטות</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84B59F"/>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קרניופרינגיומה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קרניופרינגיומה מטיפוס אדמנטינומטי (adamantinomatous) - כנראה משאריות שק רתקה (Rathke's pouch); שכיח יותר בילדים</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'קרטין רטוב' מסויד + ציסטות עם נוזל 'שמן מכונות' = תת-הסוג האדמנטינומטי</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תת-הסוג האדמנטינומטי הוא השכיח יותר בכלל, ובעיקר בילדים</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מקור חשוד: שאריות אמבריונליות של שק רתקה (Rathke's pouch)</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התיאור ההיסטולוגי (קרטין רטוב מסויד, פליסאדינג היקפי, נוזל ציסטי כהה 'שמן מכונות') הוא קלאסי לתת-הסוג האדמנטינומטי, השכיח בילדים ומיוחס לשאריות שק רתקה. התת-סוג הפפילרי, לעומת זאת, מופיע רק במבוגרים ומאופיין באפיתל קשקשי לא-מקרנן ללא קרטין רטוב - הפוך למה שתואר כאן. גרמינומה היא גידול תאי נבט שונה לחלוטין מבחינה מורפולוגית ומיקום דמוגרפי. אפנדימומה מיקסופפילרית שייכת לאזור החרוט המדולרי בחוט השדרה, לא לאזור הסלרי.</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'קרטין רטוב' (wet keratin)</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נודולים של קרטין מסויד האופייניים לתת-הסוג האדמנטינומטי של קרניופרינגיומה; לצידם ציסטות עם נוזל צמיגי כהה המכונה 'שמן מכונות'.</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תארי לעצמך שרידים ארכיאולוגיים (שאריות שק רתקה עובריות) שנשארו במקום הלא נכון, ובמשך שנים 'התיישנו' לגוש קרטין מסויד וציסטה עם נוזל כהה כמו שמן ישן - זה בדיוק המקור וההתפתחות של הקרניופרינגיומה האדמנטינומטית.</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לדעת מהו תת-הסוג ההיסטולוגי, אם הגורם הפרוגנוסטי החשוב ביותר הוא היקף הכריתה הכירורגית בשני הסוגים?</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1B2A"/>
        </a:solidFill>
      </p:bgPr>
    </p:bg>
    <p:spTree>
      <p:nvGrpSpPr>
        <p:cNvPr id="1" name=""/>
        <p:cNvGrpSpPr/>
        <p:nvPr/>
      </p:nvGrpSpPr>
      <p:grpSpPr>
        <a:xfrm>
          <a:off x="0" y="0"/>
          <a:ext cx="0" cy="0"/>
          <a:chOff x="0" y="0"/>
          <a:chExt cx="0" cy="0"/>
        </a:xfrm>
      </p:grpSpPr>
      <p:sp>
        <p:nvSpPr>
          <p:cNvPr id="2" name="Text 0"/>
          <p:cNvSpPr/>
          <p:nvPr/>
        </p:nvSpPr>
        <p:spPr>
          <a:xfrm>
            <a:off x="914400" y="548640"/>
            <a:ext cx="10360152" cy="640080"/>
          </a:xfrm>
          <a:prstGeom prst="rect">
            <a:avLst/>
          </a:prstGeom>
          <a:noFill/>
          <a:ln/>
        </p:spPr>
        <p:txBody>
          <a:bodyPr wrap="square" rtlCol="0" anchor="ctr"/>
          <a:lstStyle/>
          <a:p>
            <a:pPr rtl="1" algn="ctr" indent="0" marL="0">
              <a:buNone/>
            </a:pPr>
            <a:r>
              <a:rPr lang="en-US" sz="3000" b="1" dirty="0">
                <a:solidFill>
                  <a:srgbClr val="FFFFFF"/>
                </a:solidFill>
                <a:latin typeface="Calibri" pitchFamily="34" charset="0"/>
                <a:ea typeface="Calibri" pitchFamily="34" charset="-122"/>
                <a:cs typeface="Calibri" pitchFamily="34" charset="-120"/>
              </a:rPr>
              <a:t>סיכום הכרטיסיות</a:t>
            </a:r>
            <a:endParaRPr lang="en-US" sz="3000" dirty="0"/>
          </a:p>
        </p:txBody>
      </p:sp>
      <p:sp>
        <p:nvSpPr>
          <p:cNvPr id="3" name="Text 1"/>
          <p:cNvSpPr/>
          <p:nvPr/>
        </p:nvSpPr>
        <p:spPr>
          <a:xfrm>
            <a:off x="1097280" y="1463040"/>
            <a:ext cx="9994392" cy="4389120"/>
          </a:xfrm>
          <a:prstGeom prst="rect">
            <a:avLst/>
          </a:prstGeom>
          <a:noFill/>
          <a:ln/>
        </p:spPr>
        <p:txBody>
          <a:bodyPr wrap="square" rtlCol="0" anchor="t"/>
          <a:lstStyle/>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WHO grade</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שגשוג מיקרווסקולרי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גליובלסטומה</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GBM ראשוני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GBM משני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EGFR</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TP53</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GBM</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נמק פסאודו-פליסאדי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WHO 2007</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fried egg</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ארטיפקט קיבוע</a:t>
            </a:r>
            <a:endParaRPr lang="en-US" sz="1600" dirty="0"/>
          </a:p>
        </p:txBody>
      </p:sp>
      <p:sp>
        <p:nvSpPr>
          <p:cNvPr id="4" name="Text 2"/>
          <p:cNvSpPr/>
          <p:nvPr/>
        </p:nvSpPr>
        <p:spPr>
          <a:xfrm>
            <a:off x="914400" y="6309360"/>
            <a:ext cx="10360152" cy="36576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maskit101.github.io/summeries-medicine/neurosurgery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2026-08-30T16:12:26Z</dcterms:created>
  <dcterms:modified xsi:type="dcterms:W3CDTF">2026-08-30T16:12:26Z</dcterms:modified>
</cp:coreProperties>
</file>