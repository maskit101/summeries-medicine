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1B2A"/>
        </a:solidFill>
      </p:bgPr>
    </p:bg>
    <p:spTree>
      <p:nvGrpSpPr>
        <p:cNvPr id="1" name=""/>
        <p:cNvGrpSpPr/>
        <p:nvPr/>
      </p:nvGrpSpPr>
      <p:grpSpPr>
        <a:xfrm>
          <a:off x="0" y="0"/>
          <a:ext cx="0" cy="0"/>
          <a:chOff x="0" y="0"/>
          <a:chExt cx="0" cy="0"/>
        </a:xfrm>
      </p:grpSpPr>
      <p:sp>
        <p:nvSpPr>
          <p:cNvPr id="2" name="Shape 0"/>
          <p:cNvSpPr/>
          <p:nvPr/>
        </p:nvSpPr>
        <p:spPr>
          <a:xfrm>
            <a:off x="5559552" y="640080"/>
            <a:ext cx="1078992" cy="1078992"/>
          </a:xfrm>
          <a:prstGeom prst="ellipse">
            <a:avLst/>
          </a:prstGeom>
          <a:ln w="38100">
            <a:solidFill>
              <a:srgbClr val="1C7293"/>
            </a:solidFill>
            <a:prstDash val="solid"/>
          </a:ln>
        </p:spPr>
      </p:sp>
      <p:sp>
        <p:nvSpPr>
          <p:cNvPr id="3" name="Shape 1"/>
          <p:cNvSpPr/>
          <p:nvPr/>
        </p:nvSpPr>
        <p:spPr>
          <a:xfrm>
            <a:off x="5788152" y="868680"/>
            <a:ext cx="621792" cy="621792"/>
          </a:xfrm>
          <a:prstGeom prst="ellipse">
            <a:avLst/>
          </a:prstGeom>
          <a:solidFill>
            <a:srgbClr val="1C7293"/>
          </a:solidFill>
          <a:ln/>
        </p:spPr>
      </p:sp>
      <p:sp>
        <p:nvSpPr>
          <p:cNvPr id="4" name="Text 2"/>
          <p:cNvSpPr/>
          <p:nvPr/>
        </p:nvSpPr>
        <p:spPr>
          <a:xfrm>
            <a:off x="914400" y="2103120"/>
            <a:ext cx="10360152" cy="914400"/>
          </a:xfrm>
          <a:prstGeom prst="rect">
            <a:avLst/>
          </a:prstGeom>
          <a:noFill/>
          <a:ln/>
        </p:spPr>
        <p:txBody>
          <a:bodyPr wrap="square" rtlCol="0" anchor="ctr"/>
          <a:lstStyle/>
          <a:p>
            <a:pPr rtl="1" algn="ctr" indent="0" marL="0">
              <a:buNone/>
            </a:pPr>
            <a:r>
              <a:rPr lang="en-US" sz="4400" b="1" dirty="0">
                <a:solidFill>
                  <a:srgbClr val="FFFFFF"/>
                </a:solidFill>
                <a:latin typeface="Calibri" pitchFamily="34" charset="0"/>
                <a:ea typeface="Calibri" pitchFamily="34" charset="-122"/>
                <a:cs typeface="Calibri" pitchFamily="34" charset="-120"/>
              </a:rPr>
              <a:t>נוירוכירורגיה</a:t>
            </a:r>
            <a:endParaRPr lang="en-US" sz="4400" dirty="0"/>
          </a:p>
        </p:txBody>
      </p:sp>
      <p:sp>
        <p:nvSpPr>
          <p:cNvPr id="5" name="Text 3"/>
          <p:cNvSpPr/>
          <p:nvPr/>
        </p:nvSpPr>
        <p:spPr>
          <a:xfrm>
            <a:off x="914400" y="3017520"/>
            <a:ext cx="10360152" cy="640080"/>
          </a:xfrm>
          <a:prstGeom prst="rect">
            <a:avLst/>
          </a:prstGeom>
          <a:noFill/>
          <a:ln/>
        </p:spPr>
        <p:txBody>
          <a:bodyPr wrap="square" rtlCol="0" anchor="ctr"/>
          <a:lstStyle/>
          <a:p>
            <a:pPr rtl="1" algn="ctr" indent="0" marL="0">
              <a:buNone/>
            </a:pPr>
            <a:r>
              <a:rPr lang="en-US" sz="2400" dirty="0">
                <a:solidFill>
                  <a:srgbClr val="93C5FD"/>
                </a:solidFill>
                <a:latin typeface="Calibri" pitchFamily="34" charset="0"/>
                <a:ea typeface="Calibri" pitchFamily="34" charset="-122"/>
                <a:cs typeface="Calibri" pitchFamily="34" charset="-120"/>
              </a:rPr>
              <a:t>פרק 6: נוירונים ותאי גליה</a:t>
            </a:r>
            <a:endParaRPr lang="en-US" sz="2400" dirty="0"/>
          </a:p>
        </p:txBody>
      </p:sp>
      <p:sp>
        <p:nvSpPr>
          <p:cNvPr id="6" name="Text 4"/>
          <p:cNvSpPr/>
          <p:nvPr/>
        </p:nvSpPr>
        <p:spPr>
          <a:xfrm>
            <a:off x="914400" y="3657600"/>
            <a:ext cx="10360152" cy="457200"/>
          </a:xfrm>
          <a:prstGeom prst="rect">
            <a:avLst/>
          </a:prstGeom>
          <a:noFill/>
          <a:ln/>
        </p:spPr>
        <p:txBody>
          <a:bodyPr wrap="square" rtlCol="0" anchor="ctr"/>
          <a:lstStyle/>
          <a:p>
            <a:pPr algn="ctr" indent="0" marL="0">
              <a:buNone/>
            </a:pPr>
            <a:r>
              <a:rPr lang="en-US" sz="1500" i="1" dirty="0">
                <a:solidFill>
                  <a:srgbClr val="7DD3FC"/>
                </a:solidFill>
                <a:latin typeface="Calibri" pitchFamily="34" charset="0"/>
                <a:ea typeface="Calibri" pitchFamily="34" charset="-122"/>
                <a:cs typeface="Calibri" pitchFamily="34" charset="-120"/>
              </a:rPr>
              <a:t>Neurons and Neuroglia  ·  Youmans Neurological Surgery</a:t>
            </a:r>
            <a:endParaRPr lang="en-US" sz="1500" dirty="0"/>
          </a:p>
        </p:txBody>
      </p:sp>
      <p:sp>
        <p:nvSpPr>
          <p:cNvPr id="7" name="Text 5"/>
          <p:cNvSpPr/>
          <p:nvPr/>
        </p:nvSpPr>
        <p:spPr>
          <a:xfrm>
            <a:off x="914400" y="5943600"/>
            <a:ext cx="10360152" cy="548640"/>
          </a:xfrm>
          <a:prstGeom prst="rect">
            <a:avLst/>
          </a:prstGeom>
          <a:noFill/>
          <a:ln/>
        </p:spPr>
        <p:txBody>
          <a:bodyPr wrap="square" rtlCol="0" anchor="ctr"/>
          <a:lstStyle/>
          <a:p>
            <a:pPr rtl="1" algn="ctr" indent="0" marL="0">
              <a:buNone/>
            </a:pPr>
            <a:r>
              <a:rPr lang="en-US" sz="1250" dirty="0">
                <a:solidFill>
                  <a:srgbClr val="64748B"/>
                </a:solidFill>
                <a:latin typeface="Calibri" pitchFamily="34" charset="0"/>
                <a:ea typeface="Calibri" pitchFamily="34" charset="-122"/>
                <a:cs typeface="Calibri" pitchFamily="34" charset="-120"/>
              </a:rPr>
              <a:t>8 כרטיסיות תרגול · שאלה ואז תשובה מלאה בכל כרטיסייה · לסטטיסטיקה חיה השתמשי באפליקציית ה-HTML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1C7293"/>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הגדרת הנוירון - זהות תפקודית מול מורפולוגית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1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תא Purkinje במוחון, פוטורצפטור ברשתית, ונוירון בגנגליון השורש הדורסלי נראים מורפולוגית שונים לגמרי - ובכל זאת שלושתם מסווגים כ'נוירונים'. מהו הבסיס האמיתי לסיווג הזה, לפי הפרק?</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שלושתם חייבים להכיל דנדריט קלאסי, גוף תא ברור ואקסון בודד באורך זהה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הסיווג הוא היסטורי בלבד וללא הצדקה ביולוגית עקבית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המשותף הוא תפקודי: כולם תאים מקוטבים ממקור אפיתלי שמעבירים מידע (יוני-חשמלי) מנקודה אחת בתא לנקודה אחרת</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שלושתם יוצרים תמיד סינפסה כימית קלאסית עם נוירוטרנסמיטר מולקולרי קטן בלבד</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1C7293"/>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הגדרת הנוירון - זהות תפקודית מול מורפולוגית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המשותף הוא תפקודי: כולם תאים מקוטבים ממקור אפיתלי שמעבירים מידע (יוני-חשמלי) מנקודה אחת בתא לנקודה אחרת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בחינה מורפולוגית של שלושת התאים חושפת הבדלים משמעותיים - אין דנדריט/אקסון 'קלאסי' זהה בשלושתם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הגדרת הנוירון האמיתית בפרק היא תפקודית, לא צורנית</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תכונה 1: כל נוירון הוא תא מקוטב ממקור אפיתלי - חשוב גם בהתפתחות וגם בתפקוד הבוגר</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תכונה 2: כל נוירון מעביר 'חבילת מידע' חשמלית-יונית מנקודה אחת בגופו לנקודה אחרת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שגויה - הפרק מדגיש שדווקא במקרים אלו הצורה הקלאסית לא מתקיימת. תשובה 1 שגויה - יש הצדקה ביולוגית עקבית (תפקודית). תשובה 3 שגויה - חלק מהנוירונים הנסקרים (למשל נוירוסקרטוריים) משחררים הורמונים לזרם הדם ולא תמיד סינפסה כימית קלאסית.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תא מקוטב (Polarized cell)</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תא בעל אזורים תפקודיים שונים ומובחנים (כגון קצה קולט וקצה משדר), המאפשרים זרימת מידע מכוונת.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שלושה אנשי מקצוע שונים לגמרי בצורתם החיצונית - רופא, שליח על אופניים, וטלפרינטר ישן - שלכולם תפקיד זהה: להעביר הודעה דחופה מנקודה A לנקודה B. אי אפשר להגדיר אותם לפי הבגדים שהם לובשים, רק לפי מה שהם עושים.</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חשוב להגדיר נוירון לפי תפקוד ולא לפי צורה?</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B85042"/>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טרנספורט אקסונלי</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2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נוירון מוטורי בחוט השדרה שולח אקסון שאורכו כמעט מטר לכף הרגל. הגרעין ומכונת הסינתזה החלבונית של התא נמצאים בגוף התא בחוט השדרה בלבד. מהו הפתרון הביולוגי המרכזי שמאפשר לתא לתחזק טרמינל סינפטי כה רחוק, ומהם קצביו?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מערכת טרנספורט אקסונלי רב-קצבית: זרימה בסיסית איטית (כ-0.5 מ"מ/יום) לחלבונים מסיסים, טרנספורט אורתוגרדי מהיר (עד 400 מ"מ/יום) לאברונים, וטרנספורט רטרוגרדי (כמחצית מהמהיר) בכיוון ההפוך</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התא פשוט מייצר חלבונים נפרדים בטרמינל הסינפטי עצמו ואינו זקוק לשום הובלה מגוף התא</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כל ההובלה מתבצעת בקצב אחיד קבוע של כ-1 מ"מ בשנה ללא הבדל בין סוגי המטען</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הטרנספורט מתבצע אך ורק בכיוון אחד (מגוף התא לטרמינל) וללא אפשרות תנועה חזרה</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B85042"/>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טרנספורט אקסונלי</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מערכת טרנספורט אקסונלי רב-קצבית: זרימה בסיסית איטית (כ-0.5 מ"מ/יום) לחלבונים מסיסים, טרנספורט אורתוגרדי מהיר (עד 400 מ"מ/יום) לאברונים, וטרנספורט רטרוגרדי (כמחצית מהמהיר) בכיוון ההפוך</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בעיית הלוגיסטיקה: הגנטיקה יושבת בגרעין בגוף התא, אך המוצרים נדרשים גם מטר שלם משם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זרימה בסיסית איטית (כ-0.5 מ"מ/יום) מובילה חלבונים מסיסים בכיוון אורתוגרדי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טרנספורט אקסונלי מהיר (עד 400 מ"מ/יום) מוביל אברונים ושלפוחיות - גם בכיוון אורתוגרדי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טרנספורט רטרוגרדי (כמחצית מקצב המהיר) מחזיר אותות טרופיים וחומרי פסולת לגוף התא - ומנוצל גם על ידי נגיפים ורעלנים</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שגויה - למרות שנמצא סינתזה חלבונית מקומית באקסון, זו אינה מחליפה את הצורך בהובלה מגוף התא. תשובה 2 שגויה - יש שלושה קצבים שונים ולא אחיד. תשובה 3 שגויה - קיים גם טרנספורט רטרוגרדי בכיוון ההפוך.</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טרנספורט אקסונלי אורתוגרדי/רטרוגרדי</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הובלה מכוונת של חומרים לאורך מיקרוטובולי האקסון - אורתוגרדי מגוף התא לטרמינל, רטרוגרדי בכיוון ההפוך.</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מפעל (גוף התא) שממוקם בקצה אחד של רשת משלוחים ארוכה במיוחד (האקסון), עם שלושה שירותי שילוח: דואר רגיל איטי לחבילות סטנדרטיות, שליח אקספרס למכולות דחופות, ומשאית שמחזירה מהיעד דיווחים וגם - לפעמים - 'נוסע סמוי' לא רצוי (נגיף).</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דרוש טרנספורט רטרוגרדי, ולא רק אורתוגרדי?</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1295C"/>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מיאלין והולכה סלטטורית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3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בחסרי חוליות, מהירות הולכה עצבית מוגברת בעיקר על ידי הגדלת קוטר האקסון. הפרק מסביר שבמוח האנושי, עם כ-10^11 נוירונים, גישה זו 'אינה יכולה להתקיים'. איזו טענה מסבירה בצורה הכי מדויקת מדוע התפתח פתרון חלופי, ומהו?</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אקסונים רחבים גורמים תמיד לזיהומים - הפתרון הוא הגברת זרימת הדם למוח</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המוח האנושי אינו זקוק כלל להולכה מהירה - הפתרון הוא האטת קצב ההולכה באופן מכוון</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תעלות הנתרן אינן פועלות באקסונים רחבים - הפתרון הוא הגדלת מספר הגרעינים בתא</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הגדלת קוטר כל האקסונים המוטוריים למהירות ההולכה הנדרשת הייתה יוצרת חוט שדרה בעובי בלתי אפשרי - הפתרון שהתפתח הוא עטיפת האקסון במיאלין (אוליגודנדרוציט/שוואן) המאפשר הולכה סלטטורית בין נודי ראנוויה</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1295C"/>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מיאלין והולכה סלטטורית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הגדלת קוטר כל האקסונים המוטוריים למהירות ההולכה הנדרשת הייתה יוצרת חוט שדרה בעובי בלתי אפשרי - הפתרון שהתפתח הוא עטיפת האקסון במיאלין (אוליגודנדרוציט/שוואן) המאפשר הולכה סלטטורית בין נודי ראנוויה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בחסרי חוליות: מהירות הולכה קשורה ישירות לקוטר האקסון - קוטר גדול יותר = הולכה מהירה יותר</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במוח האנושי, אקסון מוטורי גדול שהיה מוליך רק ע"י קוטר היה צריך להיות בעובי מילימטרים בודדים - ומיליוני כאלה יחד ייצרו חוט שדרה כעובי עמוד טלפון</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הפתרון האבולוציוני החלופי: עטיפת האקסון במיאלין ורכוז ההולכה בנודי ראנוויה בלבד</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התוצאה - הולכה סלטטורית - מספקת שלושה יתרונות בו-זמנית: מהירות, חיסכון אנרגטי, וחיסכון בנפח</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תשובות 0, 1 ו-2 אינן מבוססות על שום מנגנון המתואר בפרק ואינן נכונות עובדתית.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הולכה סלטטורית (Saltatory conduction)</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מנגנון הולכת פוטנציאל פעולה שבו האות 'קופץ' מנוד ראנוויה אחד לשני, תוך דילוג על המקטעים המבודדים במיאלין.</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כביש בין-עירוני: אם היית צריך לבנות כביש ברוחב 10 נתיבים כדי לאפשר נסיעה מהירה בכל קטע, זה בלתי אפשרי בשטח מוגבל. הפתרון החכם יותר: כביש צר עם 'תחנות דלק מהירות' (נודים) במרווחים קבועים, שבהן המכונית מאיצה מחדש - כך מגיעים מהר בלי לבנות כביש ענק.</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לא פשוט להגדיל את קוטר כל האקסונים כמו בחסרי חוליות?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6D2E46"/>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מוות תאי נוירונלי - אפופטוזיס</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4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בתרבית נוירונים, חוקרת מדגימה ששני גירויים שונים לגמרי - (א) הרעלת מיטוכונדריה ישירה ו-(ב) חשיפה לליגנד TNF - שניהם מובילים בסופו של דבר לאותה תמונה מורפולוגית קלאסית של אפופטוזיס (כיווץ התא, קונדנסציה גרעינית). מה ההסבר המנגנוני לכך שגירויים שונים כל כך מובילים לתוצאה זהה?</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זהו צירוף מקרים בלבד - אין קשר מנגנוני בין שני הגירויים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 הגירויים מפעילים מסלולים נפרדים (פנימי - מיטוכונדריאלי, דרך שחרור ציטוכרום C ואפופטוזום; וחיצוני - קולטני מוות כמו Fas/TNF, דרך קספאז 8/10) שמתכנסים בסופו של דבר להפעלת קספאזות משותפות שיוצרות את התמונה המורפולוגית האחידה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רק המסלול הפנימי קיים באמת; המסלול החיצוני הוא תיאורטי בלבד וללא בסיס ניסיוני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שני הגירויים גורמים לנמק (necrosis) ולא לאפופטוזיס בפועל</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6D2E46"/>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מוות תאי נוירונלי - אפופטוזיס</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שני הגירויים מפעילים מסלולים נפרדים (פנימי - מיטוכונדריאלי, דרך שחרור ציטוכרום C ואפופטוזום; וחיצוני - קולטני מוות כמו Fas/TNF, דרך קספאז 8/10) שמתכנסים בסופו של דבר להפעלת קספאזות משותפות שיוצרות את התמונה המורפולוגית האחידה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הרעלת מיטוכונדריה מפעילה את המסלול הפנימי: פגיעה בשלמות המיטוכונדריה -&gt; שחרור מסיבי של ציטוכרום C -&gt; יצירת האפופטוזום -&gt; הפעלת קספאזות</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חשיפה ל-TNF מפעילה את המסלול החיצוני: קשירת הליגנד לקולטן מוות, טרימריזציה של הקולטן, והפעלת קספאז 8 או 10</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שני המסלולים, למרות שהם מתחילים אחרת לגמרי, מתכנסים באותה נקודה - הפעלת קספאזות שמבצעות את התוכנית המורפולוגית האחידה</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מווסתים נוספים (משפחת Bcl2, מעכבי אפופטוזיס IAP) פועלים בעיקר על המסלול הפנימי, ומכריעים אם התא ישרוד או ימות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יש הסבר מנגנוני ברור. תשובה 2 שגויה - שני המסלולים מתוארים בפרק כמבוססים היטב. תשובה 3 שגויה - התיאור המורפולוגי (כיווץ, קונדנסציה) הוא ספציפית של אפופטוזיס, לא נמק (שמאופיין בנפיחות ואובדן שלמות ממברנה).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אפופטוזום (Apoptosome)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קומפלקס חלבוני שנוצר לאחר שחרור ציטוכרום C מהמיטוכונדריה, ומפעיל קספאזות במסלול הפנימי של אפופטוזיס.</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מסלולים נפרדים לגמרי שמובילים לאותו בית משפט: מסלול אחד מתחיל בחקירה פנימית בתוך הארגון (המיטוכונדריה 'מלשינה' על עצמה), והשני מתחיל בתלונה חיצונית שמגיעה מבחוץ (TNF/Fas דופקים בדלת). בשני המקרים, התיק בסוף מגיע לאותו שופט (הקספאזות) שמוציא את אותו פסק דין (מוות מתוכנת מסודר).</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יש בכלל שני מסלולים נפרדים במקום אחד?</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2C5F2D"/>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אסטרוציטים - מטבוליזם אנרגיה</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5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בבדיקת PET מוחית עם FDG (18F-2-deoxyglucose), אזור מוחי מסוים מראה עלייה חדה בקליטת הסמן במהלך פעילות עצבית מוגברת. לפי המנגנון שמתואר בפרק, מה בעצם משתקף בממצא הזה ברמה התאית?</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צריכת האנרגיה הישירה של גופי התא הנוירונליים בלבד, ללא מעורבות תאים אחרים</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פעילות בלעדית של מיקרוגליה שמגיבות לפעילות הנוירונלית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בעיקר קליטת גלוקוז ועלייה בזרימת הדם לתוך אסטרוציטים - כחלק ממחזור שבו האסטרוציט קולט גלוטמט מהסינפסה, מפרק גלוקוז לייצור ATP ולקטט (המסופק לנוירון), ומשחרר גלוטמין בחזרה לחידוש מאגר הנוירוטרנסמיטר</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פירוק ישיר של מיאלין באזור הפעיל לצורך שחרור אנרגיה מהירה</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2C5F2D"/>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אסטרוציטים - מטבוליזם אנרגיה</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ג) בעיקר קליטת גלוקוז ועלייה בזרימת הדם לתוך אסטרוציטים - כחלק ממחזור שבו האסטרוציט קולט גלוטמט מהסינפסה, מפרק גלוקוז לייצור ATP ולקטט (המסופק לנוירון), ומשחרר גלוטמין בחזרה לחידוש מאגר הנוירוטרנסמיטר</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המוח מהווה 2% ממשקל הגוף אך צורך 25% מהגלוקוז שלו - והגלוקוז הוא מצע האנרגיה החובה שלו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עבור כל מולקולת גלוטמט שנקלטת מחדש על ידי טרנספורטר גלוטמט אסטרוציטרי, נכנסת מולקולת גלוקוז אחת לאותו אסטרוציט מהדם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גליקוליזה באסטרוציט מפיקה 2 ATP, ומשחררת 2 מולקולות לקטט הנצרכות על ידי הסינפסה להפקת 18 ATP נוספים בזרחון חמצוני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האסטרוציט משחרר גלוטמין שחוזר לנוירון ומחדש את מאגר הגלוטמט - ולכן עליות ב-PET FDG בפעילות משקפות בעיקר קליטה אסטרוציטרית ולא צריכה נוירונלית ישירה</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(2). תשובה 0 שגויה - הפרק מדגיש שההפך הוא הנכון: רוב הקליטה משקפת פעילות אסטרוציטרית. תשובה 1 שגויה - מיקרוגליה אינן חלק ממחזור האנרגיה הסינפטי המתואר. תשובה 3 שגויה - אין קשר בין מטבוליזם אנרגיה סינפטי לפירוק מיאלין.</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מחזור גלוטמט-גלוטמין (Glutamate-glutamine cycle)</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מחזור מטבולי-פונקציונלי שבו אסטרוציטים קולטים גלוטמט מהסינפסה, הופכים אותו לגלוטמין, ומחזירים אותו לנוירון לחידוש מאגר הנוירוטרנסמיטר - תוך צימוד לקליטת גלוקוז ואספקת לקטט.</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מסעדה (הסינפסה) שמקבלת שירות קייטרינג רציף ממטבח סמוך (האסטרוציט): בכל פעם שמזמינים מנה (גלוטמט משתחרר), המטבח מזמין חומרי גלם טריים (גלוקוז), מבשל חלק בעצמו (גליקוליזה -&gt; 2 ATP), שולח מנה מוכנה-חלקית למסעדה (לקטט -&gt; 18 ATP נוספים), ומחזיר גם כלים נקיים (גלוטמין) כדי שהמסעדה תוכל להכין את המנה הבאה.</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האסטרוציט, ולא הנוירון עצמו, אחראי לרוב צריכת האנרגיה שנמדדת ב-PET?</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990011"/>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מיקרוגליה - מקור ותפקוד</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6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לאחר חתך של המקטע ההיקפי של עצב הפנים (ללא מוות של המוטונוירונים עצמם), נצפית תופעה של 'קילוף סינפטי' (synaptic stripping) - מיקרוגליה בגרעין עצב הפנים מזיזות מגע סינפטי אפרנטי מהמוטונוירונים הפגועים. מה מלמדת תופעה זו על אופי הפעלת המיקרוגליה, ומה מקורן הביולוגי?&lt;/br&gt;</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מיקרוגליה מקורן במונוציטים ממקור מח עצם שחדרו למוח בהתפתחות מוקדמת, והן מסוגלות להגיב ('להתפעל') גם ללא פתולוגיה נמקית ממשית - ולא רק כתגובה למוות תאי מוחלט</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מיקרוגליה מקורן בתאי גזע עצביים מקומיים, והתופעה מוכיחה שהן פועלות אך ורק בתגובה למוות תאי נמקי מלא</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מיקרוגליה הן למעשה תת-סוג של אסטרוציטים, וקילוף סינפטי הוא ביטוי לגליוזיס תגובתי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התופעה מוכיחה שמיקרוגליה אינן קשורות כלל למערכת החיסון ופועלות אך ורק כתאי מבנה</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990011"/>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מיקרוגליה - מקור ותפקוד</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א) מיקרוגליה מקורן במונוציטים ממקור מח עצם שחדרו למוח בהתפתחות מוקדמת, והן מסוגלות להגיב ('להתפעל') גם ללא פתולוגיה נמקית ממשית - ולא רק כתגובה למוות תאי מוחלט</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מיקרוגליה מקורן במונוציטים ממקור מח עצם שחודרים למוח מוקדם בהתפתחות - זו הסיבה לקרבתן התפקודית למקרופאגים היקפיים</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בניגוד לתפיסה הפשטנית ש'מיקרוגליה פועלות רק כשיש נמק', הן יכולות להגיב גם למצבים ללא פתולוגיה נמקית ממשית - כמו חתך עצב היקפי בלי מוות של גוף התא</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במקרה זה, מיקרוגליה בגרעין עצב הפנים הופכות פעילות ומבצעות 'קילוף סינפטי' - הזזה פיזית של קלט אפרנטי מהמוטונוירון הפגוע</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רק כאשר הנוירון עצמו מת, המיקרוגליה הופכות בפועל לפגוציטריות - כלומר קיים ספקטרום תגובות ולא מצב בינארי אחד</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(0). תשובה 1 שגויה - מקור מיקרוגליה הוא ממח עצם (מונוציטים), לא מתאי גזע עצביים, וההפך מהטענה השנייה - הן פועלות גם ללא נמק מלא. תשובה 2 שגויה - מיקרוגליה הן אוכלוסייה נפרדת לחלוטין מאסטרוציטים, ממקור התפתחותי שונה. תשובה 3 שגויה - מיקרוגליה הן דווקא תאי החיסון התושבים העיקריים של ה-CNS.</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קילוף סינפטי (Synaptic stripping)</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תהליך שבו מיקרוגליה מופעלות מזיזות פיזית מגעים סינפטיים אפרנטיים מנוירון פגוע, ללא צורך במוות תאי נמקי.</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מאבטח בניין (מיקרוגליה) שלא רק מתערב כשיש פריצה אלימה (נמק), אלא גם שם לב כשדייר אחד (מוטונוירון) נפצע קלות ומרחיק זמנית מבקרים לא-חיוניים (סינפסות אפרנטיות) מהדירה שלו - כדי לתת לו שקט לההחלים - ורק אם הדייר מת בפועל, המאבטח הופך לצוות ניקוי מלא (פגוציטוזיס).</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מבחינה נוירוכירורגית לדעת שמיקרוגליה מגיבות גם ללא נמק ממשי?</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028090"/>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OPC ומקור גידולים גליאליים</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7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בבדיקה אימונוהיסטוכימית של גידול תוך-גולגולתי המאובחן כאוליגודנדרוגליומה, נמצא ביטוי חזק ועקבי של PDGFαR ו-NG2, אך חוסר ביטוי של אנטיגנים האופייניים לאוליגודנדרוציט בוגר. כיצד יש לפרש ממצא לכאורה-פרדוקסלי זה, לפי ההשערה המוצגת בפרק?&lt;/br&gt;</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הממצא הוא טעות מעבדתית - אוליגודנדרוגליומה חייבת לבטא אנטיגני אוליגודנדרוציט בוגר, אחרת האבחנה שגויה</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הביטוי החזק והעקבי של PDGFαR ו-NG2 (סמני OPC קלאסיים), יחד עם חוסר ביטוי אנטיגני התא הבוגר, תומכים בהשערה שהגידול מקורו בתאי מבשר אוליגודנדרוציטים (OPCs) ולא באוליגודנדרוציט הבוגר שהוא 'מדמה' מורפולוגית</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PDGFαR ו-NG2 הם סמנים ספציפיים לאסטרוציטים בלבד, ולכן הממצא מרמז על אבחנה שגויה של אסטרוציטומה</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התופעה מוכיחה שהגידול מקורו במיקרוגליה שחדרו מהדם</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028090"/>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OPC ומקור גידולים גליאליים</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ב) הביטוי החזק והעקבי של PDGFαR ו-NG2 (סמני OPC קלאסיים), יחד עם חוסר ביטוי אנטיגני התא הבוגר, תומכים בהשערה שהגידול מקורו בתאי מבשר אוליגודנדרוציטים (OPCs) ולא באוליגודנדרוציט הבוגר שהוא 'מדמה' מורפולוגית</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היסטורית, גידולים גליאליים סווגו לפי הדמיון המורפולוגי שלהם לתא בוגר מסוים (אוליגודנדרוציט, אסטרוציט וכו')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עם זאת, אוליגודנדרוגליומות רבות אינן מבטאות בפועל את האנטיגנים הספציפיים של אוליגודנדרוציטים בוגרים</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לעומת זאת, הן וגם אסטרוציטומות פילוציטיות מבטאות באופן עקבי PDGFαR ו-NG2 - שני סמנים האופייניים ל-OPC</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ממצא זה תומך בהשערה ש-OPC משותף עשוי להיות מקור התאים המקורי לשני סוגי הגידולים הללו, ולא התא הבוגר שהגידול מדמה מורפולוגית</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(1). תשובה 0 שגויה - הפרק מציין במפורש שזהו ממצא עקבי, לא טעות. תשובה 2 שגויה - PDGFαR ו-NG2 הם סמני OPC, לא סמנים ספציפיים לאסטרוציט בוגר. תשובה 3 שגויה - אין קשר בין ממצא זה למיקרוגליה.</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PDGFαR / NG2</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שני אנטיגנים (קולטן לגורם גדילה נגזר-טסיות אלפא, ופרוטאוגליקן סולפטי) המשמשים סמנים מולקולריים לזיהוי תאי מבשר אוליגודנדרוציטים (OPCs) הן בהתפתחות והן בבגרות.</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שרואים חנות שנראית וטוענת שהיא 'מכולת שכונתית ותיקה' (אוליגודנדרוגליומה בוגרת), אבל כשבודקים את הספרים החשבונאיים (הסמנים המולקולריים) מגלים שהם זהים לספרים של סטארט-אפ צעיר (OPC) ולא של עסק ותיק - מה שמרמז שבפועל מדובר בעסק צעיר שרק 'התחפש' לוותיק, ולא בעסק ותיק אמיתי שהתנוון.</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חשוב נוירוכירורגית לדעת את תא המקור האמיתי של גידול, ולא רק את מה שהוא 'מדמה' מורפולוגית?</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108960" cy="384048"/>
          </a:xfrm>
          <a:prstGeom prst="roundRect">
            <a:avLst>
              <a:gd name="adj" fmla="val 19048"/>
            </a:avLst>
          </a:prstGeom>
          <a:solidFill>
            <a:srgbClr val="84B59F"/>
          </a:solidFill>
          <a:ln/>
        </p:spPr>
      </p:sp>
      <p:sp>
        <p:nvSpPr>
          <p:cNvPr id="3" name="Text 1"/>
          <p:cNvSpPr/>
          <p:nvPr/>
        </p:nvSpPr>
        <p:spPr>
          <a:xfrm>
            <a:off x="457200" y="365760"/>
            <a:ext cx="3108960" cy="384048"/>
          </a:xfrm>
          <a:prstGeom prst="rect">
            <a:avLst/>
          </a:prstGeom>
          <a:noFill/>
          <a:ln/>
        </p:spPr>
        <p:txBody>
          <a:bodyPr wrap="square" rtlCol="0" anchor="ctr"/>
          <a:lstStyle/>
          <a:p>
            <a:pPr rtl="1" algn="ctr" indent="0" marL="0">
              <a:buNone/>
            </a:pPr>
            <a:r>
              <a:rPr lang="en-US" sz="1250" b="1" dirty="0">
                <a:solidFill>
                  <a:srgbClr val="FFFFFF"/>
                </a:solidFill>
                <a:latin typeface="Calibri" pitchFamily="34" charset="0"/>
                <a:ea typeface="Calibri" pitchFamily="34" charset="-122"/>
                <a:cs typeface="Calibri" pitchFamily="34" charset="-120"/>
              </a:rPr>
              <a:t>תאי שוואן ורגנרציה עצבית</a:t>
            </a:r>
            <a:endParaRPr lang="en-US" sz="1250" dirty="0"/>
          </a:p>
        </p:txBody>
      </p:sp>
      <p:sp>
        <p:nvSpPr>
          <p:cNvPr id="4" name="Text 2"/>
          <p:cNvSpPr/>
          <p:nvPr/>
        </p:nvSpPr>
        <p:spPr>
          <a:xfrm>
            <a:off x="8531352" y="365760"/>
            <a:ext cx="3108960" cy="384048"/>
          </a:xfrm>
          <a:prstGeom prst="rect">
            <a:avLst/>
          </a:prstGeom>
          <a:noFill/>
          <a:ln/>
        </p:spPr>
        <p:txBody>
          <a:bodyPr wrap="square" rtlCol="0" anchor="ctr"/>
          <a:lstStyle/>
          <a:p>
            <a:pPr algn="l" indent="0" marL="0">
              <a:buNone/>
            </a:pPr>
            <a:r>
              <a:rPr lang="en-US" sz="1200" dirty="0">
                <a:solidFill>
                  <a:srgbClr val="9CA3AF"/>
                </a:solidFill>
                <a:latin typeface="Calibri" pitchFamily="34" charset="0"/>
                <a:ea typeface="Calibri" pitchFamily="34" charset="-122"/>
                <a:cs typeface="Calibri" pitchFamily="34" charset="-120"/>
              </a:rPr>
              <a:t>כרטיסייה 8 מתוך 8</a:t>
            </a:r>
            <a:endParaRPr lang="en-US" sz="1200" dirty="0"/>
          </a:p>
        </p:txBody>
      </p:sp>
      <p:sp>
        <p:nvSpPr>
          <p:cNvPr id="5" name="Text 3"/>
          <p:cNvSpPr/>
          <p:nvPr/>
        </p:nvSpPr>
        <p:spPr>
          <a:xfrm>
            <a:off x="548640" y="1005840"/>
            <a:ext cx="11064240" cy="1463040"/>
          </a:xfrm>
          <a:prstGeom prst="rect">
            <a:avLst/>
          </a:prstGeom>
          <a:noFill/>
          <a:ln/>
        </p:spPr>
        <p:txBody>
          <a:bodyPr wrap="square" rtlCol="0" anchor="t"/>
          <a:lstStyle/>
          <a:p>
            <a:pPr rtl="1" algn="r" indent="0" marL="0">
              <a:buNone/>
            </a:pPr>
            <a:r>
              <a:rPr lang="en-US" sz="2200" b="1" dirty="0">
                <a:solidFill>
                  <a:srgbClr val="1F2937"/>
                </a:solidFill>
                <a:latin typeface="Calibri" pitchFamily="34" charset="0"/>
                <a:ea typeface="Calibri" pitchFamily="34" charset="-122"/>
                <a:cs typeface="Calibri" pitchFamily="34" charset="-120"/>
              </a:rPr>
              <a:t>מנתח פלסטי משתיל מקטע עצב תורם כדי לגשר על פער בעצב היקפי שנחתך. מדוע גישה זו - השתלת מקטע עצב או תאי שוואן מבודדים - יעילה לקידום רגנרציה בעצב היקפי, בעוד גישה מקבילה אינה זמינה כיום כטיפול שגרתי בפגיעת חוט שדרה (CNS)?&lt;/br&gt;</a:t>
            </a:r>
            <a:endParaRPr lang="en-US" sz="2200" dirty="0"/>
          </a:p>
        </p:txBody>
      </p:sp>
      <p:sp>
        <p:nvSpPr>
          <p:cNvPr id="6" name="Shape 4"/>
          <p:cNvSpPr/>
          <p:nvPr/>
        </p:nvSpPr>
        <p:spPr>
          <a:xfrm>
            <a:off x="548640" y="2651760"/>
            <a:ext cx="11064240" cy="777240"/>
          </a:xfrm>
          <a:prstGeom prst="roundRect">
            <a:avLst>
              <a:gd name="adj" fmla="val 9412"/>
            </a:avLst>
          </a:prstGeom>
          <a:solidFill>
            <a:srgbClr val="F3F4F6"/>
          </a:solidFill>
          <a:ln w="12700">
            <a:solidFill>
              <a:srgbClr val="E5E7EB"/>
            </a:solidFill>
            <a:prstDash val="solid"/>
          </a:ln>
        </p:spPr>
      </p:sp>
      <p:sp>
        <p:nvSpPr>
          <p:cNvPr id="7" name="Shape 5"/>
          <p:cNvSpPr/>
          <p:nvPr/>
        </p:nvSpPr>
        <p:spPr>
          <a:xfrm>
            <a:off x="10744200" y="2852928"/>
            <a:ext cx="365760" cy="365760"/>
          </a:xfrm>
          <a:prstGeom prst="ellipse">
            <a:avLst/>
          </a:prstGeom>
          <a:solidFill>
            <a:srgbClr val="6B7280"/>
          </a:solidFill>
          <a:ln/>
        </p:spPr>
      </p:sp>
      <p:sp>
        <p:nvSpPr>
          <p:cNvPr id="8" name="Text 6"/>
          <p:cNvSpPr/>
          <p:nvPr/>
        </p:nvSpPr>
        <p:spPr>
          <a:xfrm>
            <a:off x="10744200" y="2852928"/>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א</a:t>
            </a:r>
            <a:endParaRPr lang="en-US" sz="1400" dirty="0"/>
          </a:p>
        </p:txBody>
      </p:sp>
      <p:sp>
        <p:nvSpPr>
          <p:cNvPr id="9" name="Text 7"/>
          <p:cNvSpPr/>
          <p:nvPr/>
        </p:nvSpPr>
        <p:spPr>
          <a:xfrm>
            <a:off x="822960" y="2651760"/>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אקסונים ב-CNS אינם מסוגלים כלל ליצור פוטנציאל פעולה, ולכן רגנרציה בלתי אפשרית מבנית</a:t>
            </a:r>
            <a:endParaRPr lang="en-US" sz="1500" dirty="0"/>
          </a:p>
        </p:txBody>
      </p:sp>
      <p:sp>
        <p:nvSpPr>
          <p:cNvPr id="10" name="Shape 8"/>
          <p:cNvSpPr/>
          <p:nvPr/>
        </p:nvSpPr>
        <p:spPr>
          <a:xfrm>
            <a:off x="548640" y="3584448"/>
            <a:ext cx="11064240" cy="777240"/>
          </a:xfrm>
          <a:prstGeom prst="roundRect">
            <a:avLst>
              <a:gd name="adj" fmla="val 9412"/>
            </a:avLst>
          </a:prstGeom>
          <a:solidFill>
            <a:srgbClr val="F3F4F6"/>
          </a:solidFill>
          <a:ln w="12700">
            <a:solidFill>
              <a:srgbClr val="E5E7EB"/>
            </a:solidFill>
            <a:prstDash val="solid"/>
          </a:ln>
        </p:spPr>
      </p:sp>
      <p:sp>
        <p:nvSpPr>
          <p:cNvPr id="11" name="Shape 9"/>
          <p:cNvSpPr/>
          <p:nvPr/>
        </p:nvSpPr>
        <p:spPr>
          <a:xfrm>
            <a:off x="10744200" y="3785616"/>
            <a:ext cx="365760" cy="365760"/>
          </a:xfrm>
          <a:prstGeom prst="ellipse">
            <a:avLst/>
          </a:prstGeom>
          <a:solidFill>
            <a:srgbClr val="6B7280"/>
          </a:solidFill>
          <a:ln/>
        </p:spPr>
      </p:sp>
      <p:sp>
        <p:nvSpPr>
          <p:cNvPr id="12" name="Text 10"/>
          <p:cNvSpPr/>
          <p:nvPr/>
        </p:nvSpPr>
        <p:spPr>
          <a:xfrm>
            <a:off x="10744200" y="3785616"/>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ב</a:t>
            </a:r>
            <a:endParaRPr lang="en-US" sz="1400" dirty="0"/>
          </a:p>
        </p:txBody>
      </p:sp>
      <p:sp>
        <p:nvSpPr>
          <p:cNvPr id="13" name="Text 11"/>
          <p:cNvSpPr/>
          <p:nvPr/>
        </p:nvSpPr>
        <p:spPr>
          <a:xfrm>
            <a:off x="822960" y="3584448"/>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בחוט השדרה אין כלל תאי גליה מסוג כלשהו שיכולים לתמוך בצמיחה</a:t>
            </a:r>
            <a:endParaRPr lang="en-US" sz="1500" dirty="0"/>
          </a:p>
        </p:txBody>
      </p:sp>
      <p:sp>
        <p:nvSpPr>
          <p:cNvPr id="14" name="Shape 12"/>
          <p:cNvSpPr/>
          <p:nvPr/>
        </p:nvSpPr>
        <p:spPr>
          <a:xfrm>
            <a:off x="548640" y="4517136"/>
            <a:ext cx="11064240" cy="777240"/>
          </a:xfrm>
          <a:prstGeom prst="roundRect">
            <a:avLst>
              <a:gd name="adj" fmla="val 9412"/>
            </a:avLst>
          </a:prstGeom>
          <a:solidFill>
            <a:srgbClr val="F3F4F6"/>
          </a:solidFill>
          <a:ln w="12700">
            <a:solidFill>
              <a:srgbClr val="E5E7EB"/>
            </a:solidFill>
            <a:prstDash val="solid"/>
          </a:ln>
        </p:spPr>
      </p:sp>
      <p:sp>
        <p:nvSpPr>
          <p:cNvPr id="15" name="Shape 13"/>
          <p:cNvSpPr/>
          <p:nvPr/>
        </p:nvSpPr>
        <p:spPr>
          <a:xfrm>
            <a:off x="10744200" y="4718304"/>
            <a:ext cx="365760" cy="365760"/>
          </a:xfrm>
          <a:prstGeom prst="ellipse">
            <a:avLst/>
          </a:prstGeom>
          <a:solidFill>
            <a:srgbClr val="6B7280"/>
          </a:solidFill>
          <a:ln/>
        </p:spPr>
      </p:sp>
      <p:sp>
        <p:nvSpPr>
          <p:cNvPr id="16" name="Text 14"/>
          <p:cNvSpPr/>
          <p:nvPr/>
        </p:nvSpPr>
        <p:spPr>
          <a:xfrm>
            <a:off x="10744200" y="4718304"/>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ג</a:t>
            </a:r>
            <a:endParaRPr lang="en-US" sz="1400" dirty="0"/>
          </a:p>
        </p:txBody>
      </p:sp>
      <p:sp>
        <p:nvSpPr>
          <p:cNvPr id="17" name="Text 15"/>
          <p:cNvSpPr/>
          <p:nvPr/>
        </p:nvSpPr>
        <p:spPr>
          <a:xfrm>
            <a:off x="822960" y="4517136"/>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מקטעי עצב היקפי מכילים תמיד יותר גורמי גדילה מאשר רקמת CNS, ללא קשר לזהות התא הגליאלי</a:t>
            </a:r>
            <a:endParaRPr lang="en-US" sz="1500" dirty="0"/>
          </a:p>
        </p:txBody>
      </p:sp>
      <p:sp>
        <p:nvSpPr>
          <p:cNvPr id="18" name="Shape 16"/>
          <p:cNvSpPr/>
          <p:nvPr/>
        </p:nvSpPr>
        <p:spPr>
          <a:xfrm>
            <a:off x="548640" y="5449824"/>
            <a:ext cx="11064240" cy="777240"/>
          </a:xfrm>
          <a:prstGeom prst="roundRect">
            <a:avLst>
              <a:gd name="adj" fmla="val 9412"/>
            </a:avLst>
          </a:prstGeom>
          <a:solidFill>
            <a:srgbClr val="F3F4F6"/>
          </a:solidFill>
          <a:ln w="12700">
            <a:solidFill>
              <a:srgbClr val="E5E7EB"/>
            </a:solidFill>
            <a:prstDash val="solid"/>
          </a:ln>
        </p:spPr>
      </p:sp>
      <p:sp>
        <p:nvSpPr>
          <p:cNvPr id="19" name="Shape 17"/>
          <p:cNvSpPr/>
          <p:nvPr/>
        </p:nvSpPr>
        <p:spPr>
          <a:xfrm>
            <a:off x="10744200" y="5650992"/>
            <a:ext cx="365760" cy="365760"/>
          </a:xfrm>
          <a:prstGeom prst="ellipse">
            <a:avLst/>
          </a:prstGeom>
          <a:solidFill>
            <a:srgbClr val="6B7280"/>
          </a:solidFill>
          <a:ln/>
        </p:spPr>
      </p:sp>
      <p:sp>
        <p:nvSpPr>
          <p:cNvPr id="20" name="Text 18"/>
          <p:cNvSpPr/>
          <p:nvPr/>
        </p:nvSpPr>
        <p:spPr>
          <a:xfrm>
            <a:off x="10744200" y="5650992"/>
            <a:ext cx="365760" cy="365760"/>
          </a:xfrm>
          <a:prstGeom prst="rect">
            <a:avLst/>
          </a:prstGeom>
          <a:noFill/>
          <a:ln/>
        </p:spPr>
        <p:txBody>
          <a:bodyPr wrap="square" rtlCol="0" anchor="ctr"/>
          <a:lstStyle/>
          <a:p>
            <a:pPr rtl="1" algn="ctr" indent="0" marL="0">
              <a:buNone/>
            </a:pPr>
            <a:r>
              <a:rPr lang="en-US" sz="1400" b="1" dirty="0">
                <a:solidFill>
                  <a:srgbClr val="FFFFFF"/>
                </a:solidFill>
                <a:latin typeface="Calibri" pitchFamily="34" charset="0"/>
                <a:ea typeface="Calibri" pitchFamily="34" charset="-122"/>
                <a:cs typeface="Calibri" pitchFamily="34" charset="-120"/>
              </a:rPr>
              <a:t>ד</a:t>
            </a:r>
            <a:endParaRPr lang="en-US" sz="1400" dirty="0"/>
          </a:p>
        </p:txBody>
      </p:sp>
      <p:sp>
        <p:nvSpPr>
          <p:cNvPr id="21" name="Text 19"/>
          <p:cNvSpPr/>
          <p:nvPr/>
        </p:nvSpPr>
        <p:spPr>
          <a:xfrm>
            <a:off x="822960" y="5449824"/>
            <a:ext cx="9784080" cy="777240"/>
          </a:xfrm>
          <a:prstGeom prst="rect">
            <a:avLst/>
          </a:prstGeom>
          <a:noFill/>
          <a:ln/>
        </p:spPr>
        <p:txBody>
          <a:bodyPr wrap="square" lIns="0" tIns="0" rIns="0" bIns="0" rtlCol="0" anchor="ctr"/>
          <a:lstStyle/>
          <a:p>
            <a:pPr rtl="1" algn="r" indent="0" marL="0">
              <a:buNone/>
            </a:pPr>
            <a:r>
              <a:rPr lang="en-US" sz="1500" dirty="0">
                <a:solidFill>
                  <a:srgbClr val="1F2937"/>
                </a:solidFill>
                <a:latin typeface="Calibri" pitchFamily="34" charset="0"/>
                <a:ea typeface="Calibri" pitchFamily="34" charset="-122"/>
                <a:cs typeface="Calibri" pitchFamily="34" charset="-120"/>
              </a:rPr>
              <a:t>כי תאי שוואן (הגליה של ה-PNS) יוצרים למינה בזלית סביב כל אינטרנוד שנשארת כתשתית תומכת-צמיחה גם לאחר ניוון האקסון, ומספקים סביבה פרו-רגנרטיבית - בעוד אוליגודנדרוציטים ב-CNS אינם יוצרים מבנה תומך מקביל, ומיאלין CNS פגוע אף מכיל מולקולות מעכבות-צמיחה</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20040"/>
            <a:ext cx="3108960" cy="365760"/>
          </a:xfrm>
          <a:prstGeom prst="roundRect">
            <a:avLst>
              <a:gd name="adj" fmla="val 20000"/>
            </a:avLst>
          </a:prstGeom>
          <a:solidFill>
            <a:srgbClr val="84B59F"/>
          </a:solidFill>
          <a:ln/>
        </p:spPr>
      </p:sp>
      <p:sp>
        <p:nvSpPr>
          <p:cNvPr id="3" name="Text 1"/>
          <p:cNvSpPr/>
          <p:nvPr/>
        </p:nvSpPr>
        <p:spPr>
          <a:xfrm>
            <a:off x="457200" y="320040"/>
            <a:ext cx="3108960" cy="365760"/>
          </a:xfrm>
          <a:prstGeom prst="rect">
            <a:avLst/>
          </a:prstGeom>
          <a:noFill/>
          <a:ln/>
        </p:spPr>
        <p:txBody>
          <a:bodyPr wrap="square" rtlCol="0" anchor="ctr"/>
          <a:lstStyle/>
          <a:p>
            <a:pPr rtl="1" algn="ctr" indent="0" marL="0">
              <a:buNone/>
            </a:pPr>
            <a:r>
              <a:rPr lang="en-US" sz="1200" b="1" dirty="0">
                <a:solidFill>
                  <a:srgbClr val="FFFFFF"/>
                </a:solidFill>
                <a:latin typeface="Calibri" pitchFamily="34" charset="0"/>
                <a:ea typeface="Calibri" pitchFamily="34" charset="-122"/>
                <a:cs typeface="Calibri" pitchFamily="34" charset="-120"/>
              </a:rPr>
              <a:t>תאי שוואן ורגנרציה עצבית</a:t>
            </a:r>
            <a:endParaRPr lang="en-US" sz="1200" dirty="0"/>
          </a:p>
        </p:txBody>
      </p:sp>
      <p:sp>
        <p:nvSpPr>
          <p:cNvPr id="4" name="Text 2"/>
          <p:cNvSpPr/>
          <p:nvPr/>
        </p:nvSpPr>
        <p:spPr>
          <a:xfrm>
            <a:off x="548640" y="777240"/>
            <a:ext cx="11064240" cy="640080"/>
          </a:xfrm>
          <a:prstGeom prst="rect">
            <a:avLst/>
          </a:prstGeom>
          <a:noFill/>
          <a:ln/>
        </p:spPr>
        <p:txBody>
          <a:bodyPr wrap="square" rtlCol="0" anchor="t"/>
          <a:lstStyle/>
          <a:p>
            <a:pPr rtl="1" algn="r" indent="0" marL="0">
              <a:buNone/>
            </a:pPr>
            <a:r>
              <a:rPr lang="en-US" sz="1600" b="1" dirty="0">
                <a:solidFill>
                  <a:srgbClr val="15803D"/>
                </a:solidFill>
                <a:latin typeface="Calibri" pitchFamily="34" charset="0"/>
                <a:ea typeface="Calibri" pitchFamily="34" charset="-122"/>
                <a:cs typeface="Calibri" pitchFamily="34" charset="-120"/>
              </a:rPr>
              <a:t>התשובה הנכונה: ד) כי תאי שוואן (הגליה של ה-PNS) יוצרים למינה בזלית סביב כל אינטרנוד שנשארת כתשתית תומכת-צמיחה גם לאחר ניוון האקסון, ומספקים סביבה פרו-רגנרטיבית - בעוד אוליגודנדרוציטים ב-CNS אינם יוצרים מבנה תומך מקביל, ומיאלין CNS פגוע אף מכיל מולקולות מעכבות-צמיחה</a:t>
            </a:r>
            <a:endParaRPr lang="en-US" sz="1600" dirty="0"/>
          </a:p>
        </p:txBody>
      </p:sp>
      <p:sp>
        <p:nvSpPr>
          <p:cNvPr id="5" name="Text 3"/>
          <p:cNvSpPr/>
          <p:nvPr/>
        </p:nvSpPr>
        <p:spPr>
          <a:xfrm>
            <a:off x="8138160" y="1554480"/>
            <a:ext cx="3474720" cy="320040"/>
          </a:xfrm>
          <a:prstGeom prst="rect">
            <a:avLst/>
          </a:prstGeom>
          <a:noFill/>
          <a:ln/>
        </p:spPr>
        <p:txBody>
          <a:bodyPr wrap="square" rtlCol="0" anchor="ctr"/>
          <a:lstStyle/>
          <a:p>
            <a:pPr rtl="1" algn="r" indent="0" marL="0">
              <a:buNone/>
            </a:pPr>
            <a:r>
              <a:rPr lang="en-US" sz="1250" b="1" dirty="0">
                <a:solidFill>
                  <a:srgbClr val="6B7280"/>
                </a:solidFill>
                <a:latin typeface="Calibri" pitchFamily="34" charset="0"/>
                <a:ea typeface="Calibri" pitchFamily="34" charset="-122"/>
                <a:cs typeface="Calibri" pitchFamily="34" charset="-120"/>
              </a:rPr>
              <a:t>מה קורה בפועל:</a:t>
            </a:r>
            <a:endParaRPr lang="en-US" sz="1250" dirty="0"/>
          </a:p>
        </p:txBody>
      </p:sp>
      <p:sp>
        <p:nvSpPr>
          <p:cNvPr id="6" name="Shape 4"/>
          <p:cNvSpPr/>
          <p:nvPr/>
        </p:nvSpPr>
        <p:spPr>
          <a:xfrm>
            <a:off x="8138160" y="1920240"/>
            <a:ext cx="3474720" cy="777240"/>
          </a:xfrm>
          <a:prstGeom prst="roundRect">
            <a:avLst>
              <a:gd name="adj" fmla="val 8235"/>
            </a:avLst>
          </a:prstGeom>
          <a:solidFill>
            <a:srgbClr val="1C7293">
              <a:alpha val="12000"/>
            </a:srgbClr>
          </a:solidFill>
          <a:ln w="15875">
            <a:solidFill>
              <a:srgbClr val="1C7293"/>
            </a:solidFill>
            <a:prstDash val="solid"/>
          </a:ln>
        </p:spPr>
      </p:sp>
      <p:sp>
        <p:nvSpPr>
          <p:cNvPr id="7" name="Shape 5"/>
          <p:cNvSpPr/>
          <p:nvPr/>
        </p:nvSpPr>
        <p:spPr>
          <a:xfrm>
            <a:off x="11292840" y="2176272"/>
            <a:ext cx="256032" cy="256032"/>
          </a:xfrm>
          <a:prstGeom prst="ellipse">
            <a:avLst/>
          </a:prstGeom>
          <a:solidFill>
            <a:srgbClr val="1C7293"/>
          </a:solidFill>
          <a:ln/>
        </p:spPr>
      </p:sp>
      <p:sp>
        <p:nvSpPr>
          <p:cNvPr id="8" name="Text 6"/>
          <p:cNvSpPr/>
          <p:nvPr/>
        </p:nvSpPr>
        <p:spPr>
          <a:xfrm>
            <a:off x="8275320" y="197510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לאחר חתך עצב היקפי, המקטע הדיסטלי עובר ניוון וואלריאני - אך תאי השוואן בו אינם מתים, אלא מתרבים ויוצרים 'צינור' רציף בתוך הלמינה הבזלית שהם עצמם הפרישו</a:t>
            </a:r>
            <a:endParaRPr lang="en-US" sz="950" dirty="0"/>
          </a:p>
        </p:txBody>
      </p:sp>
      <p:sp>
        <p:nvSpPr>
          <p:cNvPr id="9" name="Shape 7"/>
          <p:cNvSpPr/>
          <p:nvPr/>
        </p:nvSpPr>
        <p:spPr>
          <a:xfrm>
            <a:off x="9738360" y="2697480"/>
            <a:ext cx="0" cy="91440"/>
          </a:xfrm>
          <a:prstGeom prst="line">
            <a:avLst/>
          </a:prstGeom>
          <a:noFill/>
          <a:ln w="19050">
            <a:solidFill>
              <a:srgbClr val="9CA3AF"/>
            </a:solidFill>
            <a:prstDash val="solid"/>
            <a:tailEnd type="triangle"/>
          </a:ln>
        </p:spPr>
      </p:sp>
      <p:sp>
        <p:nvSpPr>
          <p:cNvPr id="10" name="Shape 8"/>
          <p:cNvSpPr/>
          <p:nvPr/>
        </p:nvSpPr>
        <p:spPr>
          <a:xfrm>
            <a:off x="8138160" y="2788920"/>
            <a:ext cx="3474720" cy="777240"/>
          </a:xfrm>
          <a:prstGeom prst="roundRect">
            <a:avLst>
              <a:gd name="adj" fmla="val 8235"/>
            </a:avLst>
          </a:prstGeom>
          <a:solidFill>
            <a:srgbClr val="D99A2B">
              <a:alpha val="12000"/>
            </a:srgbClr>
          </a:solidFill>
          <a:ln w="15875">
            <a:solidFill>
              <a:srgbClr val="D99A2B"/>
            </a:solidFill>
            <a:prstDash val="solid"/>
          </a:ln>
        </p:spPr>
      </p:sp>
      <p:sp>
        <p:nvSpPr>
          <p:cNvPr id="11" name="Shape 9"/>
          <p:cNvSpPr/>
          <p:nvPr/>
        </p:nvSpPr>
        <p:spPr>
          <a:xfrm>
            <a:off x="11292840" y="3044952"/>
            <a:ext cx="256032" cy="256032"/>
          </a:xfrm>
          <a:prstGeom prst="ellipse">
            <a:avLst/>
          </a:prstGeom>
          <a:solidFill>
            <a:srgbClr val="D99A2B"/>
          </a:solidFill>
          <a:ln/>
        </p:spPr>
      </p:sp>
      <p:sp>
        <p:nvSpPr>
          <p:cNvPr id="12" name="Text 10"/>
          <p:cNvSpPr/>
          <p:nvPr/>
        </p:nvSpPr>
        <p:spPr>
          <a:xfrm>
            <a:off x="8275320" y="284378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צינור הלמינה הבזלית הזה מספק מצע פיזי ומולקולרי שמאפשר לאקסון הפרוקסימלי (המחובר לגוף התא) לצמוח מחדש ולפעמים להגיע ליעדו המקורי</a:t>
            </a:r>
            <a:endParaRPr lang="en-US" sz="950" dirty="0"/>
          </a:p>
        </p:txBody>
      </p:sp>
      <p:sp>
        <p:nvSpPr>
          <p:cNvPr id="13" name="Shape 11"/>
          <p:cNvSpPr/>
          <p:nvPr/>
        </p:nvSpPr>
        <p:spPr>
          <a:xfrm>
            <a:off x="9738360" y="3566160"/>
            <a:ext cx="0" cy="91440"/>
          </a:xfrm>
          <a:prstGeom prst="line">
            <a:avLst/>
          </a:prstGeom>
          <a:noFill/>
          <a:ln w="19050">
            <a:solidFill>
              <a:srgbClr val="9CA3AF"/>
            </a:solidFill>
            <a:prstDash val="solid"/>
            <a:tailEnd type="triangle"/>
          </a:ln>
        </p:spPr>
      </p:sp>
      <p:sp>
        <p:nvSpPr>
          <p:cNvPr id="14" name="Shape 12"/>
          <p:cNvSpPr/>
          <p:nvPr/>
        </p:nvSpPr>
        <p:spPr>
          <a:xfrm>
            <a:off x="8138160" y="3657600"/>
            <a:ext cx="3474720" cy="777240"/>
          </a:xfrm>
          <a:prstGeom prst="roundRect">
            <a:avLst>
              <a:gd name="adj" fmla="val 8235"/>
            </a:avLst>
          </a:prstGeom>
          <a:solidFill>
            <a:srgbClr val="B85042">
              <a:alpha val="12000"/>
            </a:srgbClr>
          </a:solidFill>
          <a:ln w="15875">
            <a:solidFill>
              <a:srgbClr val="B85042"/>
            </a:solidFill>
            <a:prstDash val="solid"/>
          </a:ln>
        </p:spPr>
      </p:sp>
      <p:sp>
        <p:nvSpPr>
          <p:cNvPr id="15" name="Shape 13"/>
          <p:cNvSpPr/>
          <p:nvPr/>
        </p:nvSpPr>
        <p:spPr>
          <a:xfrm>
            <a:off x="11292840" y="3913632"/>
            <a:ext cx="256032" cy="256032"/>
          </a:xfrm>
          <a:prstGeom prst="ellipse">
            <a:avLst/>
          </a:prstGeom>
          <a:solidFill>
            <a:srgbClr val="B85042"/>
          </a:solidFill>
          <a:ln/>
        </p:spPr>
      </p:sp>
      <p:sp>
        <p:nvSpPr>
          <p:cNvPr id="16" name="Text 14"/>
          <p:cNvSpPr/>
          <p:nvPr/>
        </p:nvSpPr>
        <p:spPr>
          <a:xfrm>
            <a:off x="8275320" y="371246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לכן, השתלת מקטעי עצב היקפי דנרווטיים או תאי שוואן מבודדים משמשת שיטה נפוצה ומוכחת לקידום רגנרציה בעצב היקפי</a:t>
            </a:r>
            <a:endParaRPr lang="en-US" sz="950" dirty="0"/>
          </a:p>
        </p:txBody>
      </p:sp>
      <p:sp>
        <p:nvSpPr>
          <p:cNvPr id="17" name="Shape 15"/>
          <p:cNvSpPr/>
          <p:nvPr/>
        </p:nvSpPr>
        <p:spPr>
          <a:xfrm>
            <a:off x="9738360" y="4434840"/>
            <a:ext cx="0" cy="91440"/>
          </a:xfrm>
          <a:prstGeom prst="line">
            <a:avLst/>
          </a:prstGeom>
          <a:noFill/>
          <a:ln w="19050">
            <a:solidFill>
              <a:srgbClr val="9CA3AF"/>
            </a:solidFill>
            <a:prstDash val="solid"/>
            <a:tailEnd type="triangle"/>
          </a:ln>
        </p:spPr>
      </p:sp>
      <p:sp>
        <p:nvSpPr>
          <p:cNvPr id="18" name="Shape 16"/>
          <p:cNvSpPr/>
          <p:nvPr/>
        </p:nvSpPr>
        <p:spPr>
          <a:xfrm>
            <a:off x="8138160" y="4526280"/>
            <a:ext cx="3474720" cy="777240"/>
          </a:xfrm>
          <a:prstGeom prst="roundRect">
            <a:avLst>
              <a:gd name="adj" fmla="val 8235"/>
            </a:avLst>
          </a:prstGeom>
          <a:solidFill>
            <a:srgbClr val="2C5F2D">
              <a:alpha val="12000"/>
            </a:srgbClr>
          </a:solidFill>
          <a:ln w="15875">
            <a:solidFill>
              <a:srgbClr val="2C5F2D"/>
            </a:solidFill>
            <a:prstDash val="solid"/>
          </a:ln>
        </p:spPr>
      </p:sp>
      <p:sp>
        <p:nvSpPr>
          <p:cNvPr id="19" name="Shape 17"/>
          <p:cNvSpPr/>
          <p:nvPr/>
        </p:nvSpPr>
        <p:spPr>
          <a:xfrm>
            <a:off x="11292840" y="4782312"/>
            <a:ext cx="256032" cy="256032"/>
          </a:xfrm>
          <a:prstGeom prst="ellipse">
            <a:avLst/>
          </a:prstGeom>
          <a:solidFill>
            <a:srgbClr val="2C5F2D"/>
          </a:solidFill>
          <a:ln/>
        </p:spPr>
      </p:sp>
      <p:sp>
        <p:nvSpPr>
          <p:cNvPr id="20" name="Text 18"/>
          <p:cNvSpPr/>
          <p:nvPr/>
        </p:nvSpPr>
        <p:spPr>
          <a:xfrm>
            <a:off x="8275320" y="4581144"/>
            <a:ext cx="2880360" cy="667512"/>
          </a:xfrm>
          <a:prstGeom prst="rect">
            <a:avLst/>
          </a:prstGeom>
          <a:noFill/>
          <a:ln/>
        </p:spPr>
        <p:txBody>
          <a:bodyPr wrap="square" lIns="0" tIns="0" rIns="0" bIns="0" rtlCol="0" anchor="ctr"/>
          <a:lstStyle/>
          <a:p>
            <a:pPr rtl="1" algn="r" indent="0" marL="0">
              <a:buNone/>
            </a:pPr>
            <a:r>
              <a:rPr lang="en-US" sz="950" dirty="0">
                <a:solidFill>
                  <a:srgbClr val="1F2937"/>
                </a:solidFill>
                <a:latin typeface="Calibri" pitchFamily="34" charset="0"/>
                <a:ea typeface="Calibri" pitchFamily="34" charset="-122"/>
                <a:cs typeface="Calibri" pitchFamily="34" charset="-120"/>
              </a:rPr>
              <a:t>לעומת זאת, אוליגודנדרוציטים ב-CNS אינם יוצרים מבנה תומך מקביל, ולכן השתלת תאי שוואן לפגיעת חוט שדרה עדיין בשלב ניסיוני בלבד</a:t>
            </a:r>
            <a:endParaRPr lang="en-US" sz="950" dirty="0"/>
          </a:p>
        </p:txBody>
      </p:sp>
      <p:sp>
        <p:nvSpPr>
          <p:cNvPr id="21" name="Shape 19"/>
          <p:cNvSpPr/>
          <p:nvPr/>
        </p:nvSpPr>
        <p:spPr>
          <a:xfrm>
            <a:off x="548640" y="1554480"/>
            <a:ext cx="7406640" cy="1417320"/>
          </a:xfrm>
          <a:prstGeom prst="roundRect">
            <a:avLst>
              <a:gd name="adj" fmla="val 3871"/>
            </a:avLst>
          </a:prstGeom>
          <a:solidFill>
            <a:srgbClr val="F8FAFC"/>
          </a:solidFill>
          <a:ln w="12700">
            <a:solidFill>
              <a:srgbClr val="E5E7EB"/>
            </a:solidFill>
            <a:prstDash val="solid"/>
          </a:ln>
        </p:spPr>
      </p:sp>
      <p:sp>
        <p:nvSpPr>
          <p:cNvPr id="22" name="Text 20"/>
          <p:cNvSpPr/>
          <p:nvPr/>
        </p:nvSpPr>
        <p:spPr>
          <a:xfrm>
            <a:off x="731520" y="1627632"/>
            <a:ext cx="7040880" cy="274320"/>
          </a:xfrm>
          <a:prstGeom prst="rect">
            <a:avLst/>
          </a:prstGeom>
          <a:noFill/>
          <a:ln/>
        </p:spPr>
        <p:txBody>
          <a:bodyPr wrap="square" rtlCol="0" anchor="ctr"/>
          <a:lstStyle/>
          <a:p>
            <a:pPr rtl="1" algn="r" indent="0" marL="0">
              <a:buNone/>
            </a:pPr>
            <a:r>
              <a:rPr lang="en-US" sz="1200" b="1" dirty="0">
                <a:solidFill>
                  <a:srgbClr val="6B7280"/>
                </a:solidFill>
                <a:latin typeface="Calibri" pitchFamily="34" charset="0"/>
                <a:ea typeface="Calibri" pitchFamily="34" charset="-122"/>
                <a:cs typeface="Calibri" pitchFamily="34" charset="-120"/>
              </a:rPr>
              <a:t>הסבר:</a:t>
            </a:r>
            <a:endParaRPr lang="en-US" sz="1200" dirty="0"/>
          </a:p>
        </p:txBody>
      </p:sp>
      <p:sp>
        <p:nvSpPr>
          <p:cNvPr id="23" name="Text 21"/>
          <p:cNvSpPr/>
          <p:nvPr/>
        </p:nvSpPr>
        <p:spPr>
          <a:xfrm>
            <a:off x="731520" y="1901952"/>
            <a:ext cx="7040880" cy="1005840"/>
          </a:xfrm>
          <a:prstGeom prst="rect">
            <a:avLst/>
          </a:prstGeom>
          <a:noFill/>
          <a:ln/>
        </p:spPr>
        <p:txBody>
          <a:bodyPr wrap="square" lIns="0" tIns="0" rIns="0" bIns="0" rtlCol="0" anchor="t"/>
          <a:lstStyle/>
          <a:p>
            <a:pPr rtl="1" algn="r" indent="0" marL="0">
              <a:buNone/>
            </a:pPr>
            <a:r>
              <a:rPr lang="en-US" sz="1000" dirty="0">
                <a:solidFill>
                  <a:srgbClr val="1F2937"/>
                </a:solidFill>
                <a:latin typeface="Calibri" pitchFamily="34" charset="0"/>
                <a:ea typeface="Calibri" pitchFamily="34" charset="-122"/>
                <a:cs typeface="Calibri" pitchFamily="34" charset="-120"/>
              </a:rPr>
              <a:t>התשובה הנכונה (3). תשובה 0 שגויה - אקסונים ב-CNS מסוגלים ליצור פוטנציאל פעולה, הבעיה היא ברגנרציה ולא בהולכה. תשובה 1 שגויה - יש כמובן תאי גליה ב-CNS (אוליגודנדרוציטים, אסטרוציטים ועוד), רק שהם אינם תומכים ברגנרציה באותו אופן. תשובה 2 שגויה - ההבדל אינו רק בכמות גורמי גדילה אלא במבנה התומך (הלמינה הבזלית).</a:t>
            </a:r>
            <a:endParaRPr lang="en-US" sz="1000" dirty="0"/>
          </a:p>
        </p:txBody>
      </p:sp>
      <p:sp>
        <p:nvSpPr>
          <p:cNvPr id="24" name="Shape 22"/>
          <p:cNvSpPr/>
          <p:nvPr/>
        </p:nvSpPr>
        <p:spPr>
          <a:xfrm>
            <a:off x="548640" y="3108960"/>
            <a:ext cx="7406640" cy="914400"/>
          </a:xfrm>
          <a:prstGeom prst="roundRect">
            <a:avLst>
              <a:gd name="adj" fmla="val 6000"/>
            </a:avLst>
          </a:prstGeom>
          <a:solidFill>
            <a:srgbClr val="EFF6FF"/>
          </a:solidFill>
          <a:ln w="12700">
            <a:solidFill>
              <a:srgbClr val="BFDBFE"/>
            </a:solidFill>
            <a:prstDash val="solid"/>
          </a:ln>
        </p:spPr>
      </p:sp>
      <p:sp>
        <p:nvSpPr>
          <p:cNvPr id="25" name="Text 23"/>
          <p:cNvSpPr/>
          <p:nvPr/>
        </p:nvSpPr>
        <p:spPr>
          <a:xfrm>
            <a:off x="731520" y="3182112"/>
            <a:ext cx="7040880" cy="274320"/>
          </a:xfrm>
          <a:prstGeom prst="rect">
            <a:avLst/>
          </a:prstGeom>
          <a:noFill/>
          <a:ln/>
        </p:spPr>
        <p:txBody>
          <a:bodyPr wrap="square" rtlCol="0" anchor="ctr"/>
          <a:lstStyle/>
          <a:p>
            <a:pPr rtl="1" algn="r" indent="0" marL="0">
              <a:buNone/>
            </a:pPr>
            <a:r>
              <a:rPr lang="en-US" sz="1150" b="1" dirty="0">
                <a:solidFill>
                  <a:srgbClr val="1E3A8A"/>
                </a:solidFill>
                <a:latin typeface="Calibri" pitchFamily="34" charset="0"/>
                <a:ea typeface="Calibri" pitchFamily="34" charset="-122"/>
                <a:cs typeface="Calibri" pitchFamily="34" charset="-120"/>
              </a:rPr>
              <a:t>מונח: למינה בזלית (Basal lamina) של תא שוואן</a:t>
            </a:r>
            <a:endParaRPr lang="en-US" sz="1150" dirty="0"/>
          </a:p>
        </p:txBody>
      </p:sp>
      <p:sp>
        <p:nvSpPr>
          <p:cNvPr id="26" name="Text 24"/>
          <p:cNvSpPr/>
          <p:nvPr/>
        </p:nvSpPr>
        <p:spPr>
          <a:xfrm>
            <a:off x="731520" y="3474720"/>
            <a:ext cx="7040880" cy="502920"/>
          </a:xfrm>
          <a:prstGeom prst="rect">
            <a:avLst/>
          </a:prstGeom>
          <a:noFill/>
          <a:ln/>
        </p:spPr>
        <p:txBody>
          <a:bodyPr wrap="square" lIns="0" tIns="0" rIns="0" bIns="0" rtlCol="0" anchor="t"/>
          <a:lstStyle/>
          <a:p>
            <a:pPr rtl="1" algn="r" indent="0" marL="0">
              <a:buNone/>
            </a:pPr>
            <a:r>
              <a:rPr lang="en-US" sz="950" dirty="0">
                <a:solidFill>
                  <a:srgbClr val="1E3A8A"/>
                </a:solidFill>
                <a:latin typeface="Calibri" pitchFamily="34" charset="0"/>
                <a:ea typeface="Calibri" pitchFamily="34" charset="-122"/>
                <a:cs typeface="Calibri" pitchFamily="34" charset="-120"/>
              </a:rPr>
              <a:t>שכבת מטריצה חוץ-תאית שתא שוואן מפריש סביב כל אינטרנוד מיאלין, ונשארת כמבנה יציב גם לאחר ניוון אקסונלי - ומשמשת כמצע לרגנרציה.</a:t>
            </a:r>
            <a:endParaRPr lang="en-US" sz="950" dirty="0"/>
          </a:p>
        </p:txBody>
      </p:sp>
      <p:sp>
        <p:nvSpPr>
          <p:cNvPr id="27" name="Shape 25"/>
          <p:cNvSpPr/>
          <p:nvPr/>
        </p:nvSpPr>
        <p:spPr>
          <a:xfrm>
            <a:off x="548640" y="4160520"/>
            <a:ext cx="7406640" cy="1417320"/>
          </a:xfrm>
          <a:prstGeom prst="roundRect">
            <a:avLst>
              <a:gd name="adj" fmla="val 3871"/>
            </a:avLst>
          </a:prstGeom>
          <a:solidFill>
            <a:srgbClr val="F5F3FF"/>
          </a:solidFill>
          <a:ln w="12700">
            <a:solidFill>
              <a:srgbClr val="DDD6FE"/>
            </a:solidFill>
            <a:prstDash val="solid"/>
          </a:ln>
        </p:spPr>
      </p:sp>
      <p:sp>
        <p:nvSpPr>
          <p:cNvPr id="28" name="Text 26"/>
          <p:cNvSpPr/>
          <p:nvPr/>
        </p:nvSpPr>
        <p:spPr>
          <a:xfrm>
            <a:off x="731520" y="4233672"/>
            <a:ext cx="7040880" cy="274320"/>
          </a:xfrm>
          <a:prstGeom prst="rect">
            <a:avLst/>
          </a:prstGeom>
          <a:noFill/>
          <a:ln/>
        </p:spPr>
        <p:txBody>
          <a:bodyPr wrap="square" rtlCol="0" anchor="ctr"/>
          <a:lstStyle/>
          <a:p>
            <a:pPr rtl="1" algn="r" indent="0" marL="0">
              <a:buNone/>
            </a:pPr>
            <a:r>
              <a:rPr lang="en-US" sz="1150" b="1" dirty="0">
                <a:solidFill>
                  <a:srgbClr val="5B21B6"/>
                </a:solidFill>
                <a:latin typeface="Calibri" pitchFamily="34" charset="0"/>
                <a:ea typeface="Calibri" pitchFamily="34" charset="-122"/>
                <a:cs typeface="Calibri" pitchFamily="34" charset="-120"/>
              </a:rPr>
              <a:t>סיפור לזכירה</a:t>
            </a:r>
            <a:endParaRPr lang="en-US" sz="1150" dirty="0"/>
          </a:p>
        </p:txBody>
      </p:sp>
      <p:sp>
        <p:nvSpPr>
          <p:cNvPr id="29" name="Text 27"/>
          <p:cNvSpPr/>
          <p:nvPr/>
        </p:nvSpPr>
        <p:spPr>
          <a:xfrm>
            <a:off x="731520" y="4526280"/>
            <a:ext cx="7040880" cy="502920"/>
          </a:xfrm>
          <a:prstGeom prst="rect">
            <a:avLst/>
          </a:prstGeom>
          <a:noFill/>
          <a:ln/>
        </p:spPr>
        <p:txBody>
          <a:bodyPr wrap="square" lIns="0" tIns="0" rIns="0" bIns="0" rtlCol="0" anchor="t"/>
          <a:lstStyle/>
          <a:p>
            <a:pPr rtl="1" algn="r" indent="0" marL="0">
              <a:buNone/>
            </a:pPr>
            <a:r>
              <a:rPr lang="en-US" sz="950" dirty="0">
                <a:solidFill>
                  <a:srgbClr val="4C1D95"/>
                </a:solidFill>
                <a:latin typeface="Calibri" pitchFamily="34" charset="0"/>
                <a:ea typeface="Calibri" pitchFamily="34" charset="-122"/>
                <a:cs typeface="Calibri" pitchFamily="34" charset="-120"/>
              </a:rPr>
              <a:t>דמייני שני סוגי פיגומי בנייה: פיגום אחד (תא שוואן) בנוי כך שגם אם הבניין הפנימי (האקסון) נהרס, השלד החיצוני (הלמינה הבזלית) נשאר יציב ומאפשר לבנות בניין חדש בדיוק באותו מקום. הפיגום השני (אוליגודנדרוציט) נהרס יחד עם הבניין ואף משאיר הריסות (מולקולות מעכבות) שמפריעות לבנייה מחדש.</a:t>
            </a:r>
            <a:endParaRPr lang="en-US" sz="950" dirty="0"/>
          </a:p>
        </p:txBody>
      </p:sp>
      <p:sp>
        <p:nvSpPr>
          <p:cNvPr id="30" name="Text 28"/>
          <p:cNvSpPr/>
          <p:nvPr/>
        </p:nvSpPr>
        <p:spPr>
          <a:xfrm>
            <a:off x="731520" y="5047488"/>
            <a:ext cx="7040880" cy="502920"/>
          </a:xfrm>
          <a:prstGeom prst="rect">
            <a:avLst/>
          </a:prstGeom>
          <a:noFill/>
          <a:ln/>
        </p:spPr>
        <p:txBody>
          <a:bodyPr wrap="square" lIns="0" tIns="0" rIns="0" bIns="0" rtlCol="0" anchor="t"/>
          <a:lstStyle/>
          <a:p>
            <a:pPr rtl="1" algn="r" indent="0" marL="0">
              <a:buNone/>
            </a:pPr>
            <a:r>
              <a:rPr lang="en-US" sz="900" i="1" dirty="0">
                <a:solidFill>
                  <a:srgbClr val="5B21B6"/>
                </a:solidFill>
                <a:latin typeface="Calibri" pitchFamily="34" charset="0"/>
                <a:ea typeface="Calibri" pitchFamily="34" charset="-122"/>
                <a:cs typeface="Calibri" pitchFamily="34" charset="-120"/>
              </a:rPr>
              <a:t>שאלי את עצמך: למה בכלל יש הבדל אבולוציוני כזה בין שוואן לאוליגודנדרוציט, אם שניהם 'רק' יוצרים מיאלין?</a:t>
            </a:r>
            <a:endParaRPr lang="en-US" sz="900" dirty="0"/>
          </a:p>
        </p:txBody>
      </p:sp>
      <p:sp>
        <p:nvSpPr>
          <p:cNvPr id="31" name="Text 29"/>
          <p:cNvSpPr/>
          <p:nvPr/>
        </p:nvSpPr>
        <p:spPr>
          <a:xfrm>
            <a:off x="548640" y="6446520"/>
            <a:ext cx="11064240" cy="320040"/>
          </a:xfrm>
          <a:prstGeom prst="rect">
            <a:avLst/>
          </a:prstGeom>
          <a:noFill/>
          <a:ln/>
        </p:spPr>
        <p:txBody>
          <a:bodyPr wrap="square" rtlCol="0" anchor="ctr"/>
          <a:lstStyle/>
          <a:p>
            <a:pPr rtl="1" algn="ctr" indent="0" marL="0">
              <a:buNone/>
            </a:pPr>
            <a:r>
              <a:rPr lang="en-US" sz="900" i="1" dirty="0">
                <a:solidFill>
                  <a:srgbClr val="9CA3AF"/>
                </a:solidFill>
                <a:latin typeface="Calibri" pitchFamily="34" charset="0"/>
                <a:ea typeface="Calibri" pitchFamily="34" charset="-122"/>
                <a:cs typeface="Calibri" pitchFamily="34" charset="-120"/>
              </a:rPr>
              <a:t>מצגת סטטית — ללא ניקוד חי. לתרגול עם סטטיסטיקה בזמן אמת, השתמשי באפליקציית ה-HTML (flashcards.html).</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1B2A"/>
        </a:solidFill>
      </p:bgPr>
    </p:bg>
    <p:spTree>
      <p:nvGrpSpPr>
        <p:cNvPr id="1" name=""/>
        <p:cNvGrpSpPr/>
        <p:nvPr/>
      </p:nvGrpSpPr>
      <p:grpSpPr>
        <a:xfrm>
          <a:off x="0" y="0"/>
          <a:ext cx="0" cy="0"/>
          <a:chOff x="0" y="0"/>
          <a:chExt cx="0" cy="0"/>
        </a:xfrm>
      </p:grpSpPr>
      <p:sp>
        <p:nvSpPr>
          <p:cNvPr id="2" name="Text 0"/>
          <p:cNvSpPr/>
          <p:nvPr/>
        </p:nvSpPr>
        <p:spPr>
          <a:xfrm>
            <a:off x="914400" y="548640"/>
            <a:ext cx="10360152" cy="640080"/>
          </a:xfrm>
          <a:prstGeom prst="rect">
            <a:avLst/>
          </a:prstGeom>
          <a:noFill/>
          <a:ln/>
        </p:spPr>
        <p:txBody>
          <a:bodyPr wrap="square" rtlCol="0" anchor="ctr"/>
          <a:lstStyle/>
          <a:p>
            <a:pPr rtl="1" algn="ctr" indent="0" marL="0">
              <a:buNone/>
            </a:pPr>
            <a:r>
              <a:rPr lang="en-US" sz="3000" b="1" dirty="0">
                <a:solidFill>
                  <a:srgbClr val="FFFFFF"/>
                </a:solidFill>
                <a:latin typeface="Calibri" pitchFamily="34" charset="0"/>
                <a:ea typeface="Calibri" pitchFamily="34" charset="-122"/>
                <a:cs typeface="Calibri" pitchFamily="34" charset="-120"/>
              </a:rPr>
              <a:t>סיכום הכרטיסיות</a:t>
            </a:r>
            <a:endParaRPr lang="en-US" sz="3000" dirty="0"/>
          </a:p>
        </p:txBody>
      </p:sp>
      <p:sp>
        <p:nvSpPr>
          <p:cNvPr id="3" name="Text 1"/>
          <p:cNvSpPr/>
          <p:nvPr/>
        </p:nvSpPr>
        <p:spPr>
          <a:xfrm>
            <a:off x="1097280" y="1463040"/>
            <a:ext cx="9994392" cy="4389120"/>
          </a:xfrm>
          <a:prstGeom prst="rect">
            <a:avLst/>
          </a:prstGeom>
          <a:noFill/>
          <a:ln/>
        </p:spPr>
        <p:txBody>
          <a:bodyPr wrap="square" rtlCol="0" anchor="t"/>
          <a:lstStyle/>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הגדרת נוירון</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קיטוב תאי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מוצא אפיתלי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מורפולוגיה מול תפקוד</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טרנספורט אקסונלי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אורתוגרדי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רטרוגרדי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מיקרוטובולי</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מיאלין</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נוד ראנוויה</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הולכה סלטטורית</a:t>
            </a:r>
            <a:endParaRPr lang="en-US" sz="1600" dirty="0"/>
          </a:p>
          <a:p>
            <a:pPr rtl="1" algn="r" marL="342900" indent="-342900">
              <a:spcAft>
                <a:spcPts val="1200"/>
              </a:spcAft>
              <a:buSzPct val="100000"/>
              <a:buChar char="●"/>
            </a:pPr>
            <a:r>
              <a:rPr lang="en-US" sz="1600" dirty="0">
                <a:solidFill>
                  <a:srgbClr val="E5E7EB"/>
                </a:solidFill>
                <a:latin typeface="Calibri" pitchFamily="34" charset="0"/>
                <a:ea typeface="Calibri" pitchFamily="34" charset="-122"/>
                <a:cs typeface="Calibri" pitchFamily="34" charset="-120"/>
              </a:rPr>
              <a:t>קוטר אקסון</a:t>
            </a:r>
            <a:endParaRPr lang="en-US" sz="1600" dirty="0"/>
          </a:p>
        </p:txBody>
      </p:sp>
      <p:sp>
        <p:nvSpPr>
          <p:cNvPr id="4" name="Text 2"/>
          <p:cNvSpPr/>
          <p:nvPr/>
        </p:nvSpPr>
        <p:spPr>
          <a:xfrm>
            <a:off x="914400" y="6309360"/>
            <a:ext cx="10360152" cy="365760"/>
          </a:xfrm>
          <a:prstGeom prst="rect">
            <a:avLst/>
          </a:prstGeom>
          <a:noFill/>
          <a:ln/>
        </p:spPr>
        <p:txBody>
          <a:bodyPr wrap="square" rtlCol="0" anchor="ctr"/>
          <a:lstStyle/>
          <a:p>
            <a:pPr algn="ctr" indent="0" marL="0">
              <a:buNone/>
            </a:pPr>
            <a:r>
              <a:rPr lang="en-US" sz="1200" dirty="0">
                <a:solidFill>
                  <a:srgbClr val="64748B"/>
                </a:solidFill>
                <a:latin typeface="Calibri" pitchFamily="34" charset="0"/>
                <a:ea typeface="Calibri" pitchFamily="34" charset="-122"/>
                <a:cs typeface="Calibri" pitchFamily="34" charset="-120"/>
              </a:rPr>
              <a:t>maskit101.github.io/summeries-medicine/neurosurgery</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2026-08-17T07:45:14Z</dcterms:created>
  <dcterms:modified xsi:type="dcterms:W3CDTF">2026-08-17T07:45:14Z</dcterms:modified>
</cp:coreProperties>
</file>