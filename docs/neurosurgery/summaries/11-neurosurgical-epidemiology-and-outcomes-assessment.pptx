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400" b="1" dirty="0">
                <a:solidFill>
                  <a:srgbClr val="FFFFFF"/>
                </a:solidFill>
                <a:latin typeface="Calibri" pitchFamily="34" charset="0"/>
                <a:ea typeface="Calibri" pitchFamily="34" charset="-122"/>
                <a:cs typeface="Calibri" pitchFamily="34" charset="-120"/>
              </a:rPr>
              <a:t>נוירוכירורגיה</a:t>
            </a:r>
            <a:endParaRPr lang="en-US" sz="44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11: אפידמיולוגיה נוירוכירורגית והערכת תוצאים</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Neurosurgical Epidemiology and Outcomes Assessment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8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רעש אקראי מול הטיה (Bias)</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צוות מחקר רוצה לקבוע את היקף הראש הממוצע התקין של תינוקות בני יומם. הם מודדים את כל התינוקות שנולדו בבית החולים בשבוע נתון, אך מטעמי נוחות לוקחים רק תינוקות שאושפזו ביחידה לטיפול נמרץ ילודים (NICU), ומדווחים על התוצאה כמייצגת את כלל התינוקות. איזה סוג שגיאה נכנס כאן, ומדוע הגדלת מספר התינוקות הנמדדים לא תפתור אותה?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שגיאה אקראית בלבד - ניתן לתקן לגמרי ע"י גיוס עוד תינוקות מאותה יחידת NICU</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הטיה שיטתית (בחירת מדגם) - תינוקות ב-NICU שונים באופן שיטתי מכלל אוכלוסיית התינוקות, ולכן שום הגדלה של המדגם מתוך אותה יחידה לא תתקן את העיוות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כאן בעיה מתודולוגית כלל - זהו מדגם נוח וסביר לכל מטרה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הבעיה היא רק שגיאת מדידה של סרט המדידה, לא שגיאת דגימה</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רעש אקראי מול הטיה (Bias)</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הטיה שיטתית (בחירת מדגם) - תינוקות ב-NICU שונים באופן שיטתי מכלל אוכלוסיית התינוקות, ולכן שום הגדלה של המדגם מתוך אותה יחידה לא תתקן את העיוות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85042">
              <a:alpha val="12000"/>
            </a:srgbClr>
          </a:solidFill>
          <a:ln w="15875">
            <a:solidFill>
              <a:srgbClr val="B85042"/>
            </a:solidFill>
            <a:prstDash val="solid"/>
          </a:ln>
        </p:spPr>
      </p:sp>
      <p:sp>
        <p:nvSpPr>
          <p:cNvPr id="7" name="Shape 5"/>
          <p:cNvSpPr/>
          <p:nvPr/>
        </p:nvSpPr>
        <p:spPr>
          <a:xfrm>
            <a:off x="11292840" y="2176272"/>
            <a:ext cx="256032" cy="256032"/>
          </a:xfrm>
          <a:prstGeom prst="ellipse">
            <a:avLst/>
          </a:prstGeom>
          <a:solidFill>
            <a:srgbClr val="B85042"/>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בחירת מדגם רק מ-NICU היא פגם בעיצוב המחקר - לא רעש אקראי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1295C">
              <a:alpha val="12000"/>
            </a:srgbClr>
          </a:solidFill>
          <a:ln w="15875">
            <a:solidFill>
              <a:srgbClr val="21295C"/>
            </a:solidFill>
            <a:prstDash val="solid"/>
          </a:ln>
        </p:spPr>
      </p:sp>
      <p:sp>
        <p:nvSpPr>
          <p:cNvPr id="11" name="Shape 9"/>
          <p:cNvSpPr/>
          <p:nvPr/>
        </p:nvSpPr>
        <p:spPr>
          <a:xfrm>
            <a:off x="11292840" y="3044952"/>
            <a:ext cx="256032" cy="256032"/>
          </a:xfrm>
          <a:prstGeom prst="ellipse">
            <a:avLst/>
          </a:prstGeom>
          <a:solidFill>
            <a:srgbClr val="21295C"/>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תינוקות ב-NICU שונים שיטתית (פגות, מחלה) מכלל האוכלוסייה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C7293">
              <a:alpha val="12000"/>
            </a:srgbClr>
          </a:solidFill>
          <a:ln w="15875">
            <a:solidFill>
              <a:srgbClr val="1C7293"/>
            </a:solidFill>
            <a:prstDash val="solid"/>
          </a:ln>
        </p:spPr>
      </p:sp>
      <p:sp>
        <p:nvSpPr>
          <p:cNvPr id="15" name="Shape 13"/>
          <p:cNvSpPr/>
          <p:nvPr/>
        </p:nvSpPr>
        <p:spPr>
          <a:xfrm>
            <a:off x="11292840" y="3913632"/>
            <a:ext cx="256032" cy="256032"/>
          </a:xfrm>
          <a:prstGeom prst="ellipse">
            <a:avLst/>
          </a:prstGeom>
          <a:solidFill>
            <a:srgbClr val="1C7293"/>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אף מבחן סטטיסטי לא יתריע על ההטיה הזו</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התיקון היחיד: לדגום מחדש מכלל אוכלוסיית התינוקות הבריאים</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היא 1. זו הטיית בחירת מדגם (sampling bias) קלאסית - הפגם נמצא בעיצוב עצמו, לא בגודלו. תשובה 0 שגויה כי הגדלת המדגם בתוך אותה יחידה מוטה רק תחזק את התוצאה השגויה ביתר ביטחון סטטיסטי-כוזב. תשובה 2 שגויה - זו בדיוק דוגמת ההטיה שהפרק מדגיש. תשובה 3 שגויה - אין כאן טענה על תקלה במכשיר המדידה, אלא על מי נכלל במדגם מלכתחילה.</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הטיה (Bias)</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שגיאה שיטתית הנובעת מתכונות מכוונות או לא-מכוונות של עיצוב המחקר (למשל איך נבחר המדגם, איך נמדדה התוצאה), הפוגעת בעקביות בקבוצה אחת - בניגוד לשגיאה אקראית שפוגעת שווה בכל הקבוצות ומצטמצמת עם מדגם גדול יותר.</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שני צלמים המנסים לצלם תמונה מייצגת של "תושב העיר הממוצע". צלם אחד מצלם אנשים אקראיים ברחוב - יש לו רעש (אור משתנה, זוויות שונות) אבל אם יצלם עוד ועוד תמונות, הממוצע יתכנס לאמת. צלם שני מצלם רק אנשים שיוצאים מבית חולים - כמה תמונות נוספות מאותו מקום לא יתקנו את זה שהוא כלל לא מצלם את האוכלוסייה הנכונה.</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בכלל אפשר לתקן שגיאה אקראית בסטטיסטיקה, אבל אי אפשר לתקן הטיה באותה דרך?</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משתני בלבול ואקראיות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חוקרת בונה מחקר תצפיתי (לא-אקראי) לבדיקת הקשר בין חשיפה תעסוקתית מסוימת לבין סיכון לגידול מוחי, ומשתמשת בהתאמה (matching) על גיל ומין. עמיתה מציעה לעבור לניסוי מבוקר אקראי (RCT) איפה שניתן, בטענה שהוא מגן טוב יותר מכל שאר האסטרטגיות. מה ההבדל המהותי שהופך את האקראיות לייחודית מבין שש האסטרטגיות לטיפול במשתני בלבול?</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אקראיות זולה יותר ומהירה יותר לביצוע מכל האסטרטגיות האחרות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אקראיות מבטלת לגמרי את הצורך במדגם גדול</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אקראיות מתאימה רק למחקרים תיאוריים, לא להתערבותיים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אקראיות היא היחידה מבין השש שמגנה גם מפני משתני בלבול שאינם ידועים לחוקר כלל, ולא רק מפני אלה שזוהו וטופלו מראש</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משתני בלבול ואקראיות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אקראיות היא היחידה מבין השש שמגנה גם מפני משתני בלבול שאינם ידועים לחוקר כלל, ולא רק מפני אלה שזוהו וטופלו מראש</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התאמה, הדרה, סטנדרטיזציה, הצטברות ומידול - מטפלות רק במבלבלים שכבר זוהו</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1295C">
              <a:alpha val="12000"/>
            </a:srgbClr>
          </a:solidFill>
          <a:ln w="15875">
            <a:solidFill>
              <a:srgbClr val="21295C"/>
            </a:solidFill>
            <a:prstDash val="solid"/>
          </a:ln>
        </p:spPr>
      </p:sp>
      <p:sp>
        <p:nvSpPr>
          <p:cNvPr id="11" name="Shape 9"/>
          <p:cNvSpPr/>
          <p:nvPr/>
        </p:nvSpPr>
        <p:spPr>
          <a:xfrm>
            <a:off x="11292840" y="3044952"/>
            <a:ext cx="256032" cy="256032"/>
          </a:xfrm>
          <a:prstGeom prst="ellipse">
            <a:avLst/>
          </a:prstGeom>
          <a:solidFill>
            <a:srgbClr val="21295C"/>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אקראיות מקצה קבוצות בהסתברות שווה, ללא תלות בזיהוי מוקדם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כתוצאה, גם גורמים לא-ידועים (למשל גנטיים) מתפזרים שווה בין הקבוצות</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B85042">
              <a:alpha val="12000"/>
            </a:srgbClr>
          </a:solidFill>
          <a:ln w="15875">
            <a:solidFill>
              <a:srgbClr val="B85042"/>
            </a:solidFill>
            <a:prstDash val="solid"/>
          </a:ln>
        </p:spPr>
      </p:sp>
      <p:sp>
        <p:nvSpPr>
          <p:cNvPr id="19" name="Shape 17"/>
          <p:cNvSpPr/>
          <p:nvPr/>
        </p:nvSpPr>
        <p:spPr>
          <a:xfrm>
            <a:off x="11292840" y="4782312"/>
            <a:ext cx="256032" cy="256032"/>
          </a:xfrm>
          <a:prstGeom prst="ellipse">
            <a:avLst/>
          </a:prstGeom>
          <a:solidFill>
            <a:srgbClr val="B85042"/>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זו הסיבה שהיא נחשבת 'תקן הזהב' דווקא במחקר התערבותי</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היא 3. זהו העיקרון המרכזי שמייחד אקראיות משאר חמש האסטרטגיות. תשובה 0 שגויה - למעשה RCT יקר יותר ואיטי יותר מרוב האסטרטגיות התצפיתיות. תשובה 1 שגויה - אקראיות לא מבטלת את הצורך במדגם הולם, היא רק מטפלת בהטיה, לא בעוצמה סטטיסטית. תשובה 2 שגויה - אקראיות היא בדיוק המרכיב המגדיר מחקר התערבותי (RCT), לא מחקר תיאורי.</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משתנה מבלבל (Confounder)</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גורם הקשור גם לחשיפה הנחקרת וגם לתוצאה הנמדדת, שנוכחותו מעוותת את הקשר האמיתי ביניהן - למשל גיל כמבלבל פוטנציאלי במחקר על טיפול לגידול מוחי, אם קבוצות הגיל אינן מאוזנות בין קבוצות המחקר.</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שתי דרכים לחלק קבוצת תלמידים לשתי כיתות מקבילות: בדרך אחת המורה בוחרת ידנית ומנסה 'לאזן' לפי ציונים וגיל שהיא יודעת עליהם. בדרך שנייה - הגרלה עיוורת לגמרי. ההגרלה תאזן גם תכונות שהמורה בכלל לא ידעה עליהן (כמו מוטיבציה סמויה) - זה בדיוק מה שאקראיות עושה למחקר קליני.</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בכלל לא פשוט להשתמש תמיד באקראיות, אם היא כל כך עדיפה?</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רגישות וסגוליות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מחקר סינון (screening) עם MRI לאיתור אנוריזמות מוחיות במטופלים עם מחלת כליות פוליציסטית (מחלה נדירה יחסית) מדווח על רגישות וסגוליות של 90% כל אחת - זהה למחקר אחר על מחלה שכיחה בהרבה. מדוע, על אף רגישות וסגוליות זהות, הערך המנבא החיובי (PPV) של בדיקת הסינון יהיה נמוך משמעותית יותר במחלה הנדירה?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הרגישות והסגוליות עצמן משתנות אוטומטית לפי שכיחות המחלה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בדיקת MRI פחות מדויקת טכנית במחלות נדירות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כאשר שכיחות המחלה נמוכה, מספר החיוביים הכוזבים (מתוך האוכלוסייה הבריאה הגדולה בהרבה) עולה בהרבה על מספר החיוביים האמיתיים המעטים - כך ש-PPV צונח גם עם סגוליות טובה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אין שום קשר בין שכיחות המחלה לבין PPV - הטענה בשאלה שגויה מיסודה</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רגישות וסגוליות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כי כאשר שכיחות המחלה נמוכה, מספר החיוביים הכוזבים (מתוך האוכלוסייה הבריאה הגדולה בהרבה) עולה בהרבה על מספר החיוביים האמיתיים המעטים - כך ש-PPV צונח גם עם סגוליות טובה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רגישות וסגוליות הן תכונות קבועות של הבדיקה, לא תלויות בשכיחות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1295C">
              <a:alpha val="12000"/>
            </a:srgbClr>
          </a:solidFill>
          <a:ln w="15875">
            <a:solidFill>
              <a:srgbClr val="21295C"/>
            </a:solidFill>
            <a:prstDash val="solid"/>
          </a:ln>
        </p:spPr>
      </p:sp>
      <p:sp>
        <p:nvSpPr>
          <p:cNvPr id="11" name="Shape 9"/>
          <p:cNvSpPr/>
          <p:nvPr/>
        </p:nvSpPr>
        <p:spPr>
          <a:xfrm>
            <a:off x="11292840" y="3044952"/>
            <a:ext cx="256032" cy="256032"/>
          </a:xfrm>
          <a:prstGeom prst="ellipse">
            <a:avLst/>
          </a:prstGeom>
          <a:solidFill>
            <a:srgbClr val="21295C"/>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אך PPV תלוי חזק בשכיחות - כי הוא משווה חיוביים אמיתיים לכלל החיוביים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45309">
              <a:alpha val="12000"/>
            </a:srgbClr>
          </a:solidFill>
          <a:ln w="15875">
            <a:solidFill>
              <a:srgbClr val="B45309"/>
            </a:solidFill>
            <a:prstDash val="solid"/>
          </a:ln>
        </p:spPr>
      </p:sp>
      <p:sp>
        <p:nvSpPr>
          <p:cNvPr id="15" name="Shape 13"/>
          <p:cNvSpPr/>
          <p:nvPr/>
        </p:nvSpPr>
        <p:spPr>
          <a:xfrm>
            <a:off x="11292840" y="3913632"/>
            <a:ext cx="256032" cy="256032"/>
          </a:xfrm>
          <a:prstGeom prst="ellipse">
            <a:avLst/>
          </a:prstGeom>
          <a:solidFill>
            <a:srgbClr val="B45309"/>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במחלה נדירה: מעט מאוד חולים אמיתיים, אבל אוכלוסיית הבריאים ענקית</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B85042">
              <a:alpha val="12000"/>
            </a:srgbClr>
          </a:solidFill>
          <a:ln w="15875">
            <a:solidFill>
              <a:srgbClr val="B85042"/>
            </a:solidFill>
            <a:prstDash val="solid"/>
          </a:ln>
        </p:spPr>
      </p:sp>
      <p:sp>
        <p:nvSpPr>
          <p:cNvPr id="19" name="Shape 17"/>
          <p:cNvSpPr/>
          <p:nvPr/>
        </p:nvSpPr>
        <p:spPr>
          <a:xfrm>
            <a:off x="11292840" y="4782312"/>
            <a:ext cx="256032" cy="256032"/>
          </a:xfrm>
          <a:prstGeom prst="ellipse">
            <a:avLst/>
          </a:prstGeom>
          <a:solidFill>
            <a:srgbClr val="B85042"/>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גם 10% חיוביים כוזבים מתוך אוכלוסייה בריאה ענקית = הרבה יותר ממספר החולים האמיתיים</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היא 2. זהו בדיוק ההבדל שממחיש טבלת השכיחות בפרק (מחלה שכיחה 50% לעומת מחלה נדירה 10%, עם רגישות וסגוליות זהות 90%): במחלה השכיחה PPV=90%, במחלה הנדירה PPV צונח ל-50% בלבד. תשובה 0 שגויה - רגישות וסגוליות הן תכונות פנימיות של הבדיקה עצמה ואינן משתנות עם שכיחות. תשובה 1 שגויה - אין כאן טענה על דיוק טכני, אלא על מתמטיקה של יחסים באוכלוסייה. תשובה 3 שגויה - ישנו קשר ישיר וחזק, זו בדיוק הנקודה המרכזית של הפרק בנושא זה.</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ערך מנבא חיובי (PPV)</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ההסתברות שמטופל עם תוצאה חיובית אכן חולה במחלה בפועל = חיוביים אמיתיים חלקי כלל החיוביים (אמיתיים + כוזבים). בניגוד לרגישות וסגוליות, PPV תלוי חזק בשכיחות המחלה באוכלוסייה הנבדקת.</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מכ"ם רגיש שמזהה 90% מהמטוסים האויב וגם 90% מהמטוסים הידידותיים בצדק. אם רוב המטוסים בשמיים ידידותיים (מחלה נדירה) - גם 10% הטעויות מתוך המונים הידידותיים ייצרו יותר 'אזעקות שווא' ממספר האויבים האמיתיים המעטים. אם רוב המטוסים אויבים (מחלה שכיחה) - הבעיה הזו נעלמת כמעט לגמרי.</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בכל זאת שווה להשתמש ב-PPV/NPV בקליניקה במקום להסתפק ברגישות וסגוליות?</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יחס סבירות (Likelihood Ratio)</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 מגיע עם ממצא קליני שה-Likelihood Ratio (LR) שלו לכשל שאנט הוא 4. עמית מציע להשתמש ב-PPV שפורסם במאמר אחר לאותו ממצא כדי להעריך את ההסתברות למחלה. מהו היתרון המרכזי של שימוש ב-LR על פני PPV/NPV מפורסמים בהקשר הזה?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LR אינו תלוי בשכיחות המחלה באוכלוסייה שבה נמדד - ולכן ניתן להכפיל אותו בסיכויים הטרום-בדיקה של המטופל הספציפי כדי לקבל סיכויים מעודכנים, בלי לחשב מחדש עבור כל שכיחות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LR תמיד מדויק יותר טכנית מרגישות וסגוליות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LR מבטל לגמרי את הצורך בהערכת הסתברות טרום-בדיקה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LR ו-PPV הם בדיוק אותו מספר, רק ביחידות שונות</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יחס סבירות (Likelihood Ratio)</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LR אינו תלוי בשכיחות המחלה באוכלוסייה שבה נמדד - ולכן ניתן להכפיל אותו בסיכויים הטרום-בדיקה של המטופל הספציפי כדי לקבל סיכויים מעודכנים, בלי לחשב מחדש עבור כל שכיחות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85042">
              <a:alpha val="12000"/>
            </a:srgbClr>
          </a:solidFill>
          <a:ln w="15875">
            <a:solidFill>
              <a:srgbClr val="B85042"/>
            </a:solidFill>
            <a:prstDash val="solid"/>
          </a:ln>
        </p:spPr>
      </p:sp>
      <p:sp>
        <p:nvSpPr>
          <p:cNvPr id="7" name="Shape 5"/>
          <p:cNvSpPr/>
          <p:nvPr/>
        </p:nvSpPr>
        <p:spPr>
          <a:xfrm>
            <a:off x="11292840" y="2176272"/>
            <a:ext cx="256032" cy="256032"/>
          </a:xfrm>
          <a:prstGeom prst="ellipse">
            <a:avLst/>
          </a:prstGeom>
          <a:solidFill>
            <a:srgbClr val="B85042"/>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PPV/NPV מפורסמים תקפים רק לאוכלוסייה בעלת שכיחות דומה למקור</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C7293">
              <a:alpha val="12000"/>
            </a:srgbClr>
          </a:solidFill>
          <a:ln w="15875">
            <a:solidFill>
              <a:srgbClr val="1C7293"/>
            </a:solidFill>
            <a:prstDash val="solid"/>
          </a:ln>
        </p:spPr>
      </p:sp>
      <p:sp>
        <p:nvSpPr>
          <p:cNvPr id="11" name="Shape 9"/>
          <p:cNvSpPr/>
          <p:nvPr/>
        </p:nvSpPr>
        <p:spPr>
          <a:xfrm>
            <a:off x="11292840" y="3044952"/>
            <a:ext cx="256032" cy="256032"/>
          </a:xfrm>
          <a:prstGeom prst="ellipse">
            <a:avLst/>
          </a:prstGeom>
          <a:solidFill>
            <a:srgbClr val="1C7293"/>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LR מבוסס על רגישות/סגוליות - תכונות קבועות, לא תלויות שכיחות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1295C">
              <a:alpha val="12000"/>
            </a:srgbClr>
          </a:solidFill>
          <a:ln w="15875">
            <a:solidFill>
              <a:srgbClr val="21295C"/>
            </a:solidFill>
            <a:prstDash val="solid"/>
          </a:ln>
        </p:spPr>
      </p:sp>
      <p:sp>
        <p:nvSpPr>
          <p:cNvPr id="15" name="Shape 13"/>
          <p:cNvSpPr/>
          <p:nvPr/>
        </p:nvSpPr>
        <p:spPr>
          <a:xfrm>
            <a:off x="11292840" y="3913632"/>
            <a:ext cx="256032" cy="256032"/>
          </a:xfrm>
          <a:prstGeom prst="ellipse">
            <a:avLst/>
          </a:prstGeom>
          <a:solidFill>
            <a:srgbClr val="21295C"/>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מכפילים: סיכויים טרום-בדיקה של המטופל הזה × LR = סיכויים אחרי-בדיקה</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כך LR מתאים לכל שכיחות/מטופל, ללא צורך במאמר עם שכיחות זהה</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היא 0. יתרון ה-LR הוא בדיוק אי-התלות בשכיחות, מה שמאפשר להשתמש בו על כל מטופל בהינתן הסיכויים הטרום-בדיקה הספציפיים שלו. תשובה 1 שגויה - LR אינו 'מדויק יותר' באופן מהותי, הוא רק מאורגן בצורה שימושית יותר מתמטית. תשובה 2 שגויה - להפך, LR דורש בהכרח הערכת הסתברות טרום-בדיקה כדי להפוך אותה לסיכויים ולהכפיל. תשובה 3 שגויה - LR ו-PPV הם מדדים שונים מהותית; PPV תלוי שכיחות ו-LR לא.</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יחס סבירות (Likelihood Ratio, LR)</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מבטא פי כמה סביר יותר שממצא מסוים יופיע בחולה לעומת בריא (יחס סיכויים, לא אחוזים). LR של 4 אומר שהממצא סביר פי 4 בחולה מאשר בבריא, ואינו תלוי בשכיחות המחלה באוכלוסייה - בניגוד ל-PPV/NPV.</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מפת ניווט (LR) לעומת כתובת קבועה (PPV). כתובת קבועה מובילה אותך תמיד לאותו מקום, לא משנה מאיפה יצאת - אבל אם התחלת ממקום אחר (שכיחות שונה), היא כבר לא רלוונטית. מפת ניווט (הכפלה ב-LR) עובדת מכל נקודת התחלה - היא רק אומרת לך כמה 'צעדים' (פי כמה) להזיז את ההסתברות שלך, מאיפה שאתה נמצא.</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LR נגזר מרגישות וסגוליות אך לא תלוי בשכיחות, בעוד PPV נגזר מאותם נתונים אך כן תלוי בשכיחות?</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C5F2D"/>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מהימנות והסכמה קלינית (Kappa)</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שני נוירוכירורגים בכירים בודקים באופן עצמאי 100 ילדים לנוכחות מרפס בולט (bulging fontanelle). כל אחד מהם מזהה את הממצא ב-70% מהמקרים (בנפרד). מחישוב טבלת ההסתברויות, ההסכמה המקרית הצפויה (רק במקרה, ללא כל קשר אמיתי) היא 58%. בפועל, שני הבודקים מסכימים ב-80% מהמקרים. מהו ה-Kappa, ומדוע אי אפשר פשוט להסתפק ב'80% הסכמה' כמדד?</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Kappa = 80%, וזה בדיוק מה שאחוז ההסכמה הגולמי כבר מראה - אין צורך בתיקון נוסף</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Kappa = (80-58)/(100-58) ≈ 0.52 - הסכמה בינונית בלבד, כי חלק ניכר מ-80% ההסכמה הגולמית קורה ממילא במקרה ואינו מייצג הסכמה אמיתית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Kappa = 58%, כי זו ההסתברות הבסיסית שיש להתחשב בה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 אפשר לחשב Kappa בלי לדעת את הרגישות והסגוליות של הבודקים מול תקן זהב</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C5F2D"/>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מהימנות והסכמה קלינית (Kappa)</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Kappa = (80-58)/(100-58) ≈ 0.52 - הסכמה בינונית בלבד, כי חלק ניכר מ-80% ההסכמה הגולמית קורה ממילא במקרה ואינו מייצג הסכמה אמיתית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45309">
              <a:alpha val="12000"/>
            </a:srgbClr>
          </a:solidFill>
          <a:ln w="15875">
            <a:solidFill>
              <a:srgbClr val="B45309"/>
            </a:solidFill>
            <a:prstDash val="solid"/>
          </a:ln>
        </p:spPr>
      </p:sp>
      <p:sp>
        <p:nvSpPr>
          <p:cNvPr id="7" name="Shape 5"/>
          <p:cNvSpPr/>
          <p:nvPr/>
        </p:nvSpPr>
        <p:spPr>
          <a:xfrm>
            <a:off x="11292840" y="2176272"/>
            <a:ext cx="256032" cy="256032"/>
          </a:xfrm>
          <a:prstGeom prst="ellipse">
            <a:avLst/>
          </a:prstGeom>
          <a:solidFill>
            <a:srgbClr val="B45309"/>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80% הסכמה גולמית נשמע גבוה, אך כולל רכיב הסכמה מקרית של 58%</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C7293">
              <a:alpha val="12000"/>
            </a:srgbClr>
          </a:solidFill>
          <a:ln w="15875">
            <a:solidFill>
              <a:srgbClr val="1C7293"/>
            </a:solidFill>
            <a:prstDash val="solid"/>
          </a:ln>
        </p:spPr>
      </p:sp>
      <p:sp>
        <p:nvSpPr>
          <p:cNvPr id="11" name="Shape 9"/>
          <p:cNvSpPr/>
          <p:nvPr/>
        </p:nvSpPr>
        <p:spPr>
          <a:xfrm>
            <a:off x="11292840" y="3044952"/>
            <a:ext cx="256032" cy="256032"/>
          </a:xfrm>
          <a:prstGeom prst="ellipse">
            <a:avLst/>
          </a:prstGeom>
          <a:solidFill>
            <a:srgbClr val="1C7293"/>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Kappa מנכה את ההסכמה המקרית משני צידי המשוואה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1295C">
              <a:alpha val="12000"/>
            </a:srgbClr>
          </a:solidFill>
          <a:ln w="15875">
            <a:solidFill>
              <a:srgbClr val="21295C"/>
            </a:solidFill>
            <a:prstDash val="solid"/>
          </a:ln>
        </p:spPr>
      </p:sp>
      <p:sp>
        <p:nvSpPr>
          <p:cNvPr id="15" name="Shape 13"/>
          <p:cNvSpPr/>
          <p:nvPr/>
        </p:nvSpPr>
        <p:spPr>
          <a:xfrm>
            <a:off x="11292840" y="3913632"/>
            <a:ext cx="256032" cy="256032"/>
          </a:xfrm>
          <a:prstGeom prst="ellipse">
            <a:avLst/>
          </a:prstGeom>
          <a:solidFill>
            <a:srgbClr val="21295C"/>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(80-58)/(100-58) = 22/42 ≈ 0.52</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0.52 נופל בטווח 0.4-0.6 - הסכמה 'בינונית' בלבד, לא גבוהה</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היא 1, בהתאם לחישוב המדויק מהפרק. תשובה 0 שגויה - זו בדיוק הטעות שהפרק מזהיר מפניה: 80% הסכמה גולמית נשמע מרשים אך מטעה, כי היא לא מנוכה מהסכמה מקרית. תשובה 2 שגויה - 58% הוא ההסכמה המקרית עצמה, לא ה-Kappa. תשובה 3 שגויה - Kappa מחושב מטבלת ההסכמה בין שני בודקים זה לזה (הסכמה בין-בודקים), לא מהשוואה לתקן זהב חיצוני כמו רגישות/סגוליות.</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סטטיסטיקת Kappa (&amp;kappa;)</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מדד המבטא את מידת ההסכמה בין שני בודקים או יותר, מעבר להסכמה שהייתה צפויה מהמקרה בלבד. נע בין 0 (אין הסכמה מעבר למקרה) ל-1 (הסכמה מושלמת). לפי מוסכמה: 0-0.2 קלה, 0.2-0.4 סבירה, 0.4-0.6 בינונית, 0.8-1.0 גבוהה.</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שני שופטי תחרות שכל אחד מהם, אם היה עוצם עיניים ומנחש לגמרי אקראית לפי הנטייה האישית שלו להצביע 'כן', עדיין היה מסכים עם השני ב-58% מהמקרים סתם מהמקריות. Kappa שואל: כמה ההסכמה שלהם טובה יותר מזה - מעבר לניחוש העיוור?</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בכלל צריך למדוד הסכמה בין בודקים בנפרד מלמדוד מהימנות (reliability) של סולם?</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990011"/>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עיצובי מחקר ומקורות הטיה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חוקר רוצה לבדוק את הקשר בין חבלת ראש קודמת להתפתחות גידול מוחי נדיר. הוא בוחר קבוצת חולים עם הגידול וקבוצת ביקורת ללא הגידול, ובודק רטרוספקטיבית בשתי הקבוצות היסטוריה של חבלות ראש. מדוע מחקר מסוג זה יכול לדווח רק על יחס סיכויים (Odds Ratio) ולא על סיכון יחסי אמיתי (Relative Risk), בניגוד למחקר קוהורט?</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סיכון יחסי דורש ניתוח סטטיסטי מתקדם יותר מיחס סיכויים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חבלות ראש הן גורם סיכון נדיר מדי לחישוב סיכון יחסי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המחקר רטרוספקטיבי, וכל מחקר רטרוספקטיבי מוגבל אוטומטית ליחס סיכויים בלבד</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קבוצת הביקורת נבחרה באופן מלאכותי ולא כדגימה אקראית מהאוכלוסייה הכללית, ולכן אין למחקר מידע על השכיחות האמיתית של גורם הסיכון או המחלה באוכלוסייה - רק על היחס בין המקרים לביקורות</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990011"/>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עיצובי מחקר ומקורות הטיה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כי קבוצת הביקורת נבחרה באופן מלאכותי ולא כדגימה אקראית מהאוכלוסייה הכללית, ולכן אין למחקר מידע על השכיחות האמיתית של גורם הסיכון או המחלה באוכלוסייה - רק על היחס בין המקרים לביקורות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ב-Case-Control בוחרים תחילה מי חולה ומי בריא (לא מדגם אקראי מהאוכלוסייה)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45309">
              <a:alpha val="12000"/>
            </a:srgbClr>
          </a:solidFill>
          <a:ln w="15875">
            <a:solidFill>
              <a:srgbClr val="B45309"/>
            </a:solidFill>
            <a:prstDash val="solid"/>
          </a:ln>
        </p:spPr>
      </p:sp>
      <p:sp>
        <p:nvSpPr>
          <p:cNvPr id="11" name="Shape 9"/>
          <p:cNvSpPr/>
          <p:nvPr/>
        </p:nvSpPr>
        <p:spPr>
          <a:xfrm>
            <a:off x="11292840" y="3044952"/>
            <a:ext cx="256032" cy="256032"/>
          </a:xfrm>
          <a:prstGeom prst="ellipse">
            <a:avLst/>
          </a:prstGeom>
          <a:solidFill>
            <a:srgbClr val="B45309"/>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לכן שיעור המחלה בקבוצת הביקורת אינו משקף שכיחות אמיתית באוכלוסייה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1295C">
              <a:alpha val="12000"/>
            </a:srgbClr>
          </a:solidFill>
          <a:ln w="15875">
            <a:solidFill>
              <a:srgbClr val="21295C"/>
            </a:solidFill>
            <a:prstDash val="solid"/>
          </a:ln>
        </p:spPr>
      </p:sp>
      <p:sp>
        <p:nvSpPr>
          <p:cNvPr id="15" name="Shape 13"/>
          <p:cNvSpPr/>
          <p:nvPr/>
        </p:nvSpPr>
        <p:spPr>
          <a:xfrm>
            <a:off x="11292840" y="3913632"/>
            <a:ext cx="256032" cy="256032"/>
          </a:xfrm>
          <a:prstGeom prst="ellipse">
            <a:avLst/>
          </a:prstGeom>
          <a:solidFill>
            <a:srgbClr val="21295C"/>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אי אפשר לחשב סיכון (שדורש שכיחות אמיתית) - רק יחס סיכויים יחסי בין הקבוצות</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בקוהורט, לעומת זאת, עוקבים מהחשיפה קדימה - ולכן ניתן לחשב סיכון יחסי אמיתי</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היא 3. זו הסיבה המתודולוגית המדויקת מהפרק. תשובה 0 שגויה - שתי השיטות דורשות ניתוח סטטיסטי דומה באורך ומורכבות. תשובה 1 שגויה - נדירות גורם הסיכון היא סיבה טובה לבחור דווקא בעיצוב Case-Control (יעיל למחלות/חשיפות נדירות), לא הסבר למגבלת ה-Odds Ratio. תשובה 2 שגויה - יש גם עיצובי קוהורט רטרוספקטיביים (בהם עוקבים אחורה מחשיפה לתוצאה) שכן מדווחים סיכון יחסי; הקריטי הוא איך נבחר המדגם (מהתוצאה כלפי מטה, או מהחשיפה כלפי מעלה), לא כיוון הזמן.</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יחס סיכויים (Odds Ratio) מול סיכון יחסי (Relative Risk)</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Odds Ratio משווה את היחס בין חיוביים לשליליים בין שתי קבוצות (למשל חולים מול ביקורות שנבחרו), בעוד Relative Risk משווה שכיחות אמיתית של תוצאה בין קבוצה חשופה לקבוצה לא-חשופה מתוך אוכלוסייה שנדגמה כראוי. במחלות נדירות שני המדדים מתקרבים מספרית זה לזה, אך הם שונים מושגית.</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שרוצים לדעת כמה שכיח שמעשנים נוהגים במהירות. אם תבחרי 50 נהגים מהירים ו-50 נהגים איטיים (כמו Case-Control) ותבדקי כמה מכל קבוצה מעשנים - זה לא מספר לך כמה אחוז מכלל הנהגים המהירים בעולם מעשנים (כי בחרת את הקבוצות בעצמך). אם במקום זה תעקבי אחרי כל הנהגים בעיר לאורך שנה (כמו קוהורט) - רק אז תוכלי לדווח סיכון אמיתי.</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בכל זאת עיצוב Case-Control כל כך נפוץ, אם הוא מוגבל יותר מקוהורט?</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028090"/>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שלבי הערכת הליך כירורגי חדש</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מנתחת פיתחה טכניקה אנדוסקופית חדשה לניתוח גידולי בסיס גולגולת. ב-40 החולים הראשונים (עם קריטריוני הכללה/הדרה מוגדרים מראש) הושגו תוצאות טובות, שהוערכו ע"י צוות חיצוני שאינו חלק מהניתוח. קיים טיפול חלופי (גישה פתוחה מסורתית) והמחלה אינה בעלת מהלך טבעי קטלני-קבוע. מהו הצעד המתודולוגי הבא הנכון, ולמה אסור לדלג עליו במקרה הזה?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מעבר ישיר לשלב IV (מעקב שוק) ואימוץ רחב - תוצאות שלב II שהוערכו חיצונית מספיקות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חזרה לשלב I, כי 40 חולים הם מדגם קטן מדי לכל שלב מתקדם יותר</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מעבר לשלב III - ניסוי מבוקר אקראי מול הגישה הפתוחה הסטנדרטית - כי קיימת חלופה סבירה וההיסטוריה הטבעית אינה קטלנית-קבועה, כך שהחריג שמתיר דילוג על אקראיות (כמו בגליובלסטומה) אינו חל כאן</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פרסום התוצאות בתור רמת ראיה I ומעבר ישיר לפרקטיקה קלינית שגרתית</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028090"/>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שלבי הערכת הליך כירורגי חדש</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מעבר לשלב III - ניסוי מבוקר אקראי מול הגישה הפתוחה הסטנדרטית - כי קיימת חלופה סבירה וההיסטוריה הטבעית אינה קטלנית-קבועה, כך שהחריג שמתיר דילוג על אקראיות (כמו בגליובלסטומה) אינו חל כאן</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שלב II הושלם כראוי: קריטריונים מוגדרים + הערכה ע"י גורם לא-מעורב</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45309">
              <a:alpha val="12000"/>
            </a:srgbClr>
          </a:solidFill>
          <a:ln w="15875">
            <a:solidFill>
              <a:srgbClr val="B45309"/>
            </a:solidFill>
            <a:prstDash val="solid"/>
          </a:ln>
        </p:spPr>
      </p:sp>
      <p:sp>
        <p:nvSpPr>
          <p:cNvPr id="11" name="Shape 9"/>
          <p:cNvSpPr/>
          <p:nvPr/>
        </p:nvSpPr>
        <p:spPr>
          <a:xfrm>
            <a:off x="11292840" y="3044952"/>
            <a:ext cx="256032" cy="256032"/>
          </a:xfrm>
          <a:prstGeom prst="ellipse">
            <a:avLst/>
          </a:prstGeom>
          <a:solidFill>
            <a:srgbClr val="B45309"/>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קיימת חלופה סבירה (גישה פתוחה) - לא מצב 'נואש' ללא טיפול</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1295C">
              <a:alpha val="12000"/>
            </a:srgbClr>
          </a:solidFill>
          <a:ln w="15875">
            <a:solidFill>
              <a:srgbClr val="21295C"/>
            </a:solidFill>
            <a:prstDash val="solid"/>
          </a:ln>
        </p:spPr>
      </p:sp>
      <p:sp>
        <p:nvSpPr>
          <p:cNvPr id="15" name="Shape 13"/>
          <p:cNvSpPr/>
          <p:nvPr/>
        </p:nvSpPr>
        <p:spPr>
          <a:xfrm>
            <a:off x="11292840" y="3913632"/>
            <a:ext cx="256032" cy="256032"/>
          </a:xfrm>
          <a:prstGeom prst="ellipse">
            <a:avLst/>
          </a:prstGeom>
          <a:solidFill>
            <a:srgbClr val="21295C"/>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המהלך הטבעי אינו קטלני-קבוע - החריג של גליובלסטומה אינו חל</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לכן יש להוכיח יעילות וביטחון בניסוי אקראי (שלב III) לפני אימוץ רחב</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היא 2. הפרק מדגיש שהחריג היחיד המתיר דילוג על ניסוי אקראי הוא מצב שבו ההיסטוריה הטבעית ידועה וקטלנית-קבועה וללא טיפול יעיל קיים (כמו גליובלסטומה עם הישרדות מוארכת דרמטית) - וכאן שני התנאים הללו אינם מתקיימים (יש חלופה, אין מהלך קטלני קבוע). תשובה 0 שגויה - מדלגת על השלב הקריטי שמוכיח יעילות בהשוואה ישירה. תשובה 1 שגויה - 40 חולים עם קריטריונים מוגדרים והערכה חיצונית הם בדיוק המאפיינים של שלב II שהושלם בהצלחה, לא כישלון של שלב I. תשובה 3 שגויה - שלב II ללא אקראיות והשוואה ישירה נחשב לכל היותר רמת ראיה 3-4, לא רמה I.</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הערכה 'לא-מעורבת' (Disinterested Assessment)</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הערכת תוצאות ניתוח על ידי גורם שאינו המנתח ואינו המטופל/משפחתו - נדרשת בשלב II כדי למנוע את ההטיה העצומה שנובעת מהרצון המשותף של מנתח ומטופל 'להאמין' שהניתוח הצליח, במיוחד במצבים רפואיים קשים.</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שופט ספורט שגם הוא אחד המתחרים - הוא יכול לשפוט את עצמו בצורה הוגנת יותר משנדמה, אבל אף אחד לא יאמין לתוצאה. באותו אופן, מנתח שממציא טכניקה ובודק את עצמו נמצא במקום דומה - לכן חייבים שופט חיצוני (הערכה לא-מעורבת) בשלב II, ולניצחון אמיתי ומוכר - תחרות רשמית מול היריב (ניסוי אקראי בשלב III).</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בכלל יש הבדל בין הפיקוח על תרופות חדשות (FDA, ארבעה שלבים מוסדרים) לבין הפיקוח על הליכים כירורגיים חדשים?</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84B59F"/>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מטא-אנליזה ודירוג ראיות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8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חוקרת מבצעת סקירה שיטתית ומטא-אנליזה על טיפול נוירוכירורגי מסוים, ובוחרת לכלול רק מאמרים שפורסמו בכתבי עת מובילים, בלי לחפש עבודות כנס לא-מפורסמות או ניסויים שנרשמו אך לא פורסמו. מהי הבעיה המרכזית בגישה הזו, ומה השם שניתן לה בפרק?</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הטיית פרסום (Publication Bias) - מחקרים עם תוצאה שלילית נוטים להתפרסם פחות ('בעיית מגירת התיוקים'), כך שהסתמכות על ספרות מפורסמת בלבד מטה את התוצאה המשולבת לכיוון אפקט טיפול מוגזם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שום בעיה - סקירה שיטתית תקנית תמיד מוגבלת לכתבי עת מובילים בלבד</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הבעיה היא רק שהמדגם המשולב יהיה קטן מדי, ללא כל עיוות כיווני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זו הטיית זיכרון (Recall Bias), כי הכותבים לא זוכרים את כל המאמרים</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84B59F"/>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מטא-אנליזה ודירוג ראיות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הטיית פרסום (Publication Bias) - מחקרים עם תוצאה שלילית נוטים להתפרסם פחות ('בעיית מגירת התיוקים'), כך שהסתמכות על ספרות מפורסמת בלבד מטה את התוצאה המשולבת לכיוון אפקט טיפול מוגזם</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85042">
              <a:alpha val="12000"/>
            </a:srgbClr>
          </a:solidFill>
          <a:ln w="15875">
            <a:solidFill>
              <a:srgbClr val="B85042"/>
            </a:solidFill>
            <a:prstDash val="solid"/>
          </a:ln>
        </p:spPr>
      </p:sp>
      <p:sp>
        <p:nvSpPr>
          <p:cNvPr id="7" name="Shape 5"/>
          <p:cNvSpPr/>
          <p:nvPr/>
        </p:nvSpPr>
        <p:spPr>
          <a:xfrm>
            <a:off x="11292840" y="2176272"/>
            <a:ext cx="256032" cy="256032"/>
          </a:xfrm>
          <a:prstGeom prst="ellipse">
            <a:avLst/>
          </a:prstGeom>
          <a:solidFill>
            <a:srgbClr val="B85042"/>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מחקרים עם תוצאה שלילית או לא-משמעותית נוטים להתעכב או לא להתפרסם כלל</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45309">
              <a:alpha val="12000"/>
            </a:srgbClr>
          </a:solidFill>
          <a:ln w="15875">
            <a:solidFill>
              <a:srgbClr val="B45309"/>
            </a:solidFill>
            <a:prstDash val="solid"/>
          </a:ln>
        </p:spPr>
      </p:sp>
      <p:sp>
        <p:nvSpPr>
          <p:cNvPr id="11" name="Shape 9"/>
          <p:cNvSpPr/>
          <p:nvPr/>
        </p:nvSpPr>
        <p:spPr>
          <a:xfrm>
            <a:off x="11292840" y="3044952"/>
            <a:ext cx="256032" cy="256032"/>
          </a:xfrm>
          <a:prstGeom prst="ellipse">
            <a:avLst/>
          </a:prstGeom>
          <a:solidFill>
            <a:srgbClr val="B45309"/>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זה נקרא 'בעיית מגירת התיוקים' (file drawer problem)</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C7293">
              <a:alpha val="12000"/>
            </a:srgbClr>
          </a:solidFill>
          <a:ln w="15875">
            <a:solidFill>
              <a:srgbClr val="1C7293"/>
            </a:solidFill>
            <a:prstDash val="solid"/>
          </a:ln>
        </p:spPr>
      </p:sp>
      <p:sp>
        <p:nvSpPr>
          <p:cNvPr id="15" name="Shape 13"/>
          <p:cNvSpPr/>
          <p:nvPr/>
        </p:nvSpPr>
        <p:spPr>
          <a:xfrm>
            <a:off x="11292840" y="3913632"/>
            <a:ext cx="256032" cy="256032"/>
          </a:xfrm>
          <a:prstGeom prst="ellipse">
            <a:avLst/>
          </a:prstGeom>
          <a:solidFill>
            <a:srgbClr val="1C7293"/>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סקירה שמסתמכת רק על ספרות מפורסמת מוטה כלפי אפקט טיפול חיובי-מדי</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פתרון: חיפוש ספרות אפורה + רישום מוקדם בכתובת כמו clinicaltrials.gov</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היא 0. זו בדיוק ההטיה שהפרק מזהיר מפניה בהקשר של מטא-אנליזה וסקירות שיטתיות. תשובה 1 שגויה - להפך, סקירה שיטתית תקנית מחויבת לחפש גם ספרות לא-מפורסמת ו'אפורה' (עבודות כנס, תזות) כדי להימנע בדיוק מהבעיה הזו. תשובה 2 שגויה - הבעיה אינה רק גודל מדגם אלא עיוות שיטתי לכיוון תוצאות חיוביות. תשובה 3 שגויה - הטיית זיכרון מתייחסת לדיווח שונה של נבדקים במחקרי תצפית, לא לתהליך איסוף ספרות למטא-אנליזה.</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הטיית פרסום (Publication Bias)</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הנטייה השיטתית של מחקרים עם תוצאות חיוביות/מובהקות סטטיסטית להתפרסם בקלות ובמהירות רבה יותר ממחקרים עם תוצאות שליליות או לא-משמעותיות - מה שמעוות כלפי מעלה כל סקירה שמסתמכת רק על הספרות המפורסמת.</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שאת שופטת תחרות בישול לפי סרטוני יוטיוב בלבד - אבל אנשים מעלים סרטון רק כשהמנה יוצאת מוצלחת, וזורקים לפח את כל הצילומים של הכישלונות. אם תשפטי את איכות המתכון רק לפי הסרטונים שפורסמו, תקבלי רושם מוטה כלפי מעלה לגמרי - בדיוק כמו מטא-אנליזה שמתעלמת ממחקרים שנשארו 'במגירה'.</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בדיוק רישום מוקדם של ניסויים (כמו ב-clinicaltrials.gov) עוזר להילחם בהטיית פרסום?</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הטיה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Bias</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שגיאה אקראית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Random error</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הטיית בחירת מדגם</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Sampling bias</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משתנה מבלבל</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Confounder</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אקראיות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Randomization</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התאמה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Matching</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2026-08-22T01:31:12Z</dcterms:created>
  <dcterms:modified xsi:type="dcterms:W3CDTF">2026-08-22T01:31:12Z</dcterms:modified>
</cp:coreProperties>
</file>