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C1B2A"/>
          </a:solidFill>
          <a:ln/>
        </p:spPr>
      </p:sp>
      <p:sp>
        <p:nvSpPr>
          <p:cNvPr id="3" name="Shape 1"/>
          <p:cNvSpPr/>
          <p:nvPr/>
        </p:nvSpPr>
        <p:spPr>
          <a:xfrm>
            <a:off x="5559552" y="640080"/>
            <a:ext cx="1078992" cy="1078992"/>
          </a:xfrm>
          <a:prstGeom prst="ellipse">
            <a:avLst/>
          </a:prstGeom>
          <a:ln w="38100">
            <a:solidFill>
              <a:srgbClr val="1C729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788152" y="868680"/>
            <a:ext cx="621792" cy="62179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103120"/>
            <a:ext cx="103601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נוירוכירורגיה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360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2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פרק 1: סקירה היסטורית של הנוירוכירורגיה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365760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Overview of Neurosurgery  ·  Youmans Neurological Surgery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160520"/>
            <a:ext cx="10360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James Tait Goodrich &amp; Eugene S. Flamm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5943600"/>
            <a:ext cx="10360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כרטיסיות תרגול · שאלה ואז תשובה מלאה בכל כרטיסייה · לסטטיסטיקה חיה השתמשי באפליקציית ה-HTML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108960" cy="384048"/>
          </a:xfrm>
          <a:prstGeom prst="roundRect">
            <a:avLst>
              <a:gd name="adj" fmla="val 19048"/>
            </a:avLst>
          </a:prstGeom>
          <a:solidFill>
            <a:srgbClr val="B8504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עת עתיקה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8531352" y="36576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כרטיסייה 1 מתוך 8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005840"/>
            <a:ext cx="110642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מהו פפירוס Edwin Smith, ולמה הוא נחשב פריצת דרך?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44200" y="2852928"/>
            <a:ext cx="365760" cy="365760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8" name="Text 6"/>
          <p:cNvSpPr/>
          <p:nvPr/>
        </p:nvSpPr>
        <p:spPr>
          <a:xfrm>
            <a:off x="10744200" y="28529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651760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ספר לימוד כירורגי שיטתי עם 48 מקרים, כל אחד עם בדיקה, אבחנה ופרוגנוזה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584448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744200" y="3785616"/>
            <a:ext cx="365760" cy="365760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2" name="Text 10"/>
          <p:cNvSpPr/>
          <p:nvPr/>
        </p:nvSpPr>
        <p:spPr>
          <a:xfrm>
            <a:off x="10744200" y="378561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" y="3584448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אוסף כתבי לחשים דתיים לריפוי ראש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4517136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744200" y="4718304"/>
            <a:ext cx="365760" cy="365760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6" name="Text 14"/>
          <p:cNvSpPr/>
          <p:nvPr/>
        </p:nvSpPr>
        <p:spPr>
          <a:xfrm>
            <a:off x="10744200" y="471830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ג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960" y="4517136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תרגום מצרי של כתבי היפוקרטס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449824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744200" y="5650992"/>
            <a:ext cx="365760" cy="365760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20" name="Text 18"/>
          <p:cNvSpPr/>
          <p:nvPr/>
        </p:nvSpPr>
        <p:spPr>
          <a:xfrm>
            <a:off x="10744200" y="565099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2960" y="5449824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קטלוג של כלי ניתוח מצריים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108960" cy="365760"/>
          </a:xfrm>
          <a:prstGeom prst="roundRect">
            <a:avLst>
              <a:gd name="adj" fmla="val 20000"/>
            </a:avLst>
          </a:prstGeom>
          <a:solidFill>
            <a:srgbClr val="B8504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עת עתיקה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התשובה הנכונה: א) ספר לימוד כירורגי שיטתי עם 48 מקרים, כל אחד עם בדיקה, אבחנה ופרוגנוזה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138160" y="155448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 קורה בפועל: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138160" y="1920240"/>
            <a:ext cx="3474720" cy="777240"/>
          </a:xfrm>
          <a:prstGeom prst="roundRect">
            <a:avLst>
              <a:gd name="adj" fmla="val 8235"/>
            </a:avLst>
          </a:prstGeom>
          <a:solidFill>
            <a:srgbClr val="D99A2B">
              <a:alpha val="12000"/>
            </a:srgbClr>
          </a:solidFill>
          <a:ln w="15875">
            <a:solidFill>
              <a:srgbClr val="D99A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92840" y="2176272"/>
            <a:ext cx="256032" cy="256032"/>
          </a:xfrm>
          <a:prstGeom prst="ellipse">
            <a:avLst/>
          </a:prstGeom>
          <a:solidFill>
            <a:srgbClr val="D99A2B"/>
          </a:solidFill>
          <a:ln/>
        </p:spPr>
      </p:sp>
      <p:sp>
        <p:nvSpPr>
          <p:cNvPr id="8" name="Text 6"/>
          <p:cNvSpPr/>
          <p:nvPr/>
        </p:nvSpPr>
        <p:spPr>
          <a:xfrm>
            <a:off x="8275320" y="1975104"/>
            <a:ext cx="2880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מגילה בת כ-4.5 מטר מהתקופה שאחרי 1700 לפנה"ס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9738360" y="2697480"/>
            <a:ext cx="0" cy="9144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8138160" y="2788920"/>
            <a:ext cx="3474720" cy="777240"/>
          </a:xfrm>
          <a:prstGeom prst="roundRect">
            <a:avLst>
              <a:gd name="adj" fmla="val 8235"/>
            </a:avLst>
          </a:prstGeom>
          <a:solidFill>
            <a:srgbClr val="1C7293">
              <a:alpha val="12000"/>
            </a:srgbClr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292840" y="3044952"/>
            <a:ext cx="256032" cy="25603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8275320" y="2843784"/>
            <a:ext cx="2880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מקרים כירורגיים, כל אחד בפורמט קבוע: בדיקה → אבחנה → פרוגנוזה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9738360" y="3566160"/>
            <a:ext cx="0" cy="9144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138160" y="3657600"/>
            <a:ext cx="3474720" cy="777240"/>
          </a:xfrm>
          <a:prstGeom prst="roundRect">
            <a:avLst>
              <a:gd name="adj" fmla="val 8235"/>
            </a:avLst>
          </a:prstGeom>
          <a:solidFill>
            <a:srgbClr val="2C5F2D">
              <a:alpha val="12000"/>
            </a:srgbClr>
          </a:solidFill>
          <a:ln w="15875">
            <a:solidFill>
              <a:srgbClr val="2C5F2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292840" y="3913632"/>
            <a:ext cx="256032" cy="25603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6" name="Text 14"/>
          <p:cNvSpPr/>
          <p:nvPr/>
        </p:nvSpPr>
        <p:spPr>
          <a:xfrm>
            <a:off x="8275320" y="3712464"/>
            <a:ext cx="2880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כולל מקרים של פציעות עמוד שדרה וגולגולת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1554480"/>
            <a:ext cx="7406640" cy="1417320"/>
          </a:xfrm>
          <a:prstGeom prst="roundRect">
            <a:avLst>
              <a:gd name="adj" fmla="val 3871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1627632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הסבר: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1901952"/>
            <a:ext cx="7040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התשובה הנכונה (1) היא ההגדרה המדויקת מהפרק: זהו התיעוד השיטתי הראשון הידוע של פרקטיקה כירורגית מבוססת-תצפית, לא טקסט דתי (2) ולא תרגום יווני (3, אנכרוניזם — היפוקרטס חי כ-1000 שנה מאוחר יותר). אינו קטלוג כלים (4), אלא ספר מקרים קליניים.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108960"/>
            <a:ext cx="7406640" cy="91440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182112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מונח: Edwin Smith Papyrus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31520" y="3474720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המסמך הכירורגי העתיק ביותר הידוע; קרוי על שם האספן שרכש אותו במאה ה-19; תורגם ופורסם ע"י ג'יימס ברסטד.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" y="4160520"/>
            <a:ext cx="7406640" cy="1417320"/>
          </a:xfrm>
          <a:prstGeom prst="roundRect">
            <a:avLst>
              <a:gd name="adj" fmla="val 3871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4233672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סיפור לזכירה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31520" y="4526280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דמייני את זה כ"תיק רפואי" ענק בגליל אחד — לכל מטופל יש עמוד קבוע: מה בדקתי, מה האבחנה שלי, ומה אני חוזה שיקרה. בדיוק כמו תיק רפואי ממוחשב של היום, רק על פפירוס.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31520" y="5047488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900" i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שאלי את עצמך: למה חשוב שהמצרים כבר חילקו בין 'מחלה שאטפל בה' ל'מחלה שלא תטופל'?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מצגת סטטית — ללא ניקוד חי. לתרגול עם סטטיסטיקה בזמן אמת, השתמשי באפליקציית ה-HTML (flashcards.html).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108960" cy="384048"/>
          </a:xfrm>
          <a:prstGeom prst="roundRect">
            <a:avLst>
              <a:gd name="adj" fmla="val 19048"/>
            </a:avLst>
          </a:prstGeom>
          <a:solidFill>
            <a:srgbClr val="2129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עולם קלאסי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8531352" y="36576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כרטיסייה 2 מתוך 8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005840"/>
            <a:ext cx="110642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 תרם היפוקרטס ספציפית בחיבורו De Capitis Vulneribus, ואיזה עיקרון קליני לא-אינטואיטיבי נובע ממנו?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44200" y="2852928"/>
            <a:ext cx="365760" cy="365760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8" name="Text 6"/>
          <p:cNvSpPr/>
          <p:nvPr/>
        </p:nvSpPr>
        <p:spPr>
          <a:xfrm>
            <a:off x="10744200" y="28529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651760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תיאר לראשונה את מקלעת הכורואיד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584448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744200" y="3785616"/>
            <a:ext cx="365760" cy="365760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2" name="Text 10"/>
          <p:cNvSpPr/>
          <p:nvPr/>
        </p:nvSpPr>
        <p:spPr>
          <a:xfrm>
            <a:off x="10744200" y="378561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" y="3584448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חילק שברי גולגולת לחמישה סוגים, וקבע שככל שהפגיעה חמורה יותר כך פחות צורך בטרפנציה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4517136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744200" y="4718304"/>
            <a:ext cx="365760" cy="365760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6" name="Text 14"/>
          <p:cNvSpPr/>
          <p:nvPr/>
        </p:nvSpPr>
        <p:spPr>
          <a:xfrm>
            <a:off x="10744200" y="471830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ג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960" y="4517136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המציא את שיטת ההרדמה הראשונה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449824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744200" y="5650992"/>
            <a:ext cx="365760" cy="365760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20" name="Text 18"/>
          <p:cNvSpPr/>
          <p:nvPr/>
        </p:nvSpPr>
        <p:spPr>
          <a:xfrm>
            <a:off x="10744200" y="565099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2960" y="5449824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ביצע את הנתיחה האנושית הראשונה המתועדת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108960" cy="365760"/>
          </a:xfrm>
          <a:prstGeom prst="roundRect">
            <a:avLst>
              <a:gd name="adj" fmla="val 20000"/>
            </a:avLst>
          </a:prstGeom>
          <a:solidFill>
            <a:srgbClr val="2129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עולם קלאסי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התשובה הנכונה: ב) חילק שברי גולגולת לחמישה סוגים, וקבע שככל שהפגיעה חמורה יותר כך פחות צורך בטרפנציה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138160" y="155448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 קורה בפועל: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138160" y="1920240"/>
            <a:ext cx="3474720" cy="777240"/>
          </a:xfrm>
          <a:prstGeom prst="roundRect">
            <a:avLst>
              <a:gd name="adj" fmla="val 8235"/>
            </a:avLst>
          </a:prstGeom>
          <a:solidFill>
            <a:srgbClr val="1C7293">
              <a:alpha val="12000"/>
            </a:srgbClr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92840" y="2176272"/>
            <a:ext cx="256032" cy="25603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8275320" y="1975104"/>
            <a:ext cx="2880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חמישה סוגי שבר: ליניארי, חבלה, שקוע, hedra (שקע), ונגד-מכה (contrecoup)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9738360" y="2697480"/>
            <a:ext cx="0" cy="9144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8138160" y="2788920"/>
            <a:ext cx="3474720" cy="777240"/>
          </a:xfrm>
          <a:prstGeom prst="roundRect">
            <a:avLst>
              <a:gd name="adj" fmla="val 8235"/>
            </a:avLst>
          </a:prstGeom>
          <a:solidFill>
            <a:srgbClr val="2C5F2D">
              <a:alpha val="12000"/>
            </a:srgbClr>
          </a:solidFill>
          <a:ln w="15875">
            <a:solidFill>
              <a:srgbClr val="2C5F2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292840" y="3044952"/>
            <a:ext cx="256032" cy="25603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2" name="Text 10"/>
          <p:cNvSpPr/>
          <p:nvPr/>
        </p:nvSpPr>
        <p:spPr>
          <a:xfrm>
            <a:off x="8275320" y="2843784"/>
            <a:ext cx="2880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העבודה השיטתית הראשונה שמקשרת סוג שבר להחלטה טיפולית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9738360" y="3566160"/>
            <a:ext cx="0" cy="9144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138160" y="3657600"/>
            <a:ext cx="3474720" cy="777240"/>
          </a:xfrm>
          <a:prstGeom prst="roundRect">
            <a:avLst>
              <a:gd name="adj" fmla="val 8235"/>
            </a:avLst>
          </a:prstGeom>
          <a:solidFill>
            <a:srgbClr val="D99A2B">
              <a:alpha val="12000"/>
            </a:srgbClr>
          </a:solidFill>
          <a:ln w="15875">
            <a:solidFill>
              <a:srgbClr val="D99A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292840" y="3913632"/>
            <a:ext cx="256032" cy="256032"/>
          </a:xfrm>
          <a:prstGeom prst="ellipse">
            <a:avLst/>
          </a:prstGeom>
          <a:solidFill>
            <a:srgbClr val="D99A2B"/>
          </a:solidFill>
          <a:ln/>
        </p:spPr>
      </p:sp>
      <p:sp>
        <p:nvSpPr>
          <p:cNvPr id="16" name="Text 14"/>
          <p:cNvSpPr/>
          <p:nvPr/>
        </p:nvSpPr>
        <p:spPr>
          <a:xfrm>
            <a:off x="8275320" y="3712464"/>
            <a:ext cx="2880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עיקרון: פגיעה חמורה יותר בגולגולת → פחות (לא יותר!) צורך בטרפנציה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1554480"/>
            <a:ext cx="7406640" cy="1417320"/>
          </a:xfrm>
          <a:prstGeom prst="roundRect">
            <a:avLst>
              <a:gd name="adj" fmla="val 3871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1627632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הסבר: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1901952"/>
            <a:ext cx="7040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התשובה הנכונה (2) כוללת גם את הסיווג וגם את העיקרון הקליני הלא-אינטואיטיבי שמוזכר בפרק. מקלעת הכורואיד (1) תוארה ע"י הרופילוס, לא היפוקרטס. הרדמה (3) לא הייתה קיימת עד 1846. הנתיחה האנושית המתועדת הראשונה (4) משויכת להרופילוס באלכסנדריה, לא להיפוקרטס.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108960"/>
            <a:ext cx="7406640" cy="91440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182112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מונח: De Capitis Vulneribus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31520" y="3474720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חיבור היפוקרטי המוקדש כולו לאבחנה וטיפול בפציעות ראש — העבודה השיטתית הראשונה מסוגה.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" y="4160520"/>
            <a:ext cx="7406640" cy="1417320"/>
          </a:xfrm>
          <a:prstGeom prst="roundRect">
            <a:avLst>
              <a:gd name="adj" fmla="val 3871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4233672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סיפור לזכירה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31520" y="4526280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תחשבי על זה כמו טריאז' הפוך: ברוב הרפואה, ככל שהפציעה חמורה יותר מתערבים יותר אגרסיבית. אבל היפוקרטס הבין שגולגולת שנשברה לרסיסים כבר "פירקה" את הלחץ מעצמה — ודווקא שבר קטן וסגור עלול ללכוד לחץ ולדרוש התערבות.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31520" y="5047488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900" i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שאלי את עצמך: למה בכלל שבר גולגולת חמור יותר יזדקק לפחות טרפנציה?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מצגת סטטית — ללא ניקוד חי. לתרגול עם סטטיסטיקה בזמן אמת, השתמשי באפליקציית ה-HTML (flashcards.html).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108960" cy="384048"/>
          </a:xfrm>
          <a:prstGeom prst="roundRect">
            <a:avLst>
              <a:gd name="adj" fmla="val 19048"/>
            </a:avLst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עולם קלאסי ורנסנס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8531352" y="36576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כרטיסייה 3 מתוך 8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005840"/>
            <a:ext cx="110642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על סמך אילו נתיחות ביסס גאלנוס את האנטומיה שלו, ומדוע זה יצר בעיה שנמשכה כ-1400 שנה?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44200" y="2852928"/>
            <a:ext cx="365760" cy="365760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8" name="Text 6"/>
          <p:cNvSpPr/>
          <p:nvPr/>
        </p:nvSpPr>
        <p:spPr>
          <a:xfrm>
            <a:off x="10744200" y="28529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651760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נתיחות אדם, ולכן האנטומיה שלו הייתה מדויקת מההתחלה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584448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744200" y="3785616"/>
            <a:ext cx="365760" cy="365760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2" name="Text 10"/>
          <p:cNvSpPr/>
          <p:nvPr/>
        </p:nvSpPr>
        <p:spPr>
          <a:xfrm>
            <a:off x="10744200" y="378561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" y="3584448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נתיחות של גופות שלא נשמרו כראוי, מה שגרם לעיוותים אקראיים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4517136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744200" y="4718304"/>
            <a:ext cx="365760" cy="365760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6" name="Text 14"/>
          <p:cNvSpPr/>
          <p:nvPr/>
        </p:nvSpPr>
        <p:spPr>
          <a:xfrm>
            <a:off x="10744200" y="471830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ג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960" y="4517136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נתיחות של קופים וחזירים בלבד (נתיחת אדם הייתה אסורה ברומא), כך שהאנטומיה שלו הכילה שגיאות מערכתיות שהתקבלו כסמכות עד וסליוס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449824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744200" y="5650992"/>
            <a:ext cx="365760" cy="365760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20" name="Text 18"/>
          <p:cNvSpPr/>
          <p:nvPr/>
        </p:nvSpPr>
        <p:spPr>
          <a:xfrm>
            <a:off x="10744200" y="565099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2960" y="5449824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הוא כלל לא ביצע נתיחות, אלא הסתמך על תיאורים מצריים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108960" cy="365760"/>
          </a:xfrm>
          <a:prstGeom prst="roundRect">
            <a:avLst>
              <a:gd name="adj" fmla="val 20000"/>
            </a:avLst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עולם קלאסי ורנסנס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התשובה הנכונה: ג) נתיחות של קופים וחזירים בלבד (נתיחת אדם הייתה אסורה ברומא), כך שהאנטומיה שלו הכילה שגיאות מערכתיות שהתקבלו כסמכות עד וסליוס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138160" y="155448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 קורה בפועל: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138160" y="1920240"/>
            <a:ext cx="3474720" cy="777240"/>
          </a:xfrm>
          <a:prstGeom prst="roundRect">
            <a:avLst>
              <a:gd name="adj" fmla="val 8235"/>
            </a:avLst>
          </a:prstGeom>
          <a:solidFill>
            <a:srgbClr val="B85042">
              <a:alpha val="12000"/>
            </a:srgbClr>
          </a:solidFill>
          <a:ln w="15875">
            <a:solidFill>
              <a:srgbClr val="B8504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92840" y="2176272"/>
            <a:ext cx="256032" cy="256032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/>
          <p:nvPr/>
        </p:nvSpPr>
        <p:spPr>
          <a:xfrm>
            <a:off x="8275320" y="1975104"/>
            <a:ext cx="2880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גאלנוס נתח קופים וחזירים בלבד — נתיחת אדם הייתה אסורה ברומא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9738360" y="2697480"/>
            <a:ext cx="0" cy="9144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8138160" y="2788920"/>
            <a:ext cx="3474720" cy="777240"/>
          </a:xfrm>
          <a:prstGeom prst="roundRect">
            <a:avLst>
              <a:gd name="adj" fmla="val 8235"/>
            </a:avLst>
          </a:prstGeom>
          <a:solidFill>
            <a:srgbClr val="D99A2B">
              <a:alpha val="12000"/>
            </a:srgbClr>
          </a:solidFill>
          <a:ln w="15875">
            <a:solidFill>
              <a:srgbClr val="D99A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292840" y="3044952"/>
            <a:ext cx="256032" cy="256032"/>
          </a:xfrm>
          <a:prstGeom prst="ellipse">
            <a:avLst/>
          </a:prstGeom>
          <a:solidFill>
            <a:srgbClr val="D99A2B"/>
          </a:solidFill>
          <a:ln/>
        </p:spPr>
      </p:sp>
      <p:sp>
        <p:nvSpPr>
          <p:cNvPr id="12" name="Text 10"/>
          <p:cNvSpPr/>
          <p:nvPr/>
        </p:nvSpPr>
        <p:spPr>
          <a:xfrm>
            <a:off x="8275320" y="2843784"/>
            <a:ext cx="2880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האנטומיה שלו הכילה שגיאות מערכתיות (הבדלים אמיתיים בין מין לאדם)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9738360" y="3566160"/>
            <a:ext cx="0" cy="9144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138160" y="3657600"/>
            <a:ext cx="3474720" cy="777240"/>
          </a:xfrm>
          <a:prstGeom prst="roundRect">
            <a:avLst>
              <a:gd name="adj" fmla="val 8235"/>
            </a:avLst>
          </a:prstGeom>
          <a:solidFill>
            <a:srgbClr val="1C7293">
              <a:alpha val="12000"/>
            </a:srgbClr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292840" y="3913632"/>
            <a:ext cx="256032" cy="25603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6" name="Text 14"/>
          <p:cNvSpPr/>
          <p:nvPr/>
        </p:nvSpPr>
        <p:spPr>
          <a:xfrm>
            <a:off x="8275320" y="3712464"/>
            <a:ext cx="2880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כתביו נותרו סמכות כמעט בלתי-מעורערת כ-1400 שנה, כולל בתקופה האסלאמית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738360" y="4434840"/>
            <a:ext cx="0" cy="9144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138160" y="4526280"/>
            <a:ext cx="3474720" cy="777240"/>
          </a:xfrm>
          <a:prstGeom prst="roundRect">
            <a:avLst>
              <a:gd name="adj" fmla="val 8235"/>
            </a:avLst>
          </a:prstGeom>
          <a:solidFill>
            <a:srgbClr val="2C5F2D">
              <a:alpha val="12000"/>
            </a:srgbClr>
          </a:solidFill>
          <a:ln w="15875">
            <a:solidFill>
              <a:srgbClr val="2C5F2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292840" y="4782312"/>
            <a:ext cx="256032" cy="25603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0" name="Text 18"/>
          <p:cNvSpPr/>
          <p:nvPr/>
        </p:nvSpPr>
        <p:spPr>
          <a:xfrm>
            <a:off x="8275320" y="4581144"/>
            <a:ext cx="2880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וסליוס (1543) היה הראשון לתקן זאת בפומבי על בסיס נתיחת אדם ישירה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8640" y="1554480"/>
            <a:ext cx="7406640" cy="1417320"/>
          </a:xfrm>
          <a:prstGeom prst="roundRect">
            <a:avLst>
              <a:gd name="adj" fmla="val 3871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1627632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הסבר: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31520" y="1901952"/>
            <a:ext cx="7040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התשובה הנכונה (3) היא שרשרת סיבתית מלאה: איסור נתיחת אדם ברומא → גאלנוס משתמש בבעלי חיים → שגיאות מערכתיות (לא אקראיות) נכנסות לספר הלימוד → מיעוט אתגור סמכותו (כולל בתקופה האסלאמית, שדווקא שימרה את כתביו) → 1400 שנה עד וסליוס. תשובה 1 הפוכה מהעובדות. תשובה 2 מתארת סוג שגיאה שונה (טכני, לא מיני). תשובה 4 שגויה — גאלנוס אכן ביצע נתיחות, רק לא באדם.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3108960"/>
            <a:ext cx="7406640" cy="91440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182112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מונח: Opera Omnia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31520" y="3474720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כלל כתביו המקובצים של גאלנוס, שאבן סינא תרגם בהרחבה ב-Canon Medicinae שלו — כך שהשגיאות "נסעו" גם לעולם האסלאמי.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48640" y="4160520"/>
            <a:ext cx="7406640" cy="1417320"/>
          </a:xfrm>
          <a:prstGeom prst="roundRect">
            <a:avLst>
              <a:gd name="adj" fmla="val 3871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1520" y="4233672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סיפור לזכירה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31520" y="4526280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דמייני מדריך טיולים שמעולם לא ביקר ביעד בעצמו, אלא כתב את המדריך לפי תיאורים של יעד "דומה". במשך 1400 שנה כולם מסתמכים על המדריך הזה בלי לבדוק בעצמם — עד שמישהו (וסליוס) סוף-סוף טס ליעד וגילה שחלק מהפרטים פשוט לא נכונים.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31520" y="5047488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900" i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שאלי את עצמך: למה זה לקח כל כך הרבה זמן עד שמישהו תיקן את גאלנוס?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מצגת סטטית — ללא ניקוד חי. לתרגול עם סטטיסטיקה בזמן אמת, השתמשי באפליקציית ה-HTML (flashcards.html).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108960" cy="384048"/>
          </a:xfrm>
          <a:prstGeom prst="roundRect">
            <a:avLst>
              <a:gd name="adj" fmla="val 19048"/>
            </a:avLst>
          </a:prstGeom>
          <a:solidFill>
            <a:srgbClr val="6D2E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ימי הביניים ואסלאם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8531352" y="36576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כרטיסייה 4 מתוך 8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005840"/>
            <a:ext cx="110642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מדוע ה-Canon Medicinae של אבן סינא נחשב חריג בתוך התקופה האסלאמית, שבה רוב המלומדים בעיקר שימרו ולא חידשו?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44200" y="2852928"/>
            <a:ext cx="365760" cy="365760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8" name="Text 6"/>
          <p:cNvSpPr/>
          <p:nvPr/>
        </p:nvSpPr>
        <p:spPr>
          <a:xfrm>
            <a:off x="10744200" y="28529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651760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הוא היה הראשון לתרגם את גאלנוס לערבית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584448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744200" y="3785616"/>
            <a:ext cx="365760" cy="365760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2" name="Text 10"/>
          <p:cNvSpPr/>
          <p:nvPr/>
        </p:nvSpPr>
        <p:spPr>
          <a:xfrm>
            <a:off x="10744200" y="378561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" y="3584448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למרות שהוא מבוסס בעיקר על גאלנוס והיפוקרטס, הוא כלל גם תיאורים אנטומיים מדויקים משלו (כמו הגרעין הזנבי) ונותר הטקסט הרפואי הדומיננטי עד המאה ה-18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4517136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744200" y="4718304"/>
            <a:ext cx="365760" cy="365760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6" name="Text 14"/>
          <p:cNvSpPr/>
          <p:nvPr/>
        </p:nvSpPr>
        <p:spPr>
          <a:xfrm>
            <a:off x="10744200" y="471830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ג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960" y="4517136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הוא היה המנתח הראשון שביצע ניתוחי מוח מוצלחים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449824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744200" y="5650992"/>
            <a:ext cx="365760" cy="365760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20" name="Text 18"/>
          <p:cNvSpPr/>
          <p:nvPr/>
        </p:nvSpPr>
        <p:spPr>
          <a:xfrm>
            <a:off x="10744200" y="565099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2960" y="5449824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הוא דחה לחלוטין את כתבי גאלנוס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108960" cy="365760"/>
          </a:xfrm>
          <a:prstGeom prst="roundRect">
            <a:avLst>
              <a:gd name="adj" fmla="val 20000"/>
            </a:avLst>
          </a:prstGeom>
          <a:solidFill>
            <a:srgbClr val="6D2E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ימי הביניים ואסלאם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התשובה הנכונה: ב) למרות שהוא מבוסס בעיקר על גאלנוס והיפוקרטס, הוא כלל גם תיאורים אנטומיים מדויקים משלו (כמו הגרעין הזנבי) ונותר הטקסט הרפואי הדומיננטי עד המאה ה-18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138160" y="155448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 קורה בפועל: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138160" y="1920240"/>
            <a:ext cx="3474720" cy="777240"/>
          </a:xfrm>
          <a:prstGeom prst="roundRect">
            <a:avLst>
              <a:gd name="adj" fmla="val 8235"/>
            </a:avLst>
          </a:prstGeom>
          <a:solidFill>
            <a:srgbClr val="1C7293">
              <a:alpha val="12000"/>
            </a:srgbClr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92840" y="2176272"/>
            <a:ext cx="256032" cy="25603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8275320" y="1975104"/>
            <a:ext cx="2880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רוב תוכנו מבוסס על גאלנוס והיפוקרטס — עבודת קנוניזציה, לא חידוש טהור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9738360" y="2697480"/>
            <a:ext cx="0" cy="9144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8138160" y="2788920"/>
            <a:ext cx="3474720" cy="777240"/>
          </a:xfrm>
          <a:prstGeom prst="roundRect">
            <a:avLst>
              <a:gd name="adj" fmla="val 8235"/>
            </a:avLst>
          </a:prstGeom>
          <a:solidFill>
            <a:srgbClr val="2C5F2D">
              <a:alpha val="12000"/>
            </a:srgbClr>
          </a:solidFill>
          <a:ln w="15875">
            <a:solidFill>
              <a:srgbClr val="2C5F2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292840" y="3044952"/>
            <a:ext cx="256032" cy="25603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2" name="Text 10"/>
          <p:cNvSpPr/>
          <p:nvPr/>
        </p:nvSpPr>
        <p:spPr>
          <a:xfrm>
            <a:off x="8275320" y="2843784"/>
            <a:ext cx="2880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אך כלל תצפיות אנטומיות מקוריות: זיהוי נכון של הגרעין הזנבי (caudate) והתולעת המוחית (vermis)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9738360" y="3566160"/>
            <a:ext cx="0" cy="9144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138160" y="3657600"/>
            <a:ext cx="3474720" cy="777240"/>
          </a:xfrm>
          <a:prstGeom prst="roundRect">
            <a:avLst>
              <a:gd name="adj" fmla="val 8235"/>
            </a:avLst>
          </a:prstGeom>
          <a:solidFill>
            <a:srgbClr val="D99A2B">
              <a:alpha val="12000"/>
            </a:srgbClr>
          </a:solidFill>
          <a:ln w="15875">
            <a:solidFill>
              <a:srgbClr val="D99A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292840" y="3913632"/>
            <a:ext cx="256032" cy="256032"/>
          </a:xfrm>
          <a:prstGeom prst="ellipse">
            <a:avLst/>
          </a:prstGeom>
          <a:solidFill>
            <a:srgbClr val="D99A2B"/>
          </a:solidFill>
          <a:ln/>
        </p:spPr>
      </p:sp>
      <p:sp>
        <p:nvSpPr>
          <p:cNvPr id="16" name="Text 14"/>
          <p:cNvSpPr/>
          <p:nvPr/>
        </p:nvSpPr>
        <p:spPr>
          <a:xfrm>
            <a:off x="8275320" y="3712464"/>
            <a:ext cx="2880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נותר הטקסט הרפואי הדומיננטי בעולם עד המאה ה-18 — כ-700 שנה!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1554480"/>
            <a:ext cx="7406640" cy="1417320"/>
          </a:xfrm>
          <a:prstGeom prst="roundRect">
            <a:avLst>
              <a:gd name="adj" fmla="val 3871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1627632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הסבר: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1901952"/>
            <a:ext cx="7040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התשובה הנכונה (2) מכילה את שני החלקים: גם ההכרה שרוב ה-Canon הוא קנוניזציה של גאלנוס (לא חידוש), וגם החריגה החשובה — תצפיות אנטומיות מקוריות ואריכות ימיו יוצאת הדופן של הטקסט. תשובה 1 שגויה (התרגום לערבית קדם לו). תשובה 3 אינה מתוארת בפרק. תשובה 4 הפוכה — אבן סינא בעצם ביסס את עבודתו על גאלנוס, לא דחה אותו.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108960"/>
            <a:ext cx="7406640" cy="91440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182112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מונח: Canon Medicinae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31520" y="3474720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מהמילה היוונית 'קנון' (סרגל/תקן) — אנציקלופדיה רפואית מקיפה שהפכה ל'תקן' הרפואי המקובל למאות שנים.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" y="4160520"/>
            <a:ext cx="7406640" cy="1417320"/>
          </a:xfrm>
          <a:prstGeom prst="roundRect">
            <a:avLst>
              <a:gd name="adj" fmla="val 3871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4233672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סיפור לזכירה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31520" y="4526280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תחשבי על אבן סינא כעל עורך אנציקלופדיה ענקית שרוב הערכים בה מבוססים על מקורות קיימים (גאלנוס) — אבל מדי פעם, כשהוא בודק בעצמו, הוא מוסיף הערת שוליים מקורית ומדויקת שמחזיקה מעמד יותר מהערך ה'רשמי'.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31520" y="5047488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900" i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שאלי את עצמך: אם אבן סינא לא ביצע הרבה נתיחות בעצמו, איך בכל זאת תיאר נכון מבנים כמו הגרעין הזנבי?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מצגת סטטית — ללא ניקוד חי. לתרגול עם סטטיסטיקה בזמן אמת, השתמשי באפליקציית ה-HTML (flashcards.html).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108960" cy="384048"/>
          </a:xfrm>
          <a:prstGeom prst="roundRect">
            <a:avLst>
              <a:gd name="adj" fmla="val 19048"/>
            </a:avLst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המאה ה-19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8531352" y="36576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כרטיסייה 5 מתוך 8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005840"/>
            <a:ext cx="110642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וויליאם מאקיואן שיפר את תוצאות ניתוחי המוח שלו מכמעט 100% תמותה לכ-14% תמותה (3 מתוך 21) עד 1888. איזה שילוב ספציפי של גורמים איפשר זאת?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44200" y="2852928"/>
            <a:ext cx="365760" cy="365760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8" name="Text 6"/>
          <p:cNvSpPr/>
          <p:nvPr/>
        </p:nvSpPr>
        <p:spPr>
          <a:xfrm>
            <a:off x="10744200" y="28529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651760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הוא המציא טכניקת הרדמה חדשה משלו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584448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744200" y="3785616"/>
            <a:ext cx="365760" cy="365760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2" name="Text 10"/>
          <p:cNvSpPr/>
          <p:nvPr/>
        </p:nvSpPr>
        <p:spPr>
          <a:xfrm>
            <a:off x="10744200" y="378561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" y="3584448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הוא היה הראשון להשתמש במיקרוסקופ ניתוחי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4517136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744200" y="4718304"/>
            <a:ext cx="365760" cy="365760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6" name="Text 14"/>
          <p:cNvSpPr/>
          <p:nvPr/>
        </p:nvSpPr>
        <p:spPr>
          <a:xfrm>
            <a:off x="10744200" y="471830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ג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960" y="4517136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שילוב של לוקליזציה נוירולוגית קלינית מדויקת (בלי הדמיה!) עם הרדמה כללית קיימת ועקרונות אנטיספסיס של ליסטר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449824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744200" y="5650992"/>
            <a:ext cx="365760" cy="365760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20" name="Text 18"/>
          <p:cNvSpPr/>
          <p:nvPr/>
        </p:nvSpPr>
        <p:spPr>
          <a:xfrm>
            <a:off x="10744200" y="565099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2960" y="5449824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הוא ניתח רק מקרים קלים במיוחד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108960" cy="365760"/>
          </a:xfrm>
          <a:prstGeom prst="roundRect">
            <a:avLst>
              <a:gd name="adj" fmla="val 20000"/>
            </a:avLst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המאה ה-19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התשובה הנכונה: ג) שילוב של לוקליזציה נוירולוגית קלינית מדויקת (בלי הדמיה!) עם הרדמה כללית קיימת ועקרונות אנטיספסיס של ליסטר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138160" y="155448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 קורה בפועל: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138160" y="1920240"/>
            <a:ext cx="3474720" cy="777240"/>
          </a:xfrm>
          <a:prstGeom prst="roundRect">
            <a:avLst>
              <a:gd name="adj" fmla="val 8235"/>
            </a:avLst>
          </a:prstGeom>
          <a:solidFill>
            <a:srgbClr val="1C7293">
              <a:alpha val="12000"/>
            </a:srgbClr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92840" y="2176272"/>
            <a:ext cx="256032" cy="25603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8275320" y="1975104"/>
            <a:ext cx="2880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לוקליזציה נוירולוגית קלינית — זיהוי מיקום הנגע לפי בדיקה גופנית בלבד, בלי שום הדמיה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9738360" y="2697480"/>
            <a:ext cx="0" cy="9144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8138160" y="2788920"/>
            <a:ext cx="3474720" cy="777240"/>
          </a:xfrm>
          <a:prstGeom prst="roundRect">
            <a:avLst>
              <a:gd name="adj" fmla="val 8235"/>
            </a:avLst>
          </a:prstGeom>
          <a:solidFill>
            <a:srgbClr val="2C5F2D">
              <a:alpha val="12000"/>
            </a:srgbClr>
          </a:solidFill>
          <a:ln w="15875">
            <a:solidFill>
              <a:srgbClr val="2C5F2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292840" y="3044952"/>
            <a:ext cx="256032" cy="25603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2" name="Text 10"/>
          <p:cNvSpPr/>
          <p:nvPr/>
        </p:nvSpPr>
        <p:spPr>
          <a:xfrm>
            <a:off x="8275320" y="2843784"/>
            <a:ext cx="2880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הרדמה כללית (כבר קיימת מאז 1846) — מאפשרת ניתוח ממושך ומדויק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9738360" y="3566160"/>
            <a:ext cx="0" cy="9144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138160" y="3657600"/>
            <a:ext cx="3474720" cy="777240"/>
          </a:xfrm>
          <a:prstGeom prst="roundRect">
            <a:avLst>
              <a:gd name="adj" fmla="val 8235"/>
            </a:avLst>
          </a:prstGeom>
          <a:solidFill>
            <a:srgbClr val="D99A2B">
              <a:alpha val="12000"/>
            </a:srgbClr>
          </a:solidFill>
          <a:ln w="15875">
            <a:solidFill>
              <a:srgbClr val="D99A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292840" y="3913632"/>
            <a:ext cx="256032" cy="256032"/>
          </a:xfrm>
          <a:prstGeom prst="ellipse">
            <a:avLst/>
          </a:prstGeom>
          <a:solidFill>
            <a:srgbClr val="D99A2B"/>
          </a:solidFill>
          <a:ln/>
        </p:spPr>
      </p:sp>
      <p:sp>
        <p:nvSpPr>
          <p:cNvPr id="16" name="Text 14"/>
          <p:cNvSpPr/>
          <p:nvPr/>
        </p:nvSpPr>
        <p:spPr>
          <a:xfrm>
            <a:off x="8275320" y="3712464"/>
            <a:ext cx="2880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עקרונות אנטיספסיס של ליסטר — מפחיתים דרמטית זיהום פוסט-ניתוחי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1554480"/>
            <a:ext cx="7406640" cy="1417320"/>
          </a:xfrm>
          <a:prstGeom prst="roundRect">
            <a:avLst>
              <a:gd name="adj" fmla="val 3871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1627632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הסבר: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1901952"/>
            <a:ext cx="7040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התשובה הנכונה (3) משקפת את הטענה המרכזית של הפרק: מאקיואן לא המציא כלי חדש (1 שגוי) ולא השתמש במיקרוסקופ (2 — טכנולוגיה של שנות ה-60 של המאה ה-20, אנכרוניזם). הוא פשוט היה הראשון לשלב שלושה מרכיבים קיימים בהצלחה: ידע לוקליזציה נוירולוגי מדויק, הרדמה ואנטיספסיס. תשובה 4 סותרת את התיאור בפרק שמדגיש את המונוגרפיה שלו על מורסות מוח — מקרים מורכבים וקשים.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108960"/>
            <a:ext cx="7406640" cy="91440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182112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מונח: לוקליזציה נוירולוגית (Neurological Localization)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31520" y="3474720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היכולת לשער היכן במוח נמצא נגע (גידול, מורסה) על סמך תסמינים וסימנים בבדיקה גופנית בלבד, ללא כל הדמיה.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" y="4160520"/>
            <a:ext cx="7406640" cy="1417320"/>
          </a:xfrm>
          <a:prstGeom prst="roundRect">
            <a:avLst>
              <a:gd name="adj" fmla="val 3871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4233672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סיפור לזכירה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31520" y="4526280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תחשבי על בלש שפותר תיק בלי מצלמות אבטחה (הדמיה) — רק על סמך עקבות (סימנים נוירולוגיים). מאקיואן היה הבלש הראשון שהיה טוב מספיק בזה כדי לנתח בביטחון, בזמן שגם הכלים הבסיסיים (הרדמה, סטריליות) כבר היו זמינים לו.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31520" y="5047488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900" i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שאלי את עצמך: למה לוקליזציה קלינית לבדה לא הספיקה בלי הרדמה ואנטיספסיס, וההפך?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מצגת סטטית — ללא ניקוד חי. לתרגול עם סטטיסטיקה בזמן אמת, השתמשי באפליקציית ה-HTML (flashcards.html).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108960" cy="384048"/>
          </a:xfrm>
          <a:prstGeom prst="roundRect">
            <a:avLst>
              <a:gd name="adj" fmla="val 19048"/>
            </a:avLst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המאה ה-20 — קושינג ודנדי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8531352" y="36576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כרטיסייה 6 מתוך 8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005840"/>
            <a:ext cx="110642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מהי 'תגובת קושינג' (Cushing reflex/response), ומה סדר האירועים הפיזיולוגי הנכון בה?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44200" y="2852928"/>
            <a:ext cx="365760" cy="365760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8" name="Text 6"/>
          <p:cNvSpPr/>
          <p:nvPr/>
        </p:nvSpPr>
        <p:spPr>
          <a:xfrm>
            <a:off x="10744200" y="28529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651760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ירידה בלחץ תוך-גולגולתי שגורמת לטכיקרדיה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584448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744200" y="3785616"/>
            <a:ext cx="365760" cy="365760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2" name="Text 10"/>
          <p:cNvSpPr/>
          <p:nvPr/>
        </p:nvSpPr>
        <p:spPr>
          <a:xfrm>
            <a:off x="10744200" y="378561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" y="3584448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עלייה בלחץ תוך-גולגולתי (ICP) שגורמת ללחץ דם מפצה, אשר בתורו מפעיל בארורצפטורים וגורם לברדיקרדיה רפלקטורית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4517136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744200" y="4718304"/>
            <a:ext cx="365760" cy="365760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6" name="Text 14"/>
          <p:cNvSpPr/>
          <p:nvPr/>
        </p:nvSpPr>
        <p:spPr>
          <a:xfrm>
            <a:off x="10744200" y="471830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ג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960" y="4517136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זיהום מוחי שגורם לחום גבוה ולחץ דם נמוך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449824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744200" y="5650992"/>
            <a:ext cx="365760" cy="365760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20" name="Text 18"/>
          <p:cNvSpPr/>
          <p:nvPr/>
        </p:nvSpPr>
        <p:spPr>
          <a:xfrm>
            <a:off x="10744200" y="565099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2960" y="5449824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תסמונת הורמונלית מעודף קורטיזול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108960" cy="365760"/>
          </a:xfrm>
          <a:prstGeom prst="roundRect">
            <a:avLst>
              <a:gd name="adj" fmla="val 20000"/>
            </a:avLst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המאה ה-20 — קושינג ודנדי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התשובה הנכונה: ב) עלייה בלחץ תוך-גולגולתי (ICP) שגורמת ללחץ דם מפצה, אשר בתורו מפעיל בארורצפטורים וגורם לברדיקרדיה רפלקטורית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138160" y="155448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 קורה בפועל: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138160" y="1920240"/>
            <a:ext cx="3474720" cy="777240"/>
          </a:xfrm>
          <a:prstGeom prst="roundRect">
            <a:avLst>
              <a:gd name="adj" fmla="val 8235"/>
            </a:avLst>
          </a:prstGeom>
          <a:solidFill>
            <a:srgbClr val="B85042">
              <a:alpha val="12000"/>
            </a:srgbClr>
          </a:solidFill>
          <a:ln w="15875">
            <a:solidFill>
              <a:srgbClr val="B8504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92840" y="2176272"/>
            <a:ext cx="256032" cy="256032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/>
          <p:nvPr/>
        </p:nvSpPr>
        <p:spPr>
          <a:xfrm>
            <a:off x="8275320" y="1975104"/>
            <a:ext cx="2880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שלב 1: עלייה בלחץ תוך-גולגולתי (ICP) — למשל מגידול, דימום או בצקת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9738360" y="2697480"/>
            <a:ext cx="0" cy="9144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8138160" y="2788920"/>
            <a:ext cx="3474720" cy="777240"/>
          </a:xfrm>
          <a:prstGeom prst="roundRect">
            <a:avLst>
              <a:gd name="adj" fmla="val 8235"/>
            </a:avLst>
          </a:prstGeom>
          <a:solidFill>
            <a:srgbClr val="1C7293">
              <a:alpha val="12000"/>
            </a:srgbClr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292840" y="3044952"/>
            <a:ext cx="256032" cy="25603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8275320" y="2843784"/>
            <a:ext cx="2880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שלב 2: לחץ הדם עולה כמנגנון פיצוי — כדי לשמר זילוח דם מוחי (CPP) מול ה-ICP הגובר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9738360" y="3566160"/>
            <a:ext cx="0" cy="9144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138160" y="3657600"/>
            <a:ext cx="3474720" cy="777240"/>
          </a:xfrm>
          <a:prstGeom prst="roundRect">
            <a:avLst>
              <a:gd name="adj" fmla="val 8235"/>
            </a:avLst>
          </a:prstGeom>
          <a:solidFill>
            <a:srgbClr val="2C5F2D">
              <a:alpha val="12000"/>
            </a:srgbClr>
          </a:solidFill>
          <a:ln w="15875">
            <a:solidFill>
              <a:srgbClr val="2C5F2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292840" y="3913632"/>
            <a:ext cx="256032" cy="25603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6" name="Text 14"/>
          <p:cNvSpPr/>
          <p:nvPr/>
        </p:nvSpPr>
        <p:spPr>
          <a:xfrm>
            <a:off x="8275320" y="3712464"/>
            <a:ext cx="2880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שלב 3: עליית לחץ הדם מפעילה בארורצפטורים בקשת האאורטה/סינוס הקרוטידי → רפלקס ואגלי → ברדיקרדיה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1554480"/>
            <a:ext cx="7406640" cy="1417320"/>
          </a:xfrm>
          <a:prstGeom prst="roundRect">
            <a:avLst>
              <a:gd name="adj" fmla="val 3871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1627632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הסבר: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1901952"/>
            <a:ext cx="7040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התשובה הנכונה (2) מתארת את הרצף הסיבתי הנכון: ICP↑ הוא הגורם הראשוני, לחץ הדם עולה כתגובה מפצה (כדי לשמר זרימת דם למוח למרות הלחץ הגובר), ורק אז מופעל רפלקס הבארורצפטורים שמוריד את קצב הלב. תשובה 1 הפוכה בכיוון. תשובה 3 מבלבלת עם ספסיס. תשובה 4 מתארת תסמונת קושינג (עודף קורטיזול) — ישות שונה לגמרי שקושינג גם תיאר, אך אינה 'תגובת קושינג'.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108960"/>
            <a:ext cx="7406640" cy="91440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182112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מונח: תגובת קושינג (Cushing Reflex)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31520" y="3474720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טריאדת סימנים (ICP↑, לחץ דם↑, ברדיקרדיה) שמעידה על עלייה קריטית בלחץ התוך-גולגולתי — סימן אזהרה דחוף להרניאציה מוחית מתקרבת.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" y="4160520"/>
            <a:ext cx="7406640" cy="1417320"/>
          </a:xfrm>
          <a:prstGeom prst="roundRect">
            <a:avLst>
              <a:gd name="adj" fmla="val 3871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4233672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סיפור לזכירה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31520" y="4526280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תחשבי על זה כמו משאבת מים שמנסה להתגבר על סתימה גוברת בצינור: המשאבה (לב+כלי דם) מגבירה את הלחץ כדי לדחוף מספיק מים (דם) דרך הסתימה (ICP). אבל כשהלחץ עולה יותר מדי, יש 'ברז ביטחון' (בארורצפטורים) שמאט את המשאבה כדי למנוע נזק — וזה בדיוק הברדיקרדיה.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31520" y="5047488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900" i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שאלי את עצמך: למה בכלל צריך לחץ דם גבוה יותר כשה-ICP עולה?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מצגת סטטית — ללא ניקוד חי. לתרגול עם סטטיסטיקה בזמן אמת, השתמשי באפליקציית ה-HTML (flashcards.html).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108960" cy="384048"/>
          </a:xfrm>
          <a:prstGeom prst="roundRect">
            <a:avLst>
              <a:gd name="adj" fmla="val 19048"/>
            </a:avLst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המאה ה-20 — קושינג ודנדי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8531352" y="36576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כרטיסייה 7 מתוך 8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005840"/>
            <a:ext cx="110642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כיצד הפכה תצפית מקרית (serendipity) של Luckett לשיטת דימות שיטתית בידי וולטר דנדי?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44200" y="2852928"/>
            <a:ext cx="365760" cy="365760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8" name="Text 6"/>
          <p:cNvSpPr/>
          <p:nvPr/>
        </p:nvSpPr>
        <p:spPr>
          <a:xfrm>
            <a:off x="10744200" y="28529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651760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Luckett ודנדי היו אותו אדם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584448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744200" y="3785616"/>
            <a:ext cx="365760" cy="365760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2" name="Text 10"/>
          <p:cNvSpPr/>
          <p:nvPr/>
        </p:nvSpPr>
        <p:spPr>
          <a:xfrm>
            <a:off x="10744200" y="378561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" y="3584448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Luckett הבחין באוויר בחדרי המוח ברנטגן אחרי שבר גולגולת מקרי; דנדי הבין שאפשר להזריק אוויר בכוונה ולעקוב אחרי עיוות החדרים כדי למקם גידול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4517136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744200" y="4718304"/>
            <a:ext cx="365760" cy="365760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6" name="Text 14"/>
          <p:cNvSpPr/>
          <p:nvPr/>
        </p:nvSpPr>
        <p:spPr>
          <a:xfrm>
            <a:off x="10744200" y="471830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ג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960" y="4517136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דנדי המציא את השיטה לגמרי ללא קשר לתצפית כלשהי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449824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744200" y="5650992"/>
            <a:ext cx="365760" cy="365760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20" name="Text 18"/>
          <p:cNvSpPr/>
          <p:nvPr/>
        </p:nvSpPr>
        <p:spPr>
          <a:xfrm>
            <a:off x="10744200" y="565099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2960" y="5449824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Luckett פיתח את שיטת ההרדמה ששימשה את דנדי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108960" cy="365760"/>
          </a:xfrm>
          <a:prstGeom prst="roundRect">
            <a:avLst>
              <a:gd name="adj" fmla="val 20000"/>
            </a:avLst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המאה ה-20 — קושינג ודנדי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התשובה הנכונה: ב) Luckett הבחין באוויר בחדרי המוח ברנטגן אחרי שבר גולגולת מקרי; דנדי הבין שאפשר להזריק אוויר בכוונה ולעקוב אחרי עיוות החדרים כדי למקם גידול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138160" y="155448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 קורה בפועל: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138160" y="1920240"/>
            <a:ext cx="3474720" cy="777240"/>
          </a:xfrm>
          <a:prstGeom prst="roundRect">
            <a:avLst>
              <a:gd name="adj" fmla="val 8235"/>
            </a:avLst>
          </a:prstGeom>
          <a:solidFill>
            <a:srgbClr val="1C7293">
              <a:alpha val="12000"/>
            </a:srgbClr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92840" y="2176272"/>
            <a:ext cx="256032" cy="25603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8275320" y="1975104"/>
            <a:ext cx="2880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Luckett צפה במקרה שאוויר שנכנס לחדרי המוח (דרך שבר גולגולת) נראה ברנטגן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9738360" y="2697480"/>
            <a:ext cx="0" cy="9144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8138160" y="2788920"/>
            <a:ext cx="3474720" cy="777240"/>
          </a:xfrm>
          <a:prstGeom prst="roundRect">
            <a:avLst>
              <a:gd name="adj" fmla="val 8235"/>
            </a:avLst>
          </a:prstGeom>
          <a:solidFill>
            <a:srgbClr val="2C5F2D">
              <a:alpha val="12000"/>
            </a:srgbClr>
          </a:solidFill>
          <a:ln w="15875">
            <a:solidFill>
              <a:srgbClr val="2C5F2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292840" y="3044952"/>
            <a:ext cx="256032" cy="25603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2" name="Text 10"/>
          <p:cNvSpPr/>
          <p:nvPr/>
        </p:nvSpPr>
        <p:spPr>
          <a:xfrm>
            <a:off x="8275320" y="2843784"/>
            <a:ext cx="2880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דנדי הפך את התצפית המקרית לפרוצדורה מכוונת: הזרקת אוויר יזומה לחדרים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9738360" y="3566160"/>
            <a:ext cx="0" cy="9144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138160" y="3657600"/>
            <a:ext cx="3474720" cy="777240"/>
          </a:xfrm>
          <a:prstGeom prst="roundRect">
            <a:avLst>
              <a:gd name="adj" fmla="val 8235"/>
            </a:avLst>
          </a:prstGeom>
          <a:solidFill>
            <a:srgbClr val="D99A2B">
              <a:alpha val="12000"/>
            </a:srgbClr>
          </a:solidFill>
          <a:ln w="15875">
            <a:solidFill>
              <a:srgbClr val="D99A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292840" y="3913632"/>
            <a:ext cx="256032" cy="256032"/>
          </a:xfrm>
          <a:prstGeom prst="ellipse">
            <a:avLst/>
          </a:prstGeom>
          <a:solidFill>
            <a:srgbClr val="D99A2B"/>
          </a:solidFill>
          <a:ln/>
        </p:spPr>
      </p:sp>
      <p:sp>
        <p:nvSpPr>
          <p:cNvPr id="16" name="Text 14"/>
          <p:cNvSpPr/>
          <p:nvPr/>
        </p:nvSpPr>
        <p:spPr>
          <a:xfrm>
            <a:off x="8275320" y="3712464"/>
            <a:ext cx="2880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התוצאה: פנאומואנצפלוגרפיה (PEG) — לוקליזציה של גידול לפי האופן שבו הוא מעוות את החדרים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1554480"/>
            <a:ext cx="7406640" cy="1417320"/>
          </a:xfrm>
          <a:prstGeom prst="roundRect">
            <a:avLst>
              <a:gd name="adj" fmla="val 3871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1627632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הסבר: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1901952"/>
            <a:ext cx="7040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התשובה הנכונה (2) מתארת נכון את שרשרת הסיבתיות: תצפית מקרית (לא מתוכננת) של Luckett הובילה, בזכות ערנותו של דנדי, לשיטה יזומה ושיטתית. תשובה 1 שגויה עובדתית (שני אנשים שונים). תשובה 3 מתעלמת מהתפקיד המרכזי של התצפית המקרית שהפרק מדגיש. תשובה 4 אינה קשורה — Luckett לא עסק בהרדמה.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108960"/>
            <a:ext cx="7406640" cy="91440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182112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מונח: פנאומואנצפלוגרפיה (PEG)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31520" y="3474720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טכניקת דימות שבה מוזרק אוויר לחדרי המוח (בניקור מותני או ישירות) ולאחר מכן מצולם רנטגן — האוויר, שקוטר צפיפותו שונה מרקמת המוח, מדגיש את קווי המתאר של החדרים.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" y="4160520"/>
            <a:ext cx="7406640" cy="1417320"/>
          </a:xfrm>
          <a:prstGeom prst="roundRect">
            <a:avLst>
              <a:gd name="adj" fmla="val 3871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4233672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סיפור לזכירה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31520" y="4526280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תחשבי על תצלום שהתפתח 'במקרה' בגלל חשיפת יתר, ומישהו שם לב שהאזור החשוף דווקא הראה פרט מעניין שלא נראה קודם — ואז ממציא מכוון את החשיפה בכל תצלום כדי לחשוף את אותו הפרט. זו בדיוק התנועה מ'תקלה מעניינת' ל'שיטה'.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31520" y="5047488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900" i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שאלי את עצמך: למה בכלל אוויר בחדרי המוח נראה ברנטגן, ואיך זה עוזר לאתר גידול?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מצגת סטטית — ללא ניקוד חי. לתרגול עם סטטיסטיקה בזמן אמת, השתמשי באפליקציית ה-HTML (flashcards.html).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108960" cy="384048"/>
          </a:xfrm>
          <a:prstGeom prst="roundRect">
            <a:avLst>
              <a:gd name="adj" fmla="val 19048"/>
            </a:avLst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המאה ה-20 — קושינג ודנדי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8531352" y="36576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כרטיסייה 8 מתוך 8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005840"/>
            <a:ext cx="110642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אגאש מוניז זכה בפרס נובל ב-1949. על אילו משתי תרומותיו המרכזיות (אנגיוגרפיה מוחית ולובוטומיה פרה-פרונטלית) הוענק הפרס בפועל?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44200" y="2852928"/>
            <a:ext cx="365760" cy="365760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8" name="Text 6"/>
          <p:cNvSpPr/>
          <p:nvPr/>
        </p:nvSpPr>
        <p:spPr>
          <a:xfrm>
            <a:off x="10744200" y="28529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651760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על האנגיוגרפיה המוחית, שהיא התרומה החשובה יותר לנוירוכירורגיה המודרנית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584448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744200" y="3785616"/>
            <a:ext cx="365760" cy="365760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2" name="Text 10"/>
          <p:cNvSpPr/>
          <p:nvPr/>
        </p:nvSpPr>
        <p:spPr>
          <a:xfrm>
            <a:off x="10744200" y="378561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" y="3584448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על שתי התרומות בשווה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4517136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744200" y="4718304"/>
            <a:ext cx="365760" cy="365760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6" name="Text 14"/>
          <p:cNvSpPr/>
          <p:nvPr/>
        </p:nvSpPr>
        <p:spPr>
          <a:xfrm>
            <a:off x="10744200" y="471830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ג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960" y="4517136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הפרס לא היה קשור לאף אחת מהתרומות הללו, אלא למחקר אחר לגמרי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449824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744200" y="5650992"/>
            <a:ext cx="365760" cy="365760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20" name="Text 18"/>
          <p:cNvSpPr/>
          <p:nvPr/>
        </p:nvSpPr>
        <p:spPr>
          <a:xfrm>
            <a:off x="10744200" y="565099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2960" y="5449824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על הלובוטומיה הפרה-פרונטלית לטיפול בהפרעות פסיכיאטריות — לא על האנגיוגרפיה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108960" cy="365760"/>
          </a:xfrm>
          <a:prstGeom prst="roundRect">
            <a:avLst>
              <a:gd name="adj" fmla="val 20000"/>
            </a:avLst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המאה ה-20 — קושינג ודנדי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התשובה הנכונה: ד) על הלובוטומיה הפרה-פרונטלית לטיפול בהפרעות פסיכיאטריות — לא על האנגיוגרפיה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138160" y="155448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 קורה בפועל: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138160" y="1920240"/>
            <a:ext cx="3474720" cy="777240"/>
          </a:xfrm>
          <a:prstGeom prst="roundRect">
            <a:avLst>
              <a:gd name="adj" fmla="val 8235"/>
            </a:avLst>
          </a:prstGeom>
          <a:solidFill>
            <a:srgbClr val="1C7293">
              <a:alpha val="12000"/>
            </a:srgbClr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92840" y="2176272"/>
            <a:ext cx="256032" cy="25603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8275320" y="1975104"/>
            <a:ext cx="2880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מוניז פיתח את האנגיוגרפיה המוחית (צנתור עורקי + חומר ניגוד) — פריצת דרך דימותית ענקית לנוירוכירורגיה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9738360" y="2697480"/>
            <a:ext cx="0" cy="9144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8138160" y="2788920"/>
            <a:ext cx="3474720" cy="777240"/>
          </a:xfrm>
          <a:prstGeom prst="roundRect">
            <a:avLst>
              <a:gd name="adj" fmla="val 8235"/>
            </a:avLst>
          </a:prstGeom>
          <a:solidFill>
            <a:srgbClr val="D99A2B">
              <a:alpha val="12000"/>
            </a:srgbClr>
          </a:solidFill>
          <a:ln w="15875">
            <a:solidFill>
              <a:srgbClr val="D99A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292840" y="3044952"/>
            <a:ext cx="256032" cy="256032"/>
          </a:xfrm>
          <a:prstGeom prst="ellipse">
            <a:avLst/>
          </a:prstGeom>
          <a:solidFill>
            <a:srgbClr val="D99A2B"/>
          </a:solidFill>
          <a:ln/>
        </p:spPr>
      </p:sp>
      <p:sp>
        <p:nvSpPr>
          <p:cNvPr id="12" name="Text 10"/>
          <p:cNvSpPr/>
          <p:nvPr/>
        </p:nvSpPr>
        <p:spPr>
          <a:xfrm>
            <a:off x="8275320" y="2843784"/>
            <a:ext cx="2880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אך פרס נובל 1949 הוענק לו על תרומה שונה לגמרי: לובוטומיה פרה-פרונטלית להפרעות פסיכיאטריות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9738360" y="3566160"/>
            <a:ext cx="0" cy="9144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138160" y="3657600"/>
            <a:ext cx="3474720" cy="777240"/>
          </a:xfrm>
          <a:prstGeom prst="roundRect">
            <a:avLst>
              <a:gd name="adj" fmla="val 8235"/>
            </a:avLst>
          </a:prstGeom>
          <a:solidFill>
            <a:srgbClr val="B85042">
              <a:alpha val="12000"/>
            </a:srgbClr>
          </a:solidFill>
          <a:ln w="15875">
            <a:solidFill>
              <a:srgbClr val="B8504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292840" y="3913632"/>
            <a:ext cx="256032" cy="256032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6" name="Text 14"/>
          <p:cNvSpPr/>
          <p:nvPr/>
        </p:nvSpPr>
        <p:spPr>
          <a:xfrm>
            <a:off x="8275320" y="3712464"/>
            <a:ext cx="2880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זו נקודה חשובה לזכור: התרומה ה'נוירוכירורגית' המשמעותית ביותר שלו לא זו שזיכתה אותו בפרס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1554480"/>
            <a:ext cx="7406640" cy="1417320"/>
          </a:xfrm>
          <a:prstGeom prst="roundRect">
            <a:avLst>
              <a:gd name="adj" fmla="val 3871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1627632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הסבר: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1901952"/>
            <a:ext cx="7040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התשובה הנכונה (4) מדגישה נקודה שקל להתבלבל בה: הפרק מציין במפורש ש'מוניז זכה בפרס נובל ב-1949 על עבודתו על לובוטומיה פרה-פרונטלית להפרעות פסיכיאטריות' — ולא על האנגיוגרפיה, למרות שהאנגיוגרפיה היא זו שהשפיעה יותר על הפרקטיקה הנוירוכירורגית היומיומית (בשילוב עם PEG, נתנה תמונה מפורטת של תוכן הגולגולת). תשובה 1 הפוכה מהעובדות ההיסטוריות. תשובה 3 שגויה — הפרס כן קשור לאחת משתי התרומות.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108960"/>
            <a:ext cx="7406640" cy="91440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182112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מונח: אנגיוגרפיה מוחית (Cerebral Angiography)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31520" y="3474720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טכניקת דימות שבה מוזרק חומר ניגוד לתוך כלי דם עורקיים ומצולם רנטגן, כדי להדגים את מפת כלי הדם במוח — שימושית לאיתור מפרצות, גידולים כלי-דם, וחסימות.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" y="4160520"/>
            <a:ext cx="7406640" cy="1417320"/>
          </a:xfrm>
          <a:prstGeom prst="roundRect">
            <a:avLst>
              <a:gd name="adj" fmla="val 3871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4233672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סיפור לזכירה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31520" y="4526280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תחשבי על ממציא שמומחיותו האמיתית היא בתחום א' (שם התרומה שלו הכי משמעותית לטווח ארוך), אבל פרס היוקרה שהוא מקבל הוא על תחום ב' — קצת כמו סופר שזוכה בפרס על ספר פחות מוכר שלו, בעוד שהרב-מכר האמיתי שלו לא זכה בכלום.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31520" y="5047488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900" i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שאלי את עצמך: למה בכלל האנגיוגרפיה הייתה כל כך משמעותית עבור נוירוכירורגים, גם בלי פרס נובל?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מצגת סטטית — ללא ניקוד חי. לתרגול עם סטטיסטיקה בזמן אמת, השתמשי באפליקציית ה-HTML (flashcards.html).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C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48640"/>
            <a:ext cx="10360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סיכום של הסיכום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097280" y="1463040"/>
            <a:ext cx="999439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נוירוכירורגיה התקדמה בכל פעם שהובנה טוב יותר האנטומיה או הפיזיולוגיה של מערכת העצבים.</a:t>
            </a:r>
            <a:endParaRPr lang="en-US" sz="1600" dirty="0"/>
          </a:p>
          <a:p>
            <a:pPr rtl="1" algn="r" marL="342900" indent="-342900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ארבע פריצות דרך (A-A-L-I): אנטומיה (וסליוס 1543) ← הרדמה+אנטיספסיס (המאה 19) ← לוקליזציה (מאקיואן) ← דימות (דנדי, מוניז).</a:t>
            </a:r>
            <a:endParaRPr lang="en-US" sz="1600" dirty="0"/>
          </a:p>
          <a:p>
            <a:pPr rtl="1" algn="r" marL="342900" indent="-342900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Edwin Smith Papyrus: ספר הלימוד הכירורגי המתועד הראשון, כולל אבחנה ופרוגנוזה.</a:t>
            </a:r>
            <a:endParaRPr lang="en-US" sz="1600" dirty="0"/>
          </a:p>
          <a:p>
            <a:pPr rtl="1" algn="r" marL="342900" indent="-342900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גאלנוס ביסס אנטומיה על נתיחת בעלי חיים; סמכותו נותרה כמעט בלתי-מעורערת כ-1400 שנה, עד וסליוס.</a:t>
            </a:r>
            <a:endParaRPr lang="en-US" sz="1600" dirty="0"/>
          </a:p>
          <a:p>
            <a:pPr rtl="1" algn="r" marL="342900" indent="-342900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קושינג ('אבי הנוירוכירורגיה האמריקאית') ודנדי הפכו את התחום לתת-התמחות מודרנית בראשית המאה ה-20.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14400" y="6309360"/>
            <a:ext cx="10360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maskit101.github.io/summeries-medicine/neurosurgery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2026-08-09T19:31:22Z</dcterms:created>
  <dcterms:modified xsi:type="dcterms:W3CDTF">2026-08-09T19:31:22Z</dcterms:modified>
</cp:coreProperties>
</file>