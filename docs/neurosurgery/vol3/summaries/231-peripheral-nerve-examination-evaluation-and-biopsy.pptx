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3</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231: בדיקת עצב היקפי, הערכה וביופסיה</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Peripheral Nerve Examination, Evaluation, and Biopsy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בדיקה מוטורית - סולם BMRC</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מסוגל להזיז שריר כנגד כוח הכבידה בלבד, אך לא כנגד כל התנגדות נוספת. איזו דרגה בסולם ה-BMRC (0-5) מתאימה?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5 - כוח מלא</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4 - תנועה כנגד התנגדות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3 - תנועה כנגד כוח הכבידה בלבד</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1 - כיווץ שריר ללא תנועה</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בדיקה מוטורית - סולם BMRC</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דרגה 3 - תנועה כנגד כוח הכבידה בלבד</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047857">
              <a:alpha val="12000"/>
            </a:srgbClr>
          </a:solidFill>
          <a:ln w="15875">
            <a:solidFill>
              <a:srgbClr val="047857"/>
            </a:solidFill>
            <a:prstDash val="solid"/>
          </a:ln>
        </p:spPr>
      </p:sp>
      <p:sp>
        <p:nvSpPr>
          <p:cNvPr id="7" name="Shape 5"/>
          <p:cNvSpPr/>
          <p:nvPr/>
        </p:nvSpPr>
        <p:spPr>
          <a:xfrm>
            <a:off x="11292840" y="2176272"/>
            <a:ext cx="256032" cy="256032"/>
          </a:xfrm>
          <a:prstGeom prst="ellipse">
            <a:avLst/>
          </a:prstGeom>
          <a:solidFill>
            <a:srgbClr val="04785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דרגה 3 מוגדרת כתנועה מלאה כנגד כוח הכבידה, אך ללא יכולת להתגבר על התנגדות נוספת מהבודק</a:t>
            </a:r>
            <a:endParaRPr lang="en-US" sz="950" dirty="0"/>
          </a:p>
        </p:txBody>
      </p:sp>
      <p:sp>
        <p:nvSpPr>
          <p:cNvPr id="9" name="Shape 7"/>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0" name="Text 8"/>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1" name="Text 9"/>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סולם ה-BMRC (British Medical Research Council) מדרג כוח שרירים מ-0 (ללא כיווץ כלל) עד 5 (כוח מלא). דרגה 3 היא נקודת המעבר החשובה קלינית: מתחתיה (2-0) השריר אינו מסוגל להתגבר אפילו על כוח הכבידה, ומעליה (4-5) הוא כבר מתגבר על התנגדות חיצונית בדרגות משתנות. דרגה 4 (תנועה כנגד התנגדות) ודרגה 5 (כוח מלא) דורשות יכולת להתמודד עם כוח נוסף מעבר לכוח הכבידה, מה שלא מתואר כאן. דרגה 1 (כיווץ ללא תנועה) חלשה בהרבה מהתיאור.</a:t>
            </a:r>
            <a:endParaRPr lang="en-US" sz="1000" dirty="0"/>
          </a:p>
        </p:txBody>
      </p:sp>
      <p:sp>
        <p:nvSpPr>
          <p:cNvPr id="12" name="Shape 10"/>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3" name="Text 11"/>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BMRC Motor Grading Scale</a:t>
            </a:r>
            <a:endParaRPr lang="en-US" sz="1150" dirty="0"/>
          </a:p>
        </p:txBody>
      </p:sp>
      <p:sp>
        <p:nvSpPr>
          <p:cNvPr id="14" name="Text 12"/>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סולם בן שש דרגות (0-5) לדירוג כוח שרירי בבדיקה נוירולוגית, שפותח על ידי המועצה הבריטית למחקר רפואי ומשמש כסטנדרט קליני עולמי.</a:t>
            </a:r>
            <a:endParaRPr lang="en-US" sz="950" dirty="0"/>
          </a:p>
        </p:txBody>
      </p:sp>
      <p:sp>
        <p:nvSpPr>
          <p:cNvPr id="15" name="Shape 13"/>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16" name="Text 14"/>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7" name="Text 15"/>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18" name="Text 16"/>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לבדוק שריר גם בביטול כוח הכבידה (למשל בשכיבה) ולא רק בישיבה?</a:t>
            </a:r>
            <a:endParaRPr lang="en-US" sz="900" dirty="0"/>
          </a:p>
        </p:txBody>
      </p:sp>
      <p:sp>
        <p:nvSpPr>
          <p:cNvPr id="19" name="Text 17"/>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בדיקת תחושה - Sensibility Grading Scale</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סולם ה-Sensibility Grading Scale (0-5) שבפרק, מטופל שיש לו תגובה תת-תקינה למגע ולדקירה אך היא ממוקמת היטב, ללא תגובת-יתר, מקבל איזו דרגה?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5</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4</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2</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0</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בדיקת תחושה - Sensibility Grading Scale</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דרגה 4</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דרגה 4 = תגובה תת-תקינה אך ממוקמת (localized), ללא תגובת-יתר (over-response)</a:t>
            </a:r>
            <a:endParaRPr lang="en-US" sz="950" dirty="0"/>
          </a:p>
        </p:txBody>
      </p:sp>
      <p:sp>
        <p:nvSpPr>
          <p:cNvPr id="9" name="Shape 7"/>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0" name="Text 8"/>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1" name="Text 9"/>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הסולם נע מ-5 (תגובה כמעט תקינה) עד 0 (ללא תגובה כלל). דרגה 4 מייצגת שלב מוקדם של ירידה תחושתית - התגובה כבר תת-תקינה, אך המטופל עדיין מצליח למקם את הגירוי בדיוק וללא תגובת-יתר. דרגה 3 כבר כוללת חוסר מיקום מדויק ומעט תגובת-יתר. דרגה 2 נמוכה בהרבה (מספיק להגנה איטית בלבד, עם מיקום שגוי). דרגה 5 מתארת תגובה כמעט תקינה לחלוטין - חזקה יותר מהמתואר בשאלה.</a:t>
            </a:r>
            <a:endParaRPr lang="en-US" sz="1000" dirty="0"/>
          </a:p>
        </p:txBody>
      </p:sp>
      <p:sp>
        <p:nvSpPr>
          <p:cNvPr id="12" name="Shape 10"/>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3" name="Text 11"/>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Sensibility Grading Scale</a:t>
            </a:r>
            <a:endParaRPr lang="en-US" sz="1150" dirty="0"/>
          </a:p>
        </p:txBody>
      </p:sp>
      <p:sp>
        <p:nvSpPr>
          <p:cNvPr id="14" name="Text 12"/>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סולם בן שש דרגות (0-5) לתיעוד חומרת אובדן התחושה בפגיעת עצב היקפי, המשמש להשוואה עוקבת לאורך זמן ולהערכת תוצאות טיפול.</a:t>
            </a:r>
            <a:endParaRPr lang="en-US" sz="950" dirty="0"/>
          </a:p>
        </p:txBody>
      </p:sp>
      <p:sp>
        <p:nvSpPr>
          <p:cNvPr id="15" name="Shape 13"/>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16" name="Text 14"/>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7" name="Text 15"/>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18" name="Text 16"/>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לתעד את דרגת התחושה לאורך זמן ולא רק בבדיקה בודדת?</a:t>
            </a:r>
            <a:endParaRPr lang="en-US" sz="900" dirty="0"/>
          </a:p>
        </p:txBody>
      </p:sp>
      <p:sp>
        <p:nvSpPr>
          <p:cNvPr id="19" name="Text 17"/>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עיוותי יד קלאסיים בהצצה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מגיעה עם חוסר יכולת ליישר את מפרקי כף היד והאצבעות כשהזרועות מושטות קדימה, אך תפקוד מרפק תקין לחלוטין. איזה עיוות קלאסי הכי סביר, ולאיזה עצב הוא מרמז?</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יד בנדיקטינית - עצב מדיאני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כף יד טורפת אולנרית - עצב אולנרי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יד סימיאנית - עצבים מדיאני ואולנרי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Wristdrop/Fingerdrop - עצב רדיאלי ברמה הומרלית</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עיוותי יד קלאסיים בהצצה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Wristdrop/Fingerdrop - עצב רדיאלי ברמה הומרלית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563EB">
              <a:alpha val="12000"/>
            </a:srgbClr>
          </a:solidFill>
          <a:ln w="15875">
            <a:solidFill>
              <a:srgbClr val="2563EB"/>
            </a:solidFill>
            <a:prstDash val="solid"/>
          </a:ln>
        </p:spPr>
      </p:sp>
      <p:sp>
        <p:nvSpPr>
          <p:cNvPr id="7" name="Shape 5"/>
          <p:cNvSpPr/>
          <p:nvPr/>
        </p:nvSpPr>
        <p:spPr>
          <a:xfrm>
            <a:off x="11292840" y="2176272"/>
            <a:ext cx="256032" cy="256032"/>
          </a:xfrm>
          <a:prstGeom prst="ellipse">
            <a:avLst/>
          </a:prstGeom>
          <a:solidFill>
            <a:srgbClr val="2563E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Wristdrop ו-fingerdrop עם שימור תפקוד המרפק מצביעים על פגיעת עצב רדיאלי ברמה הומרלית</a:t>
            </a:r>
            <a:endParaRPr lang="en-US" sz="950" dirty="0"/>
          </a:p>
        </p:txBody>
      </p:sp>
      <p:sp>
        <p:nvSpPr>
          <p:cNvPr id="9" name="Shape 7"/>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0" name="Text 8"/>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1" name="Text 9"/>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Wristdrop ו-fingerdrop קלאסיים כשהזרועות מושטות קדימה הם התמונה האופיינית ביותר לפגיעת עצב רדיאלי ברמה ההומרלית (למשל שבר קנה הומרוס). שימור תפקוד הטריצפס (יישור מרפק תקין) תומך ברמת הפגיעה, מכיוון שהענף לטריצפס יוצא בדרך כלל פרוקסימלית לאזור הפגיעה הטיפוסי. יד בנדיקטינית וכף יד טורפת אולנרית מתארים כיפוף לא תקין באצבעות (לא יישור), ויד סימיאנית משלבת את שתי הפגיעות יחד - אף אחת מהן אינה תואמת את התיאור.</a:t>
            </a:r>
            <a:endParaRPr lang="en-US" sz="1000" dirty="0"/>
          </a:p>
        </p:txBody>
      </p:sp>
      <p:sp>
        <p:nvSpPr>
          <p:cNvPr id="12" name="Shape 10"/>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3" name="Text 11"/>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Wristdrop</a:t>
            </a:r>
            <a:endParaRPr lang="en-US" sz="1150" dirty="0"/>
          </a:p>
        </p:txBody>
      </p:sp>
      <p:sp>
        <p:nvSpPr>
          <p:cNvPr id="14" name="Text 12"/>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חוסר יכולת ליישר את שורש כף היד והאצבעות כתוצאה משיתוק שרירי האקסטנסורים, אופייני לפגיעת עצב רדיאלי.</a:t>
            </a:r>
            <a:endParaRPr lang="en-US" sz="950" dirty="0"/>
          </a:p>
        </p:txBody>
      </p:sp>
      <p:sp>
        <p:nvSpPr>
          <p:cNvPr id="15" name="Shape 13"/>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16" name="Text 14"/>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7" name="Text 15"/>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18" name="Text 16"/>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בדיקת תפקוד המרפק (טריצפס) חשובה לקביעת רמת הפגיעה בעצב רדיאלי?</a:t>
            </a:r>
            <a:endParaRPr lang="en-US" sz="900" dirty="0"/>
          </a:p>
        </p:txBody>
      </p:sp>
      <p:sp>
        <p:nvSpPr>
          <p:cNvPr id="19" name="Text 17"/>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אזורים אוטונומיים בבדיקת תחושה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חולה עם חשד לפגיעת עצב רדיאלי מלאה נבדק תחושתית ב'קופסה האנטומית' (anatomic snuffbox) ואין כל חוסר תחושה. איך יש לפרש ממצא זה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להשתמש בהיעדר הפרעה תחושתית כהוכחה להיעדר פגיעה מוטורית מלאה - יש חפיפה תחושתית משמעותית מהעצב העור-אמתי הלטרלי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הממצא שולל בוודאות פגיעת עצב רדיאלי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להסיק שהפגיעה היא בעצב האולנרי ולא ברדיאלי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לחזור על הבדיקה מיד כי מדובר בטעות מדידה</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אזורים אוטונומיים בבדיקת תחושה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אין להשתמש בהיעדר הפרעה תחושתית כהוכחה להיעדר פגיעה מוטורית מלאה - יש חפיפה תחושתית משמעותית מהעצב העור-אמתי הלטרלי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990011">
              <a:alpha val="12000"/>
            </a:srgbClr>
          </a:solidFill>
          <a:ln w="15875">
            <a:solidFill>
              <a:srgbClr val="990011"/>
            </a:solidFill>
            <a:prstDash val="solid"/>
          </a:ln>
        </p:spPr>
      </p:sp>
      <p:sp>
        <p:nvSpPr>
          <p:cNvPr id="7" name="Shape 5"/>
          <p:cNvSpPr/>
          <p:nvPr/>
        </p:nvSpPr>
        <p:spPr>
          <a:xfrm>
            <a:off x="11292840" y="2176272"/>
            <a:ext cx="256032" cy="256032"/>
          </a:xfrm>
          <a:prstGeom prst="ellipse">
            <a:avLst/>
          </a:prstGeom>
          <a:solidFill>
            <a:srgbClr val="990011"/>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היעדר חוסר תחושה בקופסה האנטומית אינו שולל פגיעת עצב רדיאלי מוטורית מלאה, בשל חפיפה מעצבים תחושתיים סמוכים</a:t>
            </a:r>
            <a:endParaRPr lang="en-US" sz="950" dirty="0"/>
          </a:p>
        </p:txBody>
      </p:sp>
      <p:sp>
        <p:nvSpPr>
          <p:cNvPr id="9" name="Shape 7"/>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0" name="Text 8"/>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1" name="Text 9"/>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הפרק מדגיש שהקופסה האנטומית נחשבת מסורתית לאזור התחושתי של העצב הרדיאלי, אך יש שם חפיפה משמעותית מהעצב העור-אמתי הלטרלי (lateral antebrachial cutaneous nerve) ומעצבים תחושתיים נוספים. משום כך, גם בפגיעת עצב רדיאלי מלאה מוטורית, החולה עשוי שלא לחוש כל אובדן תחושה שם - וזהו בדיוק המקרה שממנו נגזר כלל האצבע הכללי: אין להשתמש בהיעדר ממצא תחושתי כדי לשלול פגיעה מוטורית מלאה. תשובות אחרות אינן נכונות - הממצא אינו שולל פגיעה, אינו מצביע על עצב אחר, ואינו טעות מדידה.</a:t>
            </a:r>
            <a:endParaRPr lang="en-US" sz="1000" dirty="0"/>
          </a:p>
        </p:txBody>
      </p:sp>
      <p:sp>
        <p:nvSpPr>
          <p:cNvPr id="12" name="Shape 10"/>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3" name="Text 11"/>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אזור אוטונומי (autonomous zone)</a:t>
            </a:r>
            <a:endParaRPr lang="en-US" sz="1150" dirty="0"/>
          </a:p>
        </p:txBody>
      </p:sp>
      <p:sp>
        <p:nvSpPr>
          <p:cNvPr id="14" name="Text 12"/>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אזור עור שבו יש הכי פחות חפיפה תחושתית מעצבים סמוכים, ולכן משמש לבדיקת התחושה הספציפית של עצב נתון - למשל צד וולארי לאצבע 5 עבור העצב האולנרי.</a:t>
            </a:r>
            <a:endParaRPr lang="en-US" sz="950" dirty="0"/>
          </a:p>
        </p:txBody>
      </p:sp>
      <p:sp>
        <p:nvSpPr>
          <p:cNvPr id="15" name="Shape 13"/>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16" name="Text 14"/>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7" name="Text 15"/>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18" name="Text 16"/>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מהו האזור האוטונומי הנכון לבדיקת העצב האולנרי והמדיאני, לפי הפרק?</a:t>
            </a:r>
            <a:endParaRPr lang="en-US" sz="900" dirty="0"/>
          </a:p>
        </p:txBody>
      </p:sp>
      <p:sp>
        <p:nvSpPr>
          <p:cNvPr id="19" name="Text 17"/>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סימן הופמן-טינל</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בביקורת חוזרת, נמצא שסימן הופמן-טינל של המטופל מתקדם לאורך העצב בקצב של כ-1 מ"מ ליום. מה המשמעות הקלינית הנכונה של ממצא זה,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זהו סימן ודאי להחלמה תפקודית מלאה קרובה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לו כל משמעות קלינית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מעיד על רגנרציה עצבית מתמשכת, אך רק בכ-50% מהמקרים מנבא גם החלמה תפקודית (ריאינרבציה שרירית)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מעיד תמיד על ניתוק עצבי מלא המחייב ניתוח מיידי</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סימן הופמן-טינל</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מעיד על רגנרציה עצבית מתמשכת, אך רק בכ-50% מהמקרים מנבא גם החלמה תפקודית (ריאינרבציה שרירית)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התקדמות סימן טינל בקצב הרגנרציה הצפוי מעידה על רגנרציה מתמשכת, אך רק כ-50% מהמקרים מגיעים גם להחלמה תפקודית</a:t>
            </a:r>
            <a:endParaRPr lang="en-US" sz="950" dirty="0"/>
          </a:p>
        </p:txBody>
      </p:sp>
      <p:sp>
        <p:nvSpPr>
          <p:cNvPr id="9" name="Shape 7"/>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0" name="Text 8"/>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1" name="Text 9"/>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הפרק מציין שקצב ההתקדמות הצפוי הוא כ-1 מ"מ ליום (כ-1 אינץ' לחודש), והתקדמות בקצב הזה היא סימן חיובי לרגנרציה אקסונלית מתמשכת. עם זאת, הפרק מדגיש שגם כשסימן טינל מתקדם, הוא מנבא ריאינרבציה שרירית והחלמה תפקודית אמיתית רק בכ-50% מהמקרים - כלומר זה סימן חיובי אך לא מספק. לעומת זאת, סימן טינל שאינו מתקדם הוא ממצא שלילי חזק יותר, המרמז על ניתוק מלא או רגנרציה ירודה. לכן תשובות המתארות ודאות מוחלטת (חיובית או שלילית) אינן מדויקות.</a:t>
            </a:r>
            <a:endParaRPr lang="en-US" sz="1000" dirty="0"/>
          </a:p>
        </p:txBody>
      </p:sp>
      <p:sp>
        <p:nvSpPr>
          <p:cNvPr id="12" name="Shape 10"/>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3" name="Text 11"/>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סימן הופמן-טינל</a:t>
            </a:r>
            <a:endParaRPr lang="en-US" sz="1150" dirty="0"/>
          </a:p>
        </p:txBody>
      </p:sp>
      <p:sp>
        <p:nvSpPr>
          <p:cNvPr id="14" name="Text 12"/>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תחושת הלם חשמלי או פרסתזיה המתעוררת בהקשה מעל עצב פגוע, לאורך תפוצתו - נובע מרגישות מכנית של אקסונים מתחדשים.</a:t>
            </a:r>
            <a:endParaRPr lang="en-US" sz="950" dirty="0"/>
          </a:p>
        </p:txBody>
      </p:sp>
      <p:sp>
        <p:nvSpPr>
          <p:cNvPr id="15" name="Shape 13"/>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16" name="Text 14"/>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7" name="Text 15"/>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18" name="Text 16"/>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מהי המשמעות של סימן טינל שאינו מתקדם כלל לאורך זמן?</a:t>
            </a:r>
            <a:endParaRPr lang="en-US" sz="900" dirty="0"/>
          </a:p>
        </p:txBody>
      </p:sp>
      <p:sp>
        <p:nvSpPr>
          <p:cNvPr id="19" name="Text 17"/>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ביופסיית עצב היקפי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 האינדיקציה השכיחה ביותר לביופסיית עצב היקפי (למשל ביופסיית עצב סוראלי),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הערכת גידולי מוח ראשוניים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חלק מהערכת נוירופתיות היקפיות דיפוזיות (פוקליות ולא-פוקליות) - לשלילת נוירופתיות דלקתיות, עמילואידיות, או לוקמיות/לימפומטיות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אבחון שברים באורתופדיה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מעקב אחרי טיפול אנטיביוטי</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ביופסיית עצב היקפי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חלק מהערכת נוירופתיות היקפיות דיפוזיות (פוקליות ולא-פוקליות) - לשלילת נוירופתיות דלקתיות, עמילואידיות, או לוקמיות/לימפומטיות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6D2E46">
              <a:alpha val="12000"/>
            </a:srgbClr>
          </a:solidFill>
          <a:ln w="15875">
            <a:solidFill>
              <a:srgbClr val="6D2E46"/>
            </a:solidFill>
            <a:prstDash val="solid"/>
          </a:ln>
        </p:spPr>
      </p:sp>
      <p:sp>
        <p:nvSpPr>
          <p:cNvPr id="7" name="Shape 5"/>
          <p:cNvSpPr/>
          <p:nvPr/>
        </p:nvSpPr>
        <p:spPr>
          <a:xfrm>
            <a:off x="11292840" y="2176272"/>
            <a:ext cx="256032" cy="256032"/>
          </a:xfrm>
          <a:prstGeom prst="ellipse">
            <a:avLst/>
          </a:prstGeom>
          <a:solidFill>
            <a:srgbClr val="6D2E4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האינדיקציה השכיחה ביותר היא כחלק מהערכת נוירופתיות היקפיות דיפוזיות בלתי מוסברות</a:t>
            </a:r>
            <a:endParaRPr lang="en-US" sz="950" dirty="0"/>
          </a:p>
        </p:txBody>
      </p:sp>
      <p:sp>
        <p:nvSpPr>
          <p:cNvPr id="9" name="Shape 7"/>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0" name="Text 8"/>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1" name="Text 9"/>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לפי הפרק, בדיקה היסטולוגית של העצב הסוראלי משמשת לרוב לשלילת נוירופתיות דלקתיות, נוירופתיה עמילואידית, ולוקמיות/לימפומות פוקליות המערבות עצבים היקפיים - מצבים נדירים יחסית אך בעלי טיפול יעיל שלא ניתן להשתמש בו אמפירית בשל תופעות לוואי חמורות. אינדיקציה נוספת שמוזכרת היא הבחנה בין חולשה נוירוגנית למיוגנית, לעיתים בשילוב ביופסיית שריר. שברים אורתופדיים וטיפול אנטיביוטי אינם קשורים לביופסיית עצב, וגידולי מוח ראשוניים אינם רלוונטיים לעצבים היקפיים.</a:t>
            </a:r>
            <a:endParaRPr lang="en-US" sz="1000" dirty="0"/>
          </a:p>
        </p:txBody>
      </p:sp>
      <p:sp>
        <p:nvSpPr>
          <p:cNvPr id="12" name="Shape 10"/>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3" name="Text 11"/>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ביופסיית עצב סוראלי</a:t>
            </a:r>
            <a:endParaRPr lang="en-US" sz="1150" dirty="0"/>
          </a:p>
        </p:txBody>
      </p:sp>
      <p:sp>
        <p:nvSpPr>
          <p:cNvPr id="14" name="Text 12"/>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כריתה כירורגית של קטע מהעצב הסוראלי (עצב תחושתי טהור בשוק) לצורך בדיקה היסטולוגית, בשל מיקומו העקבי והחסר התחושתי המתון והמקובל שהיא גורמת.</a:t>
            </a:r>
            <a:endParaRPr lang="en-US" sz="950" dirty="0"/>
          </a:p>
        </p:txBody>
      </p:sp>
      <p:sp>
        <p:nvSpPr>
          <p:cNvPr id="15" name="Shape 13"/>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16" name="Text 14"/>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7" name="Text 15"/>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18" name="Text 16"/>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עצב פרונאלי שטחי או ענף אובטורטורי לגרסיליס נבחרים לעיתים במקום העצב הסוראלי?</a:t>
            </a:r>
            <a:endParaRPr lang="en-US" sz="900" dirty="0"/>
          </a:p>
        </p:txBody>
      </p:sp>
      <p:sp>
        <p:nvSpPr>
          <p:cNvPr id="19" name="Text 17"/>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כאב נוירופתי - CRPS</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פיתח כאב שורף עז, שינויים אוטונומיים (אדמומיות, נפיחות), והגנה קיצונית על הגפה, כמה שבועות לאחר פציעת ירי שפגעה בעצב מעורב גדול. איזה סוג CRPS סביר יותר, ולמה?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CRPS טיפוס I - כי הוא מופיע רק אחרי פגיעות קלות בלבד</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CRPS טיפוס I - כי הוא תמיד מלווה בפגיעה עצבית ישירה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קשר בין סוג הפגיעה לסוג ה-CRPS</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CRPS טיפוס II (קאוזלגיה) - כי הוא מתפתח אחרי פגיעה משמעותית בעצב מעורב גדול, בניגוד לטיפוס I שמופיע לרוב אחרי פגיעה מינורית</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כאב נוירופתי - CRPS</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CRPS טיפוס II (קאוזלגיה) - כי הוא מתפתח אחרי פגיעה משמעותית בעצב מעורב גדול, בניגוד לטיפוס I שמופיע לרוב אחרי פגיעה מינורית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990011">
              <a:alpha val="12000"/>
            </a:srgbClr>
          </a:solidFill>
          <a:ln w="15875">
            <a:solidFill>
              <a:srgbClr val="990011"/>
            </a:solidFill>
            <a:prstDash val="solid"/>
          </a:ln>
        </p:spPr>
      </p:sp>
      <p:sp>
        <p:nvSpPr>
          <p:cNvPr id="7" name="Shape 5"/>
          <p:cNvSpPr/>
          <p:nvPr/>
        </p:nvSpPr>
        <p:spPr>
          <a:xfrm>
            <a:off x="11292840" y="2176272"/>
            <a:ext cx="256032" cy="256032"/>
          </a:xfrm>
          <a:prstGeom prst="ellipse">
            <a:avLst/>
          </a:prstGeom>
          <a:solidFill>
            <a:srgbClr val="990011"/>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CRPS טיפוס II (קאוזלגיה) מופיע לרוב לאחר פגיעה משמעותית בעצב מעורב גדול, כמו פציעת ירי</a:t>
            </a:r>
            <a:endParaRPr lang="en-US" sz="950" dirty="0"/>
          </a:p>
        </p:txBody>
      </p:sp>
      <p:sp>
        <p:nvSpPr>
          <p:cNvPr id="9" name="Shape 7"/>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0" name="Text 8"/>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1" name="Text 9"/>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הפרק מבחין בבירור בין שני סוגי CRPS: טיפוס I (דיסטרופיה סימפתטית רפלקסיבית) מופיע בדרך כלל לאחר פגיעה קלה יחסית לגפה (למשל נקע קרסול), ואילו טיפוס II (קאוזלגיה) מופיע לאחר נזק משמעותי לעצב מעורב גדול - בדיוק כמו פציעת ירי המתוארת כאן. כאב שורף עז, הגנה קיצונית על הגפה, ועדות לפעילות-יתר אוטונומית הם מאפיינים מרכזיים המשותפים לשני הטיפוסים, אך ההבדל המכריע ביניהם הוא מנגנון הפגיעה - חומרתה והיקפה.</a:t>
            </a:r>
            <a:endParaRPr lang="en-US" sz="1000" dirty="0"/>
          </a:p>
        </p:txBody>
      </p:sp>
      <p:sp>
        <p:nvSpPr>
          <p:cNvPr id="12" name="Shape 10"/>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3" name="Text 11"/>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CRPS (Complex Regional Pain Syndrome)</a:t>
            </a:r>
            <a:endParaRPr lang="en-US" sz="1150" dirty="0"/>
          </a:p>
        </p:txBody>
      </p:sp>
      <p:sp>
        <p:nvSpPr>
          <p:cNvPr id="14" name="Text 12"/>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תסמונת כאב אזורית מורכבת המאופיינת בכאב שורף עז, שינויים אוטונומיים, והגנה קיצונית על הגפה הפגועה; טיפוס I ללא פגיעה עצבית ישירה מזוהה, טיפוס II (קאוזלגיה) לאחר פגיעה בעצב מעורב גדול.</a:t>
            </a:r>
            <a:endParaRPr lang="en-US" sz="950" dirty="0"/>
          </a:p>
        </p:txBody>
      </p:sp>
      <p:sp>
        <p:nvSpPr>
          <p:cNvPr id="15" name="Shape 13"/>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16" name="Text 14"/>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7" name="Text 15"/>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18" name="Text 16"/>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מהו כאב האבולסיה (avulsion pain), ובמה הוא שונה מ-CRPS?</a:t>
            </a:r>
            <a:endParaRPr lang="en-US" sz="900" dirty="0"/>
          </a:p>
        </p:txBody>
      </p:sp>
      <p:sp>
        <p:nvSpPr>
          <p:cNvPr id="19" name="Text 17"/>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לוקליזציה מתקדמת - footdrop</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חולה עם footdrop חד-צדדי, ללא רפלקסים מוגברים או טונוס מוגבר. איזה שריר, אם תקין, יעזור להבדיל בין לכידת עצב פרונאלי בראש הפיבולה (הנפוצה ביותר) לבין נגע גבוה יותר בחטיבה הפרונאלית של העצב הסציאטי?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הראש הקצר של הביצפס פמוריס - מעוצבב על ידי החטיבה הפרונאלית מעל הברך; אם תקין, מרמז על לכידה נמוכה יותר בראש הפיבולה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הקוואדריספס - מעוצבב על ידי עצב הפמורלי ואינו קשור כלל לאבחנה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הגסטרוקנמיוס - מעוצבב על ידי החטיבה הטיביאלית ואינו רלוונטי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שריר שיכול לסייע בהבחנה זו</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לוקליזציה מתקדמת - footdrop</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הראש הקצר של הביצפס פמוריס - מעוצבב על ידי החטיבה הפרונאלית מעל הברך; אם תקין, מרמז על לכידה נמוכה יותר בראש הפיבולה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047857">
              <a:alpha val="12000"/>
            </a:srgbClr>
          </a:solidFill>
          <a:ln w="15875">
            <a:solidFill>
              <a:srgbClr val="047857"/>
            </a:solidFill>
            <a:prstDash val="solid"/>
          </a:ln>
        </p:spPr>
      </p:sp>
      <p:sp>
        <p:nvSpPr>
          <p:cNvPr id="7" name="Shape 5"/>
          <p:cNvSpPr/>
          <p:nvPr/>
        </p:nvSpPr>
        <p:spPr>
          <a:xfrm>
            <a:off x="11292840" y="2176272"/>
            <a:ext cx="256032" cy="256032"/>
          </a:xfrm>
          <a:prstGeom prst="ellipse">
            <a:avLst/>
          </a:prstGeom>
          <a:solidFill>
            <a:srgbClr val="04785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הראש הקצר של הביצפס פמוריס, המעוצבב מעל הברך, הוא המפתח להבדיל רמת פגיעה גבוהה מלכידה נמוכה בראש הפיבולה</a:t>
            </a:r>
            <a:endParaRPr lang="en-US" sz="950" dirty="0"/>
          </a:p>
        </p:txBody>
      </p:sp>
      <p:sp>
        <p:nvSpPr>
          <p:cNvPr id="9" name="Shape 7"/>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0" name="Text 8"/>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1" name="Text 9"/>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היעדר רפלקסים מוגברים/טונוס מוגבר כבר שולל נוירון מוטורי עליון. בין הנגעים ההיקפיים האפשריים, הראש הקצר של הביצפס פמוריס מעוצבב על ידי החטיבה הפרונאלית של העצב הסציאטי כבר ברמה מעל הברך - לכן אם השריר תקין, הפגיעה כנראה נמוכה יותר (למשל לכידה קלאסית בראש הפיבולה); אם הוא חלש, זה מרמז על נגע גבוה יותר בחטיבה הפרונאלית או במקלעת. הקוואדריספס (עצב פמורלי) והגסטרוקנמיוס (חטיבה טיביאלית) שייכים למערכות עצביות אחרות ואינם מסייעים בהבחנה זו.</a:t>
            </a:r>
            <a:endParaRPr lang="en-US" sz="1000" dirty="0"/>
          </a:p>
        </p:txBody>
      </p:sp>
      <p:sp>
        <p:nvSpPr>
          <p:cNvPr id="12" name="Shape 10"/>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3" name="Text 11"/>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לוקליזציה מדורגת של footdrop</a:t>
            </a:r>
            <a:endParaRPr lang="en-US" sz="1150" dirty="0"/>
          </a:p>
        </p:txBody>
      </p:sp>
      <p:sp>
        <p:nvSpPr>
          <p:cNvPr id="14" name="Text 12"/>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תהליך אבחנתי שיטתי המבדיל בין רמות אנטומיות שונות (נוירון מוטורי עליון, שורש L5, מקלעת/סציאטי, פרונאלי) על סמך דפוס החולשה והרפלקסים.</a:t>
            </a:r>
            <a:endParaRPr lang="en-US" sz="950" dirty="0"/>
          </a:p>
        </p:txBody>
      </p:sp>
      <p:sp>
        <p:nvSpPr>
          <p:cNvPr id="15" name="Shape 13"/>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16" name="Text 14"/>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7" name="Text 15"/>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18" name="Text 16"/>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אילו שני שרירים עוזרים להבדיל נגע רדיקולרי (L5) מנגע לומבוסקראלי/סציאטי/פרונאלי דיסטלי יותר?</a:t>
            </a:r>
            <a:endParaRPr lang="en-US" sz="900" dirty="0"/>
          </a:p>
        </p:txBody>
      </p:sp>
      <p:sp>
        <p:nvSpPr>
          <p:cNvPr id="19" name="Text 17"/>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BMRC</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דרגת כוח 3</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כוח הכבידה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Sensibility Grading Scale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דרגה 4</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over-response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Wristdrop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עצב רדיאלי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עיוותי יד קלאסיים</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אזור אוטונומי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קופסה אנטומית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חפיפה תחושתית</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2026-09-04T21:26:45Z</dcterms:created>
  <dcterms:modified xsi:type="dcterms:W3CDTF">2026-09-04T21:26:45Z</dcterms:modified>
</cp:coreProperties>
</file>